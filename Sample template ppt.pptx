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everyone! Introduce yourself and the bootcamp. This is Day 1 of a 22-day journey. The energy you set today defines the whole batch.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an overview of the full bootcamp. Tell students what they'll build by the end — a Flask website, data visualizations, and an AI-integrated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daily structure. Tell students they will NOT just watch — they code every day. Exit ticket is important; read them before the next class.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Who has heard of Python? Who has tried coding before? Use Netflix, Instagram, YouTube as examples of Python-powered products.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this live on the projector. Watch the room — help anyone who gets stuck. Don't move on until everyone has python --version working.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Analogy: A function is like a recipe. You write it once, then cook it (call it) whenever you want. You don't rewrite the recipe each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End-of-week recap! Ask students to write their 'today I learned' exit ticket. Read these before Week 2 starts to identify who needs extra support.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the week on a high note! Tell them what they'll BUILD by end of Week 2 — a student records system saved to a file with OOP. It sounds impressive now!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Collect the exit tickets physically or ask them to type in a shared doc. Review them tonight and plan any re-teaching for tomorrow.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457200"/>
            <a:ext cx="4572000" cy="4572000"/>
          </a:xfrm>
          <a:prstGeom prst="ellipse">
            <a:avLst/>
          </a:prstGeom>
          <a:solidFill>
            <a:srgbClr val="00B4D8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560320"/>
            <a:ext cx="2743200" cy="2743200"/>
          </a:xfrm>
          <a:prstGeom prst="ellipse">
            <a:avLst/>
          </a:prstGeom>
          <a:solidFill>
            <a:srgbClr val="00B4D8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spc="600" kern="0" dirty="0">
                <a:solidFill>
                  <a:srgbClr val="00B4D8"/>
                </a:solidFill>
              </a:rPr>
              <a:t>2b ACADEMY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6858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Python Bootcamp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90B4C5"/>
                </a:solidFill>
              </a:rPr>
              <a:t>Week 1 — Python Fundamentals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B4D8"/>
                </a:solidFill>
              </a:rPr>
              <a:t>Jul 1 – Jul 3, 2026  |  Days 1-3  |  9 Hours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657600"/>
            <a:ext cx="2286000" cy="640080"/>
          </a:xfrm>
          <a:prstGeom prst="roundRect">
            <a:avLst>
              <a:gd name="adj" fmla="val 14286"/>
            </a:avLst>
          </a:prstGeom>
          <a:solidFill>
            <a:srgbClr val="00B4D8">
              <a:alpha val="3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6576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🐍  Python 3.x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017520" y="3657600"/>
            <a:ext cx="2286000" cy="640080"/>
          </a:xfrm>
          <a:prstGeom prst="roundRect">
            <a:avLst>
              <a:gd name="adj" fmla="val 14286"/>
            </a:avLst>
          </a:prstGeom>
          <a:solidFill>
            <a:srgbClr val="00B4D8">
              <a:alpha val="3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3017520" y="36576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💻  VS Code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0" y="3657600"/>
            <a:ext cx="2743200" cy="640080"/>
          </a:xfrm>
          <a:prstGeom prst="roundRect">
            <a:avLst>
              <a:gd name="adj" fmla="val 14286"/>
            </a:avLst>
          </a:prstGeom>
          <a:solidFill>
            <a:srgbClr val="00B4D8">
              <a:alpha val="3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0" y="36576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🚀  Beginner Friendly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About This Bootcamp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1920240" cy="1645920"/>
          </a:xfrm>
          <a:prstGeom prst="roundRect">
            <a:avLst>
              <a:gd name="adj" fmla="val 6667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9728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B4D8"/>
                </a:solidFill>
              </a:rPr>
              <a:t>22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365760" y="19202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B4C5"/>
                </a:solidFill>
              </a:rPr>
              <a:t>Training Days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14600" y="1005840"/>
            <a:ext cx="1920240" cy="1645920"/>
          </a:xfrm>
          <a:prstGeom prst="roundRect">
            <a:avLst>
              <a:gd name="adj" fmla="val 6667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14600" y="109728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B4D8"/>
                </a:solidFill>
              </a:rPr>
              <a:t>66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2514600" y="19202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B4C5"/>
                </a:solidFill>
              </a:rPr>
              <a:t>Contact Hours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1920240" cy="1645920"/>
          </a:xfrm>
          <a:prstGeom prst="roundRect">
            <a:avLst>
              <a:gd name="adj" fmla="val 6667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63440" y="109728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B4D8"/>
                </a:solidFill>
              </a:rPr>
              <a:t>3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4663440" y="19202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B4C5"/>
                </a:solidFill>
              </a:rPr>
              <a:t>Hours / Day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12280" y="1005840"/>
            <a:ext cx="1920240" cy="1645920"/>
          </a:xfrm>
          <a:prstGeom prst="roundRect">
            <a:avLst>
              <a:gd name="adj" fmla="val 6667"/>
            </a:avLst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12280" y="109728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B4D8"/>
                </a:solidFill>
              </a:rPr>
              <a:t>5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6812280" y="19202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0B4C5"/>
                </a:solidFill>
              </a:rPr>
              <a:t>Modules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" y="29260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📅  </a:t>
            </a:r>
            <a:pPr algn="l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Batch Dates:  </a:t>
            </a:r>
            <a:pPr algn="l" indent="0" marL="0">
              <a:buNone/>
            </a:pPr>
            <a:r>
              <a:rPr lang="en-US" sz="1400" dirty="0">
                <a:solidFill>
                  <a:srgbClr val="445566"/>
                </a:solidFill>
              </a:rPr>
              <a:t>July 1 – July 31, 2026 (Mon–Fri)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65760" y="344728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🛠️  </a:t>
            </a:r>
            <a:pPr algn="l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Tools:  </a:t>
            </a:r>
            <a:pPr algn="l" indent="0" marL="0">
              <a:buNone/>
            </a:pPr>
            <a:r>
              <a:rPr lang="en-US" sz="1400" dirty="0">
                <a:solidFill>
                  <a:srgbClr val="445566"/>
                </a:solidFill>
              </a:rPr>
              <a:t>Python 3.x · VS Code · Flask · NumPy · Pandas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65760" y="3968496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🎯  </a:t>
            </a:r>
            <a:pPr algn="l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Goal:  </a:t>
            </a:r>
            <a:pPr algn="l" indent="0" marL="0">
              <a:buNone/>
            </a:pPr>
            <a:r>
              <a:rPr lang="en-US" sz="1400" dirty="0">
                <a:solidFill>
                  <a:srgbClr val="445566"/>
                </a:solidFill>
              </a:rPr>
              <a:t>From zero Python to Full Stack + AI Basics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65760" y="4489704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🏆  </a:t>
            </a:r>
            <a:pPr algn="l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Capstones:  </a:t>
            </a:r>
            <a:pPr algn="l" indent="0" marL="0">
              <a:buNone/>
            </a:pPr>
            <a:r>
              <a:rPr lang="en-US" sz="1400" dirty="0">
                <a:solidFill>
                  <a:srgbClr val="445566"/>
                </a:solidFill>
              </a:rPr>
              <a:t>5 graded projects + Final Demo Day (Jul 30)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How Every Day Works — The 3-Hour Rhythm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606040" cy="39319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2606040" cy="640080"/>
          </a:xfrm>
          <a:prstGeom prst="roundRect">
            <a:avLst>
              <a:gd name="adj" fmla="val 17143"/>
            </a:avLst>
          </a:prstGeom>
          <a:solidFill>
            <a:srgbClr val="00B4D8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325880"/>
            <a:ext cx="2606040" cy="2743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9601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Hour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26187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</a:rPr>
              <a:t>LEARN IT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24231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4455"/>
                </a:solidFill>
              </a:rPr>
              <a:t>Concept + Analogy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34455"/>
                </a:solidFill>
              </a:rPr>
              <a:t>Live coding demo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34455"/>
                </a:solidFill>
              </a:rPr>
              <a:t>Code-along with you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46120" y="960120"/>
            <a:ext cx="2606040" cy="39319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960120"/>
            <a:ext cx="2606040" cy="640080"/>
          </a:xfrm>
          <a:prstGeom prst="roundRect">
            <a:avLst>
              <a:gd name="adj" fmla="val 17143"/>
            </a:avLst>
          </a:prstGeom>
          <a:solidFill>
            <a:srgbClr val="F77F00"/>
          </a:solidFill>
          <a:ln/>
        </p:spPr>
      </p:sp>
      <p:sp>
        <p:nvSpPr>
          <p:cNvPr id="12" name="Shape 10"/>
          <p:cNvSpPr/>
          <p:nvPr/>
        </p:nvSpPr>
        <p:spPr>
          <a:xfrm>
            <a:off x="3246120" y="1325880"/>
            <a:ext cx="2606040" cy="274320"/>
          </a:xfrm>
          <a:prstGeom prst="rect">
            <a:avLst/>
          </a:prstGeom>
          <a:solidFill>
            <a:srgbClr val="F77F00"/>
          </a:solidFill>
          <a:ln/>
        </p:spPr>
      </p:sp>
      <p:sp>
        <p:nvSpPr>
          <p:cNvPr id="13" name="Text 11"/>
          <p:cNvSpPr/>
          <p:nvPr/>
        </p:nvSpPr>
        <p:spPr>
          <a:xfrm>
            <a:off x="3246120" y="9601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Hour 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46120" y="126187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</a:rPr>
              <a:t>DO IT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37560" y="1691640"/>
            <a:ext cx="24231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4455"/>
                </a:solidFill>
              </a:rPr>
              <a:t>Independent lab problems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34455"/>
                </a:solidFill>
              </a:rPr>
              <a:t>Pair programming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34455"/>
                </a:solidFill>
              </a:rPr>
              <a:t>2 students present solutions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26480" y="960120"/>
            <a:ext cx="2606040" cy="39319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960120"/>
            <a:ext cx="2606040" cy="640080"/>
          </a:xfrm>
          <a:prstGeom prst="roundRect">
            <a:avLst>
              <a:gd name="adj" fmla="val 17143"/>
            </a:avLst>
          </a:prstGeom>
          <a:solidFill>
            <a:srgbClr val="06D6A0"/>
          </a:solidFill>
          <a:ln/>
        </p:spPr>
      </p:sp>
      <p:sp>
        <p:nvSpPr>
          <p:cNvPr id="18" name="Shape 16"/>
          <p:cNvSpPr/>
          <p:nvPr/>
        </p:nvSpPr>
        <p:spPr>
          <a:xfrm>
            <a:off x="6126480" y="1325880"/>
            <a:ext cx="2606040" cy="27432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0" y="9601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Hour 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126480" y="126187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</a:rPr>
              <a:t>USE IT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17920" y="1691640"/>
            <a:ext cx="24231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34455"/>
                </a:solidFill>
              </a:rPr>
              <a:t>Mini-project / practical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34455"/>
                </a:solidFill>
              </a:rPr>
              <a:t>Peer code review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334455"/>
                </a:solidFill>
              </a:rPr>
              <a:t>Exit ticket + tomorrow preview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65760" y="4572000"/>
            <a:ext cx="8412480" cy="384048"/>
          </a:xfrm>
          <a:prstGeom prst="roundRect">
            <a:avLst>
              <a:gd name="adj" fmla="val 19048"/>
            </a:avLst>
          </a:prstGeom>
          <a:solidFill>
            <a:srgbClr val="FFD166">
              <a:alpha val="4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5720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⚡ Engagement: Daily quiz · Bug hunts · Pair programming · Rotating presenters · Exit tickets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Week 1 At-a-Glance — What We Cover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548640" cy="502920"/>
          </a:xfrm>
          <a:prstGeom prst="roundRect">
            <a:avLst>
              <a:gd name="adj" fmla="val 10909"/>
            </a:avLst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058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51560" y="1005840"/>
            <a:ext cx="76809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88720" y="100584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D1B2A"/>
                </a:solidFill>
              </a:rPr>
              <a:t>Day 1  (Wed Jul 1)  — Python Setup, Variables, Data Types, Operators, I/O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1719072"/>
            <a:ext cx="548640" cy="502920"/>
          </a:xfrm>
          <a:prstGeom prst="roundRect">
            <a:avLst>
              <a:gd name="adj" fmla="val 10909"/>
            </a:avLst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71907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51560" y="1719072"/>
            <a:ext cx="76809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188720" y="1719072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D1B2A"/>
                </a:solidFill>
              </a:rPr>
              <a:t>Day 2  (Thu Jul 2)  — Control Statements: if-else, Loops + Number Guessing Game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65760" y="2432304"/>
            <a:ext cx="548640" cy="502920"/>
          </a:xfrm>
          <a:prstGeom prst="roundRect">
            <a:avLst>
              <a:gd name="adj" fmla="val 10909"/>
            </a:avLst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2432304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051560" y="2432304"/>
            <a:ext cx="76809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188720" y="2432304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D1B2A"/>
                </a:solidFill>
              </a:rPr>
              <a:t>Day 3  (Fri Jul 3)  — Functions, DRY Principle, Built-ins + Quiz Scorer Project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3145536"/>
            <a:ext cx="548640" cy="502920"/>
          </a:xfrm>
          <a:prstGeom prst="roundRect">
            <a:avLst>
              <a:gd name="adj" fmla="val 10909"/>
            </a:avLst>
          </a:prstGeom>
          <a:solidFill>
            <a:srgbClr val="00B4D8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3145536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051560" y="3145536"/>
            <a:ext cx="76809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188720" y="3145536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D1B2A"/>
                </a:solidFill>
              </a:rPr>
              <a:t>Weekend —  Practice! Revisit all 3 days' code, attempt bonus exercises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65760" y="3858768"/>
            <a:ext cx="548640" cy="502920"/>
          </a:xfrm>
          <a:prstGeom prst="roundRect">
            <a:avLst>
              <a:gd name="adj" fmla="val 10909"/>
            </a:avLst>
          </a:prstGeom>
          <a:solidFill>
            <a:srgbClr val="00B4D8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385876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</a:rPr>
              <a:t>5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051560" y="3858768"/>
            <a:ext cx="76809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188720" y="3858768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D1B2A"/>
                </a:solidFill>
              </a:rPr>
              <a:t>Coming up Week 2 → Data Structures, Strings, File Handling, OOP Basics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194560" cy="411480"/>
          </a:xfrm>
          <a:prstGeom prst="roundRect">
            <a:avLst>
              <a:gd name="adj" fmla="val 17778"/>
            </a:avLst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DAY 1 / WEEK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Day 1 — Wed, Jul 1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514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B4D8"/>
                </a:solidFill>
              </a:rPr>
              <a:t>Orientation + Python Basics: Setup · Variables · I/O · Operators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0" y="3200400"/>
            <a:ext cx="2286000" cy="2286000"/>
          </a:xfrm>
          <a:prstGeom prst="ellipse">
            <a:avLst/>
          </a:prstGeom>
          <a:solidFill>
            <a:srgbClr val="00B4D8">
              <a:alpha val="1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046720" y="2560320"/>
            <a:ext cx="1097280" cy="1097280"/>
          </a:xfrm>
          <a:prstGeom prst="ellipse">
            <a:avLst/>
          </a:prstGeom>
          <a:solidFill>
            <a:srgbClr val="00B4D8">
              <a:alpha val="30000"/>
            </a:srgbClr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is Python?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D1B2A"/>
                </a:solidFill>
              </a:rPr>
              <a:t>Python is an interpreted, high-level, beginner-friendly programming language — readable, powerful, and used everywhere.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1645920"/>
            <a:ext cx="1600200" cy="32004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7373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🌐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74320" y="24231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Web Dev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2834640"/>
            <a:ext cx="16002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5566"/>
                </a:solidFill>
              </a:rPr>
              <a:t>Django · Flask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45566"/>
                </a:solidFill>
              </a:rPr>
              <a:t>Powerful backends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011680" y="1645920"/>
            <a:ext cx="1600200" cy="32004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11680" y="17373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🤖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011680" y="24231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AI / ML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011680" y="2834640"/>
            <a:ext cx="16002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5566"/>
                </a:solidFill>
              </a:rPr>
              <a:t>TensorFlow · scikit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45566"/>
                </a:solidFill>
              </a:rPr>
              <a:t>What we'll build!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749040" y="1645920"/>
            <a:ext cx="1600200" cy="32004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749040" y="17373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📊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749040" y="24231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Data Science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749040" y="2834640"/>
            <a:ext cx="16002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5566"/>
                </a:solidFill>
              </a:rPr>
              <a:t>Pandas · NumPy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45566"/>
                </a:solidFill>
              </a:rPr>
              <a:t>Analyse anything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0" y="1645920"/>
            <a:ext cx="1600200" cy="32004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0" y="17373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⚙️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5486400" y="24231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Automation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0" y="2834640"/>
            <a:ext cx="16002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5566"/>
                </a:solidFill>
              </a:rPr>
              <a:t>Scripts · bots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45566"/>
                </a:solidFill>
              </a:rPr>
              <a:t>Save hours of work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223760" y="1645920"/>
            <a:ext cx="1600200" cy="32004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223760" y="17373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🎮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7223760" y="24231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Game Dev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223760" y="2834640"/>
            <a:ext cx="16002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5566"/>
                </a:solidFill>
              </a:rPr>
              <a:t>PyGame · Arcade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45566"/>
                </a:solidFill>
              </a:rPr>
              <a:t>For fun projects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Environment Setup (Do This Together!)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005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60120" y="960120"/>
            <a:ext cx="77724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97280" y="960120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Download Python 3.x  </a:t>
            </a:r>
            <a:pPr algn="l" indent="0" marL="0">
              <a:buNone/>
            </a:pPr>
            <a:r>
              <a:rPr lang="en-US" sz="1300" dirty="0">
                <a:solidFill>
                  <a:srgbClr val="445566"/>
                </a:solidFill>
              </a:rPr>
              <a:t>— Go to python.org → Downloads → Install with 'Add to PATH' checked ✓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801368"/>
            <a:ext cx="502920" cy="502920"/>
          </a:xfrm>
          <a:prstGeom prst="ellipse">
            <a:avLst/>
          </a:prstGeom>
          <a:solidFill>
            <a:srgbClr val="F77F00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801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60120" y="1755648"/>
            <a:ext cx="77724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97280" y="1755648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Verify Installation  </a:t>
            </a:r>
            <a:pPr algn="l" indent="0" marL="0">
              <a:buNone/>
            </a:pPr>
            <a:r>
              <a:rPr lang="en-US" sz="1300" dirty="0">
                <a:solidFill>
                  <a:srgbClr val="445566"/>
                </a:solidFill>
              </a:rPr>
              <a:t>— Open terminal/cmd → type:  python --version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45566"/>
                </a:solidFill>
              </a:rPr>
              <a:t>You should see: Python 3.x.x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" y="2596896"/>
            <a:ext cx="502920" cy="502920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25968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60120" y="2551176"/>
            <a:ext cx="77724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097280" y="2551176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Install VS Code  </a:t>
            </a:r>
            <a:pPr algn="l" indent="0" marL="0">
              <a:buNone/>
            </a:pPr>
            <a:r>
              <a:rPr lang="en-US" sz="1300" dirty="0">
                <a:solidFill>
                  <a:srgbClr val="445566"/>
                </a:solidFill>
              </a:rPr>
              <a:t>— Go to code.visualstudio.com → Download → Install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74320" y="3392424"/>
            <a:ext cx="502920" cy="502920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33924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60120" y="3346704"/>
            <a:ext cx="77724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097280" y="3346704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Python Extension  </a:t>
            </a:r>
            <a:pPr algn="l" indent="0" marL="0">
              <a:buNone/>
            </a:pPr>
            <a:r>
              <a:rPr lang="en-US" sz="1300" dirty="0">
                <a:solidFill>
                  <a:srgbClr val="445566"/>
                </a:solidFill>
              </a:rPr>
              <a:t>— Open VS Code → Extensions (Ctrl+Shift+X) → Search 'Python' → Install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74320" y="4187952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4187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5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60120" y="4142232"/>
            <a:ext cx="77724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97280" y="4142232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First Program!  </a:t>
            </a:r>
            <a:pPr algn="l" indent="0" marL="0">
              <a:buNone/>
            </a:pPr>
            <a:r>
              <a:rPr lang="en-US" sz="1300" dirty="0">
                <a:solidFill>
                  <a:srgbClr val="445566"/>
                </a:solidFill>
              </a:rPr>
              <a:t>— Create hello.py → type print("Hello, World!") → Run ▶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Variables &amp; Data Types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143000"/>
            <a:ext cx="38404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B4D8"/>
                </a:solidFill>
              </a:rPr>
              <a:t>Variables
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0D1B2A"/>
                </a:solidFill>
              </a:rPr>
              <a:t>A variable is a named box that stores a value.
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Rules:
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</a:rPr>
              <a:t>• Start with letter or _
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</a:rPr>
              <a:t>• Case sensitive (name ≠ Name)
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</a:rPr>
              <a:t>• No spaces (use_underscore)
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</a:rPr>
              <a:t>• No reserved keywords
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077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10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077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'Alice'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077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is_student = True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09160" y="1005840"/>
            <a:ext cx="4114800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0" y="1143000"/>
            <a:ext cx="38404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B4D8"/>
                </a:solidFill>
              </a:rPr>
              <a:t>Core Data Types
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   → 10, -5, 0
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  → 3.14, -0.5
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    → "Hello"
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   → True / False
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   → no value
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Check the type:
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type(10)      → &lt;class 'int'&gt;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type('Hi')   → &lt;class 'str'&gt;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Input, Output &amp; f-Strings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D1B2A"/>
                </a:solidFill>
              </a:rPr>
              <a:t>Python communicates with the user through print() for output and input() for input. f-strings make formatting easy.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8412480" cy="2834640"/>
          </a:xfrm>
          <a:prstGeom prst="roundRect">
            <a:avLst>
              <a:gd name="adj" fmla="val 3871"/>
            </a:avLst>
          </a:prstGeom>
          <a:solidFill>
            <a:srgbClr val="1E2D3D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664208"/>
            <a:ext cx="804672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Output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print("Hello, World!")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print("My score is", 95)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Input — always returns a string!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input("What is your name? ")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 = int(input("How old are you? "))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f-strings (Python 3.6+)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print(f"Hello, {name}! You are {age} years old.")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print(f"In 10 years you will be {age + 10}.")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Type conversion examples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int("42")        # string → integer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float("3.14")    # string → float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 = str(100)         # integer → string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526280"/>
            <a:ext cx="8412480" cy="457200"/>
          </a:xfrm>
          <a:prstGeom prst="roundRect">
            <a:avLst>
              <a:gd name="adj" fmla="val 16000"/>
            </a:avLst>
          </a:prstGeom>
          <a:solidFill>
            <a:srgbClr val="00B4D8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77B6"/>
                </a:solidFill>
              </a:rPr>
              <a:t>💡 input() always gives a STRING — use int() or float() to convert numbers!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Operators in Python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143000"/>
            <a:ext cx="38404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B4D8"/>
                </a:solidFill>
              </a:rPr>
              <a:t>Arithmetic Operators
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Addition         5+3 = 8
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   Subtraction      5-3 = 2
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   Multiplication   5*3 = 15
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    Division         7/2 = 3.5
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Floor Div        7//2 = 3
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   Modulo           7%2 = 1
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**   Power            2**3 = 8
</a:t>
            </a:r>
            <a:endParaRPr lang="en-US" sz="14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00B4D8"/>
                </a:solidFill>
              </a:rPr>
              <a:t>Comparison Operators
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  !=  &gt;  &lt;  &gt;=  &lt;=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09160" y="1005840"/>
            <a:ext cx="4114800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0" y="1143000"/>
            <a:ext cx="38404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B4D8"/>
                </a:solidFill>
              </a:rPr>
              <a:t>Logical Operators
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 →  both must be True
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   →  at least one True
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 →  flips True/False
</a:t>
            </a:r>
            <a:endParaRPr lang="en-US" sz="14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00B4D8"/>
                </a:solidFill>
              </a:rPr>
              <a:t>Assignment Operators
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5
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+= 3   # x = x + 3
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-= 2   # x = x - 2
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*= 4   # x = x * 4
</a:t>
            </a:r>
            <a:endParaRPr lang="en-US" sz="14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00B4D8"/>
                </a:solidFill>
              </a:rPr>
              <a:t>Type Conversion
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int('5') · float('3.2') · str(10)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Day 1 Practical — Calculator Program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D1B2A"/>
                </a:solidFill>
              </a:rPr>
              <a:t>Mini project: Build a calculator that takes two numbers and an operator as input, performs the operation, and prints the result.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8412480" cy="2834640"/>
          </a:xfrm>
          <a:prstGeom prst="roundRect">
            <a:avLst>
              <a:gd name="adj" fmla="val 3871"/>
            </a:avLst>
          </a:prstGeom>
          <a:solidFill>
            <a:srgbClr val="1E2D3D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664208"/>
            <a:ext cx="804672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Calculator Program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num1 = float(input("Enter first number: "))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   = input("Enter operator (+, -, *, /): ")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num2 = float(input("Enter second number: "))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We'll add conditions tomorrow (if-else)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For now, let's do just addition: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num1 + num2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print(f"{num1} + {num2} = {result}")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Challenge: try all 4 operations manually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and print all results at once!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526280"/>
            <a:ext cx="8412480" cy="457200"/>
          </a:xfrm>
          <a:prstGeom prst="roundRect">
            <a:avLst>
              <a:gd name="adj" fmla="val 16000"/>
            </a:avLst>
          </a:prstGeom>
          <a:solidFill>
            <a:srgbClr val="00B4D8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77B6"/>
                </a:solidFill>
              </a:rPr>
              <a:t>💡 Tomorrow we use if-else to make the calculator handle ALL operators automatically!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B4D8"/>
                </a:solidFill>
              </a:rPr>
              <a:t>🧠 Practice Questions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365760" y="6400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Day 1 — Practice Questions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FFD166"/>
                </a:solidFill>
              </a:rPr>
              <a:t>Q1.  </a:t>
            </a:r>
            <a:pPr algn="l"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FFFFFF"/>
                </a:solidFill>
              </a:rPr>
              <a:t>Write a program that asks for your name and age, then prints: 'Hello [name], you will turn [age+1] next year!'</a:t>
            </a:r>
            <a:pPr algn="l" indent="0" marL="0">
              <a:spcAft>
                <a:spcPts val="1200"/>
              </a:spcAft>
              <a:buNone/>
            </a:pPr>
            <a:endParaRPr lang="en-US" sz="150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FFD166"/>
                </a:solidFill>
              </a:rPr>
              <a:t>Q2.  </a:t>
            </a:r>
            <a:pPr algn="l"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FFFFFF"/>
                </a:solidFill>
              </a:rPr>
              <a:t>What is the output of: print(type(3.14))  and  print(type(True))?</a:t>
            </a:r>
            <a:pPr algn="l" indent="0" marL="0">
              <a:spcAft>
                <a:spcPts val="1200"/>
              </a:spcAft>
              <a:buNone/>
            </a:pPr>
            <a:endParaRPr lang="en-US" sz="150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FFD166"/>
                </a:solidFill>
              </a:rPr>
              <a:t>Q3.  </a:t>
            </a:r>
            <a:pPr algn="l"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FFFFFF"/>
                </a:solidFill>
              </a:rPr>
              <a:t>What does 17 % 5 evaluate to? What real-world use case does the % operator have?</a:t>
            </a:r>
            <a:pPr algn="l" indent="0" marL="0">
              <a:spcAft>
                <a:spcPts val="1200"/>
              </a:spcAft>
              <a:buNone/>
            </a:pPr>
            <a:endParaRPr lang="en-US" sz="150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FFD166"/>
                </a:solidFill>
              </a:rPr>
              <a:t>Q4.  </a:t>
            </a:r>
            <a:pPr algn="l"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FFFFFF"/>
                </a:solidFill>
              </a:rPr>
              <a:t>Convert the string '42' to an integer and multiply it by 3. Print the result.</a:t>
            </a:r>
            <a:pPr algn="l" indent="0" marL="0">
              <a:spcAft>
                <a:spcPts val="1200"/>
              </a:spcAft>
              <a:buNone/>
            </a:pPr>
            <a:endParaRPr lang="en-US" sz="150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FFD166"/>
                </a:solidFill>
              </a:rPr>
              <a:t>Q5.  </a:t>
            </a:r>
            <a:pPr algn="l"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FFFFFF"/>
                </a:solidFill>
              </a:rPr>
              <a:t>Bug Hunt: name = input('name') / print('Hello + name) — Find and fix both errors.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194560" cy="411480"/>
          </a:xfrm>
          <a:prstGeom prst="roundRect">
            <a:avLst>
              <a:gd name="adj" fmla="val 17778"/>
            </a:avLst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DAY 2 / WEEK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Day 2 — Thu, Jul 2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514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B4D8"/>
                </a:solidFill>
              </a:rPr>
              <a:t>Control Statements: if-else · Loops · Number Guessing Game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0" y="3200400"/>
            <a:ext cx="2286000" cy="2286000"/>
          </a:xfrm>
          <a:prstGeom prst="ellipse">
            <a:avLst/>
          </a:prstGeom>
          <a:solidFill>
            <a:srgbClr val="00B4D8">
              <a:alpha val="1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046720" y="2560320"/>
            <a:ext cx="1097280" cy="1097280"/>
          </a:xfrm>
          <a:prstGeom prst="ellipse">
            <a:avLst/>
          </a:prstGeom>
          <a:solidFill>
            <a:srgbClr val="00B4D8">
              <a:alpha val="30000"/>
            </a:srgbClr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Control Flow — if / elif / else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143000"/>
            <a:ext cx="38404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B4D8"/>
                </a:solidFill>
              </a:rPr>
              <a:t>Syntax
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condition:
    # run this
elif other_condition:
    # or this
else:
    # fallback
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Example: Grade Check
</a:t>
            </a:r>
            <a:endParaRPr lang="en-US" sz="14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 = int(input('Marks: '))</a:t>
            </a:r>
            <a:endParaRPr lang="en-US" sz="14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marks &gt;= 90:</a:t>
            </a:r>
            <a:endParaRPr lang="en-US" sz="14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print('A grade')</a:t>
            </a:r>
            <a:endParaRPr lang="en-US" sz="14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marks &gt;= 75:</a:t>
            </a:r>
            <a:endParaRPr lang="en-US" sz="14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print('B grade')</a:t>
            </a:r>
            <a:endParaRPr lang="en-US" sz="14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marks &gt;= 60:</a:t>
            </a:r>
            <a:endParaRPr lang="en-US" sz="14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print('C grade')</a:t>
            </a:r>
            <a:endParaRPr lang="en-US" sz="14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4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print('Fail')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09160" y="1005840"/>
            <a:ext cx="4114800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0" y="1143000"/>
            <a:ext cx="38404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B4D8"/>
                </a:solidFill>
              </a:rPr>
              <a:t>Key Rules
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</a:rPr>
              <a:t>• Python uses INDENTATION (4 spaces)
  — not curly braces { }
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</a:rPr>
              <a:t>• Conditions use == not =
  (= assigns, == compares)
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</a:rPr>
              <a:t>• elif = 'else if' (saves nesting)
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</a:rPr>
              <a:t>• else is optional
</a:t>
            </a:r>
            <a:endParaRPr lang="en-US" sz="14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00B4D8"/>
                </a:solidFill>
              </a:rPr>
              <a:t>Nested Conditions
</a:t>
            </a:r>
            <a:endParaRPr lang="en-US" sz="14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 20</a:t>
            </a:r>
            <a:endParaRPr lang="en-US" sz="14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has_id = True</a:t>
            </a:r>
            <a:endParaRPr lang="en-US" sz="14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age &gt;= 18:</a:t>
            </a:r>
            <a:endParaRPr lang="en-US" sz="14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has_id:</a:t>
            </a:r>
            <a:endParaRPr lang="en-US" sz="14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print('Entry OK')</a:t>
            </a:r>
            <a:endParaRPr lang="en-US" sz="14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</a:t>
            </a:r>
            <a:endParaRPr lang="en-US" sz="14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print('Show ID')</a:t>
            </a:r>
            <a:endParaRPr lang="en-US" sz="14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4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print('Under 18')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Loops — for &amp; while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143000"/>
            <a:ext cx="38404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B4D8"/>
                </a:solidFill>
              </a:rPr>
              <a:t>for Loop
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45566"/>
                </a:solidFill>
              </a:rPr>
              <a:t>Use when you know HOW MANY times
</a:t>
            </a:r>
            <a:endParaRPr lang="en-US" sz="14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Range of numbers</a:t>
            </a:r>
            <a:endParaRPr lang="en-US" sz="14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range(1, 6):</a:t>
            </a:r>
            <a:endParaRPr lang="en-US" sz="14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print(i)   # 1 2 3 4 5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Loop over a string</a:t>
            </a:r>
            <a:endParaRPr lang="en-US" sz="14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ch in 'Python':</a:t>
            </a:r>
            <a:endParaRPr lang="en-US" sz="14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print(ch)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Multiplication table</a:t>
            </a:r>
            <a:endParaRPr lang="en-US" sz="14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range(1, 11):</a:t>
            </a:r>
            <a:endParaRPr lang="en-US" sz="14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print(f'5 x {i} = {5*i}')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09160" y="1005840"/>
            <a:ext cx="4114800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0" y="1143000"/>
            <a:ext cx="38404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B4D8"/>
                </a:solidFill>
              </a:rPr>
              <a:t>while Loop
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45566"/>
                </a:solidFill>
              </a:rPr>
              <a:t>Use when you don't know HOW MANY times
</a:t>
            </a:r>
            <a:endParaRPr lang="en-US" sz="14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 = 1
while count &lt;= 5:
    print(count)
    count += 1
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break &amp; continue
</a:t>
            </a:r>
            <a:endParaRPr lang="en-US" sz="14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range(10):</a:t>
            </a:r>
            <a:endParaRPr lang="en-US" sz="14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i == 5:</a:t>
            </a:r>
            <a:endParaRPr lang="en-US" sz="14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break     # stop loop</a:t>
            </a:r>
            <a:endParaRPr lang="en-US" sz="14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i % 2 == 0:</a:t>
            </a:r>
            <a:endParaRPr lang="en-US" sz="14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continue  # skip even</a:t>
            </a:r>
            <a:endParaRPr lang="en-US" sz="14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print(i)  # prints 1,3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 Avoid infinite while loops!</a:t>
            </a:r>
            <a:endParaRPr lang="en-US" sz="14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always update the condition.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Day 2 Practical — Number Guessing Game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D1B2A"/>
                </a:solidFill>
              </a:rPr>
              <a:t>Combine random module + while loop + if-elif-else to build an interactive game!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8412480" cy="2834640"/>
          </a:xfrm>
          <a:prstGeom prst="roundRect">
            <a:avLst>
              <a:gd name="adj" fmla="val 3871"/>
            </a:avLst>
          </a:prstGeom>
          <a:solidFill>
            <a:srgbClr val="1E2D3D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664208"/>
            <a:ext cx="804672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random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secret = random.randint(1, 100)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attempts = 0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print("🎯 Guess the number between 1 and 100!")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True: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guess = int(input("Your guess: "))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attempts += 1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guess &lt; secret: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print("📈 Too low! Try higher.")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elif guess &gt; secret: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print("📉 Too high! Try lower.")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print(f"🎉 Correct! You got it in {attempts} attempts!")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break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print(f"The secret number was {secret}.")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526280"/>
            <a:ext cx="8412480" cy="457200"/>
          </a:xfrm>
          <a:prstGeom prst="roundRect">
            <a:avLst>
              <a:gd name="adj" fmla="val 16000"/>
            </a:avLst>
          </a:prstGeom>
          <a:solidFill>
            <a:srgbClr val="00B4D8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77B6"/>
                </a:solidFill>
              </a:rPr>
              <a:t>💡 random.randint(a, b) returns a random integer N such that a ≤ N ≤ b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B4D8"/>
                </a:solidFill>
              </a:rPr>
              <a:t>🧠 Practice Questions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365760" y="6400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Day 2 — Practice Questions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FFD166"/>
                </a:solidFill>
              </a:rPr>
              <a:t>Q1.  </a:t>
            </a:r>
            <a:pPr algn="l"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FFFFFF"/>
                </a:solidFill>
              </a:rPr>
              <a:t>Write an if-else program to check if a number entered by the user is positive, negative, or zero.</a:t>
            </a:r>
            <a:pPr algn="l" indent="0" marL="0">
              <a:spcAft>
                <a:spcPts val="1200"/>
              </a:spcAft>
              <a:buNone/>
            </a:pPr>
            <a:endParaRPr lang="en-US" sz="150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FFD166"/>
                </a:solidFill>
              </a:rPr>
              <a:t>Q2.  </a:t>
            </a:r>
            <a:pPr algn="l"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FFFFFF"/>
                </a:solidFill>
              </a:rPr>
              <a:t>Print a multiplication table for any number entered by the user (using a for loop).</a:t>
            </a:r>
            <a:pPr algn="l" indent="0" marL="0">
              <a:spcAft>
                <a:spcPts val="1200"/>
              </a:spcAft>
              <a:buNone/>
            </a:pPr>
            <a:endParaRPr lang="en-US" sz="150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FFD166"/>
                </a:solidFill>
              </a:rPr>
              <a:t>Q3.  </a:t>
            </a:r>
            <a:pPr algn="l"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FFFFFF"/>
                </a:solidFill>
              </a:rPr>
              <a:t>Using a while loop, keep asking the user for a number until they enter 0. Print the sum of all numbers entered.</a:t>
            </a:r>
            <a:pPr algn="l" indent="0" marL="0">
              <a:spcAft>
                <a:spcPts val="1200"/>
              </a:spcAft>
              <a:buNone/>
            </a:pPr>
            <a:endParaRPr lang="en-US" sz="150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FFD166"/>
                </a:solidFill>
              </a:rPr>
              <a:t>Q4.  </a:t>
            </a:r>
            <a:pPr algn="l"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FFFFFF"/>
                </a:solidFill>
              </a:rPr>
              <a:t>Write a program that prints numbers 1–20 but skips multiples of 3 (use continue).</a:t>
            </a:r>
            <a:pPr algn="l" indent="0" marL="0">
              <a:spcAft>
                <a:spcPts val="1200"/>
              </a:spcAft>
              <a:buNone/>
            </a:pPr>
            <a:endParaRPr lang="en-US" sz="150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FFD166"/>
                </a:solidFill>
              </a:rPr>
              <a:t>Q5.  </a:t>
            </a:r>
            <a:pPr algn="l"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FFFFFF"/>
                </a:solidFill>
              </a:rPr>
              <a:t>Modify the Number Guessing Game: add a maximum attempts limit of 7. If exceeded, print 'Game over!'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194560" cy="411480"/>
          </a:xfrm>
          <a:prstGeom prst="roundRect">
            <a:avLst>
              <a:gd name="adj" fmla="val 17778"/>
            </a:avLst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DAY 3 / WEEK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Day 3 — Fri, Jul 3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514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B4D8"/>
                </a:solidFill>
              </a:rPr>
              <a:t>Functions — DRY Principle · Parameters · Return Values · Built-ins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0" y="3200400"/>
            <a:ext cx="2286000" cy="2286000"/>
          </a:xfrm>
          <a:prstGeom prst="ellipse">
            <a:avLst/>
          </a:prstGeom>
          <a:solidFill>
            <a:srgbClr val="00B4D8">
              <a:alpha val="1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046720" y="2560320"/>
            <a:ext cx="1097280" cy="1097280"/>
          </a:xfrm>
          <a:prstGeom prst="ellipse">
            <a:avLst/>
          </a:prstGeom>
          <a:solidFill>
            <a:srgbClr val="00B4D8">
              <a:alpha val="30000"/>
            </a:srgbClr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Functions? — The DRY Principle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4D8"/>
                </a:solidFill>
              </a:rPr>
              <a:t>DRY = Don't Repeat Yourself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D1B2A"/>
                </a:solidFill>
              </a:rPr>
              <a:t>Functions let you write code ONCE and use it ANYWHERE.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1828800"/>
            <a:ext cx="4114800" cy="3017520"/>
          </a:xfrm>
          <a:prstGeom prst="roundRect">
            <a:avLst>
              <a:gd name="adj" fmla="val 3030"/>
            </a:avLst>
          </a:prstGeom>
          <a:solidFill>
            <a:srgbClr val="FFF0F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8745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233C"/>
                </a:solidFill>
              </a:rPr>
              <a:t>❌  Without Functions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2286000"/>
            <a:ext cx="37490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1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print("Hello Alice!")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1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print("Alice is 20 years old.")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1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... 30 lines later ...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1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print("Hello Bob!")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1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print("Bob is 25 years old.")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1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Repeating the same logic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11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everywhere — hard to change!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828800"/>
            <a:ext cx="4114800" cy="3017520"/>
          </a:xfrm>
          <a:prstGeom prst="roundRect">
            <a:avLst>
              <a:gd name="adj" fmla="val 3030"/>
            </a:avLst>
          </a:prstGeom>
          <a:solidFill>
            <a:srgbClr val="F0FFF4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00600" y="18745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D6A0"/>
                </a:solidFill>
              </a:rPr>
              <a:t>✅  With Functions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00600" y="2286000"/>
            <a:ext cx="3840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3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greet(name, age):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3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print(f"Hello {name}!")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3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print(f"{name} is {age}.")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3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Use it anywhere, anytime: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3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greet("Alice", 20)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3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greet("Bob", 25)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3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greet("Carol", 22)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33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Change once → updates everywhere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Function Syntax — def, Parameters, Return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D1B2A"/>
                </a:solidFill>
              </a:rPr>
              <a:t>Functions are defined with 'def', can accept parameters (inputs), and can return values (outputs).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8412480" cy="2834640"/>
          </a:xfrm>
          <a:prstGeom prst="roundRect">
            <a:avLst>
              <a:gd name="adj" fmla="val 3871"/>
            </a:avLst>
          </a:prstGeom>
          <a:solidFill>
            <a:srgbClr val="1E2D3D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664208"/>
            <a:ext cx="804672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Basic function — no parameters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greet():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print("Hello, everyone!")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Function with parameters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greet_person(name):          # name is a parameter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print(f"Hello, {name}!")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Function with return value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add(a, b):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 = a + b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result                 # sends the answer back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Default parameter value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power(base, exp=2):           # exp defaults to 2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base ** exp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--- Calling functions ---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greet()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greet_person("Alice")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= add(10, 5)               # total = 15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print(total)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print(power(3))                  # 3^2 = 9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print(power(3, 3))               # 3^3 = 27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526280"/>
            <a:ext cx="8412480" cy="457200"/>
          </a:xfrm>
          <a:prstGeom prst="roundRect">
            <a:avLst>
              <a:gd name="adj" fmla="val 16000"/>
            </a:avLst>
          </a:prstGeom>
          <a:solidFill>
            <a:srgbClr val="00B4D8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77B6"/>
                </a:solidFill>
              </a:rPr>
              <a:t>💡 print() inside a function shows output; return sends a value back to the caller — both have different uses!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Useful Built-in Functions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143000"/>
            <a:ext cx="38404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B4D8"/>
                </a:solidFill>
              </a:rPr>
              <a:t>Math &amp; Sequences
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len([1,2,3])      → 3
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sum([1,2,3])      → 6
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max([5,2,8])      → 8
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min([5,2,8])      → 2
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abs(-7)           → 7
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round(3.567, 2)   → 3.57
</a:t>
            </a:r>
            <a:endParaRPr lang="en-US" sz="14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00B4D8"/>
                </a:solidFill>
              </a:rPr>
              <a:t>Range
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range(5)      → 0,1,2,3,4
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range(1,6)    → 1,2,3,4,5
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range(0,10,2) → 0,2,4,6,8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09160" y="1005840"/>
            <a:ext cx="4114800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0" y="1143000"/>
            <a:ext cx="38404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B4D8"/>
                </a:solidFill>
              </a:rPr>
              <a:t>Sorting &amp; Type Checks
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sorted([3,1,2])   → [1,2,3]
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sorted([3,1,2], reverse=True)
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type(42)     → &lt;class 'int'&gt;
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isinstance(42, int) → True
</a:t>
            </a:r>
            <a:endParaRPr lang="en-US" sz="14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00B4D8"/>
                </a:solidFill>
              </a:rPr>
              <a:t>Common Lab Functions to Write
</a:t>
            </a:r>
            <a:endParaRPr lang="en-US" sz="14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is_even(n):</a:t>
            </a:r>
            <a:endParaRPr lang="en-US" sz="14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 % 2 == 0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factorial(n):</a:t>
            </a:r>
            <a:endParaRPr lang="en-US" sz="14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 = 1</a:t>
            </a:r>
            <a:endParaRPr lang="en-US" sz="14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 in range(1, n+1):</a:t>
            </a:r>
            <a:endParaRPr lang="en-US" sz="14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result *= i</a:t>
            </a:r>
            <a:endParaRPr lang="en-US" sz="14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result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reverse_string(s):</a:t>
            </a:r>
            <a:endParaRPr lang="en-US" sz="14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s[::-1]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Day 3 Practical — Function-Based Quiz Scorer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D1B2A"/>
                </a:solidFill>
              </a:rPr>
              <a:t>Build a quiz where each question is evaluated by a function, and scores are tracked and reported at the end.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8412480" cy="2834640"/>
          </a:xfrm>
          <a:prstGeom prst="roundRect">
            <a:avLst>
              <a:gd name="adj" fmla="val 3871"/>
            </a:avLst>
          </a:prstGeom>
          <a:solidFill>
            <a:srgbClr val="1E2D3D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664208"/>
            <a:ext cx="804672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ask_question(question, correct_answer):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"""Ask a question and return 1 if correct, 0 if wrong."""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answer = input(question + " ").strip().lower()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answer == correct_answer.lower():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print("✅ Correct!")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1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print(f"❌ Wrong! Answer: {correct_answer}")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0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display_result(score, total):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percent = (score / total) * 100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print(f"\nYour Score: {score}/{total} ({percent:.1f}%)")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percent &gt;= 80: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print("🏆 Excellent!")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elif percent &gt;= 50: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print("👍 Good effort!")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print("📚 Keep studying!")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Run the quiz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= 0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+= ask_question("Capital of India?", "New Delhi")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+= ask_question("2 ** 8 = ?", "256")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+= ask_question("Python is interpreted? (yes/no)", "yes")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display_result(score, 3)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526280"/>
            <a:ext cx="8412480" cy="457200"/>
          </a:xfrm>
          <a:prstGeom prst="roundRect">
            <a:avLst>
              <a:gd name="adj" fmla="val 16000"/>
            </a:avLst>
          </a:prstGeom>
          <a:solidFill>
            <a:srgbClr val="00B4D8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77B6"/>
                </a:solidFill>
              </a:rPr>
              <a:t>💡 Bug Hunt bonus: Give students a broken version of this code with 3 deliberate errors to find and fix!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B4D8"/>
                </a:solidFill>
              </a:rPr>
              <a:t>🧠 Practice Questions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365760" y="6400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Day 3 — Practice Questions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FFD166"/>
                </a:solidFill>
              </a:rPr>
              <a:t>Q1.  </a:t>
            </a:r>
            <a:pPr algn="l"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FFFFFF"/>
                </a:solidFill>
              </a:rPr>
              <a:t>Write a function is_prime(n) that returns True if n is a prime number, False otherwise.</a:t>
            </a:r>
            <a:pPr algn="l" indent="0" marL="0">
              <a:spcAft>
                <a:spcPts val="1200"/>
              </a:spcAft>
              <a:buNone/>
            </a:pPr>
            <a:endParaRPr lang="en-US" sz="150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FFD166"/>
                </a:solidFill>
              </a:rPr>
              <a:t>Q2.  </a:t>
            </a:r>
            <a:pPr algn="l"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FFFFFF"/>
                </a:solidFill>
              </a:rPr>
              <a:t>Write a function find_max(nums) that returns the largest number in a list WITHOUT using max().</a:t>
            </a:r>
            <a:pPr algn="l" indent="0" marL="0">
              <a:spcAft>
                <a:spcPts val="1200"/>
              </a:spcAft>
              <a:buNone/>
            </a:pPr>
            <a:endParaRPr lang="en-US" sz="150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FFD166"/>
                </a:solidFill>
              </a:rPr>
              <a:t>Q3.  </a:t>
            </a:r>
            <a:pPr algn="l"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FFFFFF"/>
                </a:solidFill>
              </a:rPr>
              <a:t>Write a function celsius_to_fahrenheit(c) and call it for 0°C, 100°C, and 37°C.</a:t>
            </a:r>
            <a:pPr algn="l" indent="0" marL="0">
              <a:spcAft>
                <a:spcPts val="1200"/>
              </a:spcAft>
              <a:buNone/>
            </a:pPr>
            <a:endParaRPr lang="en-US" sz="150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FFD166"/>
                </a:solidFill>
              </a:rPr>
              <a:t>Q4.  </a:t>
            </a:r>
            <a:pPr algn="l"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FFFFFF"/>
                </a:solidFill>
              </a:rPr>
              <a:t>What is the difference between return and print inside a function? Give an example of each.</a:t>
            </a:r>
            <a:pPr algn="l" indent="0" marL="0">
              <a:spcAft>
                <a:spcPts val="1200"/>
              </a:spcAft>
              <a:buNone/>
            </a:pPr>
            <a:endParaRPr lang="en-US" sz="150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FFD166"/>
                </a:solidFill>
              </a:rPr>
              <a:t>Q5.  </a:t>
            </a:r>
            <a:pPr algn="l"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FFFFFF"/>
                </a:solidFill>
              </a:rPr>
              <a:t>Write a function count_vowels(word) that returns the number of vowels in the given string.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Week 1 Recap — What You've Learned!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7432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6984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🐍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554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Python Setup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92024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5566"/>
                </a:solidFill>
              </a:rPr>
              <a:t>Python 3.x + VS Code installed and running. You wrote your first program!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960120"/>
            <a:ext cx="27432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06984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📦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291840" y="1554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Variables &amp; Types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91840" y="192024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5566"/>
                </a:solidFill>
              </a:rPr>
              <a:t>int, float, str, bool, None. Dynamic typing. type() function.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960120"/>
            <a:ext cx="27432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26480" y="106984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💬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217920" y="1554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Input / Output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17920" y="192024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5566"/>
                </a:solidFill>
              </a:rPr>
              <a:t>print(), input(), f-strings, type conversion (int, float, str).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926080"/>
            <a:ext cx="27432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74320" y="303580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➕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365760" y="35204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Operators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65760" y="388620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5566"/>
                </a:solidFill>
              </a:rPr>
              <a:t>Arithmetic, comparison, logical, assignment operators and precedence.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2926080"/>
            <a:ext cx="27432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200400" y="303580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🔀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3291840" y="35204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Control Flow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291840" y="388620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5566"/>
                </a:solidFill>
              </a:rPr>
              <a:t>if/elif/else for decisions. for and while loops with break/continue.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2926080"/>
            <a:ext cx="27432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126480" y="303580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217920" y="35204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Functions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217920" y="388620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5566"/>
                </a:solidFill>
              </a:rPr>
              <a:t>def, parameters, return values, default arguments, built-in functions.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00B4D8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B4D8"/>
                </a:solidFill>
              </a:rPr>
              <a:t>Coming Up Next ⚡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Week 2 — Data, Strings, Files &amp; OOP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920240"/>
            <a:ext cx="8412480" cy="594360"/>
          </a:xfrm>
          <a:prstGeom prst="roundRect">
            <a:avLst>
              <a:gd name="adj" fmla="val 12308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9202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📋  </a:t>
            </a:r>
            <a:pPr algn="l" indent="0" marL="0">
              <a:buNone/>
            </a:pPr>
            <a:r>
              <a:rPr lang="en-US" sz="1400" b="1" dirty="0">
                <a:solidFill>
                  <a:srgbClr val="FFD166"/>
                </a:solidFill>
              </a:rPr>
              <a:t>Day 4 — Mon Jul 6  </a:t>
            </a:r>
            <a:pPr algn="l" indent="0" marL="0">
              <a:buNone/>
            </a:pPr>
            <a:r>
              <a:rPr lang="en-US" sz="1400" dirty="0">
                <a:solidFill>
                  <a:srgbClr val="90B4C5"/>
                </a:solidFill>
              </a:rPr>
              <a:t>— Lists, Tuples, Dictionaries + Student Marks Program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2624328"/>
            <a:ext cx="8412480" cy="594360"/>
          </a:xfrm>
          <a:prstGeom prst="roundRect">
            <a:avLst>
              <a:gd name="adj" fmla="val 12308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6243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✂️  </a:t>
            </a:r>
            <a:pPr algn="l" indent="0" marL="0">
              <a:buNone/>
            </a:pPr>
            <a:r>
              <a:rPr lang="en-US" sz="1400" b="1" dirty="0">
                <a:solidFill>
                  <a:srgbClr val="FFD166"/>
                </a:solidFill>
              </a:rPr>
              <a:t>Day 5 — Tue Jul 7  </a:t>
            </a:r>
            <a:pPr algn="l" indent="0" marL="0">
              <a:buNone/>
            </a:pPr>
            <a:r>
              <a:rPr lang="en-US" sz="1400" dirty="0">
                <a:solidFill>
                  <a:srgbClr val="90B4C5"/>
                </a:solidFill>
              </a:rPr>
              <a:t>— String Handling: methods, patterns, palindrome checker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3328416"/>
            <a:ext cx="8412480" cy="594360"/>
          </a:xfrm>
          <a:prstGeom prst="roundRect">
            <a:avLst>
              <a:gd name="adj" fmla="val 12308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3328416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📁  </a:t>
            </a:r>
            <a:pPr algn="l" indent="0" marL="0">
              <a:buNone/>
            </a:pPr>
            <a:r>
              <a:rPr lang="en-US" sz="1400" b="1" dirty="0">
                <a:solidFill>
                  <a:srgbClr val="FFD166"/>
                </a:solidFill>
              </a:rPr>
              <a:t>Day 6 — Wed Jul 8  </a:t>
            </a:r>
            <a:pPr algn="l" indent="0" marL="0">
              <a:buNone/>
            </a:pPr>
            <a:r>
              <a:rPr lang="en-US" sz="1400" dirty="0">
                <a:solidFill>
                  <a:srgbClr val="90B4C5"/>
                </a:solidFill>
              </a:rPr>
              <a:t>— File Handling, Error Handling + Module 1 Capstone Project!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4032504"/>
            <a:ext cx="8412480" cy="594360"/>
          </a:xfrm>
          <a:prstGeom prst="roundRect">
            <a:avLst>
              <a:gd name="adj" fmla="val 12308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4032504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🏛️  </a:t>
            </a:r>
            <a:pPr algn="l" indent="0" marL="0">
              <a:buNone/>
            </a:pPr>
            <a:r>
              <a:rPr lang="en-US" sz="1400" b="1" dirty="0">
                <a:solidFill>
                  <a:srgbClr val="FFD166"/>
                </a:solidFill>
              </a:rPr>
              <a:t>Day 7-8 — Thu/Fri  </a:t>
            </a:r>
            <a:pPr algn="l" indent="0" marL="0">
              <a:buNone/>
            </a:pPr>
            <a:r>
              <a:rPr lang="en-US" sz="1400" dirty="0">
                <a:solidFill>
                  <a:srgbClr val="90B4C5"/>
                </a:solidFill>
              </a:rPr>
              <a:t>— OOP: Classes, Objects, Inheritance, Encapsulation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D6A0"/>
                </a:solidFill>
              </a:rPr>
              <a:t>🏠  Weekend Homework: Revisit all 3 days' code · Attempt bonus questions · Come with doubts!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4572000" cy="4572000"/>
          </a:xfrm>
          <a:prstGeom prst="ellipse">
            <a:avLst/>
          </a:prstGeom>
          <a:solidFill>
            <a:srgbClr val="00B4D8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914400"/>
            <a:ext cx="4114800" cy="4114800"/>
          </a:xfrm>
          <a:prstGeom prst="ellipse">
            <a:avLst/>
          </a:prstGeom>
          <a:solidFill>
            <a:srgbClr val="00B4D8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0" y="45720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🐍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914400" y="14630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Great Work Today!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2331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0B4C5"/>
                </a:solidFill>
              </a:rPr>
              <a:t>You've taken your first step into the world of Python 🚀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828800" y="292608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D8"/>
                </a:solidFill>
              </a:rPr>
              <a:t>Exit Ticket — Before you leave, write: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371600" y="3383280"/>
            <a:ext cx="6400800" cy="109728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463040" y="3429000"/>
            <a:ext cx="6217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FFFFFF"/>
                </a:solidFill>
              </a:rPr>
              <a:t>"Today I learned ___ and my one doubt is ___"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14400" y="4663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46677"/>
                </a:solidFill>
              </a:rPr>
              <a:t>2b Academy  ·  Python Bootcamp  ·  July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2b Academy — Week 1: Python Fundamentals</dc:title>
  <dc:subject>PptxGenJS Presentation</dc:subject>
  <dc:creator>PptxGenJS</dc:creator>
  <cp:lastModifiedBy>PptxGenJS</cp:lastModifiedBy>
  <cp:revision>1</cp:revision>
  <dcterms:created xsi:type="dcterms:W3CDTF">2026-06-25T06:46:46Z</dcterms:created>
  <dcterms:modified xsi:type="dcterms:W3CDTF">2026-06-25T06:46:46Z</dcterms:modified>
</cp:coreProperties>
</file>