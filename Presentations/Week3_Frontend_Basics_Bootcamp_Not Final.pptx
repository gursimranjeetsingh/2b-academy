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Masters/slideMaster20.xml" ContentType="application/vnd.openxmlformats-officedocument.presentationml.slideMaster+xml"/>
  <Override PartName="/ppt/slideMasters/slideMaster21.xml" ContentType="application/vnd.openxmlformats-officedocument.presentationml.slideMaster+xml"/>
  <Override PartName="/ppt/slideMasters/slideMaster22.xml" ContentType="application/vnd.openxmlformats-officedocument.presentationml.slideMaster+xml"/>
  <Override PartName="/ppt/slideMasters/slideMaster23.xml" ContentType="application/vnd.openxmlformats-officedocument.presentationml.slideMaster+xml"/>
  <Override PartName="/ppt/slideMasters/slideMaster24.xml" ContentType="application/vnd.openxmlformats-officedocument.presentationml.slideMaster+xml"/>
  <Override PartName="/ppt/slideMasters/slideMaster25.xml" ContentType="application/vnd.openxmlformats-officedocument.presentationml.slideMaster+xml"/>
  <Override PartName="/ppt/slideMasters/slideMaster26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382" r:id="rId33"/>
    <p:sldId id="383" r:id="rId34"/>
    <p:sldId id="384" r:id="rId35"/>
    <p:sldId id="385" r:id="rId36"/>
    <p:sldId id="386" r:id="rId37"/>
    <p:sldId id="387" r:id="rId38"/>
    <p:sldId id="388" r:id="rId39"/>
    <p:sldId id="389" r:id="rId40"/>
    <p:sldId id="390" r:id="rId41"/>
    <p:sldId id="391" r:id="rId42"/>
    <p:sldId id="392" r:id="rId43"/>
    <p:sldId id="393" r:id="rId44"/>
    <p:sldId id="394" r:id="rId45"/>
    <p:sldId id="395" r:id="rId46"/>
    <p:sldId id="396" r:id="rId47"/>
    <p:sldId id="397" r:id="rId48"/>
    <p:sldId id="398" r:id="rId49"/>
    <p:sldId id="399" r:id="rId50"/>
    <p:sldId id="400" r:id="rId51"/>
    <p:sldId id="401" r:id="rId52"/>
    <p:sldId id="402" r:id="rId53"/>
    <p:sldId id="403" r:id="rId54"/>
    <p:sldId id="404" r:id="rId55"/>
    <p:sldId id="405" r:id="rId56"/>
    <p:sldId id="406" r:id="rId57"/>
    <p:sldId id="407" r:id="rId58"/>
    <p:sldId id="408" r:id="rId59"/>
    <p:sldId id="409" r:id="rId60"/>
    <p:sldId id="410" r:id="rId61"/>
    <p:sldId id="411" r:id="rId62"/>
    <p:sldId id="412" r:id="rId63"/>
    <p:sldId id="413" r:id="rId64"/>
  </p:sldIdLst>
  <p:notesMasterIdLst>
    <p:notesMasterId r:id="rId2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457200"/>
            <a:ext cx="4572000" cy="4572000"/>
          </a:xfrm>
          <a:prstGeom prst="ellipse">
            <a:avLst/>
          </a:prstGeom>
          <a:solidFill>
            <a:srgbClr val="00B4D8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2560320"/>
            <a:ext cx="2743200" cy="2743200"/>
          </a:xfrm>
          <a:prstGeom prst="ellipse">
            <a:avLst/>
          </a:prstGeom>
          <a:solidFill>
            <a:srgbClr val="00B4D8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4572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spc="600" kern="0" dirty="0">
                <a:solidFill>
                  <a:srgbClr val="00B4D8"/>
                </a:solidFill>
              </a:rPr>
              <a:t>2b ACADEMY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914400"/>
            <a:ext cx="6858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Python Bootcamp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90B4C5"/>
                </a:solidFill>
              </a:rPr>
              <a:t>Week 3 — Frontend Basics: HTML, CSS &amp; JavaScript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260604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0B4D8"/>
                </a:solidFill>
              </a:rPr>
              <a:t>Jul 13 – Jul 17, 2026  |  Days 9-13  |  15 Hours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3657600"/>
            <a:ext cx="2286000" cy="640080"/>
          </a:xfrm>
          <a:prstGeom prst="roundRect">
            <a:avLst>
              <a:gd name="adj" fmla="val 14286"/>
            </a:avLst>
          </a:prstGeom>
          <a:solidFill>
            <a:srgbClr val="00B4D8">
              <a:alpha val="3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365760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🌐  HTML5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017520" y="3657600"/>
            <a:ext cx="2286000" cy="640080"/>
          </a:xfrm>
          <a:prstGeom prst="roundRect">
            <a:avLst>
              <a:gd name="adj" fmla="val 14286"/>
            </a:avLst>
          </a:prstGeom>
          <a:solidFill>
            <a:srgbClr val="00B4D8">
              <a:alpha val="3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3017520" y="365760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🎨  CSS3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0" y="3657600"/>
            <a:ext cx="2743200" cy="640080"/>
          </a:xfrm>
          <a:prstGeom prst="roundRect">
            <a:avLst>
              <a:gd name="adj" fmla="val 14286"/>
            </a:avLst>
          </a:prstGeom>
          <a:solidFill>
            <a:srgbClr val="00B4D8">
              <a:alpha val="3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0" y="365760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⚡  JavaScript</a:t>
            </a:r>
            <a:endParaRPr lang="en-US" sz="14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About This Week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1920240" cy="1645920"/>
          </a:xfrm>
          <a:prstGeom prst="roundRect">
            <a:avLst>
              <a:gd name="adj" fmla="val 6667"/>
            </a:avLst>
          </a:prstGeom>
          <a:solidFill>
            <a:srgbClr val="0D1B2A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09728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00B4D8"/>
                </a:solidFill>
              </a:rPr>
              <a:t>5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365760" y="192024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0B4C5"/>
                </a:solidFill>
              </a:rPr>
              <a:t>Training Days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514600" y="1005840"/>
            <a:ext cx="1920240" cy="1645920"/>
          </a:xfrm>
          <a:prstGeom prst="roundRect">
            <a:avLst>
              <a:gd name="adj" fmla="val 6667"/>
            </a:avLst>
          </a:prstGeom>
          <a:solidFill>
            <a:srgbClr val="0D1B2A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514600" y="109728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00B4D8"/>
                </a:solidFill>
              </a:rPr>
              <a:t>15</a:t>
            </a:r>
            <a:endParaRPr lang="en-US" sz="5200" dirty="0"/>
          </a:p>
        </p:txBody>
      </p:sp>
      <p:sp>
        <p:nvSpPr>
          <p:cNvPr id="9" name="Text 7"/>
          <p:cNvSpPr/>
          <p:nvPr/>
        </p:nvSpPr>
        <p:spPr>
          <a:xfrm>
            <a:off x="2514600" y="192024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0B4C5"/>
                </a:solidFill>
              </a:rPr>
              <a:t>Contact Hours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663440" y="1005840"/>
            <a:ext cx="1920240" cy="1645920"/>
          </a:xfrm>
          <a:prstGeom prst="roundRect">
            <a:avLst>
              <a:gd name="adj" fmla="val 6667"/>
            </a:avLst>
          </a:prstGeom>
          <a:solidFill>
            <a:srgbClr val="0D1B2A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663440" y="109728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00B4D8"/>
                </a:solidFill>
              </a:rPr>
              <a:t>3</a:t>
            </a:r>
            <a:endParaRPr lang="en-US" sz="5200" dirty="0"/>
          </a:p>
        </p:txBody>
      </p:sp>
      <p:sp>
        <p:nvSpPr>
          <p:cNvPr id="12" name="Text 10"/>
          <p:cNvSpPr/>
          <p:nvPr/>
        </p:nvSpPr>
        <p:spPr>
          <a:xfrm>
            <a:off x="4663440" y="192024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0B4C5"/>
                </a:solidFill>
              </a:rPr>
              <a:t>Hours / Day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812280" y="1005840"/>
            <a:ext cx="1920240" cy="1645920"/>
          </a:xfrm>
          <a:prstGeom prst="roundRect">
            <a:avLst>
              <a:gd name="adj" fmla="val 6667"/>
            </a:avLst>
          </a:prstGeom>
          <a:solidFill>
            <a:srgbClr val="0D1B2A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812280" y="109728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00B4D8"/>
                </a:solidFill>
              </a:rPr>
              <a:t>2</a:t>
            </a:r>
            <a:endParaRPr lang="en-US" sz="5200" dirty="0"/>
          </a:p>
        </p:txBody>
      </p:sp>
      <p:sp>
        <p:nvSpPr>
          <p:cNvPr id="15" name="Text 13"/>
          <p:cNvSpPr/>
          <p:nvPr/>
        </p:nvSpPr>
        <p:spPr>
          <a:xfrm>
            <a:off x="6812280" y="192024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0B4C5"/>
                </a:solidFill>
              </a:rPr>
              <a:t>Modules Touched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65760" y="292608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📅  </a:t>
            </a:r>
            <a:pPr algn="l" indent="0" marL="0">
              <a:buNone/>
            </a:pPr>
            <a:r>
              <a:rPr lang="en-US" sz="1400" b="1" dirty="0">
                <a:solidFill>
                  <a:srgbClr val="0D1B2A"/>
                </a:solidFill>
              </a:rPr>
              <a:t>Week Dates:  </a:t>
            </a:r>
            <a:pPr algn="l" indent="0" marL="0">
              <a:buNone/>
            </a:pPr>
            <a:r>
              <a:rPr lang="en-US" sz="1400" dirty="0">
                <a:solidFill>
                  <a:srgbClr val="445566"/>
                </a:solidFill>
              </a:rPr>
              <a:t>July 13 – July 17, 2026 (Mon–Fri)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65760" y="3447288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🛠️  </a:t>
            </a:r>
            <a:pPr algn="l" indent="0" marL="0">
              <a:buNone/>
            </a:pPr>
            <a:r>
              <a:rPr lang="en-US" sz="1400" b="1" dirty="0">
                <a:solidFill>
                  <a:srgbClr val="0D1B2A"/>
                </a:solidFill>
              </a:rPr>
              <a:t>Tools:  </a:t>
            </a:r>
            <a:pPr algn="l" indent="0" marL="0">
              <a:buNone/>
            </a:pPr>
            <a:r>
              <a:rPr lang="en-US" sz="1400" dirty="0">
                <a:solidFill>
                  <a:srgbClr val="445566"/>
                </a:solidFill>
              </a:rPr>
              <a:t>HTML5 · CSS3 · JavaScript (ES6) · Flask · VS Code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365760" y="3968496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🎯  </a:t>
            </a:r>
            <a:pPr algn="l" indent="0" marL="0">
              <a:buNone/>
            </a:pPr>
            <a:r>
              <a:rPr lang="en-US" sz="1400" b="1" dirty="0">
                <a:solidFill>
                  <a:srgbClr val="0D1B2A"/>
                </a:solidFill>
              </a:rPr>
              <a:t>Goal:  </a:t>
            </a:r>
            <a:pPr algn="l" indent="0" marL="0">
              <a:buNone/>
            </a:pPr>
            <a:r>
              <a:rPr lang="en-US" sz="1400" dirty="0">
                <a:solidFill>
                  <a:srgbClr val="445566"/>
                </a:solidFill>
              </a:rPr>
              <a:t>From a static page to a live frontend + Flask backend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365760" y="4489704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🏆  </a:t>
            </a:r>
            <a:pPr algn="l" indent="0" marL="0">
              <a:buNone/>
            </a:pPr>
            <a:r>
              <a:rPr lang="en-US" sz="1400" b="1" dirty="0">
                <a:solidFill>
                  <a:srgbClr val="0D1B2A"/>
                </a:solidFill>
              </a:rPr>
              <a:t>Capstones:  </a:t>
            </a:r>
            <a:pPr algn="l" indent="0" marL="0">
              <a:buNone/>
            </a:pPr>
            <a:r>
              <a:rPr lang="en-US" sz="1400" dirty="0">
                <a:solidFill>
                  <a:srgbClr val="445566"/>
                </a:solidFill>
              </a:rPr>
              <a:t>Portfolio Page deployed-ready + first Flask form (Day 13)</a:t>
            </a:r>
            <a:endParaRPr lang="en-US" sz="15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How Every Day Works — The 3-Hour Rhythm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2606040" cy="393192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60120"/>
            <a:ext cx="2606040" cy="640080"/>
          </a:xfrm>
          <a:prstGeom prst="roundRect">
            <a:avLst>
              <a:gd name="adj" fmla="val 17143"/>
            </a:avLst>
          </a:prstGeom>
          <a:solidFill>
            <a:srgbClr val="00B4D8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1325880"/>
            <a:ext cx="2606040" cy="27432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96012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</a:rPr>
              <a:t>Hour 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5760" y="1261872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D1B2A"/>
                </a:solidFill>
              </a:rPr>
              <a:t>LEARN IT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1691640"/>
            <a:ext cx="242316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334455"/>
                </a:solidFill>
              </a:rPr>
              <a:t>Concept + Analogy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334455"/>
                </a:solidFill>
              </a:rPr>
              <a:t>Live coding demo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334455"/>
                </a:solidFill>
              </a:rPr>
              <a:t>Code-along with you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246120" y="960120"/>
            <a:ext cx="2606040" cy="393192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46120" y="960120"/>
            <a:ext cx="2606040" cy="640080"/>
          </a:xfrm>
          <a:prstGeom prst="roundRect">
            <a:avLst>
              <a:gd name="adj" fmla="val 17143"/>
            </a:avLst>
          </a:prstGeom>
          <a:solidFill>
            <a:srgbClr val="F77F00"/>
          </a:solidFill>
          <a:ln/>
        </p:spPr>
      </p:sp>
      <p:sp>
        <p:nvSpPr>
          <p:cNvPr id="12" name="Shape 10"/>
          <p:cNvSpPr/>
          <p:nvPr/>
        </p:nvSpPr>
        <p:spPr>
          <a:xfrm>
            <a:off x="3246120" y="1325880"/>
            <a:ext cx="2606040" cy="274320"/>
          </a:xfrm>
          <a:prstGeom prst="rect">
            <a:avLst/>
          </a:prstGeom>
          <a:solidFill>
            <a:srgbClr val="F77F00"/>
          </a:solidFill>
          <a:ln/>
        </p:spPr>
      </p:sp>
      <p:sp>
        <p:nvSpPr>
          <p:cNvPr id="13" name="Text 11"/>
          <p:cNvSpPr/>
          <p:nvPr/>
        </p:nvSpPr>
        <p:spPr>
          <a:xfrm>
            <a:off x="3246120" y="96012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</a:rPr>
              <a:t>Hour 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246120" y="1261872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D1B2A"/>
                </a:solidFill>
              </a:rPr>
              <a:t>DO IT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337560" y="1691640"/>
            <a:ext cx="242316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334455"/>
                </a:solidFill>
              </a:rPr>
              <a:t>Independent lab problems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334455"/>
                </a:solidFill>
              </a:rPr>
              <a:t>Pair programming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334455"/>
                </a:solidFill>
              </a:rPr>
              <a:t>2 students present solutions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126480" y="960120"/>
            <a:ext cx="2606040" cy="393192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26480" y="960120"/>
            <a:ext cx="2606040" cy="640080"/>
          </a:xfrm>
          <a:prstGeom prst="roundRect">
            <a:avLst>
              <a:gd name="adj" fmla="val 17143"/>
            </a:avLst>
          </a:prstGeom>
          <a:solidFill>
            <a:srgbClr val="06D6A0"/>
          </a:solidFill>
          <a:ln/>
        </p:spPr>
      </p:sp>
      <p:sp>
        <p:nvSpPr>
          <p:cNvPr id="18" name="Shape 16"/>
          <p:cNvSpPr/>
          <p:nvPr/>
        </p:nvSpPr>
        <p:spPr>
          <a:xfrm>
            <a:off x="6126480" y="1325880"/>
            <a:ext cx="2606040" cy="274320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19" name="Text 17"/>
          <p:cNvSpPr/>
          <p:nvPr/>
        </p:nvSpPr>
        <p:spPr>
          <a:xfrm>
            <a:off x="6126480" y="96012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</a:rPr>
              <a:t>Hour 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126480" y="1261872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D1B2A"/>
                </a:solidFill>
              </a:rPr>
              <a:t>USE IT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217920" y="1691640"/>
            <a:ext cx="242316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334455"/>
                </a:solidFill>
              </a:rPr>
              <a:t>Mini-project / practical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334455"/>
                </a:solidFill>
              </a:rPr>
              <a:t>Peer code review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334455"/>
                </a:solidFill>
              </a:rPr>
              <a:t>Exit ticket + tomorrow preview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365760" y="4572000"/>
            <a:ext cx="8412480" cy="384048"/>
          </a:xfrm>
          <a:prstGeom prst="roundRect">
            <a:avLst>
              <a:gd name="adj" fmla="val 19048"/>
            </a:avLst>
          </a:prstGeom>
          <a:solidFill>
            <a:srgbClr val="FFD166">
              <a:alpha val="40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457200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⚡ Engagement: Daily quiz · Bug hunts · Pair programming · Rotating presenters · Exit tickets</a:t>
            </a:r>
            <a:endParaRPr lang="en-US" sz="13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Week 3 At-a-Glance — What We Cover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548640" cy="502920"/>
          </a:xfrm>
          <a:prstGeom prst="roundRect">
            <a:avLst>
              <a:gd name="adj" fmla="val 10909"/>
            </a:avLst>
          </a:prstGeom>
          <a:solidFill>
            <a:srgbClr val="00B4D8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100584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B2A"/>
                </a:solidFill>
              </a:rPr>
              <a:t>1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051560" y="1005840"/>
            <a:ext cx="768096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188720" y="1005840"/>
            <a:ext cx="7406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D1B2A"/>
                </a:solidFill>
              </a:rPr>
              <a:t>Day 9  (Mon Jul 13)  — HTML Basics: Structure, Text, Links, Images, Tables, Forms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65760" y="1719072"/>
            <a:ext cx="548640" cy="502920"/>
          </a:xfrm>
          <a:prstGeom prst="roundRect">
            <a:avLst>
              <a:gd name="adj" fmla="val 10909"/>
            </a:avLst>
          </a:prstGeom>
          <a:solidFill>
            <a:srgbClr val="00B4D8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1719072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B2A"/>
                </a:solidFill>
              </a:rPr>
              <a:t>2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051560" y="1719072"/>
            <a:ext cx="768096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188720" y="1719072"/>
            <a:ext cx="7406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D1B2A"/>
                </a:solidFill>
              </a:rPr>
              <a:t>Day 10  (Tue Jul 14)  — CSS Basics: Selectors, Box Model + Responsive Form Styling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365760" y="2432304"/>
            <a:ext cx="548640" cy="502920"/>
          </a:xfrm>
          <a:prstGeom prst="roundRect">
            <a:avLst>
              <a:gd name="adj" fmla="val 10909"/>
            </a:avLst>
          </a:prstGeom>
          <a:solidFill>
            <a:srgbClr val="00B4D8"/>
          </a:solidFill>
          <a:ln/>
        </p:spPr>
      </p:sp>
      <p:sp>
        <p:nvSpPr>
          <p:cNvPr id="13" name="Text 11"/>
          <p:cNvSpPr/>
          <p:nvPr/>
        </p:nvSpPr>
        <p:spPr>
          <a:xfrm>
            <a:off x="365760" y="2432304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B2A"/>
                </a:solidFill>
              </a:rPr>
              <a:t>3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1051560" y="2432304"/>
            <a:ext cx="768096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1188720" y="2432304"/>
            <a:ext cx="7406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D1B2A"/>
                </a:solidFill>
              </a:rPr>
              <a:t>Day 11  (Wed Jul 15)  — JavaScript Basics: Events, DOM + Portfolio Finalized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65760" y="3145536"/>
            <a:ext cx="548640" cy="502920"/>
          </a:xfrm>
          <a:prstGeom prst="roundRect">
            <a:avLst>
              <a:gd name="adj" fmla="val 10909"/>
            </a:avLst>
          </a:prstGeom>
          <a:solidFill>
            <a:srgbClr val="00B4D8"/>
          </a:solidFill>
          <a:ln/>
        </p:spPr>
      </p:sp>
      <p:sp>
        <p:nvSpPr>
          <p:cNvPr id="17" name="Text 15"/>
          <p:cNvSpPr/>
          <p:nvPr/>
        </p:nvSpPr>
        <p:spPr>
          <a:xfrm>
            <a:off x="365760" y="3145536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B2A"/>
                </a:solidFill>
              </a:rPr>
              <a:t>4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1051560" y="3145536"/>
            <a:ext cx="768096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1188720" y="3145536"/>
            <a:ext cx="7406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D1B2A"/>
                </a:solidFill>
              </a:rPr>
              <a:t>Day 12  (Thu Jul 16)  — Backend Concepts + Flask Basics: Routing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365760" y="3858768"/>
            <a:ext cx="548640" cy="502920"/>
          </a:xfrm>
          <a:prstGeom prst="roundRect">
            <a:avLst>
              <a:gd name="adj" fmla="val 10909"/>
            </a:avLst>
          </a:prstGeom>
          <a:solidFill>
            <a:srgbClr val="00B4D8"/>
          </a:solidFill>
          <a:ln/>
        </p:spPr>
      </p:sp>
      <p:sp>
        <p:nvSpPr>
          <p:cNvPr id="21" name="Text 19"/>
          <p:cNvSpPr/>
          <p:nvPr/>
        </p:nvSpPr>
        <p:spPr>
          <a:xfrm>
            <a:off x="365760" y="3858768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B2A"/>
                </a:solidFill>
              </a:rPr>
              <a:t>5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1051560" y="3858768"/>
            <a:ext cx="768096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1188720" y="3858768"/>
            <a:ext cx="7406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D1B2A"/>
                </a:solidFill>
              </a:rPr>
              <a:t>Day 13  (Fri Jul 17)  — Templates, Form Handling + Login Form Milestone</a:t>
            </a:r>
            <a:endParaRPr lang="en-US" sz="15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2194560" cy="411480"/>
          </a:xfrm>
          <a:prstGeom prst="roundRect">
            <a:avLst>
              <a:gd name="adj" fmla="val 17778"/>
            </a:avLst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DAY 9 / WEEK 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Day 9 — Mon, Jul 13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2514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00B4D8"/>
                </a:solidFill>
              </a:rPr>
              <a:t>HTML Basics: Structure · Text · Links · Images · Tables · Forms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0" y="3200400"/>
            <a:ext cx="2286000" cy="2286000"/>
          </a:xfrm>
          <a:prstGeom prst="ellipse">
            <a:avLst/>
          </a:prstGeom>
          <a:solidFill>
            <a:srgbClr val="00B4D8">
              <a:alpha val="1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8046720" y="2560320"/>
            <a:ext cx="1097280" cy="1097280"/>
          </a:xfrm>
          <a:prstGeom prst="ellipse">
            <a:avLst/>
          </a:prstGeom>
          <a:solidFill>
            <a:srgbClr val="00B4D8">
              <a:alpha val="30000"/>
            </a:srgbClr>
          </a:solidFill>
          <a:ln/>
        </p:spPr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HTML Document Structure &amp; Text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4114800" cy="3840480"/>
          </a:xfrm>
          <a:prstGeom prst="roundRect">
            <a:avLst>
              <a:gd name="adj" fmla="val 238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1143000"/>
            <a:ext cx="384048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B4D8"/>
                </a:solidFill>
              </a:rPr>
              <a:t>Page Structure
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0D1B2A"/>
                </a:solidFill>
              </a:rPr>
              <a:t>Every HTML page starts with a standard skeleton that browsers expect.
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0D1B2A"/>
                </a:solidFill>
              </a:rPr>
              <a:t>Core Tags:
</a:t>
            </a:r>
            <a:endParaRPr lang="en-US" sz="14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0D1B2A"/>
                </a:solidFill>
              </a:rPr>
              <a:t>• &lt;!DOCTYPE html&gt; — declares HTML5
</a:t>
            </a:r>
            <a:endParaRPr lang="en-US" sz="14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0D1B2A"/>
                </a:solidFill>
              </a:rPr>
              <a:t>• &lt;html&gt; — wraps the whole page
</a:t>
            </a:r>
            <a:endParaRPr lang="en-US" sz="14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0D1B2A"/>
                </a:solidFill>
              </a:rPr>
              <a:t>• &lt;head&gt; — title, meta (not shown)
</a:t>
            </a:r>
            <a:endParaRPr lang="en-US" sz="14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0D1B2A"/>
                </a:solidFill>
              </a:rPr>
              <a:t>• &lt;body&gt; — everything visible
</a:t>
            </a:r>
            <a:endParaRPr lang="en-US" sz="14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0077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&lt;!DOCTYPE html&gt;</a:t>
            </a:r>
            <a:endParaRPr lang="en-US" sz="14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0077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&lt;html&gt;</a:t>
            </a:r>
            <a:endParaRPr lang="en-US" sz="14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0077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&lt;body&gt; ... &lt;/body&gt;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709160" y="1005840"/>
            <a:ext cx="4114800" cy="3840480"/>
          </a:xfrm>
          <a:prstGeom prst="roundRect">
            <a:avLst>
              <a:gd name="adj" fmla="val 238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0" y="1143000"/>
            <a:ext cx="384048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B4D8"/>
                </a:solidFill>
              </a:rPr>
              <a:t>Text &amp; Headings
</a:t>
            </a:r>
            <a:endParaRPr lang="en-US" sz="14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&lt;h1&gt; → &lt;h6&gt;   — headings
</a:t>
            </a:r>
            <a:endParaRPr lang="en-US" sz="14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&lt;p&gt;            — paragraph
</a:t>
            </a:r>
            <a:endParaRPr lang="en-US" sz="14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&lt;b&gt; / &lt;strong&gt;  — bold
</a:t>
            </a:r>
            <a:endParaRPr lang="en-US" sz="14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&lt;i&gt; / &lt;em&gt;  — italic
</a:t>
            </a:r>
            <a:endParaRPr lang="en-US" sz="14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&lt;br&gt;           — line break
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0D1B2A"/>
                </a:solidFill>
              </a:rPr>
              <a:t>Try it yourself:
</a:t>
            </a:r>
            <a:endParaRPr lang="en-US" sz="14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&lt;h1&gt;Hi, I'm Alex&lt;/h1&gt;</a:t>
            </a:r>
            <a:endParaRPr lang="en-US" sz="14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&lt;p&gt;I love &lt;b&gt;HTML&lt;/b&gt;!&lt;/p&gt;</a:t>
            </a:r>
            <a:endParaRPr lang="en-US" sz="14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Links, Images, Tables &amp; Forms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4114800" cy="3840480"/>
          </a:xfrm>
          <a:prstGeom prst="roundRect">
            <a:avLst>
              <a:gd name="adj" fmla="val 238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1143000"/>
            <a:ext cx="384048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0B4D8"/>
                </a:solidFill>
              </a:rPr>
              <a:t>Links &amp; Images
</a:t>
            </a:r>
            <a:endParaRPr lang="en-US" sz="14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&lt;a href="page.html"&gt;Link&lt;/a&gt;
</a:t>
            </a:r>
            <a:endParaRPr lang="en-US" sz="14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&lt;a href="#about"&gt;Jump to #&lt;/a&gt;
</a:t>
            </a:r>
            <a:endParaRPr lang="en-US" sz="14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&lt;a href="mailto:x@y.com"&gt;Email&lt;/a&gt;
</a:t>
            </a:r>
            <a:endParaRPr lang="en-US" sz="14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&lt;img src="pic.jpg" alt="Me"&gt;
</a:t>
            </a:r>
            <a:endParaRPr lang="en-US" sz="14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width="200" height="200"
</a:t>
            </a:r>
            <a:endParaRPr lang="en-US" sz="14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target="_blank"  → new tab
</a:t>
            </a:r>
            <a:endParaRPr lang="en-US" sz="14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title="..."  → tooltip on hover
</a:t>
            </a:r>
            <a:endParaRPr lang="en-US" sz="14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00B4D8"/>
                </a:solidFill>
              </a:rPr>
              <a:t>Tables
</a:t>
            </a:r>
            <a:endParaRPr lang="en-US" sz="14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&lt;table&gt;&lt;tr&gt;&lt;td&gt;Cell&lt;/td&gt;&lt;/tr&gt;&lt;/table&gt;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709160" y="1005840"/>
            <a:ext cx="4114800" cy="3840480"/>
          </a:xfrm>
          <a:prstGeom prst="roundRect">
            <a:avLst>
              <a:gd name="adj" fmla="val 238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0" y="1143000"/>
            <a:ext cx="384048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0B4D8"/>
                </a:solidFill>
              </a:rPr>
              <a:t>Forms (Basics)
</a:t>
            </a:r>
            <a:endParaRPr lang="en-US" sz="14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&lt;input type="text" name="n"&gt;
</a:t>
            </a:r>
            <a:endParaRPr lang="en-US" sz="14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&lt;input type="email" name="e"&gt;
</a:t>
            </a:r>
            <a:endParaRPr lang="en-US" sz="14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&lt;button&gt;Submit&lt;/button&gt;
</a:t>
            </a:r>
            <a:endParaRPr lang="en-US" sz="14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00B4D8"/>
                </a:solidFill>
              </a:rPr>
              <a:t>Useful Attributes
</a:t>
            </a:r>
            <a:endParaRPr lang="en-US" sz="14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placeholder="Your name"
</a:t>
            </a:r>
            <a:endParaRPr lang="en-US" sz="14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required
</a:t>
            </a:r>
            <a:endParaRPr lang="en-US" sz="14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&lt;label for="n"&gt;Name&lt;/label&gt;
</a:t>
            </a:r>
            <a:endParaRPr lang="en-US" sz="14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&lt;textarea&gt;&lt;/textarea&gt;
</a:t>
            </a:r>
            <a:endParaRPr lang="en-US" sz="14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00B4D8"/>
                </a:solidFill>
              </a:rPr>
              <a:t>Accessibility Tip
</a:t>
            </a:r>
            <a:endParaRPr lang="en-US" sz="14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alt + &lt;label&gt; → screen readers &amp; SEO</a:t>
            </a:r>
            <a:endParaRPr lang="en-US" sz="14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Day 9 Practical — Personal Portfolio Page (Start)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D1B2A"/>
                </a:solidFill>
              </a:rPr>
              <a:t>Mini project: Build the skeleton of your Personal Portfolio Page in plain HTML — header, about &amp; projects sections. Styling comes tomorrow!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600200"/>
            <a:ext cx="8412480" cy="2834640"/>
          </a:xfrm>
          <a:prstGeom prst="roundRect">
            <a:avLst>
              <a:gd name="adj" fmla="val 3871"/>
            </a:avLst>
          </a:prstGeom>
          <a:solidFill>
            <a:srgbClr val="1E2D3D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664208"/>
            <a:ext cx="8046720" cy="2697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&lt;!-- index.html --&gt;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&lt;header&gt;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&lt;h1&gt;Hi, I'm Alex&lt;/h1&gt;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&lt;p&gt;Frontend Developer in training&lt;/p&gt;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&lt;/header&gt;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&lt;!-- Styling comes tomorrow with CSS --&gt;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&lt;section id="about"&gt;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&lt;p&gt;I'm learning to build for the web.&lt;/p&gt;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&lt;/section&gt;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&lt;section id="projects"&gt;&lt;!-- project cards --&gt;&lt;/section&gt;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4526280"/>
            <a:ext cx="8412480" cy="457200"/>
          </a:xfrm>
          <a:prstGeom prst="roundRect">
            <a:avLst>
              <a:gd name="adj" fmla="val 16000"/>
            </a:avLst>
          </a:prstGeom>
          <a:solidFill>
            <a:srgbClr val="00B4D8">
              <a:alpha val="2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45262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77B6"/>
                </a:solidFill>
              </a:rPr>
              <a:t>💡 Tomorrow we add CSS to turn this plain structure into a styled, responsive page!</a:t>
            </a:r>
            <a:endParaRPr lang="en-US" sz="12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B4D8"/>
                </a:solidFill>
              </a:rPr>
              <a:t>🧠 Practice Questions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365760" y="64008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Day 9 — Practice Questions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500" b="1" dirty="0">
                <a:solidFill>
                  <a:srgbClr val="FFD166"/>
                </a:solidFill>
              </a:rPr>
              <a:t>Q1.  </a:t>
            </a:r>
            <a:pPr algn="l"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rgbClr val="FFFFFF"/>
                </a:solidFill>
              </a:rPr>
              <a:t>Build a static page with a heading, a paragraph about you, and a list of 3 hobbies using &lt;ul&gt;/&lt;li&gt;.</a:t>
            </a:r>
            <a:pPr algn="l" indent="0" marL="0">
              <a:spcAft>
                <a:spcPts val="1200"/>
              </a:spcAft>
              <a:buNone/>
            </a:pPr>
            <a:endParaRPr lang="en-US" sz="1500" dirty="0"/>
          </a:p>
          <a:p>
            <a:pPr algn="l" indent="0" marL="0">
              <a:spcAft>
                <a:spcPts val="1200"/>
              </a:spcAft>
              <a:buNone/>
            </a:pPr>
            <a:r>
              <a:rPr lang="en-US" sz="1500" b="1" dirty="0">
                <a:solidFill>
                  <a:srgbClr val="FFD166"/>
                </a:solidFill>
              </a:rPr>
              <a:t>Q2.  </a:t>
            </a:r>
            <a:pPr algn="l"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rgbClr val="FFFFFF"/>
                </a:solidFill>
              </a:rPr>
              <a:t>What's the difference between &lt;b&gt; and &lt;strong&gt;? Do they look or mean the same thing?</a:t>
            </a:r>
            <a:pPr algn="l" indent="0" marL="0">
              <a:spcAft>
                <a:spcPts val="1200"/>
              </a:spcAft>
              <a:buNone/>
            </a:pPr>
            <a:endParaRPr lang="en-US" sz="1500" dirty="0"/>
          </a:p>
          <a:p>
            <a:pPr algn="l" indent="0" marL="0">
              <a:spcAft>
                <a:spcPts val="1200"/>
              </a:spcAft>
              <a:buNone/>
            </a:pPr>
            <a:r>
              <a:rPr lang="en-US" sz="1500" b="1" dirty="0">
                <a:solidFill>
                  <a:srgbClr val="FFD166"/>
                </a:solidFill>
              </a:rPr>
              <a:t>Q3.  </a:t>
            </a:r>
            <a:pPr algn="l"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rgbClr val="FFFFFF"/>
                </a:solidFill>
              </a:rPr>
              <a:t>Add an image with proper alt text, and a link that opens in a new tab using target="_blank".</a:t>
            </a:r>
            <a:pPr algn="l" indent="0" marL="0">
              <a:spcAft>
                <a:spcPts val="1200"/>
              </a:spcAft>
              <a:buNone/>
            </a:pPr>
            <a:endParaRPr lang="en-US" sz="1500" dirty="0"/>
          </a:p>
          <a:p>
            <a:pPr algn="l" indent="0" marL="0">
              <a:spcAft>
                <a:spcPts val="1200"/>
              </a:spcAft>
              <a:buNone/>
            </a:pPr>
            <a:r>
              <a:rPr lang="en-US" sz="1500" b="1" dirty="0">
                <a:solidFill>
                  <a:srgbClr val="FFD166"/>
                </a:solidFill>
              </a:rPr>
              <a:t>Q4.  </a:t>
            </a:r>
            <a:pPr algn="l"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rgbClr val="FFFFFF"/>
                </a:solidFill>
              </a:rPr>
              <a:t>Build a 3-row, 2-column table showing a weekly class schedule, with a header row using &lt;th&gt;.</a:t>
            </a:r>
            <a:pPr algn="l" indent="0" marL="0">
              <a:spcAft>
                <a:spcPts val="1200"/>
              </a:spcAft>
              <a:buNone/>
            </a:pPr>
            <a:endParaRPr lang="en-US" sz="1500" dirty="0"/>
          </a:p>
          <a:p>
            <a:pPr algn="l" indent="0" marL="0">
              <a:spcAft>
                <a:spcPts val="1200"/>
              </a:spcAft>
              <a:buNone/>
            </a:pPr>
            <a:r>
              <a:rPr lang="en-US" sz="1500" b="1" dirty="0">
                <a:solidFill>
                  <a:srgbClr val="FFD166"/>
                </a:solidFill>
              </a:rPr>
              <a:t>Q5.  </a:t>
            </a:r>
            <a:pPr algn="l"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rgbClr val="FFFFFF"/>
                </a:solidFill>
              </a:rPr>
              <a:t>Bug Hunt: &lt;img scr="pic.jpg"&gt; and &lt;a hrf="page.html"&gt; — find and fix both typos.</a:t>
            </a:r>
            <a:endParaRPr lang="en-US" sz="15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2194560" cy="411480"/>
          </a:xfrm>
          <a:prstGeom prst="roundRect">
            <a:avLst>
              <a:gd name="adj" fmla="val 17778"/>
            </a:avLst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DAY 10 / WEEK 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Day 10 — Tue, Jul 14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2514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00B4D8"/>
                </a:solidFill>
              </a:rPr>
              <a:t>CSS Basics: Selectors · Box Model · Responsive Form Styling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0" y="3200400"/>
            <a:ext cx="2286000" cy="2286000"/>
          </a:xfrm>
          <a:prstGeom prst="ellipse">
            <a:avLst/>
          </a:prstGeom>
          <a:solidFill>
            <a:srgbClr val="00B4D8">
              <a:alpha val="1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8046720" y="2560320"/>
            <a:ext cx="1097280" cy="1097280"/>
          </a:xfrm>
          <a:prstGeom prst="ellipse">
            <a:avLst/>
          </a:prstGeom>
          <a:solidFill>
            <a:srgbClr val="00B4D8">
              <a:alpha val="30000"/>
            </a:srgbClr>
          </a:solidFill>
          <a:ln/>
        </p:spPr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CSS Basics — Selectors, Colors &amp; Fonts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4114800" cy="3840480"/>
          </a:xfrm>
          <a:prstGeom prst="roundRect">
            <a:avLst>
              <a:gd name="adj" fmla="val 238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1143000"/>
            <a:ext cx="384048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0B4D8"/>
                </a:solidFill>
              </a:rPr>
              <a:t>Syntax
</a:t>
            </a:r>
            <a:endParaRPr lang="en-US" sz="14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.box {
    property: value;
}
p {
    color: navy;
}
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00B4D8"/>
                </a:solidFill>
              </a:rPr>
              <a:t>Example: Style Headings
</a:t>
            </a:r>
            <a:endParaRPr lang="en-US" sz="14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h1 {</a:t>
            </a:r>
            <a:endParaRPr lang="en-US" sz="14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color: #1C7293;</a:t>
            </a:r>
            <a:endParaRPr lang="en-US" sz="14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font-size: 32px;</a:t>
            </a:r>
            <a:endParaRPr lang="en-US" sz="14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font-family: Arial;</a:t>
            </a:r>
            <a:endParaRPr lang="en-US" sz="14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 {</a:t>
            </a:r>
            <a:endParaRPr lang="en-US" sz="14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color: #333333;</a:t>
            </a:r>
            <a:endParaRPr lang="en-US" sz="14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line-height: 1.6;</a:t>
            </a:r>
            <a:endParaRPr lang="en-US" sz="14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709160" y="1005840"/>
            <a:ext cx="4114800" cy="3840480"/>
          </a:xfrm>
          <a:prstGeom prst="roundRect">
            <a:avLst>
              <a:gd name="adj" fmla="val 238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0" y="1143000"/>
            <a:ext cx="384048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0B4D8"/>
                </a:solidFill>
              </a:rPr>
              <a:t>Key Rules
</a:t>
            </a:r>
            <a:endParaRPr lang="en-US" sz="14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0D1B2A"/>
                </a:solidFill>
              </a:rPr>
              <a:t>• Inline: style="..." (avoid this)
  — not curly braces { }
</a:t>
            </a:r>
            <a:endParaRPr lang="en-US" sz="14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0D1B2A"/>
                </a:solidFill>
              </a:rPr>
              <a:t>• Internal: &lt;style&gt; in &lt;head&gt;
  (= assigns, == compares)
</a:t>
            </a:r>
            <a:endParaRPr lang="en-US" sz="14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0D1B2A"/>
                </a:solidFill>
              </a:rPr>
              <a:t>• External: &lt;link rel="stylesheet"&gt;
</a:t>
            </a:r>
            <a:endParaRPr lang="en-US" sz="14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0D1B2A"/>
                </a:solidFill>
              </a:rPr>
              <a:t>• Syntax: property: value;
</a:t>
            </a:r>
            <a:endParaRPr lang="en-US" sz="14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00B4D8"/>
                </a:solidFill>
              </a:rPr>
              <a:t>Selectors
</a:t>
            </a:r>
            <a:endParaRPr lang="en-US" sz="14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h1 { }</a:t>
            </a:r>
            <a:endParaRPr lang="en-US" sz="14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.card { }</a:t>
            </a:r>
            <a:endParaRPr lang="en-US" sz="14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#header { }</a:t>
            </a:r>
            <a:endParaRPr lang="en-US" sz="14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h1, p { }</a:t>
            </a:r>
            <a:endParaRPr lang="en-US" sz="14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div p { }</a:t>
            </a:r>
            <a:endParaRPr lang="en-US" sz="14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a:hover { }</a:t>
            </a:r>
            <a:endParaRPr lang="en-US" sz="14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input:focus { }</a:t>
            </a:r>
            <a:endParaRPr lang="en-US" sz="14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nav a { }</a:t>
            </a:r>
            <a:endParaRPr lang="en-US" sz="14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 { }</a:t>
            </a:r>
            <a:endParaRPr lang="en-US" sz="14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The CSS Box Model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D1B2A"/>
                </a:solidFill>
              </a:rPr>
              <a:t>Every HTML element is a rectangular box made of four layers, from the inside out.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274320" y="1645920"/>
            <a:ext cx="1600200" cy="32004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173736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📐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274320" y="242316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B4D8"/>
                </a:solidFill>
              </a:rPr>
              <a:t>Content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74320" y="2834640"/>
            <a:ext cx="16002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45566"/>
                </a:solidFill>
              </a:rPr>
              <a:t>Text, images, etc.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445566"/>
                </a:solidFill>
              </a:rPr>
              <a:t>The actual element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011680" y="1645920"/>
            <a:ext cx="1600200" cy="32004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011680" y="173736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📦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2011680" y="242316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B4D8"/>
                </a:solidFill>
              </a:rPr>
              <a:t>Padding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011680" y="2834640"/>
            <a:ext cx="16002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45566"/>
                </a:solidFill>
              </a:rPr>
              <a:t>Space inside border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445566"/>
                </a:solidFill>
              </a:rPr>
              <a:t>Around the content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749040" y="1645920"/>
            <a:ext cx="1600200" cy="32004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749040" y="173736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🔲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3749040" y="242316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B4D8"/>
                </a:solidFill>
              </a:rPr>
              <a:t>Border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749040" y="2834640"/>
            <a:ext cx="16002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45566"/>
                </a:solidFill>
              </a:rPr>
              <a:t>Line around padding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445566"/>
                </a:solidFill>
              </a:rPr>
              <a:t>Edge of the box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0" y="1645920"/>
            <a:ext cx="1600200" cy="32004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486400" y="173736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↔️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5486400" y="242316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B4D8"/>
                </a:solidFill>
              </a:rPr>
              <a:t>Margin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486400" y="2834640"/>
            <a:ext cx="16002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45566"/>
                </a:solidFill>
              </a:rPr>
              <a:t>Space outside border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445566"/>
                </a:solidFill>
              </a:rPr>
              <a:t>Pushes other boxes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223760" y="1645920"/>
            <a:ext cx="1600200" cy="32004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223760" y="173736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🛠️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7223760" y="242316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B4D8"/>
                </a:solidFill>
              </a:rPr>
              <a:t>box-sizing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223760" y="2834640"/>
            <a:ext cx="16002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45566"/>
                </a:solidFill>
              </a:rPr>
              <a:t>border-box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445566"/>
                </a:solidFill>
              </a:rPr>
              <a:t>Width incl. padding</a:t>
            </a:r>
            <a:endParaRPr lang="en-US" sz="12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0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Day 10 Practical — Responsive Form Design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D1B2A"/>
                </a:solidFill>
              </a:rPr>
              <a:t>Style the contact form so it looks great on desktop AND mobile, using the box model + a media query!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600200"/>
            <a:ext cx="8412480" cy="2834640"/>
          </a:xfrm>
          <a:prstGeom prst="roundRect">
            <a:avLst>
              <a:gd name="adj" fmla="val 3871"/>
            </a:avLst>
          </a:prstGeom>
          <a:solidFill>
            <a:srgbClr val="1E2D3D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664208"/>
            <a:ext cx="8046720" cy="2697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.contact-form {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max-width: 400px;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margin: 0 auto;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padding: 20px;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.contact-form input {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width: 100%;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padding: 10px;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margin-bottom: 12px;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box-sizing: border-box;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Mobile: stack &amp; full-width */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@media (max-width: 600px) {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.contact-form { padding: 12px; }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4526280"/>
            <a:ext cx="8412480" cy="457200"/>
          </a:xfrm>
          <a:prstGeom prst="roundRect">
            <a:avLst>
              <a:gd name="adj" fmla="val 16000"/>
            </a:avLst>
          </a:prstGeom>
          <a:solidFill>
            <a:srgbClr val="00B4D8">
              <a:alpha val="2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45262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77B6"/>
                </a:solidFill>
              </a:rPr>
              <a:t>💡 box-sizing: border-box keeps padding from breaking your width calculations!</a:t>
            </a:r>
            <a:endParaRPr lang="en-US" sz="12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B4D8"/>
                </a:solidFill>
              </a:rPr>
              <a:t>🧠 Practice Questions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365760" y="64008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Day 10 — Practice Questions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500" b="1" dirty="0">
                <a:solidFill>
                  <a:srgbClr val="FFD166"/>
                </a:solidFill>
              </a:rPr>
              <a:t>Q1.  </a:t>
            </a:r>
            <a:pPr algn="l"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rgbClr val="FFFFFF"/>
                </a:solidFill>
              </a:rPr>
              <a:t>Style a card with a white background, rounded corners, padding, and a soft box-shadow.</a:t>
            </a:r>
            <a:pPr algn="l" indent="0" marL="0">
              <a:spcAft>
                <a:spcPts val="1200"/>
              </a:spcAft>
              <a:buNone/>
            </a:pPr>
            <a:endParaRPr lang="en-US" sz="1500" dirty="0"/>
          </a:p>
          <a:p>
            <a:pPr algn="l" indent="0" marL="0">
              <a:spcAft>
                <a:spcPts val="1200"/>
              </a:spcAft>
              <a:buNone/>
            </a:pPr>
            <a:r>
              <a:rPr lang="en-US" sz="1500" b="1" dirty="0">
                <a:solidFill>
                  <a:srgbClr val="FFD166"/>
                </a:solidFill>
              </a:rPr>
              <a:t>Q2.  </a:t>
            </a:r>
            <a:pPr algn="l"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rgbClr val="FFFFFF"/>
                </a:solidFill>
              </a:rPr>
              <a:t>What's the difference between margin and padding? Draw the box model from memory.</a:t>
            </a:r>
            <a:pPr algn="l" indent="0" marL="0">
              <a:spcAft>
                <a:spcPts val="1200"/>
              </a:spcAft>
              <a:buNone/>
            </a:pPr>
            <a:endParaRPr lang="en-US" sz="1500" dirty="0"/>
          </a:p>
          <a:p>
            <a:pPr algn="l" indent="0" marL="0">
              <a:spcAft>
                <a:spcPts val="1200"/>
              </a:spcAft>
              <a:buNone/>
            </a:pPr>
            <a:r>
              <a:rPr lang="en-US" sz="1500" b="1" dirty="0">
                <a:solidFill>
                  <a:srgbClr val="FFD166"/>
                </a:solidFill>
              </a:rPr>
              <a:t>Q3.  </a:t>
            </a:r>
            <a:pPr algn="l"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rgbClr val="FFFFFF"/>
                </a:solidFill>
              </a:rPr>
              <a:t>Write a CSS rule using a class selector AND an id selector for the same heading. Which wins, and why?</a:t>
            </a:r>
            <a:pPr algn="l" indent="0" marL="0">
              <a:spcAft>
                <a:spcPts val="1200"/>
              </a:spcAft>
              <a:buNone/>
            </a:pPr>
            <a:endParaRPr lang="en-US" sz="1500" dirty="0"/>
          </a:p>
          <a:p>
            <a:pPr algn="l" indent="0" marL="0">
              <a:spcAft>
                <a:spcPts val="1200"/>
              </a:spcAft>
              <a:buNone/>
            </a:pPr>
            <a:r>
              <a:rPr lang="en-US" sz="1500" b="1" dirty="0">
                <a:solidFill>
                  <a:srgbClr val="FFD166"/>
                </a:solidFill>
              </a:rPr>
              <a:t>Q4.  </a:t>
            </a:r>
            <a:pPr algn="l"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rgbClr val="FFFFFF"/>
                </a:solidFill>
              </a:rPr>
              <a:t>Add a media query so the navigation bar stacks vertically on screens under 480px wide.</a:t>
            </a:r>
            <a:pPr algn="l" indent="0" marL="0">
              <a:spcAft>
                <a:spcPts val="1200"/>
              </a:spcAft>
              <a:buNone/>
            </a:pPr>
            <a:endParaRPr lang="en-US" sz="1500" dirty="0"/>
          </a:p>
          <a:p>
            <a:pPr algn="l" indent="0" marL="0">
              <a:spcAft>
                <a:spcPts val="1200"/>
              </a:spcAft>
              <a:buNone/>
            </a:pPr>
            <a:r>
              <a:rPr lang="en-US" sz="1500" b="1" dirty="0">
                <a:solidFill>
                  <a:srgbClr val="FFD166"/>
                </a:solidFill>
              </a:rPr>
              <a:t>Q5.  </a:t>
            </a:r>
            <a:pPr algn="l"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rgbClr val="FFFFFF"/>
                </a:solidFill>
              </a:rPr>
              <a:t>Bug Hunt: .title { colour: blue; pading: 10px } — find and fix both typos.</a:t>
            </a:r>
            <a:endParaRPr lang="en-US" sz="15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2194560" cy="411480"/>
          </a:xfrm>
          <a:prstGeom prst="roundRect">
            <a:avLst>
              <a:gd name="adj" fmla="val 17778"/>
            </a:avLst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DAY 11 / WEEK 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Day 11 — Wed, Jul 15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2514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00B4D8"/>
                </a:solidFill>
              </a:rPr>
              <a:t>JavaScript Basics — Variables · Functions · Events · DOM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0" y="3200400"/>
            <a:ext cx="2286000" cy="2286000"/>
          </a:xfrm>
          <a:prstGeom prst="ellipse">
            <a:avLst/>
          </a:prstGeom>
          <a:solidFill>
            <a:srgbClr val="00B4D8">
              <a:alpha val="1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8046720" y="2560320"/>
            <a:ext cx="1097280" cy="1097280"/>
          </a:xfrm>
          <a:prstGeom prst="ellipse">
            <a:avLst/>
          </a:prstGeom>
          <a:solidFill>
            <a:srgbClr val="00B4D8">
              <a:alpha val="30000"/>
            </a:srgbClr>
          </a:solidFill>
          <a:ln/>
        </p:spPr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Variables, Functions &amp; Events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D1B2A"/>
                </a:solidFill>
              </a:rPr>
              <a:t>JavaScript adds interactivity — variables store values, functions group logic, and events respond to user actions.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600200"/>
            <a:ext cx="8412480" cy="2834640"/>
          </a:xfrm>
          <a:prstGeom prst="roundRect">
            <a:avLst>
              <a:gd name="adj" fmla="val 3871"/>
            </a:avLst>
          </a:prstGeom>
          <a:solidFill>
            <a:srgbClr val="1E2D3D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664208"/>
            <a:ext cx="8046720" cy="2697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Declaring variables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name = "Alex";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age = 21;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Basic function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greet(name) {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console.log("Hi " + name);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Arrow function (shorter)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add = (a, b) =&gt; a + b;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Listening for a click event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button.addEventListener("click", () =&gt; {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alert("Clicked!");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4526280"/>
            <a:ext cx="8412480" cy="457200"/>
          </a:xfrm>
          <a:prstGeom prst="roundRect">
            <a:avLst>
              <a:gd name="adj" fmla="val 16000"/>
            </a:avLst>
          </a:prstGeom>
          <a:solidFill>
            <a:srgbClr val="00B4D8">
              <a:alpha val="2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45262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77B6"/>
                </a:solidFill>
              </a:rPr>
              <a:t>💡 let/const are block-scoped — prefer them over the older var keyword!</a:t>
            </a:r>
            <a:endParaRPr lang="en-US" sz="12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0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DOM Manipulation — Selecting &amp; Changing Elements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D1B2A"/>
                </a:solidFill>
              </a:rPr>
              <a:t>The DOM lets JavaScript reach into the page and read or change any element after it has loaded.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600200"/>
            <a:ext cx="8412480" cy="2834640"/>
          </a:xfrm>
          <a:prstGeom prst="roundRect">
            <a:avLst>
              <a:gd name="adj" fmla="val 3871"/>
            </a:avLst>
          </a:prstGeom>
          <a:solidFill>
            <a:srgbClr val="1E2D3D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664208"/>
            <a:ext cx="8046720" cy="2697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Select an element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title = document.querySelector("h1");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console.log(title.innerText);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Change the text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title.innerText = "Welcome!";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Change the HTML (careful!)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title.innerHTML = "Welcome &lt;b&gt;back&lt;/b&gt;!";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Change a style directly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title.style.color = "navy";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Add / remove a class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title.classList.add("highlight");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--- Dark mode toggle button ---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btn = document.querySelector("#toggle");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btn.addEventListener("click", () =&gt; {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document.body.classList.toggle("dark");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Select ALL matching elements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items = document.querySelectorAll("li");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items.forEach(item =&gt; {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item.style.color = "teal";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4526280"/>
            <a:ext cx="8412480" cy="457200"/>
          </a:xfrm>
          <a:prstGeom prst="roundRect">
            <a:avLst>
              <a:gd name="adj" fmla="val 16000"/>
            </a:avLst>
          </a:prstGeom>
          <a:solidFill>
            <a:srgbClr val="00B4D8">
              <a:alpha val="2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45262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77B6"/>
                </a:solidFill>
              </a:rPr>
              <a:t>💡 innerText is safer than innerHTML — innerHTML can run injected scripts if the text isn't trusted!</a:t>
            </a:r>
            <a:endParaRPr lang="en-US" sz="12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0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Day 11 Practical — Interactive Buttons + Finalize Portfolio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D1B2A"/>
                </a:solidFill>
              </a:rPr>
              <a:t>Add a dark-mode toggle, a "show more" bio button, and form validation — then finalize your Portfolio Page!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600200"/>
            <a:ext cx="8412480" cy="2834640"/>
          </a:xfrm>
          <a:prstGeom prst="roundRect">
            <a:avLst>
              <a:gd name="adj" fmla="val 3871"/>
            </a:avLst>
          </a:prstGeom>
          <a:solidFill>
            <a:srgbClr val="1E2D3D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664208"/>
            <a:ext cx="8046720" cy="2697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toggleBtn = document.querySelector("#mode-btn");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toggleBtn.addEventListener("click", () =&gt; {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document.body.classList.toggle("dark-mode");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toggleBtn.innerText = "🌙 Toggle Mode";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"Show more" bio toggle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bioBtn = document.querySelector("#bio-btn");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bioText = document.querySelector("#bio-extra");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bioBtn.addEventListener("click", () =&gt; {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bioText.classList.toggle("hidden");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bioBtn.innerText = bioText.classList.contains("hidden")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? "Read more" : "Show less";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Contact form validation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form = document.querySelector("#contact-form");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form.addEventListener("submit", (e) =&gt; {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e.preventDefault();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email = document.querySelector("#email").value;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(!email.includes("@")) {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alert("Please enter a valid email!");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return;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alert("Message sent! (demo only)");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4526280"/>
            <a:ext cx="8412480" cy="457200"/>
          </a:xfrm>
          <a:prstGeom prst="roundRect">
            <a:avLst>
              <a:gd name="adj" fmla="val 16000"/>
            </a:avLst>
          </a:prstGeom>
          <a:solidFill>
            <a:srgbClr val="00B4D8">
              <a:alpha val="2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45262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77B6"/>
                </a:solidFill>
              </a:rPr>
              <a:t>💡 Milestone: Your Portfolio Page is now fully interactive — ready to deploy in Week 5!</a:t>
            </a:r>
            <a:endParaRPr lang="en-US" sz="12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B4D8"/>
                </a:solidFill>
              </a:rPr>
              <a:t>🧠 Practice Questions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365760" y="64008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Day 11 — Practice Questions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500" b="1" dirty="0">
                <a:solidFill>
                  <a:srgbClr val="FFD166"/>
                </a:solidFill>
              </a:rPr>
              <a:t>Q1.  </a:t>
            </a:r>
            <a:pPr algn="l"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rgbClr val="FFFFFF"/>
                </a:solidFill>
              </a:rPr>
              <a:t>Write a function that takes a name and returns a greeting string — call it and log the result.</a:t>
            </a:r>
            <a:pPr algn="l" indent="0" marL="0">
              <a:spcAft>
                <a:spcPts val="1200"/>
              </a:spcAft>
              <a:buNone/>
            </a:pPr>
            <a:endParaRPr lang="en-US" sz="1500" dirty="0"/>
          </a:p>
          <a:p>
            <a:pPr algn="l" indent="0" marL="0">
              <a:spcAft>
                <a:spcPts val="1200"/>
              </a:spcAft>
              <a:buNone/>
            </a:pPr>
            <a:r>
              <a:rPr lang="en-US" sz="1500" b="1" dirty="0">
                <a:solidFill>
                  <a:srgbClr val="FFD166"/>
                </a:solidFill>
              </a:rPr>
              <a:t>Q2.  </a:t>
            </a:r>
            <a:pPr algn="l"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rgbClr val="FFFFFF"/>
                </a:solidFill>
              </a:rPr>
              <a:t>What's the difference between let, const, and var? When would you use each?</a:t>
            </a:r>
            <a:pPr algn="l" indent="0" marL="0">
              <a:spcAft>
                <a:spcPts val="1200"/>
              </a:spcAft>
              <a:buNone/>
            </a:pPr>
            <a:endParaRPr lang="en-US" sz="1500" dirty="0"/>
          </a:p>
          <a:p>
            <a:pPr algn="l" indent="0" marL="0">
              <a:spcAft>
                <a:spcPts val="1200"/>
              </a:spcAft>
              <a:buNone/>
            </a:pPr>
            <a:r>
              <a:rPr lang="en-US" sz="1500" b="1" dirty="0">
                <a:solidFill>
                  <a:srgbClr val="FFD166"/>
                </a:solidFill>
              </a:rPr>
              <a:t>Q3.  </a:t>
            </a:r>
            <a:pPr algn="l"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rgbClr val="FFFFFF"/>
                </a:solidFill>
              </a:rPr>
              <a:t>Add a click event to a button that changes the page's background color each time it's clicked.</a:t>
            </a:r>
            <a:pPr algn="l" indent="0" marL="0">
              <a:spcAft>
                <a:spcPts val="1200"/>
              </a:spcAft>
              <a:buNone/>
            </a:pPr>
            <a:endParaRPr lang="en-US" sz="1500" dirty="0"/>
          </a:p>
          <a:p>
            <a:pPr algn="l" indent="0" marL="0">
              <a:spcAft>
                <a:spcPts val="1200"/>
              </a:spcAft>
              <a:buNone/>
            </a:pPr>
            <a:r>
              <a:rPr lang="en-US" sz="1500" b="1" dirty="0">
                <a:solidFill>
                  <a:srgbClr val="FFD166"/>
                </a:solidFill>
              </a:rPr>
              <a:t>Q4.  </a:t>
            </a:r>
            <a:pPr algn="l"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rgbClr val="FFFFFF"/>
                </a:solidFill>
              </a:rPr>
              <a:t>What's the difference between innerText and innerHTML? When is innerHTML risky to use?</a:t>
            </a:r>
            <a:pPr algn="l" indent="0" marL="0">
              <a:spcAft>
                <a:spcPts val="1200"/>
              </a:spcAft>
              <a:buNone/>
            </a:pPr>
            <a:endParaRPr lang="en-US" sz="1500" dirty="0"/>
          </a:p>
          <a:p>
            <a:pPr algn="l" indent="0" marL="0">
              <a:spcAft>
                <a:spcPts val="1200"/>
              </a:spcAft>
              <a:buNone/>
            </a:pPr>
            <a:r>
              <a:rPr lang="en-US" sz="1500" b="1" dirty="0">
                <a:solidFill>
                  <a:srgbClr val="FFD166"/>
                </a:solidFill>
              </a:rPr>
              <a:t>Q5.  </a:t>
            </a:r>
            <a:pPr algn="l"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rgbClr val="FFFFFF"/>
                </a:solidFill>
              </a:rPr>
              <a:t>Bug Hunt: btn.addEventListner("cilck", fn) — find and fix both typos.</a:t>
            </a:r>
            <a:endParaRPr lang="en-US" sz="15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2194560" cy="411480"/>
          </a:xfrm>
          <a:prstGeom prst="roundRect">
            <a:avLst>
              <a:gd name="adj" fmla="val 17778"/>
            </a:avLst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DAY 12 / WEEK 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Day 12 — Thu, Jul 16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2514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00B4D8"/>
                </a:solidFill>
              </a:rPr>
              <a:t>Backend Concepts + Flask Basics: Client-Server · Routing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0" y="3200400"/>
            <a:ext cx="2286000" cy="2286000"/>
          </a:xfrm>
          <a:prstGeom prst="ellipse">
            <a:avLst/>
          </a:prstGeom>
          <a:solidFill>
            <a:srgbClr val="00B4D8">
              <a:alpha val="1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8046720" y="2560320"/>
            <a:ext cx="1097280" cy="1097280"/>
          </a:xfrm>
          <a:prstGeom prst="ellipse">
            <a:avLst/>
          </a:prstGeom>
          <a:solidFill>
            <a:srgbClr val="00B4D8">
              <a:alpha val="30000"/>
            </a:srgbClr>
          </a:solidFill>
          <a:ln/>
        </p:spPr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Client-Server Architecture &amp; APIs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D1B2A"/>
                </a:solidFill>
              </a:rPr>
              <a:t>Every website is a conversation between two computers — your browser (client) and a server that holds the data.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274320" y="1645920"/>
            <a:ext cx="1600200" cy="32004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173736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🖥️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274320" y="242316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B4D8"/>
                </a:solidFill>
              </a:rPr>
              <a:t>Client (Browser)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74320" y="2834640"/>
            <a:ext cx="16002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45566"/>
                </a:solidFill>
              </a:rPr>
              <a:t>Runs HTML, CSS, JS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445566"/>
                </a:solidFill>
              </a:rPr>
              <a:t>Sends requests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011680" y="1645920"/>
            <a:ext cx="1600200" cy="32004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011680" y="173736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🗄️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2011680" y="242316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B4D8"/>
                </a:solidFill>
              </a:rPr>
              <a:t>Server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011680" y="2834640"/>
            <a:ext cx="16002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45566"/>
                </a:solidFill>
              </a:rPr>
              <a:t>Runs Flask, stores data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445566"/>
                </a:solidFill>
              </a:rPr>
              <a:t>Sends responses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749040" y="1645920"/>
            <a:ext cx="1600200" cy="32004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749040" y="173736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🔄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3749040" y="242316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B4D8"/>
                </a:solidFill>
              </a:rPr>
              <a:t>HTTP Cycle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749040" y="2834640"/>
            <a:ext cx="16002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45566"/>
                </a:solidFill>
              </a:rPr>
              <a:t>Request → Response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445566"/>
                </a:solidFill>
              </a:rPr>
              <a:t>Happens every page load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0" y="1645920"/>
            <a:ext cx="1600200" cy="32004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486400" y="173736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🔌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5486400" y="242316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B4D8"/>
                </a:solidFill>
              </a:rPr>
              <a:t>API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486400" y="2834640"/>
            <a:ext cx="16002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45566"/>
                </a:solidFill>
              </a:rPr>
              <a:t>Like a waiter taking orders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445566"/>
                </a:solidFill>
              </a:rPr>
              <a:t>Connects client &amp; server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223760" y="1645920"/>
            <a:ext cx="1600200" cy="32004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223760" y="173736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📦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7223760" y="242316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B4D8"/>
                </a:solidFill>
              </a:rPr>
              <a:t>JSON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223760" y="2834640"/>
            <a:ext cx="16002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45566"/>
                </a:solidFill>
              </a:rPr>
              <a:t>{ "key": "value" }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445566"/>
                </a:solidFill>
              </a:rPr>
              <a:t>Common data format</a:t>
            </a:r>
            <a:endParaRPr lang="en-US" sz="12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Flask Basics &amp; Routing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4114800" cy="3840480"/>
          </a:xfrm>
          <a:prstGeom prst="roundRect">
            <a:avLst>
              <a:gd name="adj" fmla="val 238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1143000"/>
            <a:ext cx="384048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B4D8"/>
                </a:solidFill>
              </a:rPr>
              <a:t>Setting Up Flask
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0D1B2A"/>
                </a:solidFill>
              </a:rPr>
              <a:t>A Flask app is a Python file that listens for requests and sends back responses.
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0D1B2A"/>
                </a:solidFill>
              </a:rPr>
              <a:t>Install &amp; Run:
</a:t>
            </a:r>
            <a:endParaRPr lang="en-US" sz="14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0D1B2A"/>
                </a:solidFill>
              </a:rPr>
              <a:t>• pip install flask
</a:t>
            </a:r>
            <a:endParaRPr lang="en-US" sz="14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0D1B2A"/>
                </a:solidFill>
              </a:rPr>
              <a:t>• from flask import Flask
</a:t>
            </a:r>
            <a:endParaRPr lang="en-US" sz="14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0D1B2A"/>
                </a:solidFill>
              </a:rPr>
              <a:t>• app = Flask(__name__)
</a:t>
            </a:r>
            <a:endParaRPr lang="en-US" sz="14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0D1B2A"/>
                </a:solidFill>
              </a:rPr>
              <a:t>• app.run(debug=True)
</a:t>
            </a:r>
            <a:endParaRPr lang="en-US" sz="14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0077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@app.route("/")</a:t>
            </a:r>
            <a:endParaRPr lang="en-US" sz="14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0077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home():</a:t>
            </a:r>
            <a:endParaRPr lang="en-US" sz="14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0077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"Hello, Flask!"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709160" y="1005840"/>
            <a:ext cx="4114800" cy="3840480"/>
          </a:xfrm>
          <a:prstGeom prst="roundRect">
            <a:avLst>
              <a:gd name="adj" fmla="val 238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0" y="1143000"/>
            <a:ext cx="384048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B4D8"/>
                </a:solidFill>
              </a:rPr>
              <a:t>Routes &amp; Parameters
</a:t>
            </a:r>
            <a:endParaRPr lang="en-US" sz="14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"/"             → home page
</a:t>
            </a:r>
            <a:endParaRPr lang="en-US" sz="14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"/about"       → about page
</a:t>
            </a:r>
            <a:endParaRPr lang="en-US" sz="14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"/user/&lt;name&gt;" → dynamic route
</a:t>
            </a:r>
            <a:endParaRPr lang="en-US" sz="14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methods=["GET"]  → allowed verbs
</a:t>
            </a:r>
            <a:endParaRPr lang="en-US" sz="14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request.args     → URL query params
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0D1B2A"/>
                </a:solidFill>
              </a:rPr>
              <a:t>Dynamic Route Example:
</a:t>
            </a:r>
            <a:endParaRPr lang="en-US" sz="14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@app.route("/user/&lt;name&gt;")</a:t>
            </a:r>
            <a:endParaRPr lang="en-US" sz="14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greet(name): return f"Hi {name}!"</a:t>
            </a:r>
            <a:endParaRPr lang="en-US" sz="14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Day 12 Practical — Hello Flask + Routing Lab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D1B2A"/>
                </a:solidFill>
              </a:rPr>
              <a:t>Build your first Flask app with multiple routes — home, about, and a dynamic greeting page.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600200"/>
            <a:ext cx="8412480" cy="2834640"/>
          </a:xfrm>
          <a:prstGeom prst="roundRect">
            <a:avLst>
              <a:gd name="adj" fmla="val 3871"/>
            </a:avLst>
          </a:prstGeom>
          <a:solidFill>
            <a:srgbClr val="1E2D3D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664208"/>
            <a:ext cx="8046720" cy="2697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app.py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flask import Flask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 = Flask(__name__)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@app.route("/")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home():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"Welcome to my site!"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@app.route("/about")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about():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"I'm learning Flask!"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app.run(debug=True)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4526280"/>
            <a:ext cx="8412480" cy="457200"/>
          </a:xfrm>
          <a:prstGeom prst="roundRect">
            <a:avLst>
              <a:gd name="adj" fmla="val 16000"/>
            </a:avLst>
          </a:prstGeom>
          <a:solidFill>
            <a:srgbClr val="00B4D8">
              <a:alpha val="2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45262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77B6"/>
                </a:solidFill>
              </a:rPr>
              <a:t>💡 Tomorrow these routes serve real HTML templates instead of plain text!</a:t>
            </a:r>
            <a:endParaRPr lang="en-US" sz="12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B4D8"/>
                </a:solidFill>
              </a:rPr>
              <a:t>🧠 Practice Questions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365760" y="64008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Day 12 — Practice Questions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500" b="1" dirty="0">
                <a:solidFill>
                  <a:srgbClr val="FFD166"/>
                </a:solidFill>
              </a:rPr>
              <a:t>Q1.  </a:t>
            </a:r>
            <a:pPr algn="l"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rgbClr val="FFFFFF"/>
                </a:solidFill>
              </a:rPr>
              <a:t>What's the difference between a client and a server? Give a real-world analogy.</a:t>
            </a:r>
            <a:pPr algn="l" indent="0" marL="0">
              <a:spcAft>
                <a:spcPts val="1200"/>
              </a:spcAft>
              <a:buNone/>
            </a:pPr>
            <a:endParaRPr lang="en-US" sz="1500" dirty="0"/>
          </a:p>
          <a:p>
            <a:pPr algn="l" indent="0" marL="0">
              <a:spcAft>
                <a:spcPts val="1200"/>
              </a:spcAft>
              <a:buNone/>
            </a:pPr>
            <a:r>
              <a:rPr lang="en-US" sz="1500" b="1" dirty="0">
                <a:solidFill>
                  <a:srgbClr val="FFD166"/>
                </a:solidFill>
              </a:rPr>
              <a:t>Q2.  </a:t>
            </a:r>
            <a:pPr algn="l"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rgbClr val="FFFFFF"/>
                </a:solidFill>
              </a:rPr>
              <a:t>Create a Flask route "/contact" that returns a simple message when visited.</a:t>
            </a:r>
            <a:pPr algn="l" indent="0" marL="0">
              <a:spcAft>
                <a:spcPts val="1200"/>
              </a:spcAft>
              <a:buNone/>
            </a:pPr>
            <a:endParaRPr lang="en-US" sz="1500" dirty="0"/>
          </a:p>
          <a:p>
            <a:pPr algn="l" indent="0" marL="0">
              <a:spcAft>
                <a:spcPts val="1200"/>
              </a:spcAft>
              <a:buNone/>
            </a:pPr>
            <a:r>
              <a:rPr lang="en-US" sz="1500" b="1" dirty="0">
                <a:solidFill>
                  <a:srgbClr val="FFD166"/>
                </a:solidFill>
              </a:rPr>
              <a:t>Q3.  </a:t>
            </a:r>
            <a:pPr algn="l"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rgbClr val="FFFFFF"/>
                </a:solidFill>
              </a:rPr>
              <a:t>What does &lt;name&gt; mean inside a route like "/user/&lt;name&gt;"? How do you use it inside the function?</a:t>
            </a:r>
            <a:pPr algn="l" indent="0" marL="0">
              <a:spcAft>
                <a:spcPts val="1200"/>
              </a:spcAft>
              <a:buNone/>
            </a:pPr>
            <a:endParaRPr lang="en-US" sz="1500" dirty="0"/>
          </a:p>
          <a:p>
            <a:pPr algn="l" indent="0" marL="0">
              <a:spcAft>
                <a:spcPts val="1200"/>
              </a:spcAft>
              <a:buNone/>
            </a:pPr>
            <a:r>
              <a:rPr lang="en-US" sz="1500" b="1" dirty="0">
                <a:solidFill>
                  <a:srgbClr val="FFD166"/>
                </a:solidFill>
              </a:rPr>
              <a:t>Q4.  </a:t>
            </a:r>
            <a:pPr algn="l"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rgbClr val="FFFFFF"/>
                </a:solidFill>
              </a:rPr>
              <a:t>What does app.run(debug=True) do differently from app.run()? Why is it useful while building?</a:t>
            </a:r>
            <a:pPr algn="l" indent="0" marL="0">
              <a:spcAft>
                <a:spcPts val="1200"/>
              </a:spcAft>
              <a:buNone/>
            </a:pPr>
            <a:endParaRPr lang="en-US" sz="1500" dirty="0"/>
          </a:p>
          <a:p>
            <a:pPr algn="l" indent="0" marL="0">
              <a:spcAft>
                <a:spcPts val="1200"/>
              </a:spcAft>
              <a:buNone/>
            </a:pPr>
            <a:r>
              <a:rPr lang="en-US" sz="1500" b="1" dirty="0">
                <a:solidFill>
                  <a:srgbClr val="FFD166"/>
                </a:solidFill>
              </a:rPr>
              <a:t>Q5.  </a:t>
            </a:r>
            <a:pPr algn="l"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rgbClr val="FFFFFF"/>
                </a:solidFill>
              </a:rPr>
              <a:t>Bug Hunt: @approute("/") / def home() return "Hi" — find and fix both errors.</a:t>
            </a:r>
            <a:endParaRPr lang="en-US" sz="15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2194560" cy="411480"/>
          </a:xfrm>
          <a:prstGeom prst="roundRect">
            <a:avLst>
              <a:gd name="adj" fmla="val 17778"/>
            </a:avLst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DAY 13 / WEEK 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Day 13 — Fri, Jul 17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2514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00B4D8"/>
                </a:solidFill>
              </a:rPr>
              <a:t>Templates &amp; Form Handling: Jinja · GET vs POST · Login Form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0" y="3200400"/>
            <a:ext cx="2286000" cy="2286000"/>
          </a:xfrm>
          <a:prstGeom prst="ellipse">
            <a:avLst/>
          </a:prstGeom>
          <a:solidFill>
            <a:srgbClr val="00B4D8">
              <a:alpha val="1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8046720" y="2560320"/>
            <a:ext cx="1097280" cy="1097280"/>
          </a:xfrm>
          <a:prstGeom prst="ellipse">
            <a:avLst/>
          </a:prstGeom>
          <a:solidFill>
            <a:srgbClr val="00B4D8">
              <a:alpha val="30000"/>
            </a:srgbClr>
          </a:solidFill>
          <a:ln/>
        </p:spPr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Jinja Templates — Connecting Flask &amp; HTML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D1B2A"/>
                </a:solidFill>
              </a:rPr>
              <a:t>Jinja lets you embed Python-like logic inside HTML, so Flask can send back dynamic, personalized pages.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600200"/>
            <a:ext cx="8412480" cy="2834640"/>
          </a:xfrm>
          <a:prstGeom prst="roundRect">
            <a:avLst>
              <a:gd name="adj" fmla="val 3871"/>
            </a:avLst>
          </a:prstGeom>
          <a:solidFill>
            <a:srgbClr val="1E2D3D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664208"/>
            <a:ext cx="8046720" cy="2697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app.py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@app.route("/profile/&lt;name&gt;")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profile(name):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render_template("profile.html", user=name)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profile.html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&lt;h1&gt;Hello, {{ user }}!&lt;/h1&gt;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&lt;!-- Jinja conditional --&gt;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{% if user == "admin" %}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&lt;p&gt;Welcome, admin!&lt;/p&gt;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{% else %}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&lt;p&gt;Welcome, guest!&lt;/p&gt;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{% endif %}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&lt;!-- {{ }} for vars, {% %} for logic --&gt;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4526280"/>
            <a:ext cx="8412480" cy="457200"/>
          </a:xfrm>
          <a:prstGeom prst="roundRect">
            <a:avLst>
              <a:gd name="adj" fmla="val 16000"/>
            </a:avLst>
          </a:prstGeom>
          <a:solidFill>
            <a:srgbClr val="00B4D8">
              <a:alpha val="2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45262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77B6"/>
                </a:solidFill>
              </a:rPr>
              <a:t>💡 render_template() looks in a templates/ folder by default — that's where Flask expects your HTML!</a:t>
            </a:r>
            <a:endParaRPr lang="en-US" sz="12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GET vs POST &amp; request.form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4114800" cy="3840480"/>
          </a:xfrm>
          <a:prstGeom prst="roundRect">
            <a:avLst>
              <a:gd name="adj" fmla="val 238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1143000"/>
            <a:ext cx="384048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0B4D8"/>
                </a:solidFill>
              </a:rPr>
              <a:t>Syntax
</a:t>
            </a:r>
            <a:endParaRPr lang="en-US" sz="14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@app.route("/login", methods=["GET","POST"])
def login():
    if request.method == "POST":
        username = request.form["username"]
    return render_template("login.html")
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00B4D8"/>
                </a:solidFill>
              </a:rPr>
              <a:t>Example: Reading Form Data
</a:t>
            </a:r>
            <a:endParaRPr lang="en-US" sz="14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username = request.form.get("username")</a:t>
            </a:r>
            <a:endParaRPr lang="en-US" sz="14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password = request.form.get("password")</a:t>
            </a:r>
            <a:endParaRPr lang="en-US" sz="14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username == "admin" and password == "1234":</a:t>
            </a:r>
            <a:endParaRPr lang="en-US" sz="14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"Login successful!"</a:t>
            </a:r>
            <a:endParaRPr lang="en-US" sz="14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elif not username or not password:</a:t>
            </a:r>
            <a:endParaRPr lang="en-US" sz="14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"Please fill in both fields"</a:t>
            </a:r>
            <a:endParaRPr lang="en-US" sz="14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else:</a:t>
            </a:r>
            <a:endParaRPr lang="en-US" sz="14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"Invalid credentials"</a:t>
            </a:r>
            <a:endParaRPr lang="en-US" sz="14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request.form is a dict-like object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709160" y="1005840"/>
            <a:ext cx="4114800" cy="3840480"/>
          </a:xfrm>
          <a:prstGeom prst="roundRect">
            <a:avLst>
              <a:gd name="adj" fmla="val 238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0" y="1143000"/>
            <a:ext cx="384048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0B4D8"/>
                </a:solidFill>
              </a:rPr>
              <a:t>Key Rules
</a:t>
            </a:r>
            <a:endParaRPr lang="en-US" sz="14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0D1B2A"/>
                </a:solidFill>
              </a:rPr>
              <a:t>• GET → data in the URL (?q=...)
  — not curly braces { }
</a:t>
            </a:r>
            <a:endParaRPr lang="en-US" sz="14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0D1B2A"/>
                </a:solidFill>
              </a:rPr>
              <a:t>• POST → data in the request body
  (= assigns, == compares)
</a:t>
            </a:r>
            <a:endParaRPr lang="en-US" sz="14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0D1B2A"/>
                </a:solidFill>
              </a:rPr>
              <a:t>• GET fetches data, POST submits it
</a:t>
            </a:r>
            <a:endParaRPr lang="en-US" sz="14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0D1B2A"/>
                </a:solidFill>
              </a:rPr>
              <a:t>• HTML forms use method="POST"
</a:t>
            </a:r>
            <a:endParaRPr lang="en-US" sz="14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00B4D8"/>
                </a:solidFill>
              </a:rPr>
              <a:t>request.args vs request.form
</a:t>
            </a:r>
            <a:endParaRPr lang="en-US" sz="14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GET: /search?q=python</a:t>
            </a:r>
            <a:endParaRPr lang="en-US" sz="14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query = request.args.get("q")</a:t>
            </a:r>
            <a:endParaRPr lang="en-US" sz="14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not query:</a:t>
            </a:r>
            <a:endParaRPr lang="en-US" sz="14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"Missing search term"</a:t>
            </a:r>
            <a:endParaRPr lang="en-US" sz="14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POST: form submitted by user</a:t>
            </a:r>
            <a:endParaRPr lang="en-US" sz="14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 = request.form.get("name")</a:t>
            </a:r>
            <a:endParaRPr lang="en-US" sz="14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not name:</a:t>
            </a:r>
            <a:endParaRPr lang="en-US" sz="14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"Name is required"</a:t>
            </a:r>
            <a:endParaRPr lang="en-US" sz="14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0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Day 13 Practical — Login Form (Frontend + Flask)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D1B2A"/>
                </a:solidFill>
              </a:rPr>
              <a:t>Connect an HTML login form to a Flask route — validate credentials and show a real success/error message!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600200"/>
            <a:ext cx="8412480" cy="2834640"/>
          </a:xfrm>
          <a:prstGeom prst="roundRect">
            <a:avLst>
              <a:gd name="adj" fmla="val 3871"/>
            </a:avLst>
          </a:prstGeom>
          <a:solidFill>
            <a:srgbClr val="1E2D3D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664208"/>
            <a:ext cx="8046720" cy="2697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&lt;!-- login.html --&gt;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&lt;form method="POST" action="/login"&gt;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&lt;input name="username" placeholder="Username"&gt;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&lt;input type="password" name="password"&gt;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&lt;button type="submit"&gt;Log In&lt;/button&gt;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&lt;/form&gt;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app.py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@app.route("/login", methods=["GET","POST"])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login():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request.method == "POST":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u = request.form["username"]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 = request.form["password"]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u == "admin" and p == "1234":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return "✅ Welcome back, admin!"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render_template("login.html")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4526280"/>
            <a:ext cx="8412480" cy="457200"/>
          </a:xfrm>
          <a:prstGeom prst="roundRect">
            <a:avLst>
              <a:gd name="adj" fmla="val 16000"/>
            </a:avLst>
          </a:prstGeom>
          <a:solidFill>
            <a:srgbClr val="00B4D8">
              <a:alpha val="2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45262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77B6"/>
                </a:solidFill>
              </a:rPr>
              <a:t>💡 Milestone: request → server logic → response. Frontend and backend, connected for the first time!</a:t>
            </a:r>
            <a:endParaRPr lang="en-US" sz="12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B4D8"/>
                </a:solidFill>
              </a:rPr>
              <a:t>🧠 Practice Questions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365760" y="64008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Day 13 — Practice Questions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500" b="1" dirty="0">
                <a:solidFill>
                  <a:srgbClr val="FFD166"/>
                </a:solidFill>
              </a:rPr>
              <a:t>Q1.  </a:t>
            </a:r>
            <a:pPr algn="l"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rgbClr val="FFFFFF"/>
                </a:solidFill>
              </a:rPr>
              <a:t>Write a Jinja template that shows "Logged in as {{ username }}" only if a username variable is passed in.</a:t>
            </a:r>
            <a:pPr algn="l" indent="0" marL="0">
              <a:spcAft>
                <a:spcPts val="1200"/>
              </a:spcAft>
              <a:buNone/>
            </a:pPr>
            <a:endParaRPr lang="en-US" sz="1500" dirty="0"/>
          </a:p>
          <a:p>
            <a:pPr algn="l" indent="0" marL="0">
              <a:spcAft>
                <a:spcPts val="1200"/>
              </a:spcAft>
              <a:buNone/>
            </a:pPr>
            <a:r>
              <a:rPr lang="en-US" sz="1500" b="1" dirty="0">
                <a:solidFill>
                  <a:srgbClr val="FFD166"/>
                </a:solidFill>
              </a:rPr>
              <a:t>Q2.  </a:t>
            </a:r>
            <a:pPr algn="l"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rgbClr val="FFFFFF"/>
                </a:solidFill>
              </a:rPr>
              <a:t>What's the difference between request.args and request.form? When would you use each?</a:t>
            </a:r>
            <a:pPr algn="l" indent="0" marL="0">
              <a:spcAft>
                <a:spcPts val="1200"/>
              </a:spcAft>
              <a:buNone/>
            </a:pPr>
            <a:endParaRPr lang="en-US" sz="1500" dirty="0"/>
          </a:p>
          <a:p>
            <a:pPr algn="l" indent="0" marL="0">
              <a:spcAft>
                <a:spcPts val="1200"/>
              </a:spcAft>
              <a:buNone/>
            </a:pPr>
            <a:r>
              <a:rPr lang="en-US" sz="1500" b="1" dirty="0">
                <a:solidFill>
                  <a:srgbClr val="FFD166"/>
                </a:solidFill>
              </a:rPr>
              <a:t>Q3.  </a:t>
            </a:r>
            <a:pPr algn="l"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rgbClr val="FFFFFF"/>
                </a:solidFill>
              </a:rPr>
              <a:t>Create a route "/search" that reads a query parameter "q" and returns "You searched for: " + q.</a:t>
            </a:r>
            <a:pPr algn="l" indent="0" marL="0">
              <a:spcAft>
                <a:spcPts val="1200"/>
              </a:spcAft>
              <a:buNone/>
            </a:pPr>
            <a:endParaRPr lang="en-US" sz="1500" dirty="0"/>
          </a:p>
          <a:p>
            <a:pPr algn="l" indent="0" marL="0">
              <a:spcAft>
                <a:spcPts val="1200"/>
              </a:spcAft>
              <a:buNone/>
            </a:pPr>
            <a:r>
              <a:rPr lang="en-US" sz="1500" b="1" dirty="0">
                <a:solidFill>
                  <a:srgbClr val="FFD166"/>
                </a:solidFill>
              </a:rPr>
              <a:t>Q4.  </a:t>
            </a:r>
            <a:pPr algn="l"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rgbClr val="FFFFFF"/>
                </a:solidFill>
              </a:rPr>
              <a:t>Why must an HTML form use method="POST" for a login route that checks request.method == "POST"?</a:t>
            </a:r>
            <a:pPr algn="l" indent="0" marL="0">
              <a:spcAft>
                <a:spcPts val="1200"/>
              </a:spcAft>
              <a:buNone/>
            </a:pPr>
            <a:endParaRPr lang="en-US" sz="1500" dirty="0"/>
          </a:p>
          <a:p>
            <a:pPr algn="l" indent="0" marL="0">
              <a:spcAft>
                <a:spcPts val="1200"/>
              </a:spcAft>
              <a:buNone/>
            </a:pPr>
            <a:r>
              <a:rPr lang="en-US" sz="1500" b="1" dirty="0">
                <a:solidFill>
                  <a:srgbClr val="FFD166"/>
                </a:solidFill>
              </a:rPr>
              <a:t>Q5.  </a:t>
            </a:r>
            <a:pPr algn="l"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rgbClr val="FFFFFF"/>
                </a:solidFill>
              </a:rPr>
              <a:t>Bug Hunt: &lt;form methid="POST"&gt; and request.from["username"] — find and fix both typos.</a:t>
            </a:r>
            <a:endParaRPr lang="en-US" sz="15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0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Week 3 Recap — What You've Learned!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274320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1069848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🌐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65760" y="15544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B4D8"/>
                </a:solidFill>
              </a:rPr>
              <a:t>HTML Basics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" y="1920240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45566"/>
                </a:solidFill>
              </a:rPr>
              <a:t>Document structure, text tags, links, images, tables &amp; forms.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0" y="960120"/>
            <a:ext cx="274320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00400" y="1069848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🎨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3291840" y="15544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B4D8"/>
                </a:solidFill>
              </a:rPr>
              <a:t>CSS Basics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291840" y="1920240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45566"/>
                </a:solidFill>
              </a:rPr>
              <a:t>Selectors, colors, fonts, the box model &amp; responsive design.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26480" y="960120"/>
            <a:ext cx="274320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126480" y="1069848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⚡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6217920" y="15544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B4D8"/>
                </a:solidFill>
              </a:rPr>
              <a:t>JavaScript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217920" y="1920240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45566"/>
                </a:solidFill>
              </a:rPr>
              <a:t>Variables, functions, events &amp; DOM manipulation.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2926080"/>
            <a:ext cx="274320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74320" y="3035808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🔄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365760" y="35204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B4D8"/>
                </a:solidFill>
              </a:rPr>
              <a:t>Client-Server &amp; APIs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65760" y="3886200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45566"/>
                </a:solidFill>
              </a:rPr>
              <a:t>How browsers &amp; servers talk — requests, responses &amp; APIs.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00400" y="2926080"/>
            <a:ext cx="274320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200400" y="3035808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🧪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3291840" y="35204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B4D8"/>
                </a:solidFill>
              </a:rPr>
              <a:t>Flask &amp; Routing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291840" y="3886200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45566"/>
                </a:solidFill>
              </a:rPr>
              <a:t>Building routes, running a Flask app, URL parameters.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126480" y="2926080"/>
            <a:ext cx="274320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126480" y="3035808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📝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6217920" y="35204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B4D8"/>
                </a:solidFill>
              </a:rPr>
              <a:t>Templates &amp; Forms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217920" y="3886200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45566"/>
                </a:solidFill>
              </a:rPr>
              <a:t>Jinja templates, GET vs POST &amp; reading form data.</a:t>
            </a:r>
            <a:endParaRPr lang="en-US" sz="11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457200"/>
            <a:ext cx="3657600" cy="3657600"/>
          </a:xfrm>
          <a:prstGeom prst="ellipse">
            <a:avLst/>
          </a:prstGeom>
          <a:solidFill>
            <a:srgbClr val="00B4D8">
              <a:alpha val="12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0B4D8"/>
                </a:solidFill>
              </a:rPr>
              <a:t>Coming Up Next ⚡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Week 4 — Dynamic Flask Sites + AI/Data Toolkit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920240"/>
            <a:ext cx="8412480" cy="594360"/>
          </a:xfrm>
          <a:prstGeom prst="roundRect">
            <a:avLst>
              <a:gd name="adj" fmla="val 12308"/>
            </a:avLst>
          </a:prstGeom>
          <a:solidFill>
            <a:srgbClr val="FFFFFF">
              <a:alpha val="8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9202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🌐  </a:t>
            </a:r>
            <a:pPr algn="l" indent="0" marL="0">
              <a:buNone/>
            </a:pPr>
            <a:r>
              <a:rPr lang="en-US" sz="1400" b="1" dirty="0">
                <a:solidFill>
                  <a:srgbClr val="FFD166"/>
                </a:solidFill>
              </a:rPr>
              <a:t>Day 14 — Mon Jul 20  </a:t>
            </a:r>
            <a:pPr algn="l" indent="0" marL="0">
              <a:buNone/>
            </a:pPr>
            <a:r>
              <a:rPr lang="en-US" sz="1400" dirty="0">
                <a:solidFill>
                  <a:srgbClr val="90B4C5"/>
                </a:solidFill>
              </a:rPr>
              <a:t>— Dynamic Data + Module 4 Capstone: full Flask website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" y="2624328"/>
            <a:ext cx="8412480" cy="594360"/>
          </a:xfrm>
          <a:prstGeom prst="roundRect">
            <a:avLst>
              <a:gd name="adj" fmla="val 12308"/>
            </a:avLst>
          </a:prstGeom>
          <a:solidFill>
            <a:srgbClr val="FFFFFF">
              <a:alpha val="8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262432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🤖  </a:t>
            </a:r>
            <a:pPr algn="l" indent="0" marL="0">
              <a:buNone/>
            </a:pPr>
            <a:r>
              <a:rPr lang="en-US" sz="1400" b="1" dirty="0">
                <a:solidFill>
                  <a:srgbClr val="FFD166"/>
                </a:solidFill>
              </a:rPr>
              <a:t>Day 15 — Tue Jul 21  </a:t>
            </a:r>
            <a:pPr algn="l" indent="0" marL="0">
              <a:buNone/>
            </a:pPr>
            <a:r>
              <a:rPr lang="en-US" sz="1400" dirty="0">
                <a:solidFill>
                  <a:srgbClr val="90B4C5"/>
                </a:solidFill>
              </a:rPr>
              <a:t>— Intro to AI + NumPy Basics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65760" y="3328416"/>
            <a:ext cx="8412480" cy="594360"/>
          </a:xfrm>
          <a:prstGeom prst="roundRect">
            <a:avLst>
              <a:gd name="adj" fmla="val 12308"/>
            </a:avLst>
          </a:prstGeom>
          <a:solidFill>
            <a:srgbClr val="FFFFFF">
              <a:alpha val="8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3328416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🐼  </a:t>
            </a:r>
            <a:pPr algn="l" indent="0" marL="0">
              <a:buNone/>
            </a:pPr>
            <a:r>
              <a:rPr lang="en-US" sz="1400" b="1" dirty="0">
                <a:solidFill>
                  <a:srgbClr val="FFD166"/>
                </a:solidFill>
              </a:rPr>
              <a:t>Day 16 — Wed Jul 22  </a:t>
            </a:r>
            <a:pPr algn="l" indent="0" marL="0">
              <a:buNone/>
            </a:pPr>
            <a:r>
              <a:rPr lang="en-US" sz="1400" dirty="0">
                <a:solidFill>
                  <a:srgbClr val="90B4C5"/>
                </a:solidFill>
              </a:rPr>
              <a:t>— Pandas Basics: DataFrames, CSVs &amp; data cleaning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65760" y="4032504"/>
            <a:ext cx="8412480" cy="594360"/>
          </a:xfrm>
          <a:prstGeom prst="roundRect">
            <a:avLst>
              <a:gd name="adj" fmla="val 12308"/>
            </a:avLst>
          </a:prstGeom>
          <a:solidFill>
            <a:srgbClr val="FFFFFF">
              <a:alpha val="8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" y="4032504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📊  </a:t>
            </a:r>
            <a:pPr algn="l" indent="0" marL="0">
              <a:buNone/>
            </a:pPr>
            <a:r>
              <a:rPr lang="en-US" sz="1400" b="1" dirty="0">
                <a:solidFill>
                  <a:srgbClr val="FFD166"/>
                </a:solidFill>
              </a:rPr>
              <a:t>Day 17-18 — Thu/Fri  </a:t>
            </a:r>
            <a:pPr algn="l" indent="0" marL="0">
              <a:buNone/>
            </a:pPr>
            <a:r>
              <a:rPr lang="en-US" sz="1400" dirty="0">
                <a:solidFill>
                  <a:srgbClr val="90B4C5"/>
                </a:solidFill>
              </a:rPr>
              <a:t>— Matplotlib Visualization + AI/ML Basics + Capstone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65760" y="466344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D6A0"/>
                </a:solidFill>
              </a:rPr>
              <a:t>🏠  Weekend Homework: Revisit Days 9-13 code · Make sure Flask + Portfolio run locally · Come with doubts!</a:t>
            </a:r>
            <a:endParaRPr lang="en-US" sz="13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3200400"/>
            <a:ext cx="4572000" cy="4572000"/>
          </a:xfrm>
          <a:prstGeom prst="ellipse">
            <a:avLst/>
          </a:prstGeom>
          <a:solidFill>
            <a:srgbClr val="00B4D8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-914400"/>
            <a:ext cx="4114800" cy="4114800"/>
          </a:xfrm>
          <a:prstGeom prst="ellipse">
            <a:avLst/>
          </a:prstGeom>
          <a:solidFill>
            <a:srgbClr val="00B4D8">
              <a:alpha val="1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3200400" y="457200"/>
            <a:ext cx="2743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dirty="0">
                <a:solidFill>
                  <a:srgbClr val="000000"/>
                </a:solidFill>
              </a:rPr>
              <a:t>🌐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914400" y="146304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Great Work This Week!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914400" y="23317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0B4C5"/>
                </a:solidFill>
              </a:rPr>
              <a:t>You've gone from a blank page to a styled, interactive site talking to a real backend 🚀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828800" y="292608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B4D8"/>
                </a:solidFill>
              </a:rPr>
              <a:t>Exit Ticket — Before you leave, write: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371600" y="3383280"/>
            <a:ext cx="6400800" cy="1097280"/>
          </a:xfrm>
          <a:prstGeom prst="roundRect">
            <a:avLst>
              <a:gd name="adj" fmla="val 10000"/>
            </a:avLst>
          </a:prstGeom>
          <a:solidFill>
            <a:srgbClr val="FFFFFF">
              <a:alpha val="8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1463040" y="3429000"/>
            <a:ext cx="6217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FFFFFF"/>
                </a:solidFill>
              </a:rPr>
              <a:t>"This week I learned ___ and my one doubt is ___"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914400" y="46634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46677"/>
                </a:solidFill>
              </a:rPr>
              <a:t>2b Academy  ·  Python Bootcamp  ·  Week 3  ·  July 2026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2b Academy — Week 1: Python Fundamentals</dc:title>
  <dc:subject>PptxGenJS Presentation</dc:subject>
  <dc:creator>PptxGenJS</dc:creator>
  <cp:lastModifiedBy>PptxGenJS</cp:lastModifiedBy>
  <cp:revision>1</cp:revision>
  <dcterms:created xsi:type="dcterms:W3CDTF">2026-06-25T06:46:46Z</dcterms:created>
  <dcterms:modified xsi:type="dcterms:W3CDTF">2026-06-25T06:46:46Z</dcterms:modified>
</cp:coreProperties>
</file>