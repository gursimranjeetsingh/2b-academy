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83"/>
  </p:notesMasterIdLst>
  <p:sldIdLst>
    <p:sldId id="256" r:id="rId2"/>
    <p:sldId id="257" r:id="rId3"/>
    <p:sldId id="258" r:id="rId4"/>
    <p:sldId id="259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97" r:id="rId19"/>
    <p:sldId id="298" r:id="rId20"/>
    <p:sldId id="299" r:id="rId21"/>
    <p:sldId id="300" r:id="rId22"/>
    <p:sldId id="301" r:id="rId23"/>
    <p:sldId id="302" r:id="rId24"/>
    <p:sldId id="303" r:id="rId25"/>
    <p:sldId id="304" r:id="rId26"/>
    <p:sldId id="305" r:id="rId27"/>
    <p:sldId id="306" r:id="rId28"/>
    <p:sldId id="307" r:id="rId29"/>
    <p:sldId id="308" r:id="rId30"/>
    <p:sldId id="262" r:id="rId31"/>
    <p:sldId id="263" r:id="rId32"/>
    <p:sldId id="264" r:id="rId33"/>
    <p:sldId id="309" r:id="rId34"/>
    <p:sldId id="310" r:id="rId35"/>
    <p:sldId id="311" r:id="rId36"/>
    <p:sldId id="312" r:id="rId37"/>
    <p:sldId id="313" r:id="rId38"/>
    <p:sldId id="314" r:id="rId39"/>
    <p:sldId id="315" r:id="rId40"/>
    <p:sldId id="316" r:id="rId41"/>
    <p:sldId id="266" r:id="rId42"/>
    <p:sldId id="267" r:id="rId43"/>
    <p:sldId id="317" r:id="rId44"/>
    <p:sldId id="268" r:id="rId45"/>
    <p:sldId id="318" r:id="rId46"/>
    <p:sldId id="319" r:id="rId47"/>
    <p:sldId id="320" r:id="rId48"/>
    <p:sldId id="321" r:id="rId49"/>
    <p:sldId id="322" r:id="rId50"/>
    <p:sldId id="323" r:id="rId51"/>
    <p:sldId id="269" r:id="rId52"/>
    <p:sldId id="324" r:id="rId53"/>
    <p:sldId id="325" r:id="rId54"/>
    <p:sldId id="326" r:id="rId55"/>
    <p:sldId id="327" r:id="rId56"/>
    <p:sldId id="328" r:id="rId57"/>
    <p:sldId id="329" r:id="rId58"/>
    <p:sldId id="331" r:id="rId59"/>
    <p:sldId id="270" r:id="rId60"/>
    <p:sldId id="271" r:id="rId61"/>
    <p:sldId id="272" r:id="rId62"/>
    <p:sldId id="332" r:id="rId63"/>
    <p:sldId id="333" r:id="rId64"/>
    <p:sldId id="334" r:id="rId65"/>
    <p:sldId id="335" r:id="rId66"/>
    <p:sldId id="336" r:id="rId67"/>
    <p:sldId id="337" r:id="rId68"/>
    <p:sldId id="338" r:id="rId69"/>
    <p:sldId id="341" r:id="rId70"/>
    <p:sldId id="340" r:id="rId71"/>
    <p:sldId id="273" r:id="rId72"/>
    <p:sldId id="274" r:id="rId73"/>
    <p:sldId id="275" r:id="rId74"/>
    <p:sldId id="276" r:id="rId75"/>
    <p:sldId id="277" r:id="rId76"/>
    <p:sldId id="278" r:id="rId77"/>
    <p:sldId id="279" r:id="rId78"/>
    <p:sldId id="280" r:id="rId79"/>
    <p:sldId id="281" r:id="rId80"/>
    <p:sldId id="282" r:id="rId81"/>
    <p:sldId id="283" r:id="rId8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086B49-A834-CE91-763C-BD90977826C2}" v="777" dt="2026-06-29T09:21:56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A2C1D7-725B-42A7-B0C3-42DB30EA6634}" type="datetimeFigureOut"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67B63-BC5A-4812-A2CE-E2B27930202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31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10667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4267"/>
            </a:lvl1pPr>
            <a:lvl2pPr marL="812810" indent="0" algn="ctr">
              <a:buNone/>
              <a:defRPr sz="3556"/>
            </a:lvl2pPr>
            <a:lvl3pPr marL="1625620" indent="0" algn="ctr">
              <a:buNone/>
              <a:defRPr sz="3200"/>
            </a:lvl3pPr>
            <a:lvl4pPr marL="2438430" indent="0" algn="ctr">
              <a:buNone/>
              <a:defRPr sz="2844"/>
            </a:lvl4pPr>
            <a:lvl5pPr marL="3251241" indent="0" algn="ctr">
              <a:buNone/>
              <a:defRPr sz="2844"/>
            </a:lvl5pPr>
            <a:lvl6pPr marL="4064051" indent="0" algn="ctr">
              <a:buNone/>
              <a:defRPr sz="2844"/>
            </a:lvl6pPr>
            <a:lvl7pPr marL="4876861" indent="0" algn="ctr">
              <a:buNone/>
              <a:defRPr sz="2844"/>
            </a:lvl7pPr>
            <a:lvl8pPr marL="5689671" indent="0" algn="ctr">
              <a:buNone/>
              <a:defRPr sz="2844"/>
            </a:lvl8pPr>
            <a:lvl9pPr marL="6502481" indent="0" algn="ctr">
              <a:buNone/>
              <a:defRPr sz="2844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255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1424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10667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4267">
                <a:solidFill>
                  <a:schemeClr val="tx1">
                    <a:tint val="75000"/>
                  </a:schemeClr>
                </a:solidFill>
              </a:defRPr>
            </a:lvl1pPr>
            <a:lvl2pPr marL="812810" indent="0">
              <a:buNone/>
              <a:defRPr sz="3556">
                <a:solidFill>
                  <a:schemeClr val="tx1">
                    <a:tint val="75000"/>
                  </a:schemeClr>
                </a:solidFill>
              </a:defRPr>
            </a:lvl2pPr>
            <a:lvl3pPr marL="162562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3pPr>
            <a:lvl4pPr marL="243843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4pPr>
            <a:lvl5pPr marL="325124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5pPr>
            <a:lvl6pPr marL="406405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6pPr>
            <a:lvl7pPr marL="487686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7pPr>
            <a:lvl8pPr marL="568967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8pPr>
            <a:lvl9pPr marL="650248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035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458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706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65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316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5689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5689"/>
            </a:lvl1pPr>
            <a:lvl2pPr>
              <a:defRPr sz="4978"/>
            </a:lvl2pPr>
            <a:lvl3pPr>
              <a:defRPr sz="4267"/>
            </a:lvl3pPr>
            <a:lvl4pPr>
              <a:defRPr sz="3556"/>
            </a:lvl4pPr>
            <a:lvl5pPr>
              <a:defRPr sz="3556"/>
            </a:lvl5pPr>
            <a:lvl6pPr>
              <a:defRPr sz="3556"/>
            </a:lvl6pPr>
            <a:lvl7pPr>
              <a:defRPr sz="3556"/>
            </a:lvl7pPr>
            <a:lvl8pPr>
              <a:defRPr sz="3556"/>
            </a:lvl8pPr>
            <a:lvl9pPr>
              <a:defRPr sz="3556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2844"/>
            </a:lvl1pPr>
            <a:lvl2pPr marL="812810" indent="0">
              <a:buNone/>
              <a:defRPr sz="2489"/>
            </a:lvl2pPr>
            <a:lvl3pPr marL="1625620" indent="0">
              <a:buNone/>
              <a:defRPr sz="2133"/>
            </a:lvl3pPr>
            <a:lvl4pPr marL="2438430" indent="0">
              <a:buNone/>
              <a:defRPr sz="1778"/>
            </a:lvl4pPr>
            <a:lvl5pPr marL="3251241" indent="0">
              <a:buNone/>
              <a:defRPr sz="1778"/>
            </a:lvl5pPr>
            <a:lvl6pPr marL="4064051" indent="0">
              <a:buNone/>
              <a:defRPr sz="1778"/>
            </a:lvl6pPr>
            <a:lvl7pPr marL="4876861" indent="0">
              <a:buNone/>
              <a:defRPr sz="1778"/>
            </a:lvl7pPr>
            <a:lvl8pPr marL="5689671" indent="0">
              <a:buNone/>
              <a:defRPr sz="1778"/>
            </a:lvl8pPr>
            <a:lvl9pPr marL="6502481" indent="0">
              <a:buNone/>
              <a:defRPr sz="177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778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5689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5689"/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2844"/>
            </a:lvl1pPr>
            <a:lvl2pPr marL="812810" indent="0">
              <a:buNone/>
              <a:defRPr sz="2489"/>
            </a:lvl2pPr>
            <a:lvl3pPr marL="1625620" indent="0">
              <a:buNone/>
              <a:defRPr sz="2133"/>
            </a:lvl3pPr>
            <a:lvl4pPr marL="2438430" indent="0">
              <a:buNone/>
              <a:defRPr sz="1778"/>
            </a:lvl4pPr>
            <a:lvl5pPr marL="3251241" indent="0">
              <a:buNone/>
              <a:defRPr sz="1778"/>
            </a:lvl5pPr>
            <a:lvl6pPr marL="4064051" indent="0">
              <a:buNone/>
              <a:defRPr sz="1778"/>
            </a:lvl6pPr>
            <a:lvl7pPr marL="4876861" indent="0">
              <a:buNone/>
              <a:defRPr sz="1778"/>
            </a:lvl7pPr>
            <a:lvl8pPr marL="5689671" indent="0">
              <a:buNone/>
              <a:defRPr sz="1778"/>
            </a:lvl8pPr>
            <a:lvl9pPr marL="6502481" indent="0">
              <a:buNone/>
              <a:defRPr sz="177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628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35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0812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3148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547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4114800"/>
          </a:xfrm>
          <a:prstGeom prst="ellipse">
            <a:avLst/>
          </a:prstGeom>
          <a:solidFill>
            <a:srgbClr val="0096B7">
              <a:alpha val="25000"/>
            </a:srgbClr>
          </a:solidFill>
          <a:ln w="12700">
            <a:solidFill>
              <a:srgbClr val="0096B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0"/>
            <a:ext cx="2743200" cy="2743200"/>
          </a:xfrm>
          <a:prstGeom prst="ellipse">
            <a:avLst/>
          </a:prstGeom>
          <a:solidFill>
            <a:srgbClr val="00B4D8">
              <a:alpha val="40000"/>
            </a:srgbClr>
          </a:solidFill>
          <a:ln w="1270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  A C A D E M 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Bootcamp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— Data Structures · Strings · Files &amp; Error Handling · OOP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1762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6 – Jul 10, 2026  |  Days 4–8  |  15 Hours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2377440" cy="594360"/>
          </a:xfrm>
          <a:prstGeom prst="roundRect">
            <a:avLst>
              <a:gd name="adj" fmla="val 12308"/>
            </a:avLst>
          </a:prstGeom>
          <a:solidFill>
            <a:srgbClr val="1B3A4B"/>
          </a:solidFill>
          <a:ln/>
        </p:spPr>
      </p:sp>
      <p:sp>
        <p:nvSpPr>
          <p:cNvPr id="10" name="Text 7"/>
          <p:cNvSpPr/>
          <p:nvPr/>
        </p:nvSpPr>
        <p:spPr>
          <a:xfrm>
            <a:off x="448492" y="3154680"/>
            <a:ext cx="2373085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</a:t>
            </a:r>
            <a:endParaRPr lang="en-US" sz="13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154680" y="3154680"/>
            <a:ext cx="2377440" cy="594360"/>
          </a:xfrm>
          <a:prstGeom prst="roundRect">
            <a:avLst>
              <a:gd name="adj" fmla="val 12308"/>
            </a:avLst>
          </a:prstGeom>
          <a:solidFill>
            <a:srgbClr val="1B3A4B"/>
          </a:solidFill>
          <a:ln/>
        </p:spPr>
      </p:sp>
      <p:sp>
        <p:nvSpPr>
          <p:cNvPr id="13" name="Text 9"/>
          <p:cNvSpPr/>
          <p:nvPr/>
        </p:nvSpPr>
        <p:spPr>
          <a:xfrm>
            <a:off x="3140529" y="3154680"/>
            <a:ext cx="2373085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&amp; Files</a:t>
            </a:r>
            <a:endParaRPr lang="en-US" sz="130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852160" y="3154680"/>
            <a:ext cx="2377440" cy="594360"/>
          </a:xfrm>
          <a:prstGeom prst="roundRect">
            <a:avLst>
              <a:gd name="adj" fmla="val 12308"/>
            </a:avLst>
          </a:prstGeom>
          <a:solidFill>
            <a:srgbClr val="1B3A4B"/>
          </a:solidFill>
          <a:ln/>
        </p:spPr>
      </p:sp>
      <p:sp>
        <p:nvSpPr>
          <p:cNvPr id="16" name="Text 11"/>
          <p:cNvSpPr/>
          <p:nvPr/>
        </p:nvSpPr>
        <p:spPr>
          <a:xfrm>
            <a:off x="5843452" y="3154680"/>
            <a:ext cx="2373085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Basics</a:t>
            </a:r>
            <a:endParaRPr lang="en-US" sz="1300" dirty="0"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At-a-Glance — What We Cover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50392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850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713232"/>
            <a:ext cx="79552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877824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74980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Jul 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417320" y="98755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0" y="89611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· Tuples · Dicts · Student Marks Program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74320" y="1655064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2" name="Text 9"/>
          <p:cNvSpPr/>
          <p:nvPr/>
        </p:nvSpPr>
        <p:spPr>
          <a:xfrm>
            <a:off x="274320" y="1655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68680" y="1517904"/>
            <a:ext cx="79552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1682496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417320" y="15544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Jul 7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417320" y="179222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Handling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572000" y="1700784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Palindrome · Patterns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74320" y="2459736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9" name="Text 15"/>
          <p:cNvSpPr/>
          <p:nvPr/>
        </p:nvSpPr>
        <p:spPr>
          <a:xfrm>
            <a:off x="274320" y="24597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868680" y="2322576"/>
            <a:ext cx="79552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2487168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235915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Jul 8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417320" y="259689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+ Errors + Capstone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572000" y="250545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I/O · try/except · Module 1 Capstone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274320" y="3264408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6" name="Text 21"/>
          <p:cNvSpPr/>
          <p:nvPr/>
        </p:nvSpPr>
        <p:spPr>
          <a:xfrm>
            <a:off x="274320" y="3264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868680" y="3127248"/>
            <a:ext cx="79552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3291840"/>
            <a:ext cx="320040" cy="32004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16382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Jul 9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1417320" y="3401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4572000" y="33101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· Objects · Constructors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274320" y="406908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3" name="Text 27"/>
          <p:cNvSpPr/>
          <p:nvPr/>
        </p:nvSpPr>
        <p:spPr>
          <a:xfrm>
            <a:off x="2743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868680" y="3931920"/>
            <a:ext cx="79552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4096512"/>
            <a:ext cx="320040" cy="32004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4173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Jul 10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1417320" y="4206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2 + Project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4572000" y="4114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 · Encapsulation · Graded Project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Quick Recap — What You Already Know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1645920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960120"/>
            <a:ext cx="594360" cy="594360"/>
          </a:xfrm>
          <a:prstGeom prst="ellipse">
            <a:avLst/>
          </a:prstGeom>
          <a:solidFill>
            <a:srgbClr val="00B4D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73" y="1078557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16916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Setup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20040" y="210312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3.x + VS Code · First program ran!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984248" y="777240"/>
            <a:ext cx="1645920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487168" y="960120"/>
            <a:ext cx="594360" cy="594360"/>
          </a:xfrm>
          <a:prstGeom prst="ellipse">
            <a:avLst/>
          </a:prstGeom>
          <a:solidFill>
            <a:srgbClr val="00B4D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893" y="1078557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75688" y="16916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&amp; Types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075688" y="210312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· float · str · bool · None · type()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739896" y="777240"/>
            <a:ext cx="1645920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242816" y="960120"/>
            <a:ext cx="594360" cy="594360"/>
          </a:xfrm>
          <a:prstGeom prst="ellipse">
            <a:avLst/>
          </a:prstGeom>
          <a:solidFill>
            <a:srgbClr val="F77F0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769" y="1078557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31336" y="16916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3831336" y="210312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print() · input() · f-strings · type conversion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495544" y="777240"/>
            <a:ext cx="1645920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998464" y="960120"/>
            <a:ext cx="594360" cy="594360"/>
          </a:xfrm>
          <a:prstGeom prst="ellipse">
            <a:avLst/>
          </a:prstGeom>
          <a:solidFill>
            <a:srgbClr val="00C49A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3418" y="1078557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86984" y="16916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586984" y="210312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if/elif/else · for loops · while loops · break/continue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251192" y="777240"/>
            <a:ext cx="1645920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54112" y="960120"/>
            <a:ext cx="594360" cy="594360"/>
          </a:xfrm>
          <a:prstGeom prst="ellipse">
            <a:avLst/>
          </a:prstGeom>
          <a:solidFill>
            <a:srgbClr val="9B5DE5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0837" y="1078557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342632" y="16916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7342632" y="210312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· parameters · return · default args · built-ins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228600" y="3246120"/>
            <a:ext cx="8686800" cy="411480"/>
          </a:xfrm>
          <a:prstGeom prst="roundRect">
            <a:avLst>
              <a:gd name="adj" fmla="val 13333"/>
            </a:avLst>
          </a:prstGeom>
          <a:solidFill>
            <a:srgbClr val="E8F8FF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337560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5800" y="3246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go deeper — data structures, files, errors, and object-oriented programming!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3657600"/>
          </a:xfrm>
          <a:prstGeom prst="ellipse">
            <a:avLst/>
          </a:prstGeom>
          <a:solidFill>
            <a:srgbClr val="0096B7">
              <a:alpha val="25000"/>
            </a:srgbClr>
          </a:solidFill>
          <a:ln w="12700">
            <a:solidFill>
              <a:srgbClr val="0096B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2286000"/>
          </a:xfrm>
          <a:prstGeom prst="ellipse">
            <a:avLst/>
          </a:prstGeom>
          <a:solidFill>
            <a:srgbClr val="00B4D8">
              <a:alpha val="40000"/>
            </a:srgbClr>
          </a:solidFill>
          <a:ln w="1270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  A C A D E M 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/ WEEK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— Mon, Jul 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Structures: Lists · Tuples · Dictionaries + Student Marks Program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8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Introduction to Lists in Python</a:t>
            </a:r>
            <a:endParaRPr lang="en-US" sz="2200"/>
          </a:p>
        </p:txBody>
      </p:sp>
      <p:sp>
        <p:nvSpPr>
          <p:cNvPr id="2" name="Card"/>
          <p:cNvSpPr/>
          <p:nvPr/>
        </p:nvSpPr>
        <p:spPr>
          <a:xfrm>
            <a:off x="274320" y="650000"/>
            <a:ext cx="4251960" cy="425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Body"/>
          <p:cNvSpPr/>
          <p:nvPr/>
        </p:nvSpPr>
        <p:spPr>
          <a:xfrm>
            <a:off x="457200" y="760000"/>
            <a:ext cx="3886200" cy="40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📋  Python Lists</a:t>
            </a:r>
            <a:endParaRPr lang="en-US" sz="1400"/>
          </a:p>
          <a:p>
            <a:pPr marL="0" indent="0">
              <a:spcAft>
                <a:spcPts val="900"/>
              </a:spcAft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 list is an ordered and mutable collection used to store multiple items in a single variable.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25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Features of Lists</a:t>
            </a:r>
            <a:endParaRPr lang="en-US" sz="1250"/>
          </a:p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Ordered</a:t>
            </a:r>
            <a:endParaRPr lang="en-US" sz="1100"/>
          </a:p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Mutable (can be changed)</a:t>
            </a:r>
            <a:endParaRPr lang="en-US" sz="1100"/>
          </a:p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Allows duplicate values</a:t>
            </a:r>
            <a:endParaRPr lang="en-US" sz="1100"/>
          </a:p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Can store different data types</a:t>
            </a:r>
            <a:endParaRPr lang="en-US" sz="1100"/>
          </a:p>
          <a:p>
            <a:pPr marL="0" indent="0">
              <a:spcAft>
                <a:spcPts val="30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Indexed collection</a:t>
            </a:r>
            <a:endParaRPr lang="en-US" sz="1100"/>
          </a:p>
        </p:txBody>
      </p:sp>
      <p:sp>
        <p:nvSpPr>
          <p:cNvPr id="4" name="Label"/>
          <p:cNvSpPr/>
          <p:nvPr/>
        </p:nvSpPr>
        <p:spPr>
          <a:xfrm>
            <a:off x="4663440" y="650000"/>
            <a:ext cx="4206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Creating Lists</a:t>
            </a:r>
            <a:endParaRPr lang="en-US" sz="1300"/>
          </a:p>
        </p:txBody>
      </p:sp>
      <p:sp>
        <p:nvSpPr>
          <p:cNvPr id="5" name="CodePanel"/>
          <p:cNvSpPr/>
          <p:nvPr/>
        </p:nvSpPr>
        <p:spPr>
          <a:xfrm>
            <a:off x="4663440" y="990000"/>
            <a:ext cx="4206240" cy="30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" name="CodeText"/>
          <p:cNvSpPr/>
          <p:nvPr/>
        </p:nvSpPr>
        <p:spPr>
          <a:xfrm>
            <a:off x="4846320" y="1081440"/>
            <a:ext cx="3840480" cy="28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list of integers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[10, 20, 30]</a:t>
            </a:r>
            <a:endParaRPr lang="en-US" sz="1150"/>
          </a:p>
          <a:p>
            <a:pPr marL="0" indent="0">
              <a:buNone/>
            </a:pP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list of strings</a:t>
            </a:r>
            <a:endParaRPr lang="en-US" sz="1150"/>
          </a:p>
          <a:p>
            <a:r>
              <a:rPr lang="en-US" sz="115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fruits = ["Apple", "</a:t>
            </a:r>
            <a:r>
              <a:rPr lang="en-US" sz="11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Mango", "Banana</a:t>
            </a:r>
            <a:r>
              <a:rPr lang="en-US" sz="115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"]</a:t>
            </a:r>
            <a:endParaRPr lang="en-US" sz="1150" dirty="0">
              <a:latin typeface="Courier New"/>
            </a:endParaRPr>
          </a:p>
          <a:p>
            <a:pPr marL="0" indent="0">
              <a:buNone/>
            </a:pP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mixed data types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mixed = [10, "Python",         True, 3.14]</a:t>
            </a:r>
            <a:endParaRPr lang="en-US" sz="1150">
              <a:latin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2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Accessing and Slicing Lists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Indexing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15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13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 = ["Apple", "Mango",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  "Banana"]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print(fruits[0])    </a:t>
            </a:r>
            <a:r>
              <a:rPr lang="en-US" sz="110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Apple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print(fruits[-1])   </a:t>
            </a:r>
            <a:r>
              <a:rPr lang="en-US" sz="110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Banana</a:t>
            </a:r>
            <a:endParaRPr lang="en-US" sz="1100"/>
          </a:p>
        </p:txBody>
      </p:sp>
      <p:sp>
        <p:nvSpPr>
          <p:cNvPr id="5" name="Label"/>
          <p:cNvSpPr/>
          <p:nvPr/>
        </p:nvSpPr>
        <p:spPr>
          <a:xfrm>
            <a:off x="274320" y="264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Slicing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274320" y="2980000"/>
            <a:ext cx="4251960" cy="19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3071440"/>
            <a:ext cx="3886200" cy="17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[10, 20, 30, 40, 50]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print(numbers[1:4])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print(numbers[:3])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print(numbers[2:])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print(numbers[::-1])</a:t>
            </a:r>
            <a:endParaRPr lang="en-US" sz="11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300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389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370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[20, 30, 40]</a:t>
            </a:r>
            <a:endParaRPr lang="en-US" sz="1250"/>
          </a:p>
          <a:p>
            <a:pPr marL="0" indent="0">
              <a:buNone/>
            </a:pPr>
            <a:r>
              <a:rPr lang="en-US" sz="12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[10, 20, 30]</a:t>
            </a:r>
            <a:endParaRPr lang="en-US" sz="1250"/>
          </a:p>
          <a:p>
            <a:pPr marL="0" indent="0">
              <a:buNone/>
            </a:pPr>
            <a:r>
              <a:rPr lang="en-US" sz="12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[30, 40, 50]</a:t>
            </a:r>
            <a:endParaRPr lang="en-US" sz="1250"/>
          </a:p>
          <a:p>
            <a:pPr marL="0" indent="0">
              <a:buNone/>
            </a:pPr>
            <a:r>
              <a:rPr lang="en-US" sz="12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[50, 40, 30, 20, 10]</a:t>
            </a:r>
            <a:endParaRPr lang="en-US" sz="12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Adding and Removing Elements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Adding Elements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15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13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fruits.append("Orange")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fruits.insert(1, "Kiwi")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fruits.extend(["Grapes",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       "Cherry"])</a:t>
            </a:r>
            <a:endParaRPr lang="en-US" sz="1100"/>
          </a:p>
        </p:txBody>
      </p:sp>
      <p:sp>
        <p:nvSpPr>
          <p:cNvPr id="5" name="Label"/>
          <p:cNvSpPr/>
          <p:nvPr/>
        </p:nvSpPr>
        <p:spPr>
          <a:xfrm>
            <a:off x="274320" y="264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Removing Elements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274320" y="2980000"/>
            <a:ext cx="4251960" cy="19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3071440"/>
            <a:ext cx="3886200" cy="17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fruits.remove("Mango")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fruits.pop()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del fruits[0]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fruits.clear()</a:t>
            </a:r>
            <a:endParaRPr lang="en-US" sz="11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List Methods</a:t>
            </a:r>
            <a:endParaRPr lang="en-US" sz="1300"/>
          </a:p>
        </p:txBody>
      </p:sp>
      <p:sp>
        <p:nvSpPr>
          <p:cNvPr id="9" name="Row"/>
          <p:cNvSpPr/>
          <p:nvPr/>
        </p:nvSpPr>
        <p:spPr>
          <a:xfrm>
            <a:off x="4663440" y="990000"/>
            <a:ext cx="4206240" cy="500000"/>
          </a:xfrm>
          <a:prstGeom prst="roundRect">
            <a:avLst>
              <a:gd name="adj" fmla="val 12000"/>
            </a:avLst>
          </a:prstGeom>
          <a:solidFill>
            <a:srgbClr val="1A2A3A"/>
          </a:solidFill>
          <a:ln/>
        </p:spPr>
      </p:sp>
      <p:sp>
        <p:nvSpPr>
          <p:cNvPr id="10" name="C1"/>
          <p:cNvSpPr/>
          <p:nvPr/>
        </p:nvSpPr>
        <p:spPr>
          <a:xfrm>
            <a:off x="4763440" y="990000"/>
            <a:ext cx="15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Method</a:t>
            </a:r>
          </a:p>
        </p:txBody>
      </p:sp>
      <p:sp>
        <p:nvSpPr>
          <p:cNvPr id="11" name="C2"/>
          <p:cNvSpPr/>
          <p:nvPr/>
        </p:nvSpPr>
        <p:spPr>
          <a:xfrm>
            <a:off x="6313440" y="990000"/>
            <a:ext cx="245624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12" name="Row"/>
          <p:cNvSpPr/>
          <p:nvPr/>
        </p:nvSpPr>
        <p:spPr>
          <a:xfrm>
            <a:off x="4663440" y="1530000"/>
            <a:ext cx="4206240" cy="50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13" name="C1"/>
          <p:cNvSpPr/>
          <p:nvPr/>
        </p:nvSpPr>
        <p:spPr>
          <a:xfrm>
            <a:off x="4763440" y="1530000"/>
            <a:ext cx="15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append()</a:t>
            </a:r>
          </a:p>
        </p:txBody>
      </p:sp>
      <p:sp>
        <p:nvSpPr>
          <p:cNvPr id="14" name="C2"/>
          <p:cNvSpPr/>
          <p:nvPr/>
        </p:nvSpPr>
        <p:spPr>
          <a:xfrm>
            <a:off x="6313440" y="1530000"/>
            <a:ext cx="245624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Add one item</a:t>
            </a:r>
          </a:p>
        </p:txBody>
      </p:sp>
      <p:sp>
        <p:nvSpPr>
          <p:cNvPr id="15" name="Row"/>
          <p:cNvSpPr/>
          <p:nvPr/>
        </p:nvSpPr>
        <p:spPr>
          <a:xfrm>
            <a:off x="4663440" y="2070000"/>
            <a:ext cx="4206240" cy="500000"/>
          </a:xfrm>
          <a:prstGeom prst="roundRect">
            <a:avLst>
              <a:gd name="adj" fmla="val 12000"/>
            </a:avLst>
          </a:prstGeom>
          <a:solidFill>
            <a:srgbClr val="E2ECF3"/>
          </a:solidFill>
          <a:ln/>
        </p:spPr>
      </p:sp>
      <p:sp>
        <p:nvSpPr>
          <p:cNvPr id="16" name="C1"/>
          <p:cNvSpPr/>
          <p:nvPr/>
        </p:nvSpPr>
        <p:spPr>
          <a:xfrm>
            <a:off x="4763440" y="2070000"/>
            <a:ext cx="15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insert()</a:t>
            </a:r>
          </a:p>
        </p:txBody>
      </p:sp>
      <p:sp>
        <p:nvSpPr>
          <p:cNvPr id="17" name="C2"/>
          <p:cNvSpPr/>
          <p:nvPr/>
        </p:nvSpPr>
        <p:spPr>
          <a:xfrm>
            <a:off x="6313440" y="2070000"/>
            <a:ext cx="245624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Add at index</a:t>
            </a:r>
          </a:p>
        </p:txBody>
      </p:sp>
      <p:sp>
        <p:nvSpPr>
          <p:cNvPr id="18" name="Row"/>
          <p:cNvSpPr/>
          <p:nvPr/>
        </p:nvSpPr>
        <p:spPr>
          <a:xfrm>
            <a:off x="4663440" y="2610000"/>
            <a:ext cx="4206240" cy="50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19" name="C1"/>
          <p:cNvSpPr/>
          <p:nvPr/>
        </p:nvSpPr>
        <p:spPr>
          <a:xfrm>
            <a:off x="4763440" y="2610000"/>
            <a:ext cx="15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extend()</a:t>
            </a:r>
          </a:p>
        </p:txBody>
      </p:sp>
      <p:sp>
        <p:nvSpPr>
          <p:cNvPr id="20" name="C2"/>
          <p:cNvSpPr/>
          <p:nvPr/>
        </p:nvSpPr>
        <p:spPr>
          <a:xfrm>
            <a:off x="6313440" y="2610000"/>
            <a:ext cx="245624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Add multiple items</a:t>
            </a:r>
          </a:p>
        </p:txBody>
      </p:sp>
      <p:sp>
        <p:nvSpPr>
          <p:cNvPr id="21" name="Row"/>
          <p:cNvSpPr/>
          <p:nvPr/>
        </p:nvSpPr>
        <p:spPr>
          <a:xfrm>
            <a:off x="4663440" y="3150000"/>
            <a:ext cx="4206240" cy="500000"/>
          </a:xfrm>
          <a:prstGeom prst="roundRect">
            <a:avLst>
              <a:gd name="adj" fmla="val 12000"/>
            </a:avLst>
          </a:prstGeom>
          <a:solidFill>
            <a:srgbClr val="E2ECF3"/>
          </a:solidFill>
          <a:ln/>
        </p:spPr>
      </p:sp>
      <p:sp>
        <p:nvSpPr>
          <p:cNvPr id="22" name="C1"/>
          <p:cNvSpPr/>
          <p:nvPr/>
        </p:nvSpPr>
        <p:spPr>
          <a:xfrm>
            <a:off x="4763440" y="3150000"/>
            <a:ext cx="15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remove()</a:t>
            </a:r>
          </a:p>
        </p:txBody>
      </p:sp>
      <p:sp>
        <p:nvSpPr>
          <p:cNvPr id="23" name="C2"/>
          <p:cNvSpPr/>
          <p:nvPr/>
        </p:nvSpPr>
        <p:spPr>
          <a:xfrm>
            <a:off x="6313440" y="3150000"/>
            <a:ext cx="245624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Remove by value</a:t>
            </a:r>
          </a:p>
        </p:txBody>
      </p:sp>
      <p:sp>
        <p:nvSpPr>
          <p:cNvPr id="24" name="Row"/>
          <p:cNvSpPr/>
          <p:nvPr/>
        </p:nvSpPr>
        <p:spPr>
          <a:xfrm>
            <a:off x="4663440" y="3690000"/>
            <a:ext cx="4206240" cy="50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25" name="C1"/>
          <p:cNvSpPr/>
          <p:nvPr/>
        </p:nvSpPr>
        <p:spPr>
          <a:xfrm>
            <a:off x="4763440" y="3690000"/>
            <a:ext cx="15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pop()</a:t>
            </a:r>
          </a:p>
        </p:txBody>
      </p:sp>
      <p:sp>
        <p:nvSpPr>
          <p:cNvPr id="26" name="C2"/>
          <p:cNvSpPr/>
          <p:nvPr/>
        </p:nvSpPr>
        <p:spPr>
          <a:xfrm>
            <a:off x="6313440" y="3690000"/>
            <a:ext cx="245624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Remove by index</a:t>
            </a:r>
          </a:p>
        </p:txBody>
      </p:sp>
      <p:sp>
        <p:nvSpPr>
          <p:cNvPr id="27" name="Row"/>
          <p:cNvSpPr/>
          <p:nvPr/>
        </p:nvSpPr>
        <p:spPr>
          <a:xfrm>
            <a:off x="4663440" y="4230000"/>
            <a:ext cx="4206240" cy="500000"/>
          </a:xfrm>
          <a:prstGeom prst="roundRect">
            <a:avLst>
              <a:gd name="adj" fmla="val 12000"/>
            </a:avLst>
          </a:prstGeom>
          <a:solidFill>
            <a:srgbClr val="E2ECF3"/>
          </a:solidFill>
          <a:ln/>
        </p:spPr>
      </p:sp>
      <p:sp>
        <p:nvSpPr>
          <p:cNvPr id="28" name="C1"/>
          <p:cNvSpPr/>
          <p:nvPr/>
        </p:nvSpPr>
        <p:spPr>
          <a:xfrm>
            <a:off x="4763440" y="4230000"/>
            <a:ext cx="15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clear()</a:t>
            </a:r>
          </a:p>
        </p:txBody>
      </p:sp>
      <p:sp>
        <p:nvSpPr>
          <p:cNvPr id="29" name="C2"/>
          <p:cNvSpPr/>
          <p:nvPr/>
        </p:nvSpPr>
        <p:spPr>
          <a:xfrm>
            <a:off x="6313440" y="4230000"/>
            <a:ext cx="245624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Remove all items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25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Useful List Methods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Example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24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22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[30, 10, 50, 20]</a:t>
            </a:r>
            <a:endParaRPr lang="en-US" sz="1150"/>
          </a:p>
          <a:p>
            <a:pPr marL="0" indent="0">
              <a:buNone/>
            </a:pP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numbers.sort()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numbers.reverse()</a:t>
            </a:r>
            <a:endParaRPr lang="en-US" sz="1150"/>
          </a:p>
          <a:p>
            <a:pPr marL="0" indent="0">
              <a:buNone/>
            </a:pP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print(numbers.count(10))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print(numbers.index(50))</a:t>
            </a:r>
            <a:endParaRPr lang="en-US" sz="1150"/>
          </a:p>
        </p:txBody>
      </p:sp>
      <p:sp>
        <p:nvSpPr>
          <p:cNvPr id="5" name="Label"/>
          <p:cNvSpPr/>
          <p:nvPr/>
        </p:nvSpPr>
        <p:spPr>
          <a:xfrm>
            <a:off x="4663440" y="650000"/>
            <a:ext cx="4206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Useful Methods</a:t>
            </a:r>
            <a:endParaRPr lang="en-US" sz="1300"/>
          </a:p>
        </p:txBody>
      </p:sp>
      <p:sp>
        <p:nvSpPr>
          <p:cNvPr id="6" name="Row"/>
          <p:cNvSpPr/>
          <p:nvPr/>
        </p:nvSpPr>
        <p:spPr>
          <a:xfrm>
            <a:off x="4663440" y="990000"/>
            <a:ext cx="4206240" cy="560000"/>
          </a:xfrm>
          <a:prstGeom prst="roundRect">
            <a:avLst>
              <a:gd name="adj" fmla="val 12000"/>
            </a:avLst>
          </a:prstGeom>
          <a:solidFill>
            <a:srgbClr val="1A2A3A"/>
          </a:solidFill>
          <a:ln/>
        </p:spPr>
      </p:sp>
      <p:sp>
        <p:nvSpPr>
          <p:cNvPr id="7" name="C1"/>
          <p:cNvSpPr/>
          <p:nvPr/>
        </p:nvSpPr>
        <p:spPr>
          <a:xfrm>
            <a:off x="4763440" y="990000"/>
            <a:ext cx="1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Method</a:t>
            </a:r>
          </a:p>
        </p:txBody>
      </p:sp>
      <p:sp>
        <p:nvSpPr>
          <p:cNvPr id="8" name="C2"/>
          <p:cNvSpPr/>
          <p:nvPr/>
        </p:nvSpPr>
        <p:spPr>
          <a:xfrm>
            <a:off x="6313440" y="990000"/>
            <a:ext cx="2456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9" name="Row"/>
          <p:cNvSpPr/>
          <p:nvPr/>
        </p:nvSpPr>
        <p:spPr>
          <a:xfrm>
            <a:off x="4663440" y="1590000"/>
            <a:ext cx="4206240" cy="56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10" name="C1"/>
          <p:cNvSpPr/>
          <p:nvPr/>
        </p:nvSpPr>
        <p:spPr>
          <a:xfrm>
            <a:off x="4763440" y="1590000"/>
            <a:ext cx="1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sort()</a:t>
            </a:r>
          </a:p>
        </p:txBody>
      </p:sp>
      <p:sp>
        <p:nvSpPr>
          <p:cNvPr id="11" name="C2"/>
          <p:cNvSpPr/>
          <p:nvPr/>
        </p:nvSpPr>
        <p:spPr>
          <a:xfrm>
            <a:off x="6313440" y="1590000"/>
            <a:ext cx="2456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Sort list</a:t>
            </a:r>
          </a:p>
        </p:txBody>
      </p:sp>
      <p:sp>
        <p:nvSpPr>
          <p:cNvPr id="12" name="Row"/>
          <p:cNvSpPr/>
          <p:nvPr/>
        </p:nvSpPr>
        <p:spPr>
          <a:xfrm>
            <a:off x="4663440" y="2190000"/>
            <a:ext cx="4206240" cy="560000"/>
          </a:xfrm>
          <a:prstGeom prst="roundRect">
            <a:avLst>
              <a:gd name="adj" fmla="val 12000"/>
            </a:avLst>
          </a:prstGeom>
          <a:solidFill>
            <a:srgbClr val="E2ECF3"/>
          </a:solidFill>
          <a:ln/>
        </p:spPr>
      </p:sp>
      <p:sp>
        <p:nvSpPr>
          <p:cNvPr id="13" name="C1"/>
          <p:cNvSpPr/>
          <p:nvPr/>
        </p:nvSpPr>
        <p:spPr>
          <a:xfrm>
            <a:off x="4763440" y="2190000"/>
            <a:ext cx="1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reverse()</a:t>
            </a:r>
          </a:p>
        </p:txBody>
      </p:sp>
      <p:sp>
        <p:nvSpPr>
          <p:cNvPr id="14" name="C2"/>
          <p:cNvSpPr/>
          <p:nvPr/>
        </p:nvSpPr>
        <p:spPr>
          <a:xfrm>
            <a:off x="6313440" y="2190000"/>
            <a:ext cx="2456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Reverse list</a:t>
            </a:r>
          </a:p>
        </p:txBody>
      </p:sp>
      <p:sp>
        <p:nvSpPr>
          <p:cNvPr id="15" name="Row"/>
          <p:cNvSpPr/>
          <p:nvPr/>
        </p:nvSpPr>
        <p:spPr>
          <a:xfrm>
            <a:off x="4663440" y="2790000"/>
            <a:ext cx="4206240" cy="56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16" name="C1"/>
          <p:cNvSpPr/>
          <p:nvPr/>
        </p:nvSpPr>
        <p:spPr>
          <a:xfrm>
            <a:off x="4763440" y="2790000"/>
            <a:ext cx="1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count()</a:t>
            </a:r>
          </a:p>
        </p:txBody>
      </p:sp>
      <p:sp>
        <p:nvSpPr>
          <p:cNvPr id="17" name="C2"/>
          <p:cNvSpPr/>
          <p:nvPr/>
        </p:nvSpPr>
        <p:spPr>
          <a:xfrm>
            <a:off x="6313440" y="2790000"/>
            <a:ext cx="2456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Count occurrences</a:t>
            </a:r>
          </a:p>
        </p:txBody>
      </p:sp>
      <p:sp>
        <p:nvSpPr>
          <p:cNvPr id="18" name="Row"/>
          <p:cNvSpPr/>
          <p:nvPr/>
        </p:nvSpPr>
        <p:spPr>
          <a:xfrm>
            <a:off x="4663440" y="3390000"/>
            <a:ext cx="4206240" cy="560000"/>
          </a:xfrm>
          <a:prstGeom prst="roundRect">
            <a:avLst>
              <a:gd name="adj" fmla="val 12000"/>
            </a:avLst>
          </a:prstGeom>
          <a:solidFill>
            <a:srgbClr val="E2ECF3"/>
          </a:solidFill>
          <a:ln/>
        </p:spPr>
      </p:sp>
      <p:sp>
        <p:nvSpPr>
          <p:cNvPr id="19" name="C1"/>
          <p:cNvSpPr/>
          <p:nvPr/>
        </p:nvSpPr>
        <p:spPr>
          <a:xfrm>
            <a:off x="4763440" y="3390000"/>
            <a:ext cx="1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index()</a:t>
            </a:r>
          </a:p>
        </p:txBody>
      </p:sp>
      <p:sp>
        <p:nvSpPr>
          <p:cNvPr id="20" name="C2"/>
          <p:cNvSpPr/>
          <p:nvPr/>
        </p:nvSpPr>
        <p:spPr>
          <a:xfrm>
            <a:off x="6313440" y="3390000"/>
            <a:ext cx="2456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Find position</a:t>
            </a:r>
          </a:p>
        </p:txBody>
      </p:sp>
      <p:sp>
        <p:nvSpPr>
          <p:cNvPr id="21" name="Row"/>
          <p:cNvSpPr/>
          <p:nvPr/>
        </p:nvSpPr>
        <p:spPr>
          <a:xfrm>
            <a:off x="4663440" y="3990000"/>
            <a:ext cx="4206240" cy="56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/>
        </p:spPr>
      </p:sp>
      <p:sp>
        <p:nvSpPr>
          <p:cNvPr id="22" name="C1"/>
          <p:cNvSpPr/>
          <p:nvPr/>
        </p:nvSpPr>
        <p:spPr>
          <a:xfrm>
            <a:off x="4763440" y="3990000"/>
            <a:ext cx="1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copy()</a:t>
            </a:r>
          </a:p>
        </p:txBody>
      </p:sp>
      <p:sp>
        <p:nvSpPr>
          <p:cNvPr id="23" name="C2"/>
          <p:cNvSpPr/>
          <p:nvPr/>
        </p:nvSpPr>
        <p:spPr>
          <a:xfrm>
            <a:off x="6313440" y="3990000"/>
            <a:ext cx="2456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Create copy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2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Looping and List Operations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Traversing a List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15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13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 = ["Apple", "Mango",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  "Banana"]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for fruit in fruits:</a:t>
            </a:r>
            <a:endParaRPr lang="en-US" sz="1100"/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 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print(fruit)</a:t>
            </a:r>
            <a:endParaRPr lang="en-US" sz="1100">
              <a:latin typeface="Courier New"/>
            </a:endParaRPr>
          </a:p>
        </p:txBody>
      </p:sp>
      <p:sp>
        <p:nvSpPr>
          <p:cNvPr id="5" name="Label"/>
          <p:cNvSpPr/>
          <p:nvPr/>
        </p:nvSpPr>
        <p:spPr>
          <a:xfrm>
            <a:off x="274320" y="269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List Operations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274320" y="3030000"/>
            <a:ext cx="4251960" cy="18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3121440"/>
            <a:ext cx="3886200" cy="16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a = [1, 2]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b = [3, 4]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print(a + b)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print(a * 2)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print(2 in a)</a:t>
            </a:r>
            <a:endParaRPr lang="en-US" sz="11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300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389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370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[1, 2, 3, 4]</a:t>
            </a:r>
            <a:endParaRPr lang="en-US" sz="1250"/>
          </a:p>
          <a:p>
            <a:pPr marL="0" indent="0">
              <a:buNone/>
            </a:pPr>
            <a:r>
              <a:rPr lang="en-US" sz="12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[1, 2, 1, 2]</a:t>
            </a:r>
            <a:endParaRPr lang="en-US" sz="1250"/>
          </a:p>
          <a:p>
            <a:pPr marL="0" indent="0">
              <a:buNone/>
            </a:pPr>
            <a:r>
              <a:rPr lang="en-US" sz="12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True</a:t>
            </a:r>
            <a:endParaRPr lang="en-US" sz="12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0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List Comprehension</a:t>
            </a:r>
            <a:endParaRPr lang="en-US" sz="2200">
              <a:latin typeface="Calibri"/>
            </a:endParaRPr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List Comprehension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306977" y="968229"/>
            <a:ext cx="8497388" cy="1471771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84414" y="1081440"/>
            <a:ext cx="8169728" cy="12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squares = [x*x for x in           range(5)]</a:t>
            </a:r>
            <a:endParaRPr lang="en-US" sz="1150">
              <a:latin typeface="Courier New"/>
            </a:endParaRPr>
          </a:p>
          <a:p>
            <a:pPr marL="0" indent="0">
              <a:buNone/>
            </a:pP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print(squares)</a:t>
            </a:r>
            <a:endParaRPr lang="en-US" sz="1150"/>
          </a:p>
        </p:txBody>
      </p:sp>
      <p:sp>
        <p:nvSpPr>
          <p:cNvPr id="5" name="Label"/>
          <p:cNvSpPr/>
          <p:nvPr/>
        </p:nvSpPr>
        <p:spPr>
          <a:xfrm>
            <a:off x="274320" y="2560000"/>
            <a:ext cx="42519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296091" y="2872786"/>
            <a:ext cx="8508274" cy="847214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73528" y="2991440"/>
            <a:ext cx="8186057" cy="63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[0, 1, 4, 9, 16]</a:t>
            </a:r>
            <a:endParaRPr lang="en-US" sz="1250"/>
          </a:p>
        </p:txBody>
      </p:sp>
      <p:sp>
        <p:nvSpPr>
          <p:cNvPr id="27" name="Card"/>
          <p:cNvSpPr/>
          <p:nvPr/>
        </p:nvSpPr>
        <p:spPr>
          <a:xfrm>
            <a:off x="274320" y="3960000"/>
            <a:ext cx="8595360" cy="82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Body"/>
          <p:cNvSpPr/>
          <p:nvPr/>
        </p:nvSpPr>
        <p:spPr>
          <a:xfrm>
            <a:off x="494320" y="4080000"/>
            <a:ext cx="815536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Lists are the </a:t>
            </a:r>
            <a:r>
              <a:rPr lang="en-US" sz="12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most used</a:t>
            </a:r>
            <a:r>
              <a:rPr lang="en-US" sz="1200" b="1" dirty="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data structure in Python for storing and manipulating collections of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Introduction to Tuples</a:t>
            </a:r>
            <a:endParaRPr lang="en-US" sz="2200"/>
          </a:p>
        </p:txBody>
      </p:sp>
      <p:sp>
        <p:nvSpPr>
          <p:cNvPr id="2" name="Card"/>
          <p:cNvSpPr/>
          <p:nvPr/>
        </p:nvSpPr>
        <p:spPr>
          <a:xfrm>
            <a:off x="274320" y="650000"/>
            <a:ext cx="4251960" cy="425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Body"/>
          <p:cNvSpPr/>
          <p:nvPr/>
        </p:nvSpPr>
        <p:spPr>
          <a:xfrm>
            <a:off x="457200" y="760000"/>
            <a:ext cx="3886200" cy="40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📦  Tuples in Python</a:t>
            </a:r>
            <a:endParaRPr lang="en-US" sz="1400"/>
          </a:p>
          <a:p>
            <a:pPr marL="0" indent="0">
              <a:spcAft>
                <a:spcPts val="800"/>
              </a:spcAft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 tuple is an ordered and immutable collection used to store multiple items in a single variable.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25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Features of Tuples</a:t>
            </a:r>
            <a:endParaRPr lang="en-US" sz="1250"/>
          </a:p>
          <a:p>
            <a:pPr marL="0" indent="0">
              <a:spcAft>
                <a:spcPts val="260"/>
              </a:spcAft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Ordered</a:t>
            </a:r>
            <a:endParaRPr lang="en-US" sz="1050"/>
          </a:p>
          <a:p>
            <a:pPr marL="0" indent="0">
              <a:spcAft>
                <a:spcPts val="260"/>
              </a:spcAft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Immutable (cannot be changed)</a:t>
            </a:r>
            <a:endParaRPr lang="en-US" sz="1050"/>
          </a:p>
          <a:p>
            <a:pPr marL="0" indent="0">
              <a:spcAft>
                <a:spcPts val="260"/>
              </a:spcAft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Allows duplicate values</a:t>
            </a:r>
            <a:endParaRPr lang="en-US" sz="1050"/>
          </a:p>
          <a:p>
            <a:pPr marL="0" indent="0">
              <a:spcAft>
                <a:spcPts val="260"/>
              </a:spcAft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Supports indexing and slicing</a:t>
            </a:r>
            <a:endParaRPr lang="en-US" sz="1050"/>
          </a:p>
          <a:p>
            <a:pPr marL="0" indent="0">
              <a:spcAft>
                <a:spcPts val="260"/>
              </a:spcAft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Faster than lists</a:t>
            </a:r>
            <a:endParaRPr lang="en-US" sz="1050"/>
          </a:p>
          <a:p>
            <a:pPr marL="0" indent="0">
              <a:spcAft>
                <a:spcPts val="260"/>
              </a:spcAft>
              <a:buNone/>
            </a:pPr>
            <a:r>
              <a:rPr lang="en-US" sz="105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Can store different data types</a:t>
            </a:r>
            <a:endParaRPr lang="en-US" sz="1050"/>
          </a:p>
        </p:txBody>
      </p:sp>
      <p:sp>
        <p:nvSpPr>
          <p:cNvPr id="4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Creating Tuples</a:t>
            </a:r>
            <a:endParaRPr lang="en-US" sz="1300"/>
          </a:p>
        </p:txBody>
      </p:sp>
      <p:sp>
        <p:nvSpPr>
          <p:cNvPr id="5" name="CodePanel"/>
          <p:cNvSpPr/>
          <p:nvPr/>
        </p:nvSpPr>
        <p:spPr>
          <a:xfrm>
            <a:off x="4663440" y="990000"/>
            <a:ext cx="4206240" cy="23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" name="CodeText"/>
          <p:cNvSpPr/>
          <p:nvPr/>
        </p:nvSpPr>
        <p:spPr>
          <a:xfrm>
            <a:off x="4846320" y="1081440"/>
            <a:ext cx="3840480" cy="21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integers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(10, 20, 30)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strings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 = ("Apple", "Mango",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  "Banana")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mixed data types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mixed = (10, "Python",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 True, 3.14)</a:t>
            </a:r>
            <a:endParaRPr lang="en-US" sz="1100"/>
          </a:p>
        </p:txBody>
      </p:sp>
      <p:sp>
        <p:nvSpPr>
          <p:cNvPr id="7" name="Label"/>
          <p:cNvSpPr/>
          <p:nvPr/>
        </p:nvSpPr>
        <p:spPr>
          <a:xfrm>
            <a:off x="4663440" y="347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Single Element Tuple</a:t>
            </a:r>
            <a:endParaRPr lang="en-US" sz="1300"/>
          </a:p>
        </p:txBody>
      </p:sp>
      <p:sp>
        <p:nvSpPr>
          <p:cNvPr id="8" name="CodePanel"/>
          <p:cNvSpPr/>
          <p:nvPr/>
        </p:nvSpPr>
        <p:spPr>
          <a:xfrm>
            <a:off x="4663440" y="3810000"/>
            <a:ext cx="4206240" cy="109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CodeText"/>
          <p:cNvSpPr/>
          <p:nvPr/>
        </p:nvSpPr>
        <p:spPr>
          <a:xfrm>
            <a:off x="4846320" y="3901440"/>
            <a:ext cx="3840480" cy="90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7FA8C9"/>
                </a:solidFill>
                <a:latin typeface="Courier New" pitchFamily="34" charset="0"/>
                <a:ea typeface="Courier New"/>
                <a:cs typeface="Courier New"/>
              </a:rPr>
              <a:t># note the trailing comma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single = (10,)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3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Accessing Elements and Slicing</a:t>
            </a:r>
            <a:endParaRPr lang="en-US" sz="2200"/>
          </a:p>
        </p:txBody>
      </p:sp>
      <p:sp>
        <p:nvSpPr>
          <p:cNvPr id="2" name="Subtitle"/>
          <p:cNvSpPr/>
          <p:nvPr/>
        </p:nvSpPr>
        <p:spPr>
          <a:xfrm>
            <a:off x="274320" y="600000"/>
            <a:ext cx="859536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Tuples support indexing and slicing just like lists.</a:t>
            </a:r>
            <a:endParaRPr lang="en-US" sz="1200"/>
          </a:p>
        </p:txBody>
      </p:sp>
      <p:sp>
        <p:nvSpPr>
          <p:cNvPr id="3" name="Label"/>
          <p:cNvSpPr/>
          <p:nvPr/>
        </p:nvSpPr>
        <p:spPr>
          <a:xfrm>
            <a:off x="274320" y="94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Indexing</a:t>
            </a:r>
            <a:endParaRPr lang="en-US" sz="1300"/>
          </a:p>
        </p:txBody>
      </p:sp>
      <p:sp>
        <p:nvSpPr>
          <p:cNvPr id="4" name="CodePanel"/>
          <p:cNvSpPr/>
          <p:nvPr/>
        </p:nvSpPr>
        <p:spPr>
          <a:xfrm>
            <a:off x="274320" y="1270000"/>
            <a:ext cx="4251960" cy="13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CodeText"/>
          <p:cNvSpPr/>
          <p:nvPr/>
        </p:nvSpPr>
        <p:spPr>
          <a:xfrm>
            <a:off x="457200" y="1361440"/>
            <a:ext cx="3886200" cy="11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 = ("Apple", "Mango",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  "Banana")</a:t>
            </a:r>
            <a:endParaRPr lang="en-US" sz="1050"/>
          </a:p>
          <a:p>
            <a:pPr marL="0" indent="0">
              <a:buNone/>
            </a:pP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print(fruits[0])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print(fruits[-1])</a:t>
            </a:r>
            <a:endParaRPr lang="en-US" sz="1050"/>
          </a:p>
        </p:txBody>
      </p:sp>
      <p:sp>
        <p:nvSpPr>
          <p:cNvPr id="6" name="Label"/>
          <p:cNvSpPr/>
          <p:nvPr/>
        </p:nvSpPr>
        <p:spPr>
          <a:xfrm>
            <a:off x="274320" y="276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Slicing</a:t>
            </a:r>
            <a:endParaRPr lang="en-US" sz="1300"/>
          </a:p>
        </p:txBody>
      </p:sp>
      <p:sp>
        <p:nvSpPr>
          <p:cNvPr id="7" name="CodePanel"/>
          <p:cNvSpPr/>
          <p:nvPr/>
        </p:nvSpPr>
        <p:spPr>
          <a:xfrm>
            <a:off x="274320" y="3090000"/>
            <a:ext cx="4251960" cy="1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" name="CodeText"/>
          <p:cNvSpPr/>
          <p:nvPr/>
        </p:nvSpPr>
        <p:spPr>
          <a:xfrm>
            <a:off x="457200" y="3181440"/>
            <a:ext cx="3886200" cy="1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(10, 20, 30, 40, 50)</a:t>
            </a:r>
            <a:endParaRPr lang="en-US" sz="1050"/>
          </a:p>
          <a:p>
            <a:pPr marL="0" indent="0">
              <a:buNone/>
            </a:pP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print(numbers[1:4])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print(numbers[:3])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print(numbers[::-1])</a:t>
            </a:r>
            <a:endParaRPr lang="en-US" sz="1050"/>
          </a:p>
        </p:txBody>
      </p:sp>
      <p:sp>
        <p:nvSpPr>
          <p:cNvPr id="9" name="Label"/>
          <p:cNvSpPr/>
          <p:nvPr/>
        </p:nvSpPr>
        <p:spPr>
          <a:xfrm>
            <a:off x="4663440" y="94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300"/>
          </a:p>
        </p:txBody>
      </p:sp>
      <p:sp>
        <p:nvSpPr>
          <p:cNvPr id="10" name="CodePanel"/>
          <p:cNvSpPr/>
          <p:nvPr/>
        </p:nvSpPr>
        <p:spPr>
          <a:xfrm>
            <a:off x="4663440" y="1270000"/>
            <a:ext cx="4206240" cy="352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" name="CodeText"/>
          <p:cNvSpPr/>
          <p:nvPr/>
        </p:nvSpPr>
        <p:spPr>
          <a:xfrm>
            <a:off x="4846320" y="1361440"/>
            <a:ext cx="3840480" cy="333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Apple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Banana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(20, 30, 40)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(10, 20, 30)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(50, 40, 30, 20, 10)</a:t>
            </a:r>
            <a:endParaRPr lang="en-US" sz="12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6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Immutability and Tuple Operations</a:t>
            </a:r>
            <a:endParaRPr lang="en-US" sz="2200"/>
          </a:p>
        </p:txBody>
      </p:sp>
      <p:sp>
        <p:nvSpPr>
          <p:cNvPr id="2" name="Subtitle"/>
          <p:cNvSpPr/>
          <p:nvPr/>
        </p:nvSpPr>
        <p:spPr>
          <a:xfrm>
            <a:off x="274320" y="600000"/>
            <a:ext cx="859536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Tuples cannot be modified after creation.</a:t>
            </a:r>
            <a:endParaRPr lang="en-US" sz="1200"/>
          </a:p>
        </p:txBody>
      </p:sp>
      <p:sp>
        <p:nvSpPr>
          <p:cNvPr id="3" name="Label"/>
          <p:cNvSpPr/>
          <p:nvPr/>
        </p:nvSpPr>
        <p:spPr>
          <a:xfrm>
            <a:off x="274320" y="94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❌  Invalid Operation</a:t>
            </a:r>
            <a:endParaRPr lang="en-US" sz="1300"/>
          </a:p>
        </p:txBody>
      </p:sp>
      <p:sp>
        <p:nvSpPr>
          <p:cNvPr id="4" name="CodePanel"/>
          <p:cNvSpPr/>
          <p:nvPr/>
        </p:nvSpPr>
        <p:spPr>
          <a:xfrm>
            <a:off x="274320" y="1270000"/>
            <a:ext cx="4251960" cy="10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CodeText"/>
          <p:cNvSpPr/>
          <p:nvPr/>
        </p:nvSpPr>
        <p:spPr>
          <a:xfrm>
            <a:off x="457200" y="1361440"/>
            <a:ext cx="3886200" cy="8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fruits[1] = "Orange"</a:t>
            </a:r>
            <a:endParaRPr lang="en-US" sz="1100"/>
          </a:p>
        </p:txBody>
      </p:sp>
      <p:sp>
        <p:nvSpPr>
          <p:cNvPr id="6" name="Label"/>
          <p:cNvSpPr/>
          <p:nvPr/>
        </p:nvSpPr>
        <p:spPr>
          <a:xfrm>
            <a:off x="274320" y="238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300"/>
          </a:p>
        </p:txBody>
      </p:sp>
      <p:sp>
        <p:nvSpPr>
          <p:cNvPr id="7" name="CodePanel"/>
          <p:cNvSpPr/>
          <p:nvPr/>
        </p:nvSpPr>
        <p:spPr>
          <a:xfrm>
            <a:off x="274320" y="2710000"/>
            <a:ext cx="4251960" cy="820000"/>
          </a:xfrm>
          <a:prstGeom prst="roundRect">
            <a:avLst>
              <a:gd name="adj" fmla="val 4138"/>
            </a:avLst>
          </a:prstGeom>
          <a:solidFill>
            <a:srgbClr val="3A1A1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" name="CodeText"/>
          <p:cNvSpPr/>
          <p:nvPr/>
        </p:nvSpPr>
        <p:spPr>
          <a:xfrm>
            <a:off x="457200" y="2801440"/>
            <a:ext cx="3886200" cy="63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FF6B6B"/>
                </a:solidFill>
                <a:latin typeface="Courier New" pitchFamily="34" charset="0"/>
                <a:ea typeface="Courier New"/>
                <a:cs typeface="Courier New"/>
              </a:rPr>
              <a:t>TypeError: 'tuple' object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FF6B6B"/>
                </a:solidFill>
                <a:latin typeface="Courier New" pitchFamily="34" charset="0"/>
                <a:ea typeface="Courier New"/>
                <a:cs typeface="Courier New"/>
              </a:rPr>
              <a:t>does not support assignment</a:t>
            </a:r>
            <a:endParaRPr lang="en-US" sz="1050"/>
          </a:p>
        </p:txBody>
      </p:sp>
      <p:sp>
        <p:nvSpPr>
          <p:cNvPr id="9" name="Label"/>
          <p:cNvSpPr/>
          <p:nvPr/>
        </p:nvSpPr>
        <p:spPr>
          <a:xfrm>
            <a:off x="4663440" y="94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Tuple Operators</a:t>
            </a:r>
            <a:endParaRPr lang="en-US" sz="1300"/>
          </a:p>
        </p:txBody>
      </p:sp>
      <p:sp>
        <p:nvSpPr>
          <p:cNvPr id="10" name="CodePanel"/>
          <p:cNvSpPr/>
          <p:nvPr/>
        </p:nvSpPr>
        <p:spPr>
          <a:xfrm>
            <a:off x="4663440" y="1270000"/>
            <a:ext cx="4206240" cy="1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" name="CodeText"/>
          <p:cNvSpPr/>
          <p:nvPr/>
        </p:nvSpPr>
        <p:spPr>
          <a:xfrm>
            <a:off x="4846320" y="1361440"/>
            <a:ext cx="3840480" cy="1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a = (1, 2)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b = (3, 4)</a:t>
            </a:r>
            <a:endParaRPr lang="en-US" sz="1050"/>
          </a:p>
          <a:p>
            <a:pPr marL="0" indent="0">
              <a:buNone/>
            </a:pP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print(a + b)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print(a * 2)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print(2 in a)</a:t>
            </a:r>
            <a:endParaRPr lang="en-US" sz="1050"/>
          </a:p>
        </p:txBody>
      </p:sp>
      <p:sp>
        <p:nvSpPr>
          <p:cNvPr id="12" name="Label"/>
          <p:cNvSpPr/>
          <p:nvPr/>
        </p:nvSpPr>
        <p:spPr>
          <a:xfrm>
            <a:off x="4663440" y="309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300"/>
          </a:p>
        </p:txBody>
      </p:sp>
      <p:sp>
        <p:nvSpPr>
          <p:cNvPr id="13" name="CodePanel"/>
          <p:cNvSpPr/>
          <p:nvPr/>
        </p:nvSpPr>
        <p:spPr>
          <a:xfrm>
            <a:off x="4663440" y="3420000"/>
            <a:ext cx="4206240" cy="137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CodeText"/>
          <p:cNvSpPr/>
          <p:nvPr/>
        </p:nvSpPr>
        <p:spPr>
          <a:xfrm>
            <a:off x="4846320" y="3511440"/>
            <a:ext cx="3840480" cy="118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(1, 2, 3, 4)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(1, 2, 1, 2)</a:t>
            </a:r>
            <a:endParaRPr lang="en-US" sz="1150"/>
          </a:p>
          <a:p>
            <a:pPr marL="0" indent="0">
              <a:buNone/>
            </a:pPr>
            <a:r>
              <a:rPr lang="en-US" sz="115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True</a:t>
            </a:r>
            <a:endParaRPr lang="en-US" sz="11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3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Tuple Methods and Built-in Functions</a:t>
            </a:r>
            <a:endParaRPr lang="en-US" sz="2200"/>
          </a:p>
        </p:txBody>
      </p:sp>
      <p:sp>
        <p:nvSpPr>
          <p:cNvPr id="2" name="Subtitle"/>
          <p:cNvSpPr/>
          <p:nvPr/>
        </p:nvSpPr>
        <p:spPr>
          <a:xfrm>
            <a:off x="274320" y="600000"/>
            <a:ext cx="859536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A6B7A"/>
                </a:solidFill>
                <a:latin typeface="Calibri"/>
                <a:ea typeface="Calibri"/>
                <a:cs typeface="Calibri"/>
              </a:rPr>
              <a:t>Tuples provide only two methods, but work with many built-in functions.</a:t>
            </a:r>
            <a:endParaRPr lang="en-US" sz="1200"/>
          </a:p>
        </p:txBody>
      </p:sp>
      <p:sp>
        <p:nvSpPr>
          <p:cNvPr id="3" name="Label"/>
          <p:cNvSpPr/>
          <p:nvPr/>
        </p:nvSpPr>
        <p:spPr>
          <a:xfrm>
            <a:off x="274320" y="94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Tuple Methods</a:t>
            </a:r>
            <a:endParaRPr lang="en-US" sz="1300"/>
          </a:p>
        </p:txBody>
      </p:sp>
      <p:sp>
        <p:nvSpPr>
          <p:cNvPr id="4" name="CodePanel"/>
          <p:cNvSpPr/>
          <p:nvPr/>
        </p:nvSpPr>
        <p:spPr>
          <a:xfrm>
            <a:off x="274320" y="1270000"/>
            <a:ext cx="4251960" cy="13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" name="CodeText"/>
          <p:cNvSpPr/>
          <p:nvPr/>
        </p:nvSpPr>
        <p:spPr>
          <a:xfrm>
            <a:off x="457200" y="1361440"/>
            <a:ext cx="3886200" cy="11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numbers = (10, 20, 10, 30, 10)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numbers.count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(10))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numbers.index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(30))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6" name="Label"/>
          <p:cNvSpPr/>
          <p:nvPr/>
        </p:nvSpPr>
        <p:spPr>
          <a:xfrm>
            <a:off x="274320" y="276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Built-in Functions</a:t>
            </a:r>
            <a:endParaRPr lang="en-US" sz="1300"/>
          </a:p>
        </p:txBody>
      </p:sp>
      <p:sp>
        <p:nvSpPr>
          <p:cNvPr id="7" name="CodePanel"/>
          <p:cNvSpPr/>
          <p:nvPr/>
        </p:nvSpPr>
        <p:spPr>
          <a:xfrm>
            <a:off x="274320" y="3090000"/>
            <a:ext cx="4251960" cy="1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" name="CodeText"/>
          <p:cNvSpPr/>
          <p:nvPr/>
        </p:nvSpPr>
        <p:spPr>
          <a:xfrm>
            <a:off x="457200" y="3181440"/>
            <a:ext cx="3886200" cy="1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values = (10, 20, 30, 40)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len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(values))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print(max(values))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print(min(values))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print(sum(values))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9" name="Label"/>
          <p:cNvSpPr/>
          <p:nvPr/>
        </p:nvSpPr>
        <p:spPr>
          <a:xfrm>
            <a:off x="4663440" y="94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Functions</a:t>
            </a:r>
            <a:endParaRPr lang="en-US" sz="1300"/>
          </a:p>
        </p:txBody>
      </p:sp>
      <p:sp>
        <p:nvSpPr>
          <p:cNvPr id="10" name="Card"/>
          <p:cNvSpPr/>
          <p:nvPr/>
        </p:nvSpPr>
        <p:spPr>
          <a:xfrm>
            <a:off x="4663440" y="1270000"/>
            <a:ext cx="4206240" cy="352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Body"/>
          <p:cNvSpPr/>
          <p:nvPr/>
        </p:nvSpPr>
        <p:spPr>
          <a:xfrm>
            <a:off x="4923440" y="1470000"/>
            <a:ext cx="3686240" cy="3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count()</a:t>
            </a:r>
            <a:endParaRPr lang="en-US" sz="130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index()</a:t>
            </a:r>
            <a:endParaRPr lang="en-US" sz="130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>
                <a:solidFill>
                  <a:srgbClr val="9B5DE5"/>
                </a:solidFill>
                <a:latin typeface="Courier New" pitchFamily="34" charset="0"/>
                <a:ea typeface="Courier New"/>
                <a:cs typeface="Courier New"/>
              </a:rPr>
              <a:t>len()</a:t>
            </a:r>
            <a:endParaRPr lang="en-US" sz="130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>
                <a:solidFill>
                  <a:srgbClr val="9B5DE5"/>
                </a:solidFill>
                <a:latin typeface="Courier New" pitchFamily="34" charset="0"/>
                <a:ea typeface="Courier New"/>
                <a:cs typeface="Courier New"/>
              </a:rPr>
              <a:t>max()</a:t>
            </a:r>
            <a:endParaRPr lang="en-US" sz="130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>
                <a:solidFill>
                  <a:srgbClr val="9B5DE5"/>
                </a:solidFill>
                <a:latin typeface="Courier New" pitchFamily="34" charset="0"/>
                <a:ea typeface="Courier New"/>
                <a:cs typeface="Courier New"/>
              </a:rPr>
              <a:t>min()</a:t>
            </a:r>
            <a:endParaRPr lang="en-US" sz="1300"/>
          </a:p>
          <a:p>
            <a:pPr marL="0" indent="0">
              <a:spcAft>
                <a:spcPts val="0"/>
              </a:spcAft>
              <a:buNone/>
            </a:pPr>
            <a:r>
              <a:rPr lang="en-US" sz="1300" b="1">
                <a:solidFill>
                  <a:srgbClr val="9B5DE5"/>
                </a:solidFill>
                <a:latin typeface="Courier New" pitchFamily="34" charset="0"/>
                <a:ea typeface="Courier New"/>
                <a:cs typeface="Courier New"/>
              </a:rPr>
              <a:t>sum()</a:t>
            </a:r>
            <a:endParaRPr lang="en-US" sz="13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7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Packing, Unpacking, and Nested Tuples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4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Tuple Packing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60000"/>
            <a:ext cx="425196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51440"/>
            <a:ext cx="388620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 = ("John", 20, 85)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5" name="Label"/>
          <p:cNvSpPr/>
          <p:nvPr/>
        </p:nvSpPr>
        <p:spPr>
          <a:xfrm>
            <a:off x="4663440" y="64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Tuple Unpacking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4663440" y="960000"/>
            <a:ext cx="420624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846320" y="1051440"/>
            <a:ext cx="384048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name, age, marks = student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print(name)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print(age)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print(marks)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Label"/>
          <p:cNvSpPr/>
          <p:nvPr/>
        </p:nvSpPr>
        <p:spPr>
          <a:xfrm>
            <a:off x="274320" y="242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Variable Swapping</a:t>
            </a:r>
            <a:endParaRPr lang="en-US" sz="1300"/>
          </a:p>
        </p:txBody>
      </p:sp>
      <p:sp>
        <p:nvSpPr>
          <p:cNvPr id="9" name="CodePanel"/>
          <p:cNvSpPr/>
          <p:nvPr/>
        </p:nvSpPr>
        <p:spPr>
          <a:xfrm>
            <a:off x="274320" y="2740000"/>
            <a:ext cx="425196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57200" y="2831440"/>
            <a:ext cx="388620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a = 10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b = 20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6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a, b = b, a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11" name="Label"/>
          <p:cNvSpPr/>
          <p:nvPr/>
        </p:nvSpPr>
        <p:spPr>
          <a:xfrm>
            <a:off x="4663440" y="242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Nested Tuples</a:t>
            </a:r>
            <a:endParaRPr lang="en-US" sz="1300"/>
          </a:p>
        </p:txBody>
      </p:sp>
      <p:sp>
        <p:nvSpPr>
          <p:cNvPr id="12" name="CodePanel"/>
          <p:cNvSpPr/>
          <p:nvPr/>
        </p:nvSpPr>
        <p:spPr>
          <a:xfrm>
            <a:off x="4663440" y="2740000"/>
            <a:ext cx="420624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CodeText"/>
          <p:cNvSpPr/>
          <p:nvPr/>
        </p:nvSpPr>
        <p:spPr>
          <a:xfrm>
            <a:off x="4846320" y="2831440"/>
            <a:ext cx="384048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matrix = ((1, 2, 3),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(4, 5, 6))</a:t>
            </a:r>
            <a:endParaRPr lang="en-US" sz="14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print(matrix[1][2])    </a:t>
            </a:r>
            <a:r>
              <a:rPr lang="en-US" sz="1400">
                <a:solidFill>
                  <a:srgbClr val="7FA8C9"/>
                </a:solidFill>
                <a:latin typeface="Courier New"/>
                <a:ea typeface="Courier New"/>
                <a:cs typeface="Courier New"/>
              </a:rPr>
              <a:t># 6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14" name="Card"/>
          <p:cNvSpPr/>
          <p:nvPr/>
        </p:nvSpPr>
        <p:spPr>
          <a:xfrm>
            <a:off x="274320" y="4250000"/>
            <a:ext cx="8595360" cy="7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Body"/>
          <p:cNvSpPr/>
          <p:nvPr/>
        </p:nvSpPr>
        <p:spPr>
          <a:xfrm>
            <a:off x="494320" y="4360000"/>
            <a:ext cx="815536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2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Tuples are best used when data should remain constant throughout the program.</a:t>
            </a:r>
            <a:endParaRPr lang="en-US" sz="12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Introduction to Dictionaries</a:t>
            </a:r>
            <a:endParaRPr lang="en-US" sz="2200"/>
          </a:p>
        </p:txBody>
      </p:sp>
      <p:sp>
        <p:nvSpPr>
          <p:cNvPr id="2" name="Card"/>
          <p:cNvSpPr/>
          <p:nvPr/>
        </p:nvSpPr>
        <p:spPr>
          <a:xfrm>
            <a:off x="274320" y="650000"/>
            <a:ext cx="4251960" cy="425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Body"/>
          <p:cNvSpPr/>
          <p:nvPr/>
        </p:nvSpPr>
        <p:spPr>
          <a:xfrm>
            <a:off x="457200" y="760000"/>
            <a:ext cx="3886200" cy="40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20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📘  Dictionaries in Python</a:t>
            </a:r>
            <a:endParaRPr lang="en-US" sz="2000">
              <a:ea typeface="Calibri"/>
              <a:cs typeface="Calibri"/>
            </a:endParaRPr>
          </a:p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 dictionary is a collection of data stored as key-value pairs.</a:t>
            </a:r>
            <a:endParaRPr lang="en-US" sz="1400">
              <a:ea typeface="Calibri"/>
              <a:cs typeface="Calibri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Features of Dictionaries</a:t>
            </a:r>
            <a:endParaRPr lang="en-US">
              <a:ea typeface="Calibri"/>
              <a:cs typeface="Calibri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Ordered (Python 3.7+)</a:t>
            </a:r>
            <a:endParaRPr lang="en-US" sz="1600">
              <a:ea typeface="Calibri"/>
              <a:cs typeface="Calibri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Mutable (can be changed)</a:t>
            </a:r>
            <a:endParaRPr lang="en-US" sz="1600">
              <a:ea typeface="Calibri"/>
              <a:cs typeface="Calibri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Keys must be unique</a:t>
            </a:r>
            <a:endParaRPr lang="en-US" sz="1600">
              <a:ea typeface="Calibri"/>
              <a:cs typeface="Calibri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Values can be duplicated</a:t>
            </a:r>
            <a:endParaRPr lang="en-US" sz="1600">
              <a:ea typeface="Calibri"/>
              <a:cs typeface="Calibri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Fast data lookup using keys</a:t>
            </a:r>
            <a:endParaRPr lang="en-US" sz="1600">
              <a:ea typeface="Calibri"/>
              <a:cs typeface="Calibri"/>
            </a:endParaRPr>
          </a:p>
        </p:txBody>
      </p:sp>
      <p:sp>
        <p:nvSpPr>
          <p:cNvPr id="4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Creating Dictionaries</a:t>
            </a:r>
            <a:endParaRPr lang="en-US" sz="1300"/>
          </a:p>
        </p:txBody>
      </p:sp>
      <p:sp>
        <p:nvSpPr>
          <p:cNvPr id="5" name="CodePanel"/>
          <p:cNvSpPr/>
          <p:nvPr/>
        </p:nvSpPr>
        <p:spPr>
          <a:xfrm>
            <a:off x="4663440" y="990000"/>
            <a:ext cx="4206240" cy="23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" name="CodeText"/>
          <p:cNvSpPr/>
          <p:nvPr/>
        </p:nvSpPr>
        <p:spPr>
          <a:xfrm>
            <a:off x="4846320" y="1081440"/>
            <a:ext cx="3840480" cy="2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 = {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"name": "John",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"age": 20,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"marks": 85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}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6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print(student)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7" name="Label"/>
          <p:cNvSpPr/>
          <p:nvPr/>
        </p:nvSpPr>
        <p:spPr>
          <a:xfrm>
            <a:off x="4663440" y="342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Dictionary Structure</a:t>
            </a:r>
            <a:endParaRPr lang="en-US" sz="1300"/>
          </a:p>
        </p:txBody>
      </p:sp>
      <p:sp>
        <p:nvSpPr>
          <p:cNvPr id="8" name="CodePanel"/>
          <p:cNvSpPr/>
          <p:nvPr/>
        </p:nvSpPr>
        <p:spPr>
          <a:xfrm>
            <a:off x="4663440" y="3750000"/>
            <a:ext cx="4206240" cy="11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CodeText"/>
          <p:cNvSpPr/>
          <p:nvPr/>
        </p:nvSpPr>
        <p:spPr>
          <a:xfrm>
            <a:off x="4846320" y="3841440"/>
            <a:ext cx="3840480" cy="9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00D4AA"/>
                </a:solidFill>
                <a:latin typeface="Courier New"/>
                <a:ea typeface="Courier New"/>
                <a:cs typeface="Courier New"/>
              </a:rPr>
              <a:t>Key       Value</a:t>
            </a:r>
            <a:endParaRPr lang="en-US" sz="11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>
                <a:solidFill>
                  <a:srgbClr val="00D4AA"/>
                </a:solidFill>
                <a:latin typeface="Courier New"/>
                <a:ea typeface="Courier New"/>
                <a:cs typeface="Courier New"/>
              </a:rPr>
              <a:t>name   →  John</a:t>
            </a:r>
            <a:endParaRPr lang="en-US" sz="11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>
                <a:solidFill>
                  <a:srgbClr val="00D4AA"/>
                </a:solidFill>
                <a:latin typeface="Courier New"/>
                <a:ea typeface="Courier New"/>
                <a:cs typeface="Courier New"/>
              </a:rPr>
              <a:t>age    →  20</a:t>
            </a:r>
            <a:endParaRPr lang="en-US" sz="11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>
                <a:solidFill>
                  <a:srgbClr val="00D4AA"/>
                </a:solidFill>
                <a:latin typeface="Courier New"/>
                <a:ea typeface="Courier New"/>
                <a:cs typeface="Courier New"/>
              </a:rPr>
              <a:t>marks  →  85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5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Accessing and Modifying Elements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Accessing Values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23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21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 = {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"name": "John",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"age": 20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}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print(student["name"])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student.get</a:t>
            </a:r>
            <a:r>
              <a:rPr lang="en-US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("age"))</a:t>
            </a:r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Label"/>
          <p:cNvSpPr/>
          <p:nvPr/>
        </p:nvSpPr>
        <p:spPr>
          <a:xfrm>
            <a:off x="274320" y="347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Modifying Values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274320" y="3800000"/>
            <a:ext cx="4251960" cy="10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3891440"/>
            <a:ext cx="3886200" cy="8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student["age"] = 21</a:t>
            </a:r>
            <a:endParaRPr lang="en-US" sz="2000">
              <a:latin typeface="Calibri"/>
              <a:ea typeface="Calibri"/>
              <a:cs typeface="Calibri"/>
            </a:endParaRPr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Adding New Elements</a:t>
            </a:r>
            <a:endParaRPr lang="en-US" sz="1300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10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8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student["city"] = "Delhi"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1" name="Label"/>
          <p:cNvSpPr/>
          <p:nvPr/>
        </p:nvSpPr>
        <p:spPr>
          <a:xfrm>
            <a:off x="4663440" y="21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Removing Elements</a:t>
            </a:r>
            <a:endParaRPr lang="en-US" sz="1300"/>
          </a:p>
        </p:txBody>
      </p:sp>
      <p:sp>
        <p:nvSpPr>
          <p:cNvPr id="12" name="CodePanel"/>
          <p:cNvSpPr/>
          <p:nvPr/>
        </p:nvSpPr>
        <p:spPr>
          <a:xfrm>
            <a:off x="4663440" y="2490000"/>
            <a:ext cx="4206240" cy="231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CodeText"/>
          <p:cNvSpPr/>
          <p:nvPr/>
        </p:nvSpPr>
        <p:spPr>
          <a:xfrm>
            <a:off x="4846320" y="2581440"/>
            <a:ext cx="3840480" cy="21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>
                <a:solidFill>
                  <a:srgbClr val="7FA8C9"/>
                </a:solidFill>
                <a:latin typeface="Courier New"/>
                <a:ea typeface="Courier New"/>
                <a:cs typeface="Courier New"/>
              </a:rPr>
              <a:t># remove by key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student.pop</a:t>
            </a:r>
            <a:r>
              <a:rPr lang="en-US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("age")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>
                <a:solidFill>
                  <a:srgbClr val="7FA8C9"/>
                </a:solidFill>
                <a:latin typeface="Courier New"/>
                <a:ea typeface="Courier New"/>
                <a:cs typeface="Courier New"/>
              </a:rPr>
              <a:t># delete an entry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del student["city"]</a:t>
            </a:r>
            <a:endParaRPr lang="en-US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7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Dictionary Methods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Methods in Action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381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 = {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"name": "John",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"age": 20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}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student.keys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student.values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student.items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student.get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("name")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student.update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({"age": 21})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student.pop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("age")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student.popitem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student.clear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copy_student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student.copy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5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Method Reference</a:t>
            </a:r>
            <a:endParaRPr lang="en-US" sz="1600"/>
          </a:p>
        </p:txBody>
      </p:sp>
      <p:sp>
        <p:nvSpPr>
          <p:cNvPr id="6" name="Row"/>
          <p:cNvSpPr/>
          <p:nvPr/>
        </p:nvSpPr>
        <p:spPr>
          <a:xfrm>
            <a:off x="4663440" y="990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1A2A3A"/>
          </a:solidFill>
          <a:ln/>
        </p:spPr>
      </p:sp>
      <p:sp>
        <p:nvSpPr>
          <p:cNvPr id="7" name="C1"/>
          <p:cNvSpPr/>
          <p:nvPr/>
        </p:nvSpPr>
        <p:spPr>
          <a:xfrm>
            <a:off x="4763440" y="990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Method</a:t>
            </a:r>
          </a:p>
        </p:txBody>
      </p:sp>
      <p:sp>
        <p:nvSpPr>
          <p:cNvPr id="8" name="C2"/>
          <p:cNvSpPr/>
          <p:nvPr/>
        </p:nvSpPr>
        <p:spPr>
          <a:xfrm>
            <a:off x="6163440" y="990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9" name="Row"/>
          <p:cNvSpPr/>
          <p:nvPr/>
        </p:nvSpPr>
        <p:spPr>
          <a:xfrm>
            <a:off x="4663440" y="1371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0" name="C1"/>
          <p:cNvSpPr/>
          <p:nvPr/>
        </p:nvSpPr>
        <p:spPr>
          <a:xfrm>
            <a:off x="4763440" y="1371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keys()</a:t>
            </a:r>
          </a:p>
        </p:txBody>
      </p:sp>
      <p:sp>
        <p:nvSpPr>
          <p:cNvPr id="11" name="C2"/>
          <p:cNvSpPr/>
          <p:nvPr/>
        </p:nvSpPr>
        <p:spPr>
          <a:xfrm>
            <a:off x="6163440" y="1371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Returns all keys</a:t>
            </a:r>
          </a:p>
        </p:txBody>
      </p:sp>
      <p:sp>
        <p:nvSpPr>
          <p:cNvPr id="12" name="Row"/>
          <p:cNvSpPr/>
          <p:nvPr/>
        </p:nvSpPr>
        <p:spPr>
          <a:xfrm>
            <a:off x="4663440" y="1752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3" name="C1"/>
          <p:cNvSpPr/>
          <p:nvPr/>
        </p:nvSpPr>
        <p:spPr>
          <a:xfrm>
            <a:off x="4763440" y="1752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values()</a:t>
            </a:r>
          </a:p>
        </p:txBody>
      </p:sp>
      <p:sp>
        <p:nvSpPr>
          <p:cNvPr id="14" name="C2"/>
          <p:cNvSpPr/>
          <p:nvPr/>
        </p:nvSpPr>
        <p:spPr>
          <a:xfrm>
            <a:off x="6163440" y="1752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Returns all values</a:t>
            </a:r>
          </a:p>
        </p:txBody>
      </p:sp>
      <p:sp>
        <p:nvSpPr>
          <p:cNvPr id="15" name="Row"/>
          <p:cNvSpPr/>
          <p:nvPr/>
        </p:nvSpPr>
        <p:spPr>
          <a:xfrm>
            <a:off x="4663440" y="2133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6" name="C1"/>
          <p:cNvSpPr/>
          <p:nvPr/>
        </p:nvSpPr>
        <p:spPr>
          <a:xfrm>
            <a:off x="4763440" y="2133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items()</a:t>
            </a:r>
          </a:p>
        </p:txBody>
      </p:sp>
      <p:sp>
        <p:nvSpPr>
          <p:cNvPr id="17" name="C2"/>
          <p:cNvSpPr/>
          <p:nvPr/>
        </p:nvSpPr>
        <p:spPr>
          <a:xfrm>
            <a:off x="6163440" y="2133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Returns key-value pairs</a:t>
            </a:r>
          </a:p>
        </p:txBody>
      </p:sp>
      <p:sp>
        <p:nvSpPr>
          <p:cNvPr id="18" name="Row"/>
          <p:cNvSpPr/>
          <p:nvPr/>
        </p:nvSpPr>
        <p:spPr>
          <a:xfrm>
            <a:off x="4663440" y="2514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9" name="C1"/>
          <p:cNvSpPr/>
          <p:nvPr/>
        </p:nvSpPr>
        <p:spPr>
          <a:xfrm>
            <a:off x="4763440" y="2514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get()</a:t>
            </a:r>
          </a:p>
        </p:txBody>
      </p:sp>
      <p:sp>
        <p:nvSpPr>
          <p:cNvPr id="20" name="C2"/>
          <p:cNvSpPr/>
          <p:nvPr/>
        </p:nvSpPr>
        <p:spPr>
          <a:xfrm>
            <a:off x="6163440" y="2514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Access safely</a:t>
            </a:r>
          </a:p>
        </p:txBody>
      </p:sp>
      <p:sp>
        <p:nvSpPr>
          <p:cNvPr id="21" name="Row"/>
          <p:cNvSpPr/>
          <p:nvPr/>
        </p:nvSpPr>
        <p:spPr>
          <a:xfrm>
            <a:off x="4663440" y="2895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22" name="C1"/>
          <p:cNvSpPr/>
          <p:nvPr/>
        </p:nvSpPr>
        <p:spPr>
          <a:xfrm>
            <a:off x="4763440" y="2895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update()</a:t>
            </a:r>
          </a:p>
        </p:txBody>
      </p:sp>
      <p:sp>
        <p:nvSpPr>
          <p:cNvPr id="23" name="C2"/>
          <p:cNvSpPr/>
          <p:nvPr/>
        </p:nvSpPr>
        <p:spPr>
          <a:xfrm>
            <a:off x="6163440" y="2895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Update dictionary</a:t>
            </a:r>
          </a:p>
        </p:txBody>
      </p:sp>
      <p:sp>
        <p:nvSpPr>
          <p:cNvPr id="24" name="Row"/>
          <p:cNvSpPr/>
          <p:nvPr/>
        </p:nvSpPr>
        <p:spPr>
          <a:xfrm>
            <a:off x="4663440" y="3276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25" name="C1"/>
          <p:cNvSpPr/>
          <p:nvPr/>
        </p:nvSpPr>
        <p:spPr>
          <a:xfrm>
            <a:off x="4763440" y="3276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pop()</a:t>
            </a:r>
          </a:p>
        </p:txBody>
      </p:sp>
      <p:sp>
        <p:nvSpPr>
          <p:cNvPr id="26" name="C2"/>
          <p:cNvSpPr/>
          <p:nvPr/>
        </p:nvSpPr>
        <p:spPr>
          <a:xfrm>
            <a:off x="6163440" y="3276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Remove by key</a:t>
            </a:r>
          </a:p>
        </p:txBody>
      </p:sp>
      <p:sp>
        <p:nvSpPr>
          <p:cNvPr id="27" name="Row"/>
          <p:cNvSpPr/>
          <p:nvPr/>
        </p:nvSpPr>
        <p:spPr>
          <a:xfrm>
            <a:off x="4663440" y="3657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28" name="C1"/>
          <p:cNvSpPr/>
          <p:nvPr/>
        </p:nvSpPr>
        <p:spPr>
          <a:xfrm>
            <a:off x="4763440" y="3657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popitem()</a:t>
            </a:r>
          </a:p>
        </p:txBody>
      </p:sp>
      <p:sp>
        <p:nvSpPr>
          <p:cNvPr id="29" name="C2"/>
          <p:cNvSpPr/>
          <p:nvPr/>
        </p:nvSpPr>
        <p:spPr>
          <a:xfrm>
            <a:off x="6163440" y="3657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Remove last item</a:t>
            </a:r>
          </a:p>
        </p:txBody>
      </p:sp>
      <p:sp>
        <p:nvSpPr>
          <p:cNvPr id="30" name="Row"/>
          <p:cNvSpPr/>
          <p:nvPr/>
        </p:nvSpPr>
        <p:spPr>
          <a:xfrm>
            <a:off x="4663440" y="4038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31" name="C1"/>
          <p:cNvSpPr/>
          <p:nvPr/>
        </p:nvSpPr>
        <p:spPr>
          <a:xfrm>
            <a:off x="4763440" y="4038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clear()</a:t>
            </a:r>
          </a:p>
        </p:txBody>
      </p:sp>
      <p:sp>
        <p:nvSpPr>
          <p:cNvPr id="32" name="C2"/>
          <p:cNvSpPr/>
          <p:nvPr/>
        </p:nvSpPr>
        <p:spPr>
          <a:xfrm>
            <a:off x="6163440" y="4038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Remove all items</a:t>
            </a:r>
          </a:p>
        </p:txBody>
      </p:sp>
      <p:sp>
        <p:nvSpPr>
          <p:cNvPr id="33" name="Row"/>
          <p:cNvSpPr/>
          <p:nvPr/>
        </p:nvSpPr>
        <p:spPr>
          <a:xfrm>
            <a:off x="4663440" y="4419000"/>
            <a:ext cx="4206240" cy="351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34" name="C1"/>
          <p:cNvSpPr/>
          <p:nvPr/>
        </p:nvSpPr>
        <p:spPr>
          <a:xfrm>
            <a:off x="4763440" y="4419000"/>
            <a:ext cx="135000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copy()</a:t>
            </a:r>
          </a:p>
        </p:txBody>
      </p:sp>
      <p:sp>
        <p:nvSpPr>
          <p:cNvPr id="35" name="C2"/>
          <p:cNvSpPr/>
          <p:nvPr/>
        </p:nvSpPr>
        <p:spPr>
          <a:xfrm>
            <a:off x="6163440" y="4419000"/>
            <a:ext cx="2606240" cy="3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Create copy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7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Looping and Built-in Functions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4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Loop Through Keys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60000"/>
            <a:ext cx="425196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51440"/>
            <a:ext cx="388620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for key in student: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print(key)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5" name="Label"/>
          <p:cNvSpPr/>
          <p:nvPr/>
        </p:nvSpPr>
        <p:spPr>
          <a:xfrm>
            <a:off x="274320" y="242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Loop Through Values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274320" y="2740000"/>
            <a:ext cx="425196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2831440"/>
            <a:ext cx="388620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for value in </a:t>
            </a:r>
            <a:r>
              <a:rPr lang="en-US" sz="16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student.values</a:t>
            </a:r>
            <a:r>
              <a:rPr lang="en-US" sz="16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():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print(value)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8" name="Label"/>
          <p:cNvSpPr/>
          <p:nvPr/>
        </p:nvSpPr>
        <p:spPr>
          <a:xfrm>
            <a:off x="4663440" y="64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Loop Through Key-Value Pairs</a:t>
            </a:r>
            <a:endParaRPr lang="en-US" sz="1300"/>
          </a:p>
        </p:txBody>
      </p:sp>
      <p:sp>
        <p:nvSpPr>
          <p:cNvPr id="9" name="CodePanel"/>
          <p:cNvSpPr/>
          <p:nvPr/>
        </p:nvSpPr>
        <p:spPr>
          <a:xfrm>
            <a:off x="4663440" y="960000"/>
            <a:ext cx="420624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51440"/>
            <a:ext cx="384048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for key, value in </a:t>
            </a: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student.items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():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print(key, value)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1" name="Label"/>
          <p:cNvSpPr/>
          <p:nvPr/>
        </p:nvSpPr>
        <p:spPr>
          <a:xfrm>
            <a:off x="4663440" y="242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Built-in Functions</a:t>
            </a:r>
            <a:endParaRPr lang="en-US" sz="1300"/>
          </a:p>
        </p:txBody>
      </p:sp>
      <p:sp>
        <p:nvSpPr>
          <p:cNvPr id="12" name="CodePanel"/>
          <p:cNvSpPr/>
          <p:nvPr/>
        </p:nvSpPr>
        <p:spPr>
          <a:xfrm>
            <a:off x="4663440" y="2740000"/>
            <a:ext cx="420624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CodeText"/>
          <p:cNvSpPr/>
          <p:nvPr/>
        </p:nvSpPr>
        <p:spPr>
          <a:xfrm>
            <a:off x="4846320" y="2831440"/>
            <a:ext cx="384048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len</a:t>
            </a:r>
            <a:r>
              <a:rPr lang="en-US" sz="20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(student)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20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max(student)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20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min(student)</a:t>
            </a:r>
            <a:endParaRPr lang="en-US" sz="2000">
              <a:latin typeface="Calibri"/>
              <a:ea typeface="Calibri"/>
              <a:cs typeface="Calibri"/>
            </a:endParaRPr>
          </a:p>
        </p:txBody>
      </p:sp>
      <p:sp>
        <p:nvSpPr>
          <p:cNvPr id="14" name="Card"/>
          <p:cNvSpPr/>
          <p:nvPr/>
        </p:nvSpPr>
        <p:spPr>
          <a:xfrm>
            <a:off x="274320" y="4250000"/>
            <a:ext cx="8595360" cy="7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Body"/>
          <p:cNvSpPr/>
          <p:nvPr/>
        </p:nvSpPr>
        <p:spPr>
          <a:xfrm>
            <a:off x="494320" y="4360000"/>
            <a:ext cx="815536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Looping lets you iterate over keys, values, or both — while built-in functions report size and key extremes.</a:t>
            </a:r>
            <a:endParaRPr lang="en-US" sz="140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2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Nested Dictionaries and Membership Operators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Nested Dictionary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381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students = {</a:t>
            </a:r>
            <a:endParaRPr lang="en-US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"student1": {</a:t>
            </a:r>
            <a:endParaRPr lang="en-US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     "name": "John",</a:t>
            </a:r>
            <a:endParaRPr lang="en-US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     "age": 20</a:t>
            </a:r>
            <a:endParaRPr lang="en-US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},</a:t>
            </a:r>
            <a:endParaRPr lang="en-US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"student2": {</a:t>
            </a:r>
            <a:endParaRPr lang="en-US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     "name": "Alice",</a:t>
            </a:r>
            <a:endParaRPr lang="en-US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     "age": 22</a:t>
            </a:r>
            <a:endParaRPr lang="en-US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}</a:t>
            </a:r>
            <a:endParaRPr lang="en-US"/>
          </a:p>
          <a:p>
            <a:pPr>
              <a:buNone/>
            </a:pPr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}</a:t>
            </a:r>
            <a:endParaRPr lang="en-US"/>
          </a:p>
          <a:p>
            <a:endParaRPr lang="en-US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print(students["student1"]["name"])</a:t>
            </a:r>
            <a:endParaRPr lang="en-US">
              <a:solidFill>
                <a:srgbClr val="000000"/>
              </a:solidFill>
              <a:latin typeface="Calibri" panose="020F0502020204030204"/>
              <a:ea typeface="+mn-lt"/>
              <a:cs typeface="Calibri" panose="020F0502020204030204"/>
            </a:endParaRPr>
          </a:p>
          <a:p>
            <a:endParaRPr lang="en-US" sz="1200" dirty="0">
              <a:solidFill>
                <a:srgbClr val="E6EDF3"/>
              </a:solidFill>
              <a:latin typeface="Courier New"/>
              <a:ea typeface="Calibri"/>
              <a:cs typeface="Courier New"/>
            </a:endParaRPr>
          </a:p>
          <a:p>
            <a:endParaRPr lang="en-US" sz="1200" dirty="0">
              <a:solidFill>
                <a:srgbClr val="E6EDF3"/>
              </a:solidFill>
              <a:latin typeface="Courier New"/>
              <a:ea typeface="Calibri"/>
              <a:cs typeface="Courier New"/>
            </a:endParaRPr>
          </a:p>
          <a:p>
            <a:r>
              <a:rPr lang="en-US" sz="1200" b="1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Output:</a:t>
            </a:r>
            <a:endParaRPr lang="en-US" b="1"/>
          </a:p>
          <a:p>
            <a:r>
              <a:rPr lang="en-US" sz="1200">
                <a:solidFill>
                  <a:srgbClr val="E6EDF3"/>
                </a:solidFill>
                <a:latin typeface="Courier New"/>
                <a:ea typeface="Calibri"/>
                <a:cs typeface="Courier New"/>
              </a:rPr>
              <a:t>John</a:t>
            </a:r>
            <a:endParaRPr lang="en-US"/>
          </a:p>
          <a:p>
            <a:endParaRPr lang="en-US" sz="1200" dirty="0">
              <a:solidFill>
                <a:srgbClr val="E6EDF3"/>
              </a:solidFill>
              <a:latin typeface="Courier New"/>
              <a:ea typeface="Calibri"/>
              <a:cs typeface="Courier New"/>
            </a:endParaRPr>
          </a:p>
        </p:txBody>
      </p:sp>
      <p:sp>
        <p:nvSpPr>
          <p:cNvPr id="5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Membership Operators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4663440" y="990000"/>
            <a:ext cx="420624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846320" y="1081440"/>
            <a:ext cx="384048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print("name" in student)</a:t>
            </a:r>
            <a:endParaRPr lang="en-US" sz="1050"/>
          </a:p>
          <a:p>
            <a:pPr marL="0" indent="0">
              <a:buNone/>
            </a:pP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print("city" not in student)</a:t>
            </a:r>
            <a:endParaRPr lang="en-US" sz="1050"/>
          </a:p>
        </p:txBody>
      </p:sp>
      <p:sp>
        <p:nvSpPr>
          <p:cNvPr id="8" name="Label"/>
          <p:cNvSpPr/>
          <p:nvPr/>
        </p:nvSpPr>
        <p:spPr>
          <a:xfrm>
            <a:off x="4663440" y="248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Dictionary Comprehension</a:t>
            </a:r>
            <a:endParaRPr lang="en-US" sz="1300"/>
          </a:p>
        </p:txBody>
      </p:sp>
      <p:sp>
        <p:nvSpPr>
          <p:cNvPr id="9" name="CodePanel"/>
          <p:cNvSpPr/>
          <p:nvPr/>
        </p:nvSpPr>
        <p:spPr>
          <a:xfrm>
            <a:off x="4663440" y="2820000"/>
            <a:ext cx="4206240" cy="198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2911440"/>
            <a:ext cx="3840480" cy="179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squares = {</a:t>
            </a:r>
            <a:endParaRPr lang="en-US"/>
          </a:p>
          <a:p>
            <a:r>
              <a:rPr lang="en-US" sz="105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x: x * x</a:t>
            </a:r>
            <a:endParaRPr lang="en-US"/>
          </a:p>
          <a:p>
            <a:r>
              <a:rPr lang="en-US" sz="105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for x in range(5)</a:t>
            </a:r>
            <a:endParaRPr lang="en-US"/>
          </a:p>
          <a:p>
            <a:pPr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}</a:t>
            </a:r>
            <a:endParaRPr lang="en-US"/>
          </a:p>
          <a:p>
            <a:endParaRPr lang="en-US"/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print(squares)</a:t>
            </a:r>
          </a:p>
          <a:p>
            <a:endParaRPr lang="en-US" sz="1050" dirty="0">
              <a:solidFill>
                <a:srgbClr val="E6EDF3"/>
              </a:solidFill>
              <a:latin typeface="Courier New"/>
              <a:ea typeface="Calibri"/>
              <a:cs typeface="Courier New"/>
            </a:endParaRPr>
          </a:p>
          <a:p>
            <a:r>
              <a:rPr lang="en-US" sz="1050" b="1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Outp</a:t>
            </a:r>
            <a:r>
              <a:rPr lang="en-US" sz="1050" b="1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ut:</a:t>
            </a:r>
            <a:endParaRPr lang="en-US" sz="1050" b="1" dirty="0">
              <a:solidFill>
                <a:srgbClr val="E6EDF3"/>
              </a:solidFill>
              <a:latin typeface="Courier New"/>
              <a:ea typeface="+mn-lt"/>
              <a:cs typeface="Courier New"/>
            </a:endParaRPr>
          </a:p>
          <a:p>
            <a:r>
              <a:rPr lang="en-US" sz="105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{0: 0, 1: 1, 2: 4, 3: 9, 4: 16}</a:t>
            </a:r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4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Special Concepts of Dictionaries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Duplicate Keys</a:t>
            </a:r>
            <a:endParaRPr lang="en-US" sz="13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1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1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data = {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"a": 10,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"a": 20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}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print(data)    </a:t>
            </a:r>
            <a:r>
              <a:rPr lang="en-US" sz="1600">
                <a:solidFill>
                  <a:srgbClr val="7FA8C9"/>
                </a:solidFill>
                <a:latin typeface="Courier New"/>
                <a:ea typeface="Courier New"/>
                <a:cs typeface="Courier New"/>
              </a:rPr>
              <a:t># {'a': 20}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5" name="Label"/>
          <p:cNvSpPr/>
          <p:nvPr/>
        </p:nvSpPr>
        <p:spPr>
          <a:xfrm>
            <a:off x="274320" y="284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Immutable Keys</a:t>
            </a:r>
            <a:endParaRPr lang="en-US" sz="1300"/>
          </a:p>
        </p:txBody>
      </p:sp>
      <p:sp>
        <p:nvSpPr>
          <p:cNvPr id="6" name="CodePanel"/>
          <p:cNvSpPr/>
          <p:nvPr/>
        </p:nvSpPr>
        <p:spPr>
          <a:xfrm>
            <a:off x="274320" y="3180000"/>
            <a:ext cx="4251960" cy="162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3271440"/>
            <a:ext cx="3886200" cy="143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7FA8C9"/>
                </a:solidFill>
                <a:latin typeface="Courier New"/>
                <a:ea typeface="Courier New"/>
                <a:cs typeface="Courier New"/>
              </a:rPr>
              <a:t># valid keys</a:t>
            </a:r>
            <a:endParaRPr lang="en-US" sz="12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name = "John"</a:t>
            </a:r>
            <a:endParaRPr lang="en-US" sz="12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age = 20</a:t>
            </a:r>
            <a:endParaRPr lang="en-US" sz="12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2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>
                <a:solidFill>
                  <a:srgbClr val="7FA8C9"/>
                </a:solidFill>
                <a:latin typeface="Courier New"/>
                <a:ea typeface="Courier New"/>
                <a:cs typeface="Courier New"/>
              </a:rPr>
              <a:t># invalid key (list not allowed)</a:t>
            </a:r>
            <a:endParaRPr lang="en-US" sz="1200" dirty="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my_dict</a:t>
            </a: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= {[1, 2]: "value"}</a:t>
            </a:r>
            <a:endParaRPr lang="en-US" sz="120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Key Points</a:t>
            </a:r>
            <a:endParaRPr lang="en-US" sz="1300"/>
          </a:p>
        </p:txBody>
      </p:sp>
      <p:sp>
        <p:nvSpPr>
          <p:cNvPr id="9" name="Card"/>
          <p:cNvSpPr/>
          <p:nvPr/>
        </p:nvSpPr>
        <p:spPr>
          <a:xfrm>
            <a:off x="4663440" y="990000"/>
            <a:ext cx="4206240" cy="24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Body"/>
          <p:cNvSpPr/>
          <p:nvPr/>
        </p:nvSpPr>
        <p:spPr>
          <a:xfrm>
            <a:off x="4923440" y="1160000"/>
            <a:ext cx="3686240" cy="2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Keys must be unique.</a:t>
            </a:r>
            <a:endParaRPr lang="en-US" sz="1200"/>
          </a:p>
          <a:p>
            <a:pPr marL="0" indent="0">
              <a:spcAft>
                <a:spcPts val="70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Keys must be immutable.</a:t>
            </a:r>
            <a:endParaRPr lang="en-US" sz="1200"/>
          </a:p>
          <a:p>
            <a:pPr marL="0" indent="0">
              <a:spcAft>
                <a:spcPts val="70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Values can be any data type.</a:t>
            </a:r>
            <a:endParaRPr lang="en-US" sz="1200"/>
          </a:p>
          <a:p>
            <a:pPr marL="0" indent="0"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 Dictionaries provide very fast searching.</a:t>
            </a:r>
            <a:endParaRPr lang="en-US" sz="1200"/>
          </a:p>
        </p:txBody>
      </p:sp>
      <p:sp>
        <p:nvSpPr>
          <p:cNvPr id="11" name="Card"/>
          <p:cNvSpPr/>
          <p:nvPr/>
        </p:nvSpPr>
        <p:spPr>
          <a:xfrm>
            <a:off x="4663440" y="3520000"/>
            <a:ext cx="4206240" cy="128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Body"/>
          <p:cNvSpPr/>
          <p:nvPr/>
        </p:nvSpPr>
        <p:spPr>
          <a:xfrm>
            <a:off x="4923440" y="3640000"/>
            <a:ext cx="3686240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Dictionaries are one of the most powerful Python data structures for storing and retrieving data efficiently using keys.</a:t>
            </a:r>
            <a:endParaRPr lang="en-US" sz="11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9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Sorting in Python — sort() and sorted()</a:t>
            </a:r>
            <a:endParaRPr lang="en-US" sz="2200"/>
          </a:p>
        </p:txBody>
      </p:sp>
      <p:sp>
        <p:nvSpPr>
          <p:cNvPr id="2" name="Card"/>
          <p:cNvSpPr/>
          <p:nvPr/>
        </p:nvSpPr>
        <p:spPr>
          <a:xfrm>
            <a:off x="274320" y="650000"/>
            <a:ext cx="4251960" cy="133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Body"/>
          <p:cNvSpPr/>
          <p:nvPr/>
        </p:nvSpPr>
        <p:spPr>
          <a:xfrm>
            <a:off x="457200" y="760000"/>
            <a:ext cx="38862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60"/>
              </a:spcAft>
              <a:buNone/>
            </a:pPr>
            <a:r>
              <a:rPr lang="en-US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Two Ways to Sort</a:t>
            </a:r>
            <a:endParaRPr lang="en-US">
              <a:ea typeface="Calibri"/>
              <a:cs typeface="Calibri"/>
            </a:endParaRPr>
          </a:p>
          <a:p>
            <a:pPr marL="0" indent="0">
              <a:spcAft>
                <a:spcPts val="16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sort()  →  list method (sorts in place)</a:t>
            </a:r>
            <a:endParaRPr lang="en-US" sz="1400">
              <a:ea typeface="Calibri"/>
              <a:cs typeface="Calibri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sorted()  →  built-in (returns a new list)</a:t>
            </a:r>
            <a:endParaRPr lang="en-US" sz="1400">
              <a:ea typeface="Calibri"/>
              <a:cs typeface="Calibri"/>
            </a:endParaRPr>
          </a:p>
        </p:txBody>
      </p:sp>
      <p:sp>
        <p:nvSpPr>
          <p:cNvPr id="4" name="Label"/>
          <p:cNvSpPr/>
          <p:nvPr/>
        </p:nvSpPr>
        <p:spPr>
          <a:xfrm>
            <a:off x="274320" y="211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Using sort()</a:t>
            </a:r>
            <a:endParaRPr lang="en-US" sz="1300"/>
          </a:p>
        </p:txBody>
      </p:sp>
      <p:sp>
        <p:nvSpPr>
          <p:cNvPr id="5" name="CodePanel"/>
          <p:cNvSpPr/>
          <p:nvPr/>
        </p:nvSpPr>
        <p:spPr>
          <a:xfrm>
            <a:off x="274320" y="2440000"/>
            <a:ext cx="425196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" name="CodeText"/>
          <p:cNvSpPr/>
          <p:nvPr/>
        </p:nvSpPr>
        <p:spPr>
          <a:xfrm>
            <a:off x="457200" y="2531440"/>
            <a:ext cx="388620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numbers = [40, 10, 30, 20]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numbers.sort</a:t>
            </a:r>
            <a:r>
              <a:rPr lang="en-US" sz="14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print(numbers)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7" name="Label"/>
          <p:cNvSpPr/>
          <p:nvPr/>
        </p:nvSpPr>
        <p:spPr>
          <a:xfrm>
            <a:off x="274320" y="3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300"/>
          </a:p>
        </p:txBody>
      </p:sp>
      <p:sp>
        <p:nvSpPr>
          <p:cNvPr id="8" name="CodePanel"/>
          <p:cNvSpPr/>
          <p:nvPr/>
        </p:nvSpPr>
        <p:spPr>
          <a:xfrm>
            <a:off x="274320" y="3980000"/>
            <a:ext cx="4251960" cy="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CodeText"/>
          <p:cNvSpPr/>
          <p:nvPr/>
        </p:nvSpPr>
        <p:spPr>
          <a:xfrm>
            <a:off x="457200" y="4071440"/>
            <a:ext cx="3886200" cy="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[10, 20, 30, 40]</a:t>
            </a:r>
            <a:endParaRPr lang="en-US" sz="1200"/>
          </a:p>
        </p:txBody>
      </p:sp>
      <p:sp>
        <p:nvSpPr>
          <p:cNvPr id="10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Using sorted()</a:t>
            </a:r>
            <a:endParaRPr lang="en-US" sz="1300"/>
          </a:p>
        </p:txBody>
      </p:sp>
      <p:sp>
        <p:nvSpPr>
          <p:cNvPr id="11" name="CodePanel"/>
          <p:cNvSpPr/>
          <p:nvPr/>
        </p:nvSpPr>
        <p:spPr>
          <a:xfrm>
            <a:off x="4663440" y="990000"/>
            <a:ext cx="420624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2" name="CodeText"/>
          <p:cNvSpPr/>
          <p:nvPr/>
        </p:nvSpPr>
        <p:spPr>
          <a:xfrm>
            <a:off x="4846320" y="1081440"/>
            <a:ext cx="384048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numbers = [40, 10, 30, 20]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result = sorted(numbers)</a:t>
            </a:r>
            <a:endParaRPr lang="en-US" sz="1400"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print(result)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3" name="Label"/>
          <p:cNvSpPr/>
          <p:nvPr/>
        </p:nvSpPr>
        <p:spPr>
          <a:xfrm>
            <a:off x="4663440" y="220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300"/>
          </a:p>
        </p:txBody>
      </p:sp>
      <p:sp>
        <p:nvSpPr>
          <p:cNvPr id="14" name="CodePanel"/>
          <p:cNvSpPr/>
          <p:nvPr/>
        </p:nvSpPr>
        <p:spPr>
          <a:xfrm>
            <a:off x="4663440" y="2530000"/>
            <a:ext cx="4206240" cy="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CodeText"/>
          <p:cNvSpPr/>
          <p:nvPr/>
        </p:nvSpPr>
        <p:spPr>
          <a:xfrm>
            <a:off x="4846320" y="2621440"/>
            <a:ext cx="3840480" cy="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[10, 20, 30, 40]</a:t>
            </a:r>
            <a:endParaRPr lang="en-US" sz="1200"/>
          </a:p>
        </p:txBody>
      </p:sp>
      <p:sp>
        <p:nvSpPr>
          <p:cNvPr id="16" name="Card"/>
          <p:cNvSpPr/>
          <p:nvPr/>
        </p:nvSpPr>
        <p:spPr>
          <a:xfrm>
            <a:off x="4663440" y="3420000"/>
            <a:ext cx="4206240" cy="126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Body"/>
          <p:cNvSpPr/>
          <p:nvPr/>
        </p:nvSpPr>
        <p:spPr>
          <a:xfrm>
            <a:off x="4923440" y="3540000"/>
            <a:ext cx="3686240" cy="10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15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sort() changes the original list, while sorted() leaves it untouched and returns a new sorted list.</a:t>
            </a:r>
            <a:endParaRPr lang="en-US" sz="11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28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sort() vs sorted()</a:t>
            </a:r>
            <a:endParaRPr lang="en-US" sz="3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sort()  vs  sorted()</a:t>
            </a:r>
            <a:endParaRPr lang="en-US"/>
          </a:p>
        </p:txBody>
      </p:sp>
      <p:sp>
        <p:nvSpPr>
          <p:cNvPr id="3" name="Row"/>
          <p:cNvSpPr/>
          <p:nvPr/>
        </p:nvSpPr>
        <p:spPr>
          <a:xfrm>
            <a:off x="274320" y="99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1A2A3A"/>
          </a:solidFill>
          <a:ln/>
        </p:spPr>
      </p:sp>
      <p:sp>
        <p:nvSpPr>
          <p:cNvPr id="4" name="C1"/>
          <p:cNvSpPr/>
          <p:nvPr/>
        </p:nvSpPr>
        <p:spPr>
          <a:xfrm>
            <a:off x="374320" y="990000"/>
            <a:ext cx="22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Feature</a:t>
            </a:r>
          </a:p>
        </p:txBody>
      </p:sp>
      <p:sp>
        <p:nvSpPr>
          <p:cNvPr id="5" name="C2"/>
          <p:cNvSpPr/>
          <p:nvPr/>
        </p:nvSpPr>
        <p:spPr>
          <a:xfrm>
            <a:off x="2624320" y="990000"/>
            <a:ext cx="18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sort()   /   sorted()</a:t>
            </a:r>
          </a:p>
        </p:txBody>
      </p:sp>
      <p:sp>
        <p:nvSpPr>
          <p:cNvPr id="6" name="Row"/>
          <p:cNvSpPr/>
          <p:nvPr/>
        </p:nvSpPr>
        <p:spPr>
          <a:xfrm>
            <a:off x="274320" y="155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7" name="C1"/>
          <p:cNvSpPr/>
          <p:nvPr/>
        </p:nvSpPr>
        <p:spPr>
          <a:xfrm>
            <a:off x="374320" y="1550000"/>
            <a:ext cx="22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Works on Lists</a:t>
            </a:r>
          </a:p>
        </p:txBody>
      </p:sp>
      <p:sp>
        <p:nvSpPr>
          <p:cNvPr id="8" name="C2"/>
          <p:cNvSpPr/>
          <p:nvPr/>
        </p:nvSpPr>
        <p:spPr>
          <a:xfrm>
            <a:off x="2624320" y="1550000"/>
            <a:ext cx="18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Yes   /   Yes</a:t>
            </a:r>
          </a:p>
        </p:txBody>
      </p:sp>
      <p:sp>
        <p:nvSpPr>
          <p:cNvPr id="9" name="Row"/>
          <p:cNvSpPr/>
          <p:nvPr/>
        </p:nvSpPr>
        <p:spPr>
          <a:xfrm>
            <a:off x="274320" y="211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0" name="C1"/>
          <p:cNvSpPr/>
          <p:nvPr/>
        </p:nvSpPr>
        <p:spPr>
          <a:xfrm>
            <a:off x="374320" y="2110000"/>
            <a:ext cx="22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Works on Tuples</a:t>
            </a:r>
          </a:p>
        </p:txBody>
      </p:sp>
      <p:sp>
        <p:nvSpPr>
          <p:cNvPr id="11" name="C2"/>
          <p:cNvSpPr/>
          <p:nvPr/>
        </p:nvSpPr>
        <p:spPr>
          <a:xfrm>
            <a:off x="2624320" y="2110000"/>
            <a:ext cx="18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No   /   Yes</a:t>
            </a:r>
          </a:p>
        </p:txBody>
      </p:sp>
      <p:sp>
        <p:nvSpPr>
          <p:cNvPr id="12" name="Row"/>
          <p:cNvSpPr/>
          <p:nvPr/>
        </p:nvSpPr>
        <p:spPr>
          <a:xfrm>
            <a:off x="274320" y="267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3" name="C1"/>
          <p:cNvSpPr/>
          <p:nvPr/>
        </p:nvSpPr>
        <p:spPr>
          <a:xfrm>
            <a:off x="374320" y="2670000"/>
            <a:ext cx="22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Works on Dictionaries</a:t>
            </a:r>
          </a:p>
        </p:txBody>
      </p:sp>
      <p:sp>
        <p:nvSpPr>
          <p:cNvPr id="14" name="C2"/>
          <p:cNvSpPr/>
          <p:nvPr/>
        </p:nvSpPr>
        <p:spPr>
          <a:xfrm>
            <a:off x="2624320" y="2670000"/>
            <a:ext cx="18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No   /   Yes</a:t>
            </a:r>
          </a:p>
        </p:txBody>
      </p:sp>
      <p:sp>
        <p:nvSpPr>
          <p:cNvPr id="15" name="Row"/>
          <p:cNvSpPr/>
          <p:nvPr/>
        </p:nvSpPr>
        <p:spPr>
          <a:xfrm>
            <a:off x="274320" y="323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6" name="C1"/>
          <p:cNvSpPr/>
          <p:nvPr/>
        </p:nvSpPr>
        <p:spPr>
          <a:xfrm>
            <a:off x="374320" y="3230000"/>
            <a:ext cx="22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Modifies Original</a:t>
            </a:r>
          </a:p>
        </p:txBody>
      </p:sp>
      <p:sp>
        <p:nvSpPr>
          <p:cNvPr id="17" name="C2"/>
          <p:cNvSpPr/>
          <p:nvPr/>
        </p:nvSpPr>
        <p:spPr>
          <a:xfrm>
            <a:off x="2624320" y="3230000"/>
            <a:ext cx="18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Yes   /   No</a:t>
            </a:r>
          </a:p>
        </p:txBody>
      </p:sp>
      <p:sp>
        <p:nvSpPr>
          <p:cNvPr id="18" name="Row"/>
          <p:cNvSpPr/>
          <p:nvPr/>
        </p:nvSpPr>
        <p:spPr>
          <a:xfrm>
            <a:off x="274320" y="379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9" name="C1"/>
          <p:cNvSpPr/>
          <p:nvPr/>
        </p:nvSpPr>
        <p:spPr>
          <a:xfrm>
            <a:off x="374320" y="3790000"/>
            <a:ext cx="22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Returns New Object</a:t>
            </a:r>
          </a:p>
        </p:txBody>
      </p:sp>
      <p:sp>
        <p:nvSpPr>
          <p:cNvPr id="20" name="C2"/>
          <p:cNvSpPr/>
          <p:nvPr/>
        </p:nvSpPr>
        <p:spPr>
          <a:xfrm>
            <a:off x="2624320" y="3790000"/>
            <a:ext cx="18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No   /   Yes</a:t>
            </a:r>
          </a:p>
        </p:txBody>
      </p:sp>
      <p:sp>
        <p:nvSpPr>
          <p:cNvPr id="21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sort() — modifies</a:t>
            </a:r>
            <a:endParaRPr lang="en-US"/>
          </a:p>
        </p:txBody>
      </p:sp>
      <p:sp>
        <p:nvSpPr>
          <p:cNvPr id="22" name="CodePanel"/>
          <p:cNvSpPr/>
          <p:nvPr/>
        </p:nvSpPr>
        <p:spPr>
          <a:xfrm>
            <a:off x="4663440" y="990000"/>
            <a:ext cx="420624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3" name="CodeText"/>
          <p:cNvSpPr/>
          <p:nvPr/>
        </p:nvSpPr>
        <p:spPr>
          <a:xfrm>
            <a:off x="4846320" y="1081440"/>
            <a:ext cx="384048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[40, 20, 10]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numbers.sort()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print(numbers)</a:t>
            </a:r>
            <a:endParaRPr lang="en-US" sz="1600"/>
          </a:p>
        </p:txBody>
      </p:sp>
      <p:sp>
        <p:nvSpPr>
          <p:cNvPr id="24" name="Label"/>
          <p:cNvSpPr/>
          <p:nvPr/>
        </p:nvSpPr>
        <p:spPr>
          <a:xfrm>
            <a:off x="4663440" y="228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sorted() — preserves</a:t>
            </a:r>
            <a:endParaRPr lang="en-US"/>
          </a:p>
        </p:txBody>
      </p:sp>
      <p:sp>
        <p:nvSpPr>
          <p:cNvPr id="25" name="CodePanel"/>
          <p:cNvSpPr/>
          <p:nvPr/>
        </p:nvSpPr>
        <p:spPr>
          <a:xfrm>
            <a:off x="4663440" y="2610000"/>
            <a:ext cx="4206240" cy="15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6" name="CodeText"/>
          <p:cNvSpPr/>
          <p:nvPr/>
        </p:nvSpPr>
        <p:spPr>
          <a:xfrm>
            <a:off x="4846320" y="2701440"/>
            <a:ext cx="3840480" cy="13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[40, 20, 10]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new_list = sorted(numbers)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print(numbers)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print(new_list)</a:t>
            </a:r>
            <a:endParaRPr lang="en-US" sz="16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5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Sorting Lists, Tuples, and Dictionaries</a:t>
            </a:r>
            <a:endParaRPr lang="en-US" sz="24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Lists</a:t>
            </a:r>
            <a:endParaRPr lang="en-US" sz="14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10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8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[40, 10, 30]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print(sorted(numbers))</a:t>
            </a:r>
            <a:endParaRPr lang="en-US" sz="1200"/>
          </a:p>
        </p:txBody>
      </p:sp>
      <p:sp>
        <p:nvSpPr>
          <p:cNvPr id="5" name="Label"/>
          <p:cNvSpPr/>
          <p:nvPr/>
        </p:nvSpPr>
        <p:spPr>
          <a:xfrm>
            <a:off x="274320" y="220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Tuples</a:t>
            </a:r>
            <a:endParaRPr lang="en-US" sz="1400"/>
          </a:p>
        </p:txBody>
      </p:sp>
      <p:sp>
        <p:nvSpPr>
          <p:cNvPr id="6" name="CodePanel"/>
          <p:cNvSpPr/>
          <p:nvPr/>
        </p:nvSpPr>
        <p:spPr>
          <a:xfrm>
            <a:off x="274320" y="2540000"/>
            <a:ext cx="4251960" cy="10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2631440"/>
            <a:ext cx="3886200" cy="8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(40, 10, 30)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print(sorted(numbers))</a:t>
            </a:r>
            <a:endParaRPr lang="en-US" sz="12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Dictionaries (sorts keys)</a:t>
            </a:r>
            <a:endParaRPr lang="en-US" sz="1400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2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1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student = {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"name": "John",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"age": 20,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"city": "Delhi"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}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print(sorted(student))</a:t>
            </a:r>
            <a:endParaRPr lang="en-US" sz="1200"/>
          </a:p>
        </p:txBody>
      </p:sp>
      <p:sp>
        <p:nvSpPr>
          <p:cNvPr id="11" name="Label"/>
          <p:cNvSpPr/>
          <p:nvPr/>
        </p:nvSpPr>
        <p:spPr>
          <a:xfrm>
            <a:off x="4663440" y="323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400"/>
          </a:p>
        </p:txBody>
      </p:sp>
      <p:sp>
        <p:nvSpPr>
          <p:cNvPr id="12" name="CodePanel"/>
          <p:cNvSpPr/>
          <p:nvPr/>
        </p:nvSpPr>
        <p:spPr>
          <a:xfrm>
            <a:off x="4663440" y="3560000"/>
            <a:ext cx="4206240" cy="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CodeText"/>
          <p:cNvSpPr/>
          <p:nvPr/>
        </p:nvSpPr>
        <p:spPr>
          <a:xfrm>
            <a:off x="4846320" y="3651440"/>
            <a:ext cx="3840480" cy="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['age', 'city', 'name']</a:t>
            </a:r>
            <a:endParaRPr lang="en-US" sz="12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4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Advanced Sorting with key and reverse</a:t>
            </a:r>
            <a:endParaRPr lang="en-US" sz="28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Reverse Sorting</a:t>
            </a:r>
            <a:endParaRPr lang="en-US" sz="16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[10, 50, 20]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numbers.sort(reverse=True)</a:t>
            </a:r>
            <a:endParaRPr lang="en-US" sz="1400"/>
          </a:p>
        </p:txBody>
      </p:sp>
      <p:sp>
        <p:nvSpPr>
          <p:cNvPr id="5" name="Label"/>
          <p:cNvSpPr/>
          <p:nvPr/>
        </p:nvSpPr>
        <p:spPr>
          <a:xfrm>
            <a:off x="274320" y="22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Sorting by String Length</a:t>
            </a:r>
            <a:endParaRPr lang="en-US" sz="1600"/>
          </a:p>
        </p:txBody>
      </p:sp>
      <p:sp>
        <p:nvSpPr>
          <p:cNvPr id="6" name="CodePanel"/>
          <p:cNvSpPr/>
          <p:nvPr/>
        </p:nvSpPr>
        <p:spPr>
          <a:xfrm>
            <a:off x="274320" y="2590000"/>
            <a:ext cx="425196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2681440"/>
            <a:ext cx="388620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names = ["Python", "C", "Java"]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print(sorted(names, key=len))</a:t>
            </a:r>
            <a:endParaRPr lang="en-US" sz="12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Sorting Dictionaries by Value</a:t>
            </a:r>
            <a:endParaRPr lang="en-US" sz="1600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2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24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students = {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"John": 85,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"Alice": 92,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"Bob": 78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}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print(sorted(students.items(),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     key=lambda x: x[1]))</a:t>
            </a:r>
            <a:endParaRPr lang="en-US" sz="1200"/>
          </a:p>
        </p:txBody>
      </p:sp>
      <p:sp>
        <p:nvSpPr>
          <p:cNvPr id="11" name="Card"/>
          <p:cNvSpPr/>
          <p:nvPr/>
        </p:nvSpPr>
        <p:spPr>
          <a:xfrm>
            <a:off x="4663440" y="3760000"/>
            <a:ext cx="4206240" cy="92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Body"/>
          <p:cNvSpPr/>
          <p:nvPr/>
        </p:nvSpPr>
        <p:spPr>
          <a:xfrm>
            <a:off x="4923440" y="3880000"/>
            <a:ext cx="36862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key= sets the sort criterion; reverse=True flips the order.</a:t>
            </a:r>
            <a:endParaRPr lang="en-US" sz="14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7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The map() Function</a:t>
            </a:r>
            <a:endParaRPr lang="en-US" sz="2800"/>
          </a:p>
        </p:txBody>
      </p:sp>
      <p:sp>
        <p:nvSpPr>
          <p:cNvPr id="2" name="Card"/>
          <p:cNvSpPr/>
          <p:nvPr/>
        </p:nvSpPr>
        <p:spPr>
          <a:xfrm>
            <a:off x="274320" y="650000"/>
            <a:ext cx="4251960" cy="13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Body"/>
          <p:cNvSpPr/>
          <p:nvPr/>
        </p:nvSpPr>
        <p:spPr>
          <a:xfrm>
            <a:off x="457200" y="760000"/>
            <a:ext cx="3886200" cy="1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60"/>
              </a:spcAft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map()</a:t>
            </a:r>
            <a:endParaRPr lang="en-US" sz="1600"/>
          </a:p>
          <a:p>
            <a:pPr marL="0" indent="0"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Applies a function to every element of an iterable.</a:t>
            </a:r>
            <a:endParaRPr lang="en-US" sz="1400"/>
          </a:p>
        </p:txBody>
      </p:sp>
      <p:sp>
        <p:nvSpPr>
          <p:cNvPr id="4" name="Label"/>
          <p:cNvSpPr/>
          <p:nvPr/>
        </p:nvSpPr>
        <p:spPr>
          <a:xfrm>
            <a:off x="274320" y="208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Syntax</a:t>
            </a:r>
            <a:endParaRPr lang="en-US" sz="1600"/>
          </a:p>
        </p:txBody>
      </p:sp>
      <p:sp>
        <p:nvSpPr>
          <p:cNvPr id="5" name="CodePanel"/>
          <p:cNvSpPr/>
          <p:nvPr/>
        </p:nvSpPr>
        <p:spPr>
          <a:xfrm>
            <a:off x="274320" y="2410000"/>
            <a:ext cx="4251960" cy="64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" name="CodeText"/>
          <p:cNvSpPr/>
          <p:nvPr/>
        </p:nvSpPr>
        <p:spPr>
          <a:xfrm>
            <a:off x="457200" y="2501440"/>
            <a:ext cx="3886200" cy="45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map(function, iterable)</a:t>
            </a:r>
            <a:endParaRPr lang="en-US" sz="1400"/>
          </a:p>
        </p:txBody>
      </p:sp>
      <p:sp>
        <p:nvSpPr>
          <p:cNvPr id="7" name="Label"/>
          <p:cNvSpPr/>
          <p:nvPr/>
        </p:nvSpPr>
        <p:spPr>
          <a:xfrm>
            <a:off x="274320" y="316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Tuple Example</a:t>
            </a:r>
            <a:endParaRPr lang="en-US" sz="1600"/>
          </a:p>
        </p:txBody>
      </p:sp>
      <p:sp>
        <p:nvSpPr>
          <p:cNvPr id="8" name="CodePanel"/>
          <p:cNvSpPr/>
          <p:nvPr/>
        </p:nvSpPr>
        <p:spPr>
          <a:xfrm>
            <a:off x="274320" y="3490000"/>
            <a:ext cx="425196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CodeText"/>
          <p:cNvSpPr/>
          <p:nvPr/>
        </p:nvSpPr>
        <p:spPr>
          <a:xfrm>
            <a:off x="457200" y="3581440"/>
            <a:ext cx="388620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(1, 2, 3)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result = list(map(str, numbers))</a:t>
            </a:r>
            <a:endParaRPr lang="en-US" sz="1100"/>
          </a:p>
        </p:txBody>
      </p:sp>
      <p:sp>
        <p:nvSpPr>
          <p:cNvPr id="10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Example</a:t>
            </a:r>
            <a:endParaRPr lang="en-US" sz="1600"/>
          </a:p>
        </p:txBody>
      </p:sp>
      <p:sp>
        <p:nvSpPr>
          <p:cNvPr id="11" name="CodePanel"/>
          <p:cNvSpPr/>
          <p:nvPr/>
        </p:nvSpPr>
        <p:spPr>
          <a:xfrm>
            <a:off x="4663440" y="990000"/>
            <a:ext cx="4206240" cy="1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2" name="CodeText"/>
          <p:cNvSpPr/>
          <p:nvPr/>
        </p:nvSpPr>
        <p:spPr>
          <a:xfrm>
            <a:off x="4846320" y="1081440"/>
            <a:ext cx="3840480" cy="1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[1, 2, 3, 4]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squares = list(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map(lambda x: x*x, numbers)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print(squares)</a:t>
            </a:r>
            <a:endParaRPr lang="en-US" sz="1200"/>
          </a:p>
        </p:txBody>
      </p:sp>
      <p:sp>
        <p:nvSpPr>
          <p:cNvPr id="13" name="Label"/>
          <p:cNvSpPr/>
          <p:nvPr/>
        </p:nvSpPr>
        <p:spPr>
          <a:xfrm>
            <a:off x="4663440" y="282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600"/>
          </a:p>
        </p:txBody>
      </p:sp>
      <p:sp>
        <p:nvSpPr>
          <p:cNvPr id="14" name="CodePanel"/>
          <p:cNvSpPr/>
          <p:nvPr/>
        </p:nvSpPr>
        <p:spPr>
          <a:xfrm>
            <a:off x="4663440" y="3150000"/>
            <a:ext cx="4206240" cy="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CodeText"/>
          <p:cNvSpPr/>
          <p:nvPr/>
        </p:nvSpPr>
        <p:spPr>
          <a:xfrm>
            <a:off x="4846320" y="3241440"/>
            <a:ext cx="3840480" cy="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[1, 4, 9, 16]</a:t>
            </a:r>
            <a:endParaRPr lang="en-US" sz="16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7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The filter() Function</a:t>
            </a:r>
            <a:endParaRPr lang="en-US" sz="2800"/>
          </a:p>
        </p:txBody>
      </p:sp>
      <p:sp>
        <p:nvSpPr>
          <p:cNvPr id="2" name="Card"/>
          <p:cNvSpPr/>
          <p:nvPr/>
        </p:nvSpPr>
        <p:spPr>
          <a:xfrm>
            <a:off x="274320" y="650000"/>
            <a:ext cx="4251960" cy="13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Body"/>
          <p:cNvSpPr/>
          <p:nvPr/>
        </p:nvSpPr>
        <p:spPr>
          <a:xfrm>
            <a:off x="457200" y="760000"/>
            <a:ext cx="3886200" cy="1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60"/>
              </a:spcAft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filter()</a:t>
            </a:r>
            <a:endParaRPr lang="en-US" sz="1600"/>
          </a:p>
          <a:p>
            <a:pPr marL="0" indent="0"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Selects elements that satisfy a condition.</a:t>
            </a:r>
            <a:endParaRPr lang="en-US" sz="1400"/>
          </a:p>
        </p:txBody>
      </p:sp>
      <p:sp>
        <p:nvSpPr>
          <p:cNvPr id="4" name="Label"/>
          <p:cNvSpPr/>
          <p:nvPr/>
        </p:nvSpPr>
        <p:spPr>
          <a:xfrm>
            <a:off x="274320" y="208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Syntax</a:t>
            </a:r>
            <a:endParaRPr lang="en-US" sz="1600"/>
          </a:p>
        </p:txBody>
      </p:sp>
      <p:sp>
        <p:nvSpPr>
          <p:cNvPr id="5" name="CodePanel"/>
          <p:cNvSpPr/>
          <p:nvPr/>
        </p:nvSpPr>
        <p:spPr>
          <a:xfrm>
            <a:off x="274320" y="2410000"/>
            <a:ext cx="4251960" cy="64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" name="CodeText"/>
          <p:cNvSpPr/>
          <p:nvPr/>
        </p:nvSpPr>
        <p:spPr>
          <a:xfrm>
            <a:off x="457200" y="2501440"/>
            <a:ext cx="3886200" cy="45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filter(function, iterable)</a:t>
            </a:r>
            <a:endParaRPr lang="en-US" sz="1400"/>
          </a:p>
        </p:txBody>
      </p:sp>
      <p:sp>
        <p:nvSpPr>
          <p:cNvPr id="7" name="Label"/>
          <p:cNvSpPr/>
          <p:nvPr/>
        </p:nvSpPr>
        <p:spPr>
          <a:xfrm>
            <a:off x="274320" y="316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Tuple Example</a:t>
            </a:r>
            <a:endParaRPr lang="en-US" sz="1600"/>
          </a:p>
        </p:txBody>
      </p:sp>
      <p:sp>
        <p:nvSpPr>
          <p:cNvPr id="8" name="CodePanel"/>
          <p:cNvSpPr/>
          <p:nvPr/>
        </p:nvSpPr>
        <p:spPr>
          <a:xfrm>
            <a:off x="274320" y="3490000"/>
            <a:ext cx="4251960" cy="119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CodeText"/>
          <p:cNvSpPr/>
          <p:nvPr/>
        </p:nvSpPr>
        <p:spPr>
          <a:xfrm>
            <a:off x="457200" y="3581440"/>
            <a:ext cx="3886200" cy="100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(10, 15, 20, 25)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result = list(filter(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lambda x: x &gt; 15, numbers))</a:t>
            </a:r>
            <a:endParaRPr lang="en-US" sz="1100"/>
          </a:p>
        </p:txBody>
      </p:sp>
      <p:sp>
        <p:nvSpPr>
          <p:cNvPr id="10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Example</a:t>
            </a:r>
            <a:endParaRPr lang="en-US" sz="1600"/>
          </a:p>
        </p:txBody>
      </p:sp>
      <p:sp>
        <p:nvSpPr>
          <p:cNvPr id="11" name="CodePanel"/>
          <p:cNvSpPr/>
          <p:nvPr/>
        </p:nvSpPr>
        <p:spPr>
          <a:xfrm>
            <a:off x="4663440" y="990000"/>
            <a:ext cx="4206240" cy="24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2" name="CodeText"/>
          <p:cNvSpPr/>
          <p:nvPr/>
        </p:nvSpPr>
        <p:spPr>
          <a:xfrm>
            <a:off x="4846320" y="1081440"/>
            <a:ext cx="3840480" cy="22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[1, 2, 3, 4, 5, 6]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even = list(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filter(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lambda x: x % 2 == 0,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    numbers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print(even)</a:t>
            </a:r>
            <a:endParaRPr lang="en-US" sz="1100"/>
          </a:p>
        </p:txBody>
      </p:sp>
      <p:sp>
        <p:nvSpPr>
          <p:cNvPr id="13" name="Label"/>
          <p:cNvSpPr/>
          <p:nvPr/>
        </p:nvSpPr>
        <p:spPr>
          <a:xfrm>
            <a:off x="4663440" y="350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600"/>
          </a:p>
        </p:txBody>
      </p:sp>
      <p:sp>
        <p:nvSpPr>
          <p:cNvPr id="14" name="CodePanel"/>
          <p:cNvSpPr/>
          <p:nvPr/>
        </p:nvSpPr>
        <p:spPr>
          <a:xfrm>
            <a:off x="4663440" y="3830000"/>
            <a:ext cx="4206240" cy="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CodeText"/>
          <p:cNvSpPr/>
          <p:nvPr/>
        </p:nvSpPr>
        <p:spPr>
          <a:xfrm>
            <a:off x="4846320" y="3921440"/>
            <a:ext cx="3840480" cy="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[2, 4, 6]</a:t>
            </a:r>
            <a:endParaRPr lang="en-US" sz="16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27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map() vs filter()</a:t>
            </a:r>
            <a:endParaRPr lang="en-US" sz="28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map()  vs  filter()</a:t>
            </a:r>
            <a:endParaRPr lang="en-US" sz="1600"/>
          </a:p>
        </p:txBody>
      </p:sp>
      <p:sp>
        <p:nvSpPr>
          <p:cNvPr id="3" name="Row"/>
          <p:cNvSpPr/>
          <p:nvPr/>
        </p:nvSpPr>
        <p:spPr>
          <a:xfrm>
            <a:off x="274320" y="99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1A2A3A"/>
          </a:solidFill>
          <a:ln/>
        </p:spPr>
      </p:sp>
      <p:sp>
        <p:nvSpPr>
          <p:cNvPr id="4" name="C1"/>
          <p:cNvSpPr/>
          <p:nvPr/>
        </p:nvSpPr>
        <p:spPr>
          <a:xfrm>
            <a:off x="374320" y="990000"/>
            <a:ext cx="17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Feature</a:t>
            </a:r>
          </a:p>
        </p:txBody>
      </p:sp>
      <p:sp>
        <p:nvSpPr>
          <p:cNvPr id="5" name="C2"/>
          <p:cNvSpPr/>
          <p:nvPr/>
        </p:nvSpPr>
        <p:spPr>
          <a:xfrm>
            <a:off x="2124320" y="990000"/>
            <a:ext cx="23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map()   /   filter()</a:t>
            </a:r>
          </a:p>
        </p:txBody>
      </p:sp>
      <p:sp>
        <p:nvSpPr>
          <p:cNvPr id="6" name="Row"/>
          <p:cNvSpPr/>
          <p:nvPr/>
        </p:nvSpPr>
        <p:spPr>
          <a:xfrm>
            <a:off x="274320" y="155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7" name="C1"/>
          <p:cNvSpPr/>
          <p:nvPr/>
        </p:nvSpPr>
        <p:spPr>
          <a:xfrm>
            <a:off x="374320" y="1550000"/>
            <a:ext cx="17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Purpose</a:t>
            </a:r>
          </a:p>
        </p:txBody>
      </p:sp>
      <p:sp>
        <p:nvSpPr>
          <p:cNvPr id="8" name="C2"/>
          <p:cNvSpPr/>
          <p:nvPr/>
        </p:nvSpPr>
        <p:spPr>
          <a:xfrm>
            <a:off x="2124320" y="1550000"/>
            <a:ext cx="23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Transform / Select</a:t>
            </a:r>
          </a:p>
        </p:txBody>
      </p:sp>
      <p:sp>
        <p:nvSpPr>
          <p:cNvPr id="9" name="Row"/>
          <p:cNvSpPr/>
          <p:nvPr/>
        </p:nvSpPr>
        <p:spPr>
          <a:xfrm>
            <a:off x="274320" y="211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0" name="C1"/>
          <p:cNvSpPr/>
          <p:nvPr/>
        </p:nvSpPr>
        <p:spPr>
          <a:xfrm>
            <a:off x="374320" y="2110000"/>
            <a:ext cx="17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Returns</a:t>
            </a:r>
          </a:p>
        </p:txBody>
      </p:sp>
      <p:sp>
        <p:nvSpPr>
          <p:cNvPr id="11" name="C2"/>
          <p:cNvSpPr/>
          <p:nvPr/>
        </p:nvSpPr>
        <p:spPr>
          <a:xfrm>
            <a:off x="2124320" y="2110000"/>
            <a:ext cx="23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Modified / Matching</a:t>
            </a:r>
          </a:p>
        </p:txBody>
      </p:sp>
      <p:sp>
        <p:nvSpPr>
          <p:cNvPr id="12" name="Row"/>
          <p:cNvSpPr/>
          <p:nvPr/>
        </p:nvSpPr>
        <p:spPr>
          <a:xfrm>
            <a:off x="274320" y="267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3" name="C1"/>
          <p:cNvSpPr/>
          <p:nvPr/>
        </p:nvSpPr>
        <p:spPr>
          <a:xfrm>
            <a:off x="374320" y="2670000"/>
            <a:ext cx="17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Requires</a:t>
            </a:r>
          </a:p>
        </p:txBody>
      </p:sp>
      <p:sp>
        <p:nvSpPr>
          <p:cNvPr id="14" name="C2"/>
          <p:cNvSpPr/>
          <p:nvPr/>
        </p:nvSpPr>
        <p:spPr>
          <a:xfrm>
            <a:off x="2124320" y="2670000"/>
            <a:ext cx="23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Function / Condition</a:t>
            </a:r>
          </a:p>
        </p:txBody>
      </p:sp>
      <p:sp>
        <p:nvSpPr>
          <p:cNvPr id="15" name="Row"/>
          <p:cNvSpPr/>
          <p:nvPr/>
        </p:nvSpPr>
        <p:spPr>
          <a:xfrm>
            <a:off x="274320" y="3230000"/>
            <a:ext cx="4251960" cy="530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6" name="C1"/>
          <p:cNvSpPr/>
          <p:nvPr/>
        </p:nvSpPr>
        <p:spPr>
          <a:xfrm>
            <a:off x="374320" y="3230000"/>
            <a:ext cx="170000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Output Size</a:t>
            </a:r>
          </a:p>
        </p:txBody>
      </p:sp>
      <p:sp>
        <p:nvSpPr>
          <p:cNvPr id="17" name="C2"/>
          <p:cNvSpPr/>
          <p:nvPr/>
        </p:nvSpPr>
        <p:spPr>
          <a:xfrm>
            <a:off x="2124320" y="3230000"/>
            <a:ext cx="2301960" cy="5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Same / May shrink</a:t>
            </a:r>
          </a:p>
        </p:txBody>
      </p:sp>
      <p:sp>
        <p:nvSpPr>
          <p:cNvPr id="18" name="Card"/>
          <p:cNvSpPr/>
          <p:nvPr/>
        </p:nvSpPr>
        <p:spPr>
          <a:xfrm>
            <a:off x="274320" y="3920000"/>
            <a:ext cx="4251960" cy="76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Body"/>
          <p:cNvSpPr/>
          <p:nvPr/>
        </p:nvSpPr>
        <p:spPr>
          <a:xfrm>
            <a:off x="534320" y="4030000"/>
            <a:ext cx="373196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map() transforms every item; filter() keeps only items that pass the test.</a:t>
            </a:r>
            <a:endParaRPr lang="en-US" sz="1400"/>
          </a:p>
        </p:txBody>
      </p:sp>
      <p:sp>
        <p:nvSpPr>
          <p:cNvPr id="20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Example</a:t>
            </a:r>
            <a:endParaRPr lang="en-US" sz="1600"/>
          </a:p>
        </p:txBody>
      </p:sp>
      <p:sp>
        <p:nvSpPr>
          <p:cNvPr id="21" name="CodePanel"/>
          <p:cNvSpPr/>
          <p:nvPr/>
        </p:nvSpPr>
        <p:spPr>
          <a:xfrm>
            <a:off x="4663440" y="990000"/>
            <a:ext cx="4206240" cy="1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2" name="CodeText"/>
          <p:cNvSpPr/>
          <p:nvPr/>
        </p:nvSpPr>
        <p:spPr>
          <a:xfrm>
            <a:off x="4846320" y="1081440"/>
            <a:ext cx="3840480" cy="14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numbers = [1, 2, 3, 4]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squares = list(map(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lambda x: x*x, numbers))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even = list(filter(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lambda x: x%2==0, numbers))</a:t>
            </a:r>
            <a:endParaRPr lang="en-US" sz="1100"/>
          </a:p>
        </p:txBody>
      </p:sp>
      <p:sp>
        <p:nvSpPr>
          <p:cNvPr id="23" name="Label"/>
          <p:cNvSpPr/>
          <p:nvPr/>
        </p:nvSpPr>
        <p:spPr>
          <a:xfrm>
            <a:off x="4663440" y="278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600"/>
          </a:p>
        </p:txBody>
      </p:sp>
      <p:sp>
        <p:nvSpPr>
          <p:cNvPr id="24" name="CodePanel"/>
          <p:cNvSpPr/>
          <p:nvPr/>
        </p:nvSpPr>
        <p:spPr>
          <a:xfrm>
            <a:off x="4663440" y="3110000"/>
            <a:ext cx="4206240" cy="10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CodeText"/>
          <p:cNvSpPr/>
          <p:nvPr/>
        </p:nvSpPr>
        <p:spPr>
          <a:xfrm>
            <a:off x="4846320" y="3201440"/>
            <a:ext cx="3840480" cy="8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Squares: [1, 4, 9, 16]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Even: [2, 4]</a:t>
            </a:r>
            <a:endParaRPr lang="en-US" sz="14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6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Using map() and filter() with Dictionaries</a:t>
            </a:r>
            <a:endParaRPr lang="en-US" sz="28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Mapping Dictionary Values</a:t>
            </a:r>
            <a:endParaRPr lang="en-US" sz="1600"/>
          </a:p>
        </p:txBody>
      </p:sp>
      <p:sp>
        <p:nvSpPr>
          <p:cNvPr id="3" name="CodePanel"/>
          <p:cNvSpPr/>
          <p:nvPr/>
        </p:nvSpPr>
        <p:spPr>
          <a:xfrm>
            <a:off x="296091" y="957343"/>
            <a:ext cx="4251960" cy="1934042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1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marks = {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"John": 80,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"Alice": 90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}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result = list(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map(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     lambda x: x * 2,</a:t>
            </a:r>
            <a:endParaRPr lang="en-US"/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     </a:t>
            </a:r>
            <a:r>
              <a:rPr lang="en-US" sz="1100" dirty="0" err="1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marks.values</a:t>
            </a:r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()</a:t>
            </a:r>
            <a:endParaRPr lang="en-US" dirty="0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)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)</a:t>
            </a:r>
            <a:endParaRPr lang="en-US"/>
          </a:p>
          <a:p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print(result)</a:t>
            </a:r>
            <a:endParaRPr lang="en-US"/>
          </a:p>
        </p:txBody>
      </p:sp>
      <p:sp>
        <p:nvSpPr>
          <p:cNvPr id="5" name="Card"/>
          <p:cNvSpPr/>
          <p:nvPr/>
        </p:nvSpPr>
        <p:spPr>
          <a:xfrm>
            <a:off x="306977" y="3035057"/>
            <a:ext cx="4251960" cy="113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Body"/>
          <p:cNvSpPr/>
          <p:nvPr/>
        </p:nvSpPr>
        <p:spPr>
          <a:xfrm>
            <a:off x="566977" y="3155057"/>
            <a:ext cx="3731960" cy="9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map() runs over marks.values(), doubling every score into a new list.</a:t>
            </a:r>
            <a:endParaRPr lang="en-US" sz="1400"/>
          </a:p>
        </p:txBody>
      </p:sp>
      <p:sp>
        <p:nvSpPr>
          <p:cNvPr id="7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Filtering Dictionary Items</a:t>
            </a:r>
            <a:endParaRPr lang="en-US" sz="1600"/>
          </a:p>
        </p:txBody>
      </p:sp>
      <p:sp>
        <p:nvSpPr>
          <p:cNvPr id="8" name="CodePanel"/>
          <p:cNvSpPr/>
          <p:nvPr/>
        </p:nvSpPr>
        <p:spPr>
          <a:xfrm>
            <a:off x="4663440" y="968229"/>
            <a:ext cx="4206240" cy="2087085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CodeText"/>
          <p:cNvSpPr/>
          <p:nvPr/>
        </p:nvSpPr>
        <p:spPr>
          <a:xfrm>
            <a:off x="4846320" y="1081440"/>
            <a:ext cx="3840480" cy="18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marks = {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"John": 80,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"Alice": 95,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"Bob": 70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}</a:t>
            </a:r>
            <a:endParaRPr lang="en-US"/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result = </a:t>
            </a:r>
            <a:r>
              <a:rPr lang="en-US" sz="1100" dirty="0" err="1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dict</a:t>
            </a:r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(</a:t>
            </a:r>
            <a:endParaRPr lang="en-US" dirty="0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filter(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     lambda x: x[1] &gt; 80,</a:t>
            </a:r>
            <a:endParaRPr lang="en-US"/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     </a:t>
            </a:r>
            <a:r>
              <a:rPr lang="en-US" sz="1100" dirty="0" err="1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marks.items</a:t>
            </a:r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()</a:t>
            </a:r>
            <a:endParaRPr lang="en-US" dirty="0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)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)</a:t>
            </a:r>
            <a:endParaRPr lang="en-US" sz="1100">
              <a:solidFill>
                <a:srgbClr val="E6EDF3"/>
              </a:solidFill>
              <a:latin typeface="Courier New"/>
              <a:ea typeface="Calibri"/>
              <a:cs typeface="Courier New"/>
            </a:endParaRPr>
          </a:p>
        </p:txBody>
      </p:sp>
      <p:sp>
        <p:nvSpPr>
          <p:cNvPr id="10" name="Label"/>
          <p:cNvSpPr/>
          <p:nvPr/>
        </p:nvSpPr>
        <p:spPr>
          <a:xfrm>
            <a:off x="4663440" y="314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600"/>
          </a:p>
        </p:txBody>
      </p:sp>
      <p:sp>
        <p:nvSpPr>
          <p:cNvPr id="11" name="CodePanel"/>
          <p:cNvSpPr/>
          <p:nvPr/>
        </p:nvSpPr>
        <p:spPr>
          <a:xfrm>
            <a:off x="4663440" y="3470000"/>
            <a:ext cx="4206240" cy="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2" name="CodeText"/>
          <p:cNvSpPr/>
          <p:nvPr/>
        </p:nvSpPr>
        <p:spPr>
          <a:xfrm>
            <a:off x="4846320" y="3561440"/>
            <a:ext cx="3840480" cy="4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{'Alice': 95}</a:t>
            </a:r>
            <a:endParaRPr lang="en-US" sz="1400"/>
          </a:p>
        </p:txBody>
      </p:sp>
      <p:sp>
        <p:nvSpPr>
          <p:cNvPr id="13" name="Card"/>
          <p:cNvSpPr/>
          <p:nvPr/>
        </p:nvSpPr>
        <p:spPr>
          <a:xfrm>
            <a:off x="274320" y="4290000"/>
            <a:ext cx="8595360" cy="65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Body"/>
          <p:cNvSpPr/>
          <p:nvPr/>
        </p:nvSpPr>
        <p:spPr>
          <a:xfrm>
            <a:off x="494320" y="4390000"/>
            <a:ext cx="815536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sort() modifies lists, sorted() returns a new sequence, map() transforms data, and filter() selects by condition.</a:t>
            </a:r>
            <a:endParaRPr lang="en-US" sz="1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Practical — Student Marks Program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8580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student names and marks in a dictionary. Compute average, highest, lowest. Print a formatted report.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77840" y="1078992"/>
            <a:ext cx="32461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120700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44768" y="1188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Practice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42432" y="1572768"/>
            <a:ext cx="2971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Dictionary creation &amp; iteration
• Built-in functions: sum / max / min
• f-string formatting (:&lt;15, :&gt;5.1f)
• Conditional expression (grade logic)</a:t>
            </a:r>
            <a:endParaRPr lang="en-US" sz="1000" dirty="0"/>
          </a:p>
        </p:txBody>
      </p:sp>
      <p:pic>
        <p:nvPicPr>
          <p:cNvPr id="11" name="Picture 10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C44B5CF-AF82-37E0-6A2C-D532196B9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21" y="1034142"/>
            <a:ext cx="4047117" cy="404948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400300"/>
            <a:ext cx="2743200" cy="2743200"/>
          </a:xfrm>
          <a:prstGeom prst="ellipse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55815" y="274320"/>
            <a:ext cx="843098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Practice Questions — Day 4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37755" y="780505"/>
            <a:ext cx="8377645" cy="354874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28600" indent="-2286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Create a list of 5 numbers. Print the list reversed WITHOUT using .reverse() or reversed().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US" sz="160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Given a dictionary of {country: capital}, write a function that takes a country name and returns its capital (or 'Not found').</a:t>
            </a:r>
            <a:endParaRPr lang="en-US" sz="16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US" sz="160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Create a list of student marks. Remove all students who scored below 40 (use a loop — not list comprehension).</a:t>
            </a:r>
            <a:endParaRPr lang="en-US" sz="16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US" sz="160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Convert a list of words into a dictionary where key = word, value = length of word. Example: ['hi', 'hello'] → {'hi':2, 'hello':5}</a:t>
            </a:r>
            <a:endParaRPr lang="en-US" sz="16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Write a program to count how many times each letter appears in a given</a:t>
            </a:r>
            <a:r>
              <a:rPr lang="en-US" sz="160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 string using a dictionary.</a:t>
            </a:r>
            <a:endParaRPr lang="en-US" sz="16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3657600"/>
          </a:xfrm>
          <a:prstGeom prst="ellipse">
            <a:avLst/>
          </a:prstGeom>
          <a:solidFill>
            <a:srgbClr val="0096B7">
              <a:alpha val="25000"/>
            </a:srgbClr>
          </a:solidFill>
          <a:ln w="12700">
            <a:solidFill>
              <a:srgbClr val="0096B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2286000"/>
          </a:xfrm>
          <a:prstGeom prst="ellipse">
            <a:avLst/>
          </a:prstGeom>
          <a:solidFill>
            <a:srgbClr val="00B4D8">
              <a:alpha val="40000"/>
            </a:srgbClr>
          </a:solidFill>
          <a:ln w="1270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  A C A D E M 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/ WEEK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— Tue, Jul 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Handling: Methods · Manipulation · Pattern Programs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Introduction to Strings</a:t>
            </a:r>
            <a:endParaRPr lang="en-US" sz="2800"/>
          </a:p>
        </p:txBody>
      </p:sp>
      <p:sp>
        <p:nvSpPr>
          <p:cNvPr id="2" name="Card"/>
          <p:cNvSpPr/>
          <p:nvPr/>
        </p:nvSpPr>
        <p:spPr>
          <a:xfrm>
            <a:off x="274320" y="650000"/>
            <a:ext cx="4251960" cy="425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Body"/>
          <p:cNvSpPr/>
          <p:nvPr/>
        </p:nvSpPr>
        <p:spPr>
          <a:xfrm>
            <a:off x="457200" y="760000"/>
            <a:ext cx="3886200" cy="40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Strings in Python</a:t>
            </a:r>
            <a:endParaRPr lang="en-US"/>
          </a:p>
          <a:p>
            <a:pPr marL="0" indent="0">
              <a:spcAft>
                <a:spcPts val="80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A string is a sequence of characters enclosed in single, double, or triple quotes.</a:t>
            </a:r>
            <a:endParaRPr lang="en-US" sz="120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Features of Strings</a:t>
            </a:r>
            <a:endParaRPr lang="en-US" sz="1600"/>
          </a:p>
          <a:p>
            <a:pPr marL="0" indent="0">
              <a:spcAft>
                <a:spcPts val="30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Ordered</a:t>
            </a:r>
            <a:endParaRPr lang="en-US" sz="1400"/>
          </a:p>
          <a:p>
            <a:pPr marL="0" indent="0">
              <a:spcAft>
                <a:spcPts val="30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Indexed</a:t>
            </a:r>
            <a:endParaRPr lang="en-US" sz="1400"/>
          </a:p>
          <a:p>
            <a:pPr marL="0" indent="0">
              <a:spcAft>
                <a:spcPts val="30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Immutable</a:t>
            </a:r>
            <a:endParaRPr lang="en-US" sz="1400"/>
          </a:p>
          <a:p>
            <a:pPr marL="0" indent="0">
              <a:spcAft>
                <a:spcPts val="30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Supports slicing</a:t>
            </a:r>
            <a:endParaRPr lang="en-US" sz="1400"/>
          </a:p>
          <a:p>
            <a:pPr marL="0" indent="0">
              <a:spcAft>
                <a:spcPts val="30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Iterable</a:t>
            </a:r>
            <a:endParaRPr lang="en-US" sz="1400"/>
          </a:p>
          <a:p>
            <a:pPr marL="0" indent="0">
              <a:spcAft>
                <a:spcPts val="30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✅  Allows duplicate characters</a:t>
            </a:r>
            <a:endParaRPr lang="en-US" sz="1400"/>
          </a:p>
        </p:txBody>
      </p:sp>
      <p:sp>
        <p:nvSpPr>
          <p:cNvPr id="4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Creating Strings</a:t>
            </a:r>
            <a:endParaRPr lang="en-US" sz="1600"/>
          </a:p>
        </p:txBody>
      </p:sp>
      <p:sp>
        <p:nvSpPr>
          <p:cNvPr id="5" name="CodePanel"/>
          <p:cNvSpPr/>
          <p:nvPr/>
        </p:nvSpPr>
        <p:spPr>
          <a:xfrm>
            <a:off x="4663440" y="990000"/>
            <a:ext cx="4206240" cy="2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" name="CodeText"/>
          <p:cNvSpPr/>
          <p:nvPr/>
        </p:nvSpPr>
        <p:spPr>
          <a:xfrm>
            <a:off x="4846320" y="1081440"/>
            <a:ext cx="3840480" cy="1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name = "Python"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language = 'Programming'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 = """Multi-line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String"""</a:t>
            </a:r>
            <a:endParaRPr lang="en-US" sz="1400"/>
          </a:p>
        </p:txBody>
      </p:sp>
      <p:sp>
        <p:nvSpPr>
          <p:cNvPr id="7" name="Label"/>
          <p:cNvSpPr/>
          <p:nvPr/>
        </p:nvSpPr>
        <p:spPr>
          <a:xfrm>
            <a:off x="4663440" y="322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Quote Types</a:t>
            </a:r>
            <a:endParaRPr lang="en-US" sz="1600"/>
          </a:p>
        </p:txBody>
      </p:sp>
      <p:sp>
        <p:nvSpPr>
          <p:cNvPr id="8" name="CodePanel"/>
          <p:cNvSpPr/>
          <p:nvPr/>
        </p:nvSpPr>
        <p:spPr>
          <a:xfrm>
            <a:off x="4663440" y="3550000"/>
            <a:ext cx="4206240" cy="11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CodeText"/>
          <p:cNvSpPr/>
          <p:nvPr/>
        </p:nvSpPr>
        <p:spPr>
          <a:xfrm>
            <a:off x="4846320" y="3641440"/>
            <a:ext cx="3840480" cy="9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'single quotes'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"double quotes"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"""triple quotes"""</a:t>
            </a:r>
            <a:endParaRPr lang="en-US" sz="12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5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Indexing, Slicing, and String Operations</a:t>
            </a:r>
            <a:endParaRPr lang="en-US" sz="24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Indexing</a:t>
            </a:r>
            <a:endParaRPr lang="en-US" sz="14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 = "Python"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print(text[0])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print(text[-1])</a:t>
            </a:r>
            <a:endParaRPr lang="en-US" sz="1200"/>
          </a:p>
        </p:txBody>
      </p:sp>
      <p:sp>
        <p:nvSpPr>
          <p:cNvPr id="5" name="Label"/>
          <p:cNvSpPr/>
          <p:nvPr/>
        </p:nvSpPr>
        <p:spPr>
          <a:xfrm>
            <a:off x="274320" y="22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Slicing</a:t>
            </a:r>
            <a:endParaRPr lang="en-US" sz="1400"/>
          </a:p>
        </p:txBody>
      </p:sp>
      <p:sp>
        <p:nvSpPr>
          <p:cNvPr id="6" name="CodePanel"/>
          <p:cNvSpPr/>
          <p:nvPr/>
        </p:nvSpPr>
        <p:spPr>
          <a:xfrm>
            <a:off x="274320" y="2590000"/>
            <a:ext cx="425196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2681440"/>
            <a:ext cx="388620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print(text[0:3])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print(text[2:])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print(text[::-1])</a:t>
            </a:r>
            <a:endParaRPr lang="en-US" sz="12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Operations</a:t>
            </a:r>
            <a:endParaRPr lang="en-US" sz="1400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1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14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print("Hello" + " World")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print("Hi " * 3)</a:t>
            </a:r>
            <a:endParaRPr lang="en-US" sz="1100"/>
          </a:p>
          <a:p>
            <a:pPr marL="0" indent="0">
              <a:buNone/>
            </a:pP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print("Py" in text)</a:t>
            </a:r>
            <a:endParaRPr lang="en-US" sz="1100"/>
          </a:p>
        </p:txBody>
      </p:sp>
      <p:sp>
        <p:nvSpPr>
          <p:cNvPr id="11" name="Label"/>
          <p:cNvSpPr/>
          <p:nvPr/>
        </p:nvSpPr>
        <p:spPr>
          <a:xfrm>
            <a:off x="4663440" y="27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400"/>
          </a:p>
        </p:txBody>
      </p:sp>
      <p:sp>
        <p:nvSpPr>
          <p:cNvPr id="12" name="CodePanel"/>
          <p:cNvSpPr/>
          <p:nvPr/>
        </p:nvSpPr>
        <p:spPr>
          <a:xfrm>
            <a:off x="4663440" y="3080000"/>
            <a:ext cx="420624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CodeText"/>
          <p:cNvSpPr/>
          <p:nvPr/>
        </p:nvSpPr>
        <p:spPr>
          <a:xfrm>
            <a:off x="4846320" y="3171440"/>
            <a:ext cx="384048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Hello World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Hi Hi Hi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True</a:t>
            </a:r>
            <a:endParaRPr lang="en-US" sz="12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25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Case Conversion Methods</a:t>
            </a:r>
            <a:endParaRPr lang="en-US" sz="2400">
              <a:latin typeface="Calibri"/>
              <a:ea typeface="Calibri"/>
              <a:cs typeface="Calibri"/>
            </a:endParaRPr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Methods in Action</a:t>
            </a:r>
            <a:endParaRPr lang="en-US" sz="20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24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22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 = "python programming"</a:t>
            </a:r>
            <a:endParaRPr lang="en-US" sz="1600"/>
          </a:p>
          <a:p>
            <a:pPr marL="0" indent="0">
              <a:buNone/>
            </a:pP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print(text.upper())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print(text.lower())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print(text.title())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print(text.capitalize())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print(text.swapcase())</a:t>
            </a:r>
            <a:endParaRPr lang="en-US" sz="1600"/>
          </a:p>
        </p:txBody>
      </p:sp>
      <p:sp>
        <p:nvSpPr>
          <p:cNvPr id="5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Method Reference</a:t>
            </a:r>
            <a:endParaRPr lang="en-US" sz="2000"/>
          </a:p>
        </p:txBody>
      </p:sp>
      <p:sp>
        <p:nvSpPr>
          <p:cNvPr id="6" name="Row"/>
          <p:cNvSpPr/>
          <p:nvPr/>
        </p:nvSpPr>
        <p:spPr>
          <a:xfrm>
            <a:off x="4663440" y="990000"/>
            <a:ext cx="4206240" cy="570000"/>
          </a:xfrm>
          <a:prstGeom prst="roundRect">
            <a:avLst>
              <a:gd name="adj" fmla="val 10000"/>
            </a:avLst>
          </a:prstGeom>
          <a:solidFill>
            <a:srgbClr val="1A2A3A"/>
          </a:solidFill>
          <a:ln/>
        </p:spPr>
      </p:sp>
      <p:sp>
        <p:nvSpPr>
          <p:cNvPr id="7" name="C1"/>
          <p:cNvSpPr/>
          <p:nvPr/>
        </p:nvSpPr>
        <p:spPr>
          <a:xfrm>
            <a:off x="4763440" y="990000"/>
            <a:ext cx="150000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Method</a:t>
            </a:r>
          </a:p>
        </p:txBody>
      </p:sp>
      <p:sp>
        <p:nvSpPr>
          <p:cNvPr id="8" name="C2"/>
          <p:cNvSpPr/>
          <p:nvPr/>
        </p:nvSpPr>
        <p:spPr>
          <a:xfrm>
            <a:off x="6313440" y="990000"/>
            <a:ext cx="245624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9" name="Row"/>
          <p:cNvSpPr/>
          <p:nvPr/>
        </p:nvSpPr>
        <p:spPr>
          <a:xfrm>
            <a:off x="4663440" y="1590000"/>
            <a:ext cx="4206240" cy="57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0" name="C1"/>
          <p:cNvSpPr/>
          <p:nvPr/>
        </p:nvSpPr>
        <p:spPr>
          <a:xfrm>
            <a:off x="4763440" y="1590000"/>
            <a:ext cx="150000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upper()</a:t>
            </a:r>
          </a:p>
        </p:txBody>
      </p:sp>
      <p:sp>
        <p:nvSpPr>
          <p:cNvPr id="11" name="C2"/>
          <p:cNvSpPr/>
          <p:nvPr/>
        </p:nvSpPr>
        <p:spPr>
          <a:xfrm>
            <a:off x="6313440" y="1590000"/>
            <a:ext cx="245624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Uppercase</a:t>
            </a:r>
          </a:p>
        </p:txBody>
      </p:sp>
      <p:sp>
        <p:nvSpPr>
          <p:cNvPr id="12" name="Row"/>
          <p:cNvSpPr/>
          <p:nvPr/>
        </p:nvSpPr>
        <p:spPr>
          <a:xfrm>
            <a:off x="4663440" y="2190000"/>
            <a:ext cx="4206240" cy="570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3" name="C1"/>
          <p:cNvSpPr/>
          <p:nvPr/>
        </p:nvSpPr>
        <p:spPr>
          <a:xfrm>
            <a:off x="4763440" y="2190000"/>
            <a:ext cx="150000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lower()</a:t>
            </a:r>
          </a:p>
        </p:txBody>
      </p:sp>
      <p:sp>
        <p:nvSpPr>
          <p:cNvPr id="14" name="C2"/>
          <p:cNvSpPr/>
          <p:nvPr/>
        </p:nvSpPr>
        <p:spPr>
          <a:xfrm>
            <a:off x="6313440" y="2190000"/>
            <a:ext cx="245624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Lowercase</a:t>
            </a:r>
          </a:p>
        </p:txBody>
      </p:sp>
      <p:sp>
        <p:nvSpPr>
          <p:cNvPr id="15" name="Row"/>
          <p:cNvSpPr/>
          <p:nvPr/>
        </p:nvSpPr>
        <p:spPr>
          <a:xfrm>
            <a:off x="4663440" y="2790000"/>
            <a:ext cx="4206240" cy="57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6" name="C1"/>
          <p:cNvSpPr/>
          <p:nvPr/>
        </p:nvSpPr>
        <p:spPr>
          <a:xfrm>
            <a:off x="4763440" y="2790000"/>
            <a:ext cx="150000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title()</a:t>
            </a:r>
          </a:p>
        </p:txBody>
      </p:sp>
      <p:sp>
        <p:nvSpPr>
          <p:cNvPr id="17" name="C2"/>
          <p:cNvSpPr/>
          <p:nvPr/>
        </p:nvSpPr>
        <p:spPr>
          <a:xfrm>
            <a:off x="6313440" y="2790000"/>
            <a:ext cx="245624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Title Case</a:t>
            </a:r>
          </a:p>
        </p:txBody>
      </p:sp>
      <p:sp>
        <p:nvSpPr>
          <p:cNvPr id="18" name="Row"/>
          <p:cNvSpPr/>
          <p:nvPr/>
        </p:nvSpPr>
        <p:spPr>
          <a:xfrm>
            <a:off x="4663440" y="3390000"/>
            <a:ext cx="4206240" cy="570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9" name="C1"/>
          <p:cNvSpPr/>
          <p:nvPr/>
        </p:nvSpPr>
        <p:spPr>
          <a:xfrm>
            <a:off x="4763440" y="3390000"/>
            <a:ext cx="150000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capitalize()</a:t>
            </a:r>
          </a:p>
        </p:txBody>
      </p:sp>
      <p:sp>
        <p:nvSpPr>
          <p:cNvPr id="20" name="C2"/>
          <p:cNvSpPr/>
          <p:nvPr/>
        </p:nvSpPr>
        <p:spPr>
          <a:xfrm>
            <a:off x="6313440" y="3390000"/>
            <a:ext cx="245624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First letter uppercase</a:t>
            </a:r>
          </a:p>
        </p:txBody>
      </p:sp>
      <p:sp>
        <p:nvSpPr>
          <p:cNvPr id="21" name="Row"/>
          <p:cNvSpPr/>
          <p:nvPr/>
        </p:nvSpPr>
        <p:spPr>
          <a:xfrm>
            <a:off x="4663440" y="3990000"/>
            <a:ext cx="4206240" cy="57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22" name="C1"/>
          <p:cNvSpPr/>
          <p:nvPr/>
        </p:nvSpPr>
        <p:spPr>
          <a:xfrm>
            <a:off x="4763440" y="3990000"/>
            <a:ext cx="150000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swapcase()</a:t>
            </a:r>
          </a:p>
        </p:txBody>
      </p:sp>
      <p:sp>
        <p:nvSpPr>
          <p:cNvPr id="23" name="C2"/>
          <p:cNvSpPr/>
          <p:nvPr/>
        </p:nvSpPr>
        <p:spPr>
          <a:xfrm>
            <a:off x="6313440" y="3990000"/>
            <a:ext cx="2456240" cy="5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Reverse case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Searching and Checking Methods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Searching Methods</a:t>
            </a:r>
            <a:endParaRPr lang="en-US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2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1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 = "Python Programming"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print(text.find("Pro"))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print(text.count("m"))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print(text.startswith("Py"))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print(text.endswith("ing"))</a:t>
            </a:r>
            <a:endParaRPr lang="en-US" sz="1400"/>
          </a:p>
        </p:txBody>
      </p:sp>
      <p:sp>
        <p:nvSpPr>
          <p:cNvPr id="5" name="Card"/>
          <p:cNvSpPr/>
          <p:nvPr/>
        </p:nvSpPr>
        <p:spPr>
          <a:xfrm>
            <a:off x="274320" y="3270000"/>
            <a:ext cx="4251960" cy="141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Body"/>
          <p:cNvSpPr/>
          <p:nvPr/>
        </p:nvSpPr>
        <p:spPr>
          <a:xfrm>
            <a:off x="534320" y="3400000"/>
            <a:ext cx="373196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6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Searching methods locate or count text; validation methods (is...) return True or False.</a:t>
            </a:r>
            <a:endParaRPr lang="en-US" sz="1600"/>
          </a:p>
        </p:txBody>
      </p:sp>
      <p:sp>
        <p:nvSpPr>
          <p:cNvPr id="7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Validation Methods</a:t>
            </a:r>
            <a:endParaRPr lang="en-US"/>
          </a:p>
        </p:txBody>
      </p:sp>
      <p:sp>
        <p:nvSpPr>
          <p:cNvPr id="8" name="CodePanel"/>
          <p:cNvSpPr/>
          <p:nvPr/>
        </p:nvSpPr>
        <p:spPr>
          <a:xfrm>
            <a:off x="4663440" y="990000"/>
            <a:ext cx="4206240" cy="30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" name="CodeText"/>
          <p:cNvSpPr/>
          <p:nvPr/>
        </p:nvSpPr>
        <p:spPr>
          <a:xfrm>
            <a:off x="4846320" y="1081440"/>
            <a:ext cx="3840480" cy="28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print("123".isdigit())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print("Python".isalpha())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print("abc123".isalnum())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print("HELLO".isupper())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print("hello".islower())</a:t>
            </a:r>
            <a:endParaRPr lang="en-US" sz="14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String Manipulation and Formatting Methods</a:t>
            </a:r>
            <a:endParaRPr lang="en-US" sz="2200"/>
          </a:p>
        </p:txBody>
      </p:sp>
      <p:sp>
        <p:nvSpPr>
          <p:cNvPr id="20" name="Label1"/>
          <p:cNvSpPr/>
          <p:nvPr/>
        </p:nvSpPr>
        <p:spPr>
          <a:xfrm>
            <a:off x="228600" y="610000"/>
            <a:ext cx="23157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Replacing and Splitting</a:t>
            </a:r>
            <a:endParaRPr lang="en-US" sz="1200"/>
          </a:p>
        </p:txBody>
      </p:sp>
      <p:sp>
        <p:nvSpPr>
          <p:cNvPr id="21" name="CodePanel1"/>
          <p:cNvSpPr/>
          <p:nvPr/>
        </p:nvSpPr>
        <p:spPr>
          <a:xfrm>
            <a:off x="228600" y="880000"/>
            <a:ext cx="2702143" cy="188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2" name="CodeText1"/>
          <p:cNvSpPr/>
          <p:nvPr/>
        </p:nvSpPr>
        <p:spPr>
          <a:xfrm>
            <a:off x="327715" y="954558"/>
            <a:ext cx="2503913" cy="1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text = "Python\nProgramming"</a:t>
            </a:r>
            <a:endParaRPr lang="en-US"/>
          </a:p>
          <a:p>
            <a:pPr>
              <a:buNone/>
            </a:pPr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print(</a:t>
            </a:r>
            <a:r>
              <a:rPr lang="en-US" sz="1100" dirty="0" err="1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text.replace</a:t>
            </a:r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(</a:t>
            </a:r>
            <a:endParaRPr lang="en-US" dirty="0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    "Python", "Java"</a:t>
            </a:r>
            <a:endParaRPr lang="en-US"/>
          </a:p>
          <a:p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))</a:t>
            </a:r>
            <a:endParaRPr lang="en-US"/>
          </a:p>
          <a:p>
            <a:endParaRPr lang="en-US" sz="1100" dirty="0">
              <a:solidFill>
                <a:srgbClr val="E6EDF3"/>
              </a:solidFill>
              <a:latin typeface="Courier New"/>
              <a:ea typeface="+mn-lt"/>
              <a:cs typeface="Courier New"/>
            </a:endParaRPr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words = </a:t>
            </a:r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text.split()</a:t>
            </a:r>
            <a:endParaRPr lang="en-US"/>
          </a:p>
          <a:p>
            <a:endParaRPr lang="en-US" sz="1100" dirty="0">
              <a:solidFill>
                <a:srgbClr val="E6EDF3"/>
              </a:solidFill>
              <a:latin typeface="Courier New"/>
              <a:ea typeface="+mn-lt"/>
              <a:cs typeface="Courier New"/>
            </a:endParaRP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ea typeface="+mn-lt"/>
                <a:cs typeface="Courier New"/>
              </a:rPr>
              <a:t>print("-".join(words))</a:t>
            </a:r>
            <a:endParaRPr lang="en-US"/>
          </a:p>
        </p:txBody>
      </p:sp>
      <p:sp>
        <p:nvSpPr>
          <p:cNvPr id="30" name="Label2"/>
          <p:cNvSpPr/>
          <p:nvPr/>
        </p:nvSpPr>
        <p:spPr>
          <a:xfrm>
            <a:off x="3215800" y="610000"/>
            <a:ext cx="23157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Removing Spaces</a:t>
            </a:r>
            <a:endParaRPr lang="en-US" sz="1200"/>
          </a:p>
        </p:txBody>
      </p:sp>
      <p:sp>
        <p:nvSpPr>
          <p:cNvPr id="31" name="CodePanel2"/>
          <p:cNvSpPr/>
          <p:nvPr/>
        </p:nvSpPr>
        <p:spPr>
          <a:xfrm>
            <a:off x="3117829" y="869114"/>
            <a:ext cx="2702143" cy="188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2" name="CodeText2"/>
          <p:cNvSpPr/>
          <p:nvPr/>
        </p:nvSpPr>
        <p:spPr>
          <a:xfrm>
            <a:off x="3173400" y="954556"/>
            <a:ext cx="2580114" cy="1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 = "   Python   "</a:t>
            </a:r>
            <a:endParaRPr lang="en-US" sz="1100" dirty="0">
              <a:solidFill>
                <a:srgbClr val="E6EDF3"/>
              </a:solidFill>
              <a:latin typeface="Courier New"/>
              <a:ea typeface="Courier New"/>
              <a:cs typeface="Courier New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1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text.strip</a:t>
            </a:r>
            <a:r>
              <a:rPr lang="en-US" sz="11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1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text.lstrip</a:t>
            </a:r>
            <a:r>
              <a:rPr lang="en-US" sz="11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1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text.rstrip</a:t>
            </a:r>
            <a:r>
              <a:rPr lang="en-US" sz="11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())</a:t>
            </a:r>
          </a:p>
          <a:p>
            <a:pPr marL="0" indent="0">
              <a:buNone/>
            </a:pPr>
            <a:r>
              <a:rPr lang="en-US" sz="1050" b="1">
                <a:solidFill>
                  <a:srgbClr val="8A9BA8"/>
                </a:solidFill>
                <a:latin typeface="Courier New"/>
                <a:ea typeface="Courier New"/>
                <a:cs typeface="Courier New"/>
              </a:rPr>
              <a:t>Output:</a:t>
            </a:r>
          </a:p>
          <a:p>
            <a:pPr marL="0" indent="0">
              <a:buNone/>
            </a:pPr>
            <a:r>
              <a:rPr lang="en-US" sz="1100">
                <a:solidFill>
                  <a:srgbClr val="7BE0A0"/>
                </a:solidFill>
                <a:latin typeface="Courier New"/>
                <a:ea typeface="Courier New"/>
                <a:cs typeface="Courier New"/>
              </a:rPr>
              <a:t>Python</a:t>
            </a:r>
          </a:p>
          <a:p>
            <a:pPr marL="0" indent="0">
              <a:buNone/>
            </a:pPr>
            <a:r>
              <a:rPr lang="en-US" sz="1100">
                <a:solidFill>
                  <a:srgbClr val="7BE0A0"/>
                </a:solidFill>
                <a:latin typeface="Courier New"/>
                <a:ea typeface="Courier New"/>
                <a:cs typeface="Courier New"/>
              </a:rPr>
              <a:t>Python   (trailing kept)</a:t>
            </a:r>
          </a:p>
          <a:p>
            <a:pPr marL="0" indent="0">
              <a:buNone/>
            </a:pPr>
            <a:r>
              <a:rPr lang="en-US" sz="1100">
                <a:solidFill>
                  <a:srgbClr val="7BE0A0"/>
                </a:solidFill>
                <a:latin typeface="Courier New"/>
                <a:ea typeface="Courier New"/>
                <a:cs typeface="Courier New"/>
              </a:rPr>
              <a:t>   Python (leading kept)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40" name="Label3"/>
          <p:cNvSpPr/>
          <p:nvPr/>
        </p:nvSpPr>
        <p:spPr>
          <a:xfrm>
            <a:off x="228600" y="2880000"/>
            <a:ext cx="23157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String Alignment Methods</a:t>
            </a:r>
            <a:endParaRPr lang="en-US" sz="1200"/>
          </a:p>
        </p:txBody>
      </p:sp>
      <p:sp>
        <p:nvSpPr>
          <p:cNvPr id="41" name="CodePanel3"/>
          <p:cNvSpPr/>
          <p:nvPr/>
        </p:nvSpPr>
        <p:spPr>
          <a:xfrm>
            <a:off x="228600" y="3150000"/>
            <a:ext cx="2702143" cy="182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2" name="CodeText3"/>
          <p:cNvSpPr/>
          <p:nvPr/>
        </p:nvSpPr>
        <p:spPr>
          <a:xfrm>
            <a:off x="333158" y="3230000"/>
            <a:ext cx="2498470" cy="1654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 = "Python"</a:t>
            </a:r>
            <a:endParaRPr lang="en-US" sz="1200" dirty="0">
              <a:solidFill>
                <a:srgbClr val="E6EDF3"/>
              </a:solidFill>
              <a:latin typeface="Courier New"/>
              <a:ea typeface="Courier New"/>
              <a:cs typeface="Courier New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2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text.center</a:t>
            </a: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(20))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2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text.ljust</a:t>
            </a: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(20))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2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text.rjust</a:t>
            </a: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(20))</a:t>
            </a:r>
          </a:p>
          <a:p>
            <a:r>
              <a:rPr lang="en-US" sz="1200" b="1">
                <a:solidFill>
                  <a:srgbClr val="8A9BA8"/>
                </a:solidFill>
                <a:latin typeface="Courier New"/>
                <a:ea typeface="Calibri"/>
                <a:cs typeface="Courier New"/>
              </a:rPr>
              <a:t>Output:</a:t>
            </a:r>
            <a:endParaRPr lang="en-US" sz="1200">
              <a:solidFill>
                <a:srgbClr val="000000"/>
              </a:solidFill>
              <a:latin typeface="Courier New"/>
              <a:ea typeface="Calibri"/>
              <a:cs typeface="Courier New"/>
            </a:endParaRPr>
          </a:p>
          <a:p>
            <a:r>
              <a:rPr lang="en-US" sz="1200">
                <a:solidFill>
                  <a:srgbClr val="7BE0A0"/>
                </a:solidFill>
                <a:latin typeface="Courier New"/>
                <a:ea typeface="+mn-lt"/>
                <a:cs typeface="Courier New"/>
              </a:rPr>
              <a:t>       Python       </a:t>
            </a:r>
            <a:endParaRPr lang="en-US"/>
          </a:p>
          <a:p>
            <a:r>
              <a:rPr lang="en-US" sz="1200">
                <a:solidFill>
                  <a:srgbClr val="7BE0A0"/>
                </a:solidFill>
                <a:latin typeface="Courier New"/>
                <a:ea typeface="+mn-lt"/>
                <a:cs typeface="Courier New"/>
              </a:rPr>
              <a:t>Python              </a:t>
            </a:r>
            <a:endParaRPr lang="en-US"/>
          </a:p>
          <a:p>
            <a:r>
              <a:rPr lang="en-US" sz="1200">
                <a:solidFill>
                  <a:srgbClr val="7BE0A0"/>
                </a:solidFill>
                <a:latin typeface="Courier New"/>
                <a:ea typeface="+mn-lt"/>
                <a:cs typeface="Courier New"/>
              </a:rPr>
              <a:t>              Python</a:t>
            </a:r>
            <a:endParaRPr lang="en-US"/>
          </a:p>
        </p:txBody>
      </p:sp>
      <p:sp>
        <p:nvSpPr>
          <p:cNvPr id="50" name="Label4"/>
          <p:cNvSpPr/>
          <p:nvPr/>
        </p:nvSpPr>
        <p:spPr>
          <a:xfrm>
            <a:off x="3215800" y="2880000"/>
            <a:ext cx="23157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Padding Characters</a:t>
            </a:r>
            <a:endParaRPr lang="en-US" sz="1200"/>
          </a:p>
        </p:txBody>
      </p:sp>
      <p:sp>
        <p:nvSpPr>
          <p:cNvPr id="51" name="CodePanel4"/>
          <p:cNvSpPr/>
          <p:nvPr/>
        </p:nvSpPr>
        <p:spPr>
          <a:xfrm>
            <a:off x="3117829" y="3150000"/>
            <a:ext cx="2702143" cy="182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2" name="CodeText4"/>
          <p:cNvSpPr/>
          <p:nvPr/>
        </p:nvSpPr>
        <p:spPr>
          <a:xfrm>
            <a:off x="3178844" y="3230000"/>
            <a:ext cx="2520241" cy="1654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2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text.center</a:t>
            </a: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(20,"*"))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2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text.ljust</a:t>
            </a: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(20,"-"))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lang="en-US" sz="1200" dirty="0" err="1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text.rjust</a:t>
            </a:r>
            <a:r>
              <a:rPr lang="en-US" sz="1200" dirty="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(20,"-"))</a:t>
            </a:r>
          </a:p>
          <a:p>
            <a:pPr marL="0" indent="0">
              <a:buNone/>
            </a:pPr>
            <a:r>
              <a:rPr lang="en-US" sz="1200" b="1">
                <a:solidFill>
                  <a:srgbClr val="8A9BA8"/>
                </a:solidFill>
                <a:latin typeface="Courier New"/>
                <a:ea typeface="Courier New"/>
                <a:cs typeface="Courier New"/>
              </a:rPr>
              <a:t>Output:</a:t>
            </a:r>
          </a:p>
          <a:p>
            <a:pPr marL="0" indent="0">
              <a:buNone/>
            </a:pPr>
            <a:r>
              <a:rPr lang="en-US" sz="1200">
                <a:solidFill>
                  <a:srgbClr val="7BE0A0"/>
                </a:solidFill>
                <a:latin typeface="Courier New"/>
                <a:ea typeface="Courier New"/>
                <a:cs typeface="Courier New"/>
              </a:rPr>
              <a:t>*******Python*******</a:t>
            </a:r>
          </a:p>
          <a:p>
            <a:pPr marL="0" indent="0">
              <a:buNone/>
            </a:pPr>
            <a:r>
              <a:rPr lang="en-US" sz="1200">
                <a:solidFill>
                  <a:srgbClr val="7BE0A0"/>
                </a:solidFill>
                <a:latin typeface="Courier New"/>
                <a:ea typeface="Courier New"/>
                <a:cs typeface="Courier New"/>
              </a:rPr>
              <a:t>Python--------------</a:t>
            </a:r>
          </a:p>
          <a:p>
            <a:pPr marL="0" indent="0">
              <a:buNone/>
            </a:pPr>
            <a:r>
              <a:rPr lang="en-US" sz="1200">
                <a:solidFill>
                  <a:srgbClr val="7BE0A0"/>
                </a:solidFill>
                <a:latin typeface="Courier New"/>
                <a:ea typeface="Courier New"/>
                <a:cs typeface="Courier New"/>
              </a:rPr>
              <a:t>--------------Python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60" name="LabelTable"/>
          <p:cNvSpPr/>
          <p:nvPr/>
        </p:nvSpPr>
        <p:spPr>
          <a:xfrm>
            <a:off x="6065157" y="637214"/>
            <a:ext cx="2844801" cy="2336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Methods Covered</a:t>
            </a:r>
            <a:endParaRPr lang="en-US" sz="1200"/>
          </a:p>
        </p:txBody>
      </p:sp>
      <p:graphicFrame>
        <p:nvGraphicFramePr>
          <p:cNvPr id="61" name="MethodsTable"/>
          <p:cNvGraphicFramePr/>
          <p:nvPr>
            <p:extLst>
              <p:ext uri="{D42A27DB-BD31-4B8C-83A1-F6EECF244321}">
                <p14:modId xmlns:p14="http://schemas.microsoft.com/office/powerpoint/2010/main" val="341399893"/>
              </p:ext>
            </p:extLst>
          </p:nvPr>
        </p:nvGraphicFramePr>
        <p:xfrm>
          <a:off x="6068785" y="881742"/>
          <a:ext cx="2843210" cy="4000000"/>
        </p:xfrm>
        <a:graphic>
          <a:graphicData uri="http://schemas.openxmlformats.org/drawingml/2006/table">
            <a:tbl>
              <a:tblPr firstRow="1" bandRow="1"/>
              <a:tblGrid>
                <a:gridCol w="1262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1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18288" marB="18288" anchor="ctr"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18288" marB="18288" anchor="ctr">
                    <a:solidFill>
                      <a:srgbClr val="1A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replace()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Replace text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split()</a:t>
                      </a:r>
                    </a:p>
                  </a:txBody>
                  <a:tcPr marL="73152" marR="73152" marT="18288" marB="18288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Split string</a:t>
                      </a:r>
                    </a:p>
                  </a:txBody>
                  <a:tcPr marL="73152" marR="73152" marT="18288" marB="18288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join()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Join strings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strip()</a:t>
                      </a:r>
                    </a:p>
                  </a:txBody>
                  <a:tcPr marL="73152" marR="73152" marT="18288" marB="18288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Remove spaces both sides</a:t>
                      </a:r>
                    </a:p>
                  </a:txBody>
                  <a:tcPr marL="73152" marR="73152" marT="18288" marB="18288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 err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lstrip</a:t>
                      </a: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()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Remove left spaces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 err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rstrip</a:t>
                      </a: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()</a:t>
                      </a:r>
                    </a:p>
                  </a:txBody>
                  <a:tcPr marL="73152" marR="73152" marT="18288" marB="18288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Remove right spaces</a:t>
                      </a:r>
                    </a:p>
                  </a:txBody>
                  <a:tcPr marL="73152" marR="73152" marT="18288" marB="18288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center()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Center align text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 err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ljust</a:t>
                      </a: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()</a:t>
                      </a:r>
                    </a:p>
                  </a:txBody>
                  <a:tcPr marL="73152" marR="73152" marT="18288" marB="18288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Left align text</a:t>
                      </a:r>
                    </a:p>
                  </a:txBody>
                  <a:tcPr marL="73152" marR="73152" marT="18288" marB="18288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 err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rjust</a:t>
                      </a:r>
                      <a:r>
                        <a:rPr lang="en-US" sz="1000" b="1" dirty="0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()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1A2A3A"/>
                          </a:solidFill>
                          <a:latin typeface="Calibri"/>
                        </a:rPr>
                        <a:t>Right align text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25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String Formatting and Escape Characters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f-Strings</a:t>
            </a:r>
            <a:endParaRPr lang="en-US" sz="16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13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114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name = "John"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age = 20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print(f"My name is {name}")</a:t>
            </a:r>
            <a:endParaRPr lang="en-US" sz="1400"/>
          </a:p>
        </p:txBody>
      </p:sp>
      <p:sp>
        <p:nvSpPr>
          <p:cNvPr id="5" name="Label"/>
          <p:cNvSpPr/>
          <p:nvPr/>
        </p:nvSpPr>
        <p:spPr>
          <a:xfrm>
            <a:off x="274320" y="248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format()</a:t>
            </a:r>
            <a:endParaRPr lang="en-US" sz="1600"/>
          </a:p>
        </p:txBody>
      </p:sp>
      <p:sp>
        <p:nvSpPr>
          <p:cNvPr id="6" name="CodePanel"/>
          <p:cNvSpPr/>
          <p:nvPr/>
        </p:nvSpPr>
        <p:spPr>
          <a:xfrm>
            <a:off x="274320" y="2810000"/>
            <a:ext cx="4251960" cy="6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2901440"/>
            <a:ext cx="3886200" cy="4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print("Age: {}".format(age))</a:t>
            </a:r>
            <a:endParaRPr lang="en-US" sz="12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Escape Characters</a:t>
            </a:r>
            <a:endParaRPr lang="en-US" sz="1600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print("Hello\nWorld")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print("Name:\tJohn")</a:t>
            </a:r>
            <a:endParaRPr lang="en-US" sz="1400"/>
          </a:p>
        </p:txBody>
      </p:sp>
      <p:sp>
        <p:nvSpPr>
          <p:cNvPr id="11" name="Label"/>
          <p:cNvSpPr/>
          <p:nvPr/>
        </p:nvSpPr>
        <p:spPr>
          <a:xfrm>
            <a:off x="4663440" y="22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Escape Reference</a:t>
            </a:r>
            <a:endParaRPr lang="en-US" sz="1600"/>
          </a:p>
        </p:txBody>
      </p:sp>
      <p:sp>
        <p:nvSpPr>
          <p:cNvPr id="12" name="Row"/>
          <p:cNvSpPr/>
          <p:nvPr/>
        </p:nvSpPr>
        <p:spPr>
          <a:xfrm>
            <a:off x="4663440" y="2590000"/>
            <a:ext cx="4206240" cy="450000"/>
          </a:xfrm>
          <a:prstGeom prst="roundRect">
            <a:avLst>
              <a:gd name="adj" fmla="val 10000"/>
            </a:avLst>
          </a:prstGeom>
          <a:solidFill>
            <a:srgbClr val="1A2A3A"/>
          </a:solidFill>
          <a:ln/>
        </p:spPr>
      </p:sp>
      <p:sp>
        <p:nvSpPr>
          <p:cNvPr id="13" name="C1"/>
          <p:cNvSpPr/>
          <p:nvPr/>
        </p:nvSpPr>
        <p:spPr>
          <a:xfrm>
            <a:off x="4763440" y="2590000"/>
            <a:ext cx="1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Escape</a:t>
            </a:r>
          </a:p>
        </p:txBody>
      </p:sp>
      <p:sp>
        <p:nvSpPr>
          <p:cNvPr id="14" name="C2"/>
          <p:cNvSpPr/>
          <p:nvPr/>
        </p:nvSpPr>
        <p:spPr>
          <a:xfrm>
            <a:off x="6013440" y="2590000"/>
            <a:ext cx="27562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Meaning</a:t>
            </a:r>
          </a:p>
        </p:txBody>
      </p:sp>
      <p:sp>
        <p:nvSpPr>
          <p:cNvPr id="15" name="Row"/>
          <p:cNvSpPr/>
          <p:nvPr/>
        </p:nvSpPr>
        <p:spPr>
          <a:xfrm>
            <a:off x="4663440" y="3070000"/>
            <a:ext cx="4206240" cy="45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6" name="C1"/>
          <p:cNvSpPr/>
          <p:nvPr/>
        </p:nvSpPr>
        <p:spPr>
          <a:xfrm>
            <a:off x="4763440" y="3070000"/>
            <a:ext cx="1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\n</a:t>
            </a:r>
          </a:p>
        </p:txBody>
      </p:sp>
      <p:sp>
        <p:nvSpPr>
          <p:cNvPr id="17" name="C2"/>
          <p:cNvSpPr/>
          <p:nvPr/>
        </p:nvSpPr>
        <p:spPr>
          <a:xfrm>
            <a:off x="6013440" y="3070000"/>
            <a:ext cx="27562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New Line</a:t>
            </a:r>
          </a:p>
        </p:txBody>
      </p:sp>
      <p:sp>
        <p:nvSpPr>
          <p:cNvPr id="18" name="Row"/>
          <p:cNvSpPr/>
          <p:nvPr/>
        </p:nvSpPr>
        <p:spPr>
          <a:xfrm>
            <a:off x="4663440" y="3550000"/>
            <a:ext cx="4206240" cy="450000"/>
          </a:xfrm>
          <a:prstGeom prst="roundRect">
            <a:avLst>
              <a:gd name="adj" fmla="val 10000"/>
            </a:avLst>
          </a:prstGeom>
          <a:solidFill>
            <a:srgbClr val="E2ECF3"/>
          </a:solidFill>
          <a:ln/>
        </p:spPr>
      </p:sp>
      <p:sp>
        <p:nvSpPr>
          <p:cNvPr id="19" name="C1"/>
          <p:cNvSpPr/>
          <p:nvPr/>
        </p:nvSpPr>
        <p:spPr>
          <a:xfrm>
            <a:off x="4763440" y="3550000"/>
            <a:ext cx="1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\t</a:t>
            </a:r>
          </a:p>
        </p:txBody>
      </p:sp>
      <p:sp>
        <p:nvSpPr>
          <p:cNvPr id="20" name="C2"/>
          <p:cNvSpPr/>
          <p:nvPr/>
        </p:nvSpPr>
        <p:spPr>
          <a:xfrm>
            <a:off x="6013440" y="3550000"/>
            <a:ext cx="27562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Tab</a:t>
            </a:r>
          </a:p>
        </p:txBody>
      </p:sp>
      <p:sp>
        <p:nvSpPr>
          <p:cNvPr id="21" name="Row"/>
          <p:cNvSpPr/>
          <p:nvPr/>
        </p:nvSpPr>
        <p:spPr>
          <a:xfrm>
            <a:off x="4663440" y="4030000"/>
            <a:ext cx="4206240" cy="45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22" name="C1"/>
          <p:cNvSpPr/>
          <p:nvPr/>
        </p:nvSpPr>
        <p:spPr>
          <a:xfrm>
            <a:off x="4763440" y="4030000"/>
            <a:ext cx="1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00B4D8"/>
                </a:solidFill>
                <a:latin typeface="Courier New" pitchFamily="34" charset="0"/>
                <a:ea typeface="Courier New"/>
                <a:cs typeface="Courier New"/>
              </a:rPr>
              <a:t>\\</a:t>
            </a:r>
          </a:p>
        </p:txBody>
      </p:sp>
      <p:sp>
        <p:nvSpPr>
          <p:cNvPr id="23" name="C2"/>
          <p:cNvSpPr/>
          <p:nvPr/>
        </p:nvSpPr>
        <p:spPr>
          <a:xfrm>
            <a:off x="6013440" y="4030000"/>
            <a:ext cx="27562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Backslash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4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Looping, Comprehension, and Built-in Functions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Looping</a:t>
            </a:r>
            <a:endParaRPr lang="en-US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8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6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for ch in "Python":</a:t>
            </a:r>
            <a:endParaRPr lang="en-US" sz="1600"/>
          </a:p>
          <a:p>
            <a:pPr marL="0" indent="0">
              <a:buNone/>
            </a:pPr>
            <a:r>
              <a:rPr lang="en-US" sz="16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print(ch)</a:t>
            </a:r>
            <a:endParaRPr lang="en-US" sz="1600"/>
          </a:p>
        </p:txBody>
      </p:sp>
      <p:sp>
        <p:nvSpPr>
          <p:cNvPr id="5" name="Label"/>
          <p:cNvSpPr/>
          <p:nvPr/>
        </p:nvSpPr>
        <p:spPr>
          <a:xfrm>
            <a:off x="274320" y="200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String Comprehension</a:t>
            </a:r>
            <a:endParaRPr lang="en-US"/>
          </a:p>
        </p:txBody>
      </p:sp>
      <p:sp>
        <p:nvSpPr>
          <p:cNvPr id="6" name="CodePanel"/>
          <p:cNvSpPr/>
          <p:nvPr/>
        </p:nvSpPr>
        <p:spPr>
          <a:xfrm>
            <a:off x="274320" y="2340000"/>
            <a:ext cx="4251960" cy="23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2431440"/>
            <a:ext cx="3886200" cy="21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 = "python"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result = "".join(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ch.upper()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    for ch in text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print(result)</a:t>
            </a:r>
            <a:endParaRPr lang="en-US" sz="14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>
                <a:solidFill>
                  <a:srgbClr val="9B5DE5"/>
                </a:solidFill>
                <a:latin typeface="Calibri"/>
                <a:ea typeface="Calibri"/>
                <a:cs typeface="Calibri"/>
              </a:rPr>
              <a:t>Built-in Functions</a:t>
            </a:r>
            <a:endParaRPr lang="en-US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23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2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print(len(text))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print(max(text))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print(min(text))</a:t>
            </a:r>
            <a:endParaRPr lang="en-US" sz="1400"/>
          </a:p>
          <a:p>
            <a:pPr marL="0" indent="0">
              <a:buNone/>
            </a:pP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print(sorted(text))</a:t>
            </a:r>
            <a:endParaRPr lang="en-US" sz="1400"/>
          </a:p>
        </p:txBody>
      </p:sp>
      <p:sp>
        <p:nvSpPr>
          <p:cNvPr id="11" name="Card"/>
          <p:cNvSpPr/>
          <p:nvPr/>
        </p:nvSpPr>
        <p:spPr>
          <a:xfrm>
            <a:off x="4663440" y="3450000"/>
            <a:ext cx="4206240" cy="124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Body"/>
          <p:cNvSpPr/>
          <p:nvPr/>
        </p:nvSpPr>
        <p:spPr>
          <a:xfrm>
            <a:off x="4923440" y="3580000"/>
            <a:ext cx="3686240" cy="9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6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max() and min() compare characters by Unicode order; sorted() returns a list of characters.</a:t>
            </a:r>
            <a:endParaRPr lang="en-US" sz="16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7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 pitchFamily="34" charset="0"/>
                <a:ea typeface="Calibri"/>
                <a:cs typeface="Calibri"/>
              </a:rPr>
              <a:t>String Immutability</a:t>
            </a:r>
            <a:endParaRPr lang="en-US" sz="2200"/>
          </a:p>
        </p:txBody>
      </p:sp>
      <p:sp>
        <p:nvSpPr>
          <p:cNvPr id="2" name="Label"/>
          <p:cNvSpPr/>
          <p:nvPr/>
        </p:nvSpPr>
        <p:spPr>
          <a:xfrm>
            <a:off x="274320" y="65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6B6B"/>
                </a:solidFill>
                <a:latin typeface="Calibri"/>
                <a:ea typeface="Calibri"/>
                <a:cs typeface="Calibri"/>
              </a:rPr>
              <a:t>Invalid Operation</a:t>
            </a:r>
            <a:endParaRPr lang="en-US" sz="1600"/>
          </a:p>
        </p:txBody>
      </p:sp>
      <p:sp>
        <p:nvSpPr>
          <p:cNvPr id="3" name="CodePanel"/>
          <p:cNvSpPr/>
          <p:nvPr/>
        </p:nvSpPr>
        <p:spPr>
          <a:xfrm>
            <a:off x="274320" y="990000"/>
            <a:ext cx="4251960" cy="8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" name="CodeText"/>
          <p:cNvSpPr/>
          <p:nvPr/>
        </p:nvSpPr>
        <p:spPr>
          <a:xfrm>
            <a:off x="457200" y="1081440"/>
            <a:ext cx="3886200" cy="6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 = "Python"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text[0] = "J"</a:t>
            </a:r>
            <a:endParaRPr lang="en-US" sz="1400"/>
          </a:p>
        </p:txBody>
      </p:sp>
      <p:sp>
        <p:nvSpPr>
          <p:cNvPr id="5" name="Label"/>
          <p:cNvSpPr/>
          <p:nvPr/>
        </p:nvSpPr>
        <p:spPr>
          <a:xfrm>
            <a:off x="274320" y="2000000"/>
            <a:ext cx="425196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600"/>
          </a:p>
        </p:txBody>
      </p:sp>
      <p:sp>
        <p:nvSpPr>
          <p:cNvPr id="6" name="CodePanel"/>
          <p:cNvSpPr/>
          <p:nvPr/>
        </p:nvSpPr>
        <p:spPr>
          <a:xfrm>
            <a:off x="274320" y="2330000"/>
            <a:ext cx="4251960" cy="850000"/>
          </a:xfrm>
          <a:prstGeom prst="roundRect">
            <a:avLst>
              <a:gd name="adj" fmla="val 4138"/>
            </a:avLst>
          </a:prstGeom>
          <a:solidFill>
            <a:srgbClr val="3A1A1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CodeText"/>
          <p:cNvSpPr/>
          <p:nvPr/>
        </p:nvSpPr>
        <p:spPr>
          <a:xfrm>
            <a:off x="457200" y="2421440"/>
            <a:ext cx="3886200" cy="66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FF6B6B"/>
                </a:solidFill>
                <a:latin typeface="Courier New" pitchFamily="34" charset="0"/>
                <a:ea typeface="Courier New"/>
                <a:cs typeface="Courier New"/>
              </a:rPr>
              <a:t>TypeError: 'str' object does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FF6B6B"/>
                </a:solidFill>
                <a:latin typeface="Courier New" pitchFamily="34" charset="0"/>
                <a:ea typeface="Courier New"/>
                <a:cs typeface="Courier New"/>
              </a:rPr>
              <a:t>not support item assignment</a:t>
            </a:r>
            <a:endParaRPr lang="en-US" sz="1200"/>
          </a:p>
        </p:txBody>
      </p:sp>
      <p:sp>
        <p:nvSpPr>
          <p:cNvPr id="8" name="Label"/>
          <p:cNvSpPr/>
          <p:nvPr/>
        </p:nvSpPr>
        <p:spPr>
          <a:xfrm>
            <a:off x="4663440" y="6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Correct Approach</a:t>
            </a:r>
            <a:endParaRPr lang="en-US" sz="1600"/>
          </a:p>
        </p:txBody>
      </p:sp>
      <p:sp>
        <p:nvSpPr>
          <p:cNvPr id="9" name="CodePanel"/>
          <p:cNvSpPr/>
          <p:nvPr/>
        </p:nvSpPr>
        <p:spPr>
          <a:xfrm>
            <a:off x="4663440" y="990000"/>
            <a:ext cx="420624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" name="CodeText"/>
          <p:cNvSpPr/>
          <p:nvPr/>
        </p:nvSpPr>
        <p:spPr>
          <a:xfrm>
            <a:off x="4846320" y="1081440"/>
            <a:ext cx="3840480" cy="9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 = "Python"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text = "J" + text[1:]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6EDF3"/>
                </a:solidFill>
                <a:latin typeface="Courier New" pitchFamily="34" charset="0"/>
                <a:ea typeface="Courier New"/>
                <a:cs typeface="Courier New"/>
              </a:rPr>
              <a:t>print(text)</a:t>
            </a:r>
            <a:endParaRPr lang="en-US" sz="1400"/>
          </a:p>
        </p:txBody>
      </p:sp>
      <p:sp>
        <p:nvSpPr>
          <p:cNvPr id="11" name="Label"/>
          <p:cNvSpPr/>
          <p:nvPr/>
        </p:nvSpPr>
        <p:spPr>
          <a:xfrm>
            <a:off x="4663440" y="2250000"/>
            <a:ext cx="420624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6D6A0"/>
                </a:solidFill>
                <a:latin typeface="Calibri"/>
                <a:ea typeface="Calibri"/>
                <a:cs typeface="Calibri"/>
              </a:rPr>
              <a:t>Output</a:t>
            </a:r>
            <a:endParaRPr lang="en-US" sz="1600"/>
          </a:p>
        </p:txBody>
      </p:sp>
      <p:sp>
        <p:nvSpPr>
          <p:cNvPr id="12" name="CodePanel"/>
          <p:cNvSpPr/>
          <p:nvPr/>
        </p:nvSpPr>
        <p:spPr>
          <a:xfrm>
            <a:off x="4663440" y="2580000"/>
            <a:ext cx="4206240" cy="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3" name="CodeText"/>
          <p:cNvSpPr/>
          <p:nvPr/>
        </p:nvSpPr>
        <p:spPr>
          <a:xfrm>
            <a:off x="4846320" y="2671440"/>
            <a:ext cx="3840480" cy="5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00D4AA"/>
                </a:solidFill>
                <a:latin typeface="Courier New" pitchFamily="34" charset="0"/>
                <a:ea typeface="Courier New"/>
                <a:cs typeface="Courier New"/>
              </a:rPr>
              <a:t>Jython</a:t>
            </a:r>
            <a:endParaRPr lang="en-US" sz="1600"/>
          </a:p>
        </p:txBody>
      </p:sp>
      <p:sp>
        <p:nvSpPr>
          <p:cNvPr id="14" name="Card"/>
          <p:cNvSpPr/>
          <p:nvPr/>
        </p:nvSpPr>
        <p:spPr>
          <a:xfrm>
            <a:off x="274320" y="4200000"/>
            <a:ext cx="8595360" cy="72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Body"/>
          <p:cNvSpPr/>
          <p:nvPr/>
        </p:nvSpPr>
        <p:spPr>
          <a:xfrm>
            <a:off x="494320" y="4310000"/>
            <a:ext cx="815536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0"/>
              </a:spcAft>
              <a:buNone/>
            </a:pPr>
            <a:r>
              <a:rPr lang="en-US" sz="14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Strings are immutable sequences of characters used to store and manipulate text data efficiently in Python.</a:t>
            </a:r>
            <a:endParaRPr lang="en-US" sz="14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Lab — String Manipulation + Pattern Programs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42519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777240"/>
            <a:ext cx="384048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Palindrome Checker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709160" y="685800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777240"/>
            <a:ext cx="374904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Word &amp; Vowel Counter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4320" y="2926080"/>
            <a:ext cx="85496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 Pattern Programs (Practical)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3383280"/>
            <a:ext cx="1920240" cy="1325880"/>
          </a:xfrm>
          <a:prstGeom prst="roundRect">
            <a:avLst>
              <a:gd name="adj" fmla="val 4138"/>
            </a:avLst>
          </a:prstGeom>
          <a:solidFill>
            <a:srgbClr val="1A3A2A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401568"/>
            <a:ext cx="17373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***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****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*****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20840" y="3383280"/>
            <a:ext cx="1920240" cy="1325880"/>
          </a:xfrm>
          <a:prstGeom prst="roundRect">
            <a:avLst>
              <a:gd name="adj" fmla="val 4138"/>
            </a:avLst>
          </a:prstGeom>
          <a:solidFill>
            <a:srgbClr val="1A3A2A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3401568"/>
            <a:ext cx="17373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1 2 3 4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1 2 3 4 5</a:t>
            </a:r>
            <a:endParaRPr lang="en-US" sz="1100" dirty="0"/>
          </a:p>
        </p:txBody>
      </p:sp>
      <p:pic>
        <p:nvPicPr>
          <p:cNvPr id="20" name="Picture 19" descr="A computer code with text on it AI-generated content may be incorrect.">
            <a:extLst>
              <a:ext uri="{FF2B5EF4-FFF2-40B4-BE49-F238E27FC236}">
                <a16:creationId xmlns:a16="http://schemas.microsoft.com/office/drawing/2014/main" id="{5E3AF8C3-C173-3EC2-B583-05649D97A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49" y="1137767"/>
            <a:ext cx="3714560" cy="1414725"/>
          </a:xfrm>
          <a:prstGeom prst="rect">
            <a:avLst/>
          </a:prstGeom>
        </p:spPr>
      </p:pic>
      <p:pic>
        <p:nvPicPr>
          <p:cNvPr id="21" name="Picture 20" descr="A screen shot of a computer code AI-generated content may be incorrect.">
            <a:extLst>
              <a:ext uri="{FF2B5EF4-FFF2-40B4-BE49-F238E27FC236}">
                <a16:creationId xmlns:a16="http://schemas.microsoft.com/office/drawing/2014/main" id="{6CAA0860-0AD8-361C-E278-2F551726A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0844" y="1068684"/>
            <a:ext cx="3314700" cy="1547447"/>
          </a:xfrm>
          <a:prstGeom prst="rect">
            <a:avLst/>
          </a:prstGeom>
        </p:spPr>
      </p:pic>
      <p:pic>
        <p:nvPicPr>
          <p:cNvPr id="22" name="Picture 21" descr="A screen shot of a computer code AI-generated content may be incorrect.">
            <a:extLst>
              <a:ext uri="{FF2B5EF4-FFF2-40B4-BE49-F238E27FC236}">
                <a16:creationId xmlns:a16="http://schemas.microsoft.com/office/drawing/2014/main" id="{3E6F9E69-0B75-C636-A766-81EFE6A9A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958" y="3348931"/>
            <a:ext cx="3227615" cy="138478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400300"/>
            <a:ext cx="2743200" cy="2743200"/>
          </a:xfrm>
          <a:prstGeom prst="ellipse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21129" y="274320"/>
            <a:ext cx="836567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Practice Questions — Day 5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320040" y="960120"/>
            <a:ext cx="8595360" cy="345077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28600" indent="-228600">
              <a:buAutoNum type="arabicPeriod"/>
            </a:pPr>
            <a:r>
              <a:rPr lang="en-US" sz="20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Write a function that takes a sentence and returns it with every word capitalized (without using .title()).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marL="228600" indent="-228600">
              <a:buAutoNum type="arabicPeriod"/>
            </a:pPr>
            <a:r>
              <a:rPr lang="en-US" sz="2000" dirty="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Write a program that checks whether a given string is an anagram of another string. E.g. 'listen' and 'silent'.</a:t>
            </a:r>
            <a:endParaRPr lang="en-US" sz="20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r>
              <a:rPr lang="en-US" sz="200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Count the frequency of each character in a string. Print only characters that appear more than once.</a:t>
            </a:r>
            <a:endParaRPr lang="en-US" sz="20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r>
              <a:rPr lang="en-US" sz="200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Write a program to print a right-angled triangle of numbers. Row 1 = '1', Row 2 = '1 2', Row 3 = '1 2 3'…</a:t>
            </a:r>
            <a:endParaRPr lang="en-US" sz="200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r>
              <a:rPr lang="en-US" sz="2000" dirty="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Remove all vowels from a given string. E.g. 'Python is fun' → '</a:t>
            </a:r>
            <a:r>
              <a:rPr lang="en-US" sz="2000" dirty="0" err="1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Pythn</a:t>
            </a:r>
            <a:r>
              <a:rPr lang="en-US" sz="2000" dirty="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 s </a:t>
            </a:r>
            <a:r>
              <a:rPr lang="en-US" sz="2000" dirty="0" err="1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fn</a:t>
            </a:r>
            <a:r>
              <a:rPr lang="en-US" sz="2000" dirty="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'.</a:t>
            </a:r>
            <a:endParaRPr lang="en-US" sz="2000" dirty="0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endParaRPr lang="en-US" sz="2000" dirty="0">
              <a:solidFill>
                <a:srgbClr val="D4EEF7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endParaRPr lang="en-US" sz="2000" dirty="0">
              <a:solidFill>
                <a:srgbClr val="D4EEF7"/>
              </a:solidFill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400300"/>
            <a:ext cx="2743200" cy="2743200"/>
          </a:xfrm>
          <a:prstGeom prst="ellipse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321129" y="89263"/>
            <a:ext cx="836567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 Day 5 Question — Doormat Pattern</a:t>
            </a:r>
            <a:endParaRPr lang="en-US" sz="2000"/>
          </a:p>
        </p:txBody>
      </p:sp>
      <p:sp>
        <p:nvSpPr>
          <p:cNvPr id="7" name="Problem"/>
          <p:cNvSpPr/>
          <p:nvPr/>
        </p:nvSpPr>
        <p:spPr>
          <a:xfrm>
            <a:off x="320040" y="606086"/>
            <a:ext cx="4177214" cy="444391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Given the number of rows R and columns C, print a doormat pattern where C = 3 × R. The word </a:t>
            </a:r>
            <a:r>
              <a:rPr lang="en-US" sz="13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“2BAcademy</a:t>
            </a:r>
            <a:r>
              <a:rPr lang="en-US" sz="13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” is printed in the center, and the mat’s width equals the number of columns.</a:t>
            </a:r>
          </a:p>
          <a:p>
            <a:r>
              <a:rPr lang="en-US" sz="13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Since “2BAcademy” has 9 characters (odd), R must be </a:t>
            </a:r>
            <a:r>
              <a:rPr lang="en-US" sz="13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odd to keep the mat symmetric.</a:t>
            </a:r>
          </a:p>
          <a:p>
            <a:pPr marL="0" indent="0">
              <a:buNone/>
            </a:pPr>
            <a:endParaRPr lang="en-US" sz="700"/>
          </a:p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Approach</a:t>
            </a:r>
          </a:p>
          <a:p>
            <a:pPr marL="0" indent="0">
              <a:buNone/>
            </a:pPr>
            <a:r>
              <a:rPr lang="en-US" sz="12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Split the pattern into three parts — a top triangle, the centered word, and an inverted bottom triangle — using string alignment methods:</a:t>
            </a:r>
          </a:p>
          <a:p>
            <a:pPr marL="285750" indent="-285750">
              <a:buFont typeface="Courier New"/>
              <a:buChar char="•"/>
            </a:pPr>
            <a:r>
              <a:rPr lang="en-US" sz="1200" b="1" dirty="0" err="1">
                <a:solidFill>
                  <a:srgbClr val="F77F00"/>
                </a:solidFill>
                <a:latin typeface="Courier New"/>
                <a:cs typeface="Courier New"/>
              </a:rPr>
              <a:t>ljust</a:t>
            </a:r>
            <a:r>
              <a:rPr lang="en-US" sz="12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 — left-aligns text to length l</a:t>
            </a:r>
          </a:p>
          <a:p>
            <a:pPr marL="285750" indent="-285750">
              <a:buFont typeface="Courier New"/>
              <a:buChar char="•"/>
            </a:pPr>
            <a:r>
              <a:rPr lang="en-US" sz="1200" b="1">
                <a:solidFill>
                  <a:srgbClr val="F77F00"/>
                </a:solidFill>
                <a:latin typeface="Courier New"/>
                <a:cs typeface="Courier New"/>
              </a:rPr>
              <a:t>center</a:t>
            </a:r>
            <a:r>
              <a:rPr lang="en-US" sz="12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 — center-aligns text to length l</a:t>
            </a:r>
          </a:p>
          <a:p>
            <a:pPr marL="285750" indent="-285750">
              <a:buFont typeface="Courier New"/>
              <a:buChar char="•"/>
            </a:pPr>
            <a:r>
              <a:rPr lang="en-US" sz="1200" b="1" dirty="0" err="1">
                <a:solidFill>
                  <a:srgbClr val="F77F00"/>
                </a:solidFill>
                <a:latin typeface="Courier New"/>
                <a:cs typeface="Courier New"/>
              </a:rPr>
              <a:t>rjust</a:t>
            </a:r>
            <a:r>
              <a:rPr lang="en-US" sz="12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 — right-aligns text to length l</a:t>
            </a:r>
          </a:p>
          <a:p>
            <a:endParaRPr lang="en-US" sz="1200" dirty="0">
              <a:solidFill>
                <a:srgbClr val="D4EEF7"/>
              </a:solidFill>
              <a:latin typeface="Calibri"/>
              <a:ea typeface="Calibri"/>
              <a:cs typeface="Calibri"/>
            </a:endParaRPr>
          </a:p>
          <a:p>
            <a:r>
              <a:rPr lang="en-US" sz="1300" b="1" dirty="0">
                <a:solidFill>
                  <a:srgbClr val="00B4D8"/>
                </a:solidFill>
              </a:rPr>
              <a:t>Valid </a:t>
            </a:r>
            <a:r>
              <a:rPr lang="en-US" sz="1300" b="1">
                <a:solidFill>
                  <a:srgbClr val="00B4D8"/>
                </a:solidFill>
              </a:rPr>
              <a:t>Conditions</a:t>
            </a:r>
            <a:endParaRPr lang="en-US">
              <a:solidFill>
                <a:srgbClr val="000000"/>
              </a:solidFill>
            </a:endParaRPr>
          </a:p>
          <a:p>
            <a:r>
              <a:rPr lang="en-US" sz="1200">
                <a:solidFill>
                  <a:srgbClr val="D4EEF7"/>
                </a:solidFill>
              </a:rPr>
              <a:t>R</a:t>
            </a:r>
            <a:r>
              <a:rPr lang="en-US" sz="1200">
                <a:solidFill>
                  <a:srgbClr val="D4EEF7"/>
                </a:solidFill>
                <a:ea typeface="+mn-lt"/>
                <a:cs typeface="+mn-lt"/>
              </a:rPr>
              <a:t> must be odd (</a:t>
            </a:r>
            <a:r>
              <a:rPr lang="en-US" sz="12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R % 2 != 0</a:t>
            </a:r>
            <a:r>
              <a:rPr lang="en-US" sz="1200">
                <a:solidFill>
                  <a:srgbClr val="D4EEF7"/>
                </a:solidFill>
                <a:ea typeface="+mn-lt"/>
                <a:cs typeface="+mn-lt"/>
              </a:rPr>
              <a:t>) </a:t>
            </a:r>
            <a:endParaRPr lang="en-US">
              <a:ea typeface="Calibri"/>
              <a:cs typeface="Calibri"/>
            </a:endParaRPr>
          </a:p>
          <a:p>
            <a:r>
              <a:rPr lang="en-US" sz="1200">
                <a:solidFill>
                  <a:srgbClr val="D4EEF7"/>
                </a:solidFill>
                <a:ea typeface="+mn-lt"/>
                <a:cs typeface="+mn-lt"/>
              </a:rPr>
              <a:t>C must be equal to 3 × R </a:t>
            </a:r>
            <a:endParaRPr lang="en-US"/>
          </a:p>
          <a:p>
            <a:r>
              <a:rPr lang="en-US" sz="1200">
                <a:solidFill>
                  <a:srgbClr val="D4EEF7"/>
                </a:solidFill>
                <a:ea typeface="+mn-lt"/>
                <a:cs typeface="+mn-lt"/>
              </a:rPr>
              <a:t>Examples:</a:t>
            </a:r>
            <a:endParaRPr lang="en-US"/>
          </a:p>
          <a:p>
            <a:r>
              <a:rPr lang="en-US" sz="12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R = 7, C = 21   ✓ Valid</a:t>
            </a:r>
            <a:br>
              <a:rPr lang="en-US" sz="12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</a:br>
            <a:r>
              <a:rPr lang="en-US" sz="12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R = 9, C = 27   ✓ Valid</a:t>
            </a:r>
            <a:br>
              <a:rPr lang="en-US" sz="12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</a:br>
            <a:r>
              <a:rPr lang="en-US" sz="12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R = 10, C = 30  ✗ Invalid (R is even)</a:t>
            </a:r>
            <a:br>
              <a:rPr lang="en-US" sz="1200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</a:br>
            <a:r>
              <a:rPr lang="en-US" sz="120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R = 7, C = 20   ✗ Invalid (C ≠ 3 × R)</a:t>
            </a:r>
            <a:endParaRPr lang="en-US"/>
          </a:p>
          <a:p>
            <a:pPr>
              <a:buFont typeface="Courier New"/>
            </a:pPr>
            <a:endParaRPr lang="en-US" sz="1200" dirty="0">
              <a:solidFill>
                <a:srgbClr val="D4EEF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ExamplePanel"/>
          <p:cNvSpPr/>
          <p:nvPr/>
        </p:nvSpPr>
        <p:spPr>
          <a:xfrm>
            <a:off x="4620000" y="900000"/>
            <a:ext cx="4260000" cy="4150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ExampleText"/>
          <p:cNvSpPr/>
          <p:nvPr/>
        </p:nvSpPr>
        <p:spPr>
          <a:xfrm>
            <a:off x="4780000" y="990000"/>
            <a:ext cx="3940000" cy="39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00B4D8"/>
                </a:solidFill>
                <a:latin typeface="Courier New"/>
                <a:cs typeface="Courier New"/>
              </a:rPr>
              <a:t>Input: R = 11, C = 33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---------------|*|---------------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------------|*||*||*|------------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---------|*||*||*||*||*|---------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------|*||*||*||*||*||*||*|------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---|*||*||*||*||*||*||*||*||*|---</a:t>
            </a:r>
          </a:p>
          <a:p>
            <a:r>
              <a:rPr lang="en-US" sz="1100" b="1">
                <a:solidFill>
                  <a:srgbClr val="7BE0A0"/>
                </a:solidFill>
                <a:latin typeface="Courier New"/>
                <a:cs typeface="Courier New"/>
              </a:rPr>
              <a:t>------------2BAcademy------------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---|*||*||*||*||*||*||*||*||*|---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------|*||*||*||*||*||*||*|------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---------|*||*||*||*||*|---------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------------|*||*||*|------------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---------------|*|---------------</a:t>
            </a:r>
          </a:p>
          <a:p>
            <a:pPr marL="0" indent="0">
              <a:buNone/>
            </a:pPr>
            <a:endParaRPr lang="en-US" sz="800" dirty="0"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>
                <a:solidFill>
                  <a:srgbClr val="00B4D8"/>
                </a:solidFill>
                <a:latin typeface="Courier New"/>
                <a:cs typeface="Courier New"/>
              </a:rPr>
              <a:t>Input: R = 9, C = 27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------------|*|------------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---------|*||*||*|---------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------|*||*||*||*||*|------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---|*||*||*||*||*||*||*|---</a:t>
            </a:r>
          </a:p>
          <a:p>
            <a:pPr marL="0" indent="0">
              <a:buNone/>
            </a:pPr>
            <a:r>
              <a:rPr lang="en-US" sz="1100" b="1">
                <a:solidFill>
                  <a:srgbClr val="7BE0A0"/>
                </a:solidFill>
                <a:latin typeface="Courier New"/>
                <a:cs typeface="Courier New"/>
              </a:rPr>
              <a:t>---------</a:t>
            </a:r>
            <a:r>
              <a:rPr lang="en-US" sz="1100" b="1">
                <a:solidFill>
                  <a:srgbClr val="7BE0A0"/>
                </a:solidFill>
                <a:latin typeface="Courier New"/>
                <a:ea typeface="Calibri"/>
                <a:cs typeface="Courier New"/>
              </a:rPr>
              <a:t>2BAcademy</a:t>
            </a:r>
            <a:r>
              <a:rPr lang="en-US" sz="1100" b="1">
                <a:solidFill>
                  <a:srgbClr val="7BE0A0"/>
                </a:solidFill>
                <a:latin typeface="Courier New"/>
                <a:cs typeface="Courier New"/>
              </a:rPr>
              <a:t>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---|*||*||*||*||*||*||*|---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------|*||*||*||*||*|------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---------|*||*||*|---------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------------|*|------------</a:t>
            </a:r>
            <a:endParaRPr lang="en-US" sz="110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04015" y="0"/>
            <a:ext cx="4239985" cy="3984170"/>
          </a:xfrm>
          <a:prstGeom prst="ellipse">
            <a:avLst/>
          </a:prstGeom>
          <a:solidFill>
            <a:srgbClr val="0096B7">
              <a:alpha val="25000"/>
            </a:srgbClr>
          </a:solidFill>
          <a:ln w="12700">
            <a:solidFill>
              <a:srgbClr val="0096B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53843" y="0"/>
            <a:ext cx="2890157" cy="2824842"/>
          </a:xfrm>
          <a:prstGeom prst="ellipse">
            <a:avLst/>
          </a:prstGeom>
          <a:solidFill>
            <a:srgbClr val="00B4D8">
              <a:alpha val="40000"/>
            </a:srgbClr>
          </a:solidFill>
          <a:ln w="1270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  A C A D E M 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/ WEEK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— Wed, Jul 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Handling · Error Handling · Module 1 Capstone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Introduction to File Handling</a:t>
            </a:r>
          </a:p>
        </p:txBody>
      </p:sp>
      <p:sp>
        <p:nvSpPr>
          <p:cNvPr id="12" name="Intro"/>
          <p:cNvSpPr/>
          <p:nvPr/>
        </p:nvSpPr>
        <p:spPr>
          <a:xfrm>
            <a:off x="274320" y="640000"/>
            <a:ext cx="859536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File handling lets programs store and retrieve data permanently from files.</a:t>
            </a:r>
          </a:p>
        </p:txBody>
      </p:sp>
      <p:sp>
        <p:nvSpPr>
          <p:cNvPr id="13" name="LabelWhy"/>
          <p:cNvSpPr/>
          <p:nvPr/>
        </p:nvSpPr>
        <p:spPr>
          <a:xfrm>
            <a:off x="274320" y="113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Why Use Files?</a:t>
            </a:r>
          </a:p>
        </p:txBody>
      </p:sp>
      <p:sp>
        <p:nvSpPr>
          <p:cNvPr id="14" name="WhyCard"/>
          <p:cNvSpPr/>
          <p:nvPr/>
        </p:nvSpPr>
        <p:spPr>
          <a:xfrm>
            <a:off x="274320" y="1470000"/>
            <a:ext cx="4250000" cy="33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WhyText"/>
          <p:cNvSpPr/>
          <p:nvPr/>
        </p:nvSpPr>
        <p:spPr>
          <a:xfrm>
            <a:off x="494320" y="1610000"/>
            <a:ext cx="3810000" cy="3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900"/>
              </a:spcAft>
              <a:buNone/>
            </a:pP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✅  Store data permanently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✅  Read existing data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✅  Write new data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✅  Process large amounts of data</a:t>
            </a:r>
          </a:p>
          <a:p>
            <a:pPr marL="0" indent="0">
              <a:buNone/>
            </a:pP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✅  Share data between programs</a:t>
            </a:r>
          </a:p>
        </p:txBody>
      </p:sp>
      <p:sp>
        <p:nvSpPr>
          <p:cNvPr id="16" name="LabelSteps"/>
          <p:cNvSpPr/>
          <p:nvPr/>
        </p:nvSpPr>
        <p:spPr>
          <a:xfrm>
            <a:off x="4660000" y="113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Basic Steps</a:t>
            </a:r>
          </a:p>
        </p:txBody>
      </p:sp>
      <p:sp>
        <p:nvSpPr>
          <p:cNvPr id="17" name="StepsCard"/>
          <p:cNvSpPr/>
          <p:nvPr/>
        </p:nvSpPr>
        <p:spPr>
          <a:xfrm>
            <a:off x="4660000" y="1470000"/>
            <a:ext cx="4209680" cy="135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tepsText"/>
          <p:cNvSpPr/>
          <p:nvPr/>
        </p:nvSpPr>
        <p:spPr>
          <a:xfrm>
            <a:off x="4880000" y="1560000"/>
            <a:ext cx="3769680" cy="11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+mj-lt"/>
              <a:buAutoNum type="arabicPeriod"/>
            </a:pP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Open the file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Perform operations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Close the file</a:t>
            </a:r>
          </a:p>
        </p:txBody>
      </p:sp>
      <p:sp>
        <p:nvSpPr>
          <p:cNvPr id="19" name="CodePanel"/>
          <p:cNvSpPr/>
          <p:nvPr/>
        </p:nvSpPr>
        <p:spPr>
          <a:xfrm>
            <a:off x="4660000" y="2980000"/>
            <a:ext cx="4209680" cy="13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CodeText"/>
          <p:cNvSpPr/>
          <p:nvPr/>
        </p:nvSpPr>
        <p:spPr>
          <a:xfrm>
            <a:off x="4880000" y="3080000"/>
            <a:ext cx="376968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file = open("data.txt", "r")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print(file.read())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file.close()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Opening Files and File Modes</a:t>
            </a:r>
          </a:p>
        </p:txBody>
      </p:sp>
      <p:sp>
        <p:nvSpPr>
          <p:cNvPr id="12" name="LabelSyntax"/>
          <p:cNvSpPr/>
          <p:nvPr/>
        </p:nvSpPr>
        <p:spPr>
          <a:xfrm>
            <a:off x="274320" y="64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Syntax</a:t>
            </a:r>
          </a:p>
        </p:txBody>
      </p:sp>
      <p:sp>
        <p:nvSpPr>
          <p:cNvPr id="13" name="SyntaxPanel"/>
          <p:cNvSpPr/>
          <p:nvPr/>
        </p:nvSpPr>
        <p:spPr>
          <a:xfrm>
            <a:off x="274320" y="970000"/>
            <a:ext cx="4250000" cy="620000"/>
          </a:xfrm>
          <a:prstGeom prst="roundRect">
            <a:avLst>
              <a:gd name="adj" fmla="val 8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SyntaxText"/>
          <p:cNvSpPr/>
          <p:nvPr/>
        </p:nvSpPr>
        <p:spPr>
          <a:xfrm>
            <a:off x="474320" y="970000"/>
            <a:ext cx="3850000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cs typeface="Courier New"/>
              </a:rPr>
              <a:t>file = open("filename", "mode")</a:t>
            </a:r>
          </a:p>
        </p:txBody>
      </p:sp>
      <p:sp>
        <p:nvSpPr>
          <p:cNvPr id="15" name="LabelExamples"/>
          <p:cNvSpPr/>
          <p:nvPr/>
        </p:nvSpPr>
        <p:spPr>
          <a:xfrm>
            <a:off x="274320" y="178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Examples</a:t>
            </a:r>
          </a:p>
        </p:txBody>
      </p:sp>
      <p:sp>
        <p:nvSpPr>
          <p:cNvPr id="16" name="ExPanel"/>
          <p:cNvSpPr/>
          <p:nvPr/>
        </p:nvSpPr>
        <p:spPr>
          <a:xfrm>
            <a:off x="274320" y="2110000"/>
            <a:ext cx="4250000" cy="1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ExText"/>
          <p:cNvSpPr/>
          <p:nvPr/>
        </p:nvSpPr>
        <p:spPr>
          <a:xfrm>
            <a:off x="474320" y="2210000"/>
            <a:ext cx="38500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open("data.txt", "r")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open("data.txt", "w")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open("image.jpg", "rb")</a:t>
            </a:r>
          </a:p>
        </p:txBody>
      </p:sp>
      <p:sp>
        <p:nvSpPr>
          <p:cNvPr id="18" name="LabelModes"/>
          <p:cNvSpPr/>
          <p:nvPr/>
        </p:nvSpPr>
        <p:spPr>
          <a:xfrm>
            <a:off x="4660000" y="64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File Modes</a:t>
            </a:r>
          </a:p>
        </p:txBody>
      </p:sp>
      <p:graphicFrame>
        <p:nvGraphicFramePr>
          <p:cNvPr id="19" name="ModesTable"/>
          <p:cNvGraphicFramePr/>
          <p:nvPr/>
        </p:nvGraphicFramePr>
        <p:xfrm>
          <a:off x="4660000" y="970000"/>
          <a:ext cx="4209680" cy="3600000"/>
        </p:xfrm>
        <a:graphic>
          <a:graphicData uri="http://schemas.openxmlformats.org/drawingml/2006/table">
            <a:tbl>
              <a:tblPr firstRow="1" bandRow="1"/>
              <a:tblGrid>
                <a:gridCol w="1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73152" marR="73152" marT="9144" marB="9144" anchor="ctr"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marT="9144" marB="9144" anchor="ctr">
                    <a:solidFill>
                      <a:srgbClr val="1A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w</a:t>
                      </a:r>
                    </a:p>
                  </a:txBody>
                  <a:tcPr marL="73152" marR="73152" marT="9144" marB="9144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Write (overwrite)</a:t>
                      </a:r>
                    </a:p>
                  </a:txBody>
                  <a:tcPr marL="73152" marR="73152" marT="9144" marB="9144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a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Append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x</a:t>
                      </a:r>
                    </a:p>
                  </a:txBody>
                  <a:tcPr marL="73152" marR="73152" marT="9144" marB="9144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Create new file</a:t>
                      </a:r>
                    </a:p>
                  </a:txBody>
                  <a:tcPr marL="73152" marR="73152" marT="9144" marB="9144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r+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Read and Write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w+</a:t>
                      </a:r>
                    </a:p>
                  </a:txBody>
                  <a:tcPr marL="73152" marR="73152" marT="9144" marB="9144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Write and Read</a:t>
                      </a:r>
                    </a:p>
                  </a:txBody>
                  <a:tcPr marL="73152" marR="73152" marT="9144" marB="9144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a+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Append and Read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rb</a:t>
                      </a:r>
                    </a:p>
                  </a:txBody>
                  <a:tcPr marL="73152" marR="73152" marT="9144" marB="9144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Read Binary</a:t>
                      </a:r>
                    </a:p>
                  </a:txBody>
                  <a:tcPr marL="73152" marR="73152" marT="9144" marB="9144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wb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Write Binary</a:t>
                      </a:r>
                    </a:p>
                  </a:txBody>
                  <a:tcPr marL="73152" marR="73152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Reading Files</a:t>
            </a:r>
          </a:p>
        </p:txBody>
      </p:sp>
      <p:sp>
        <p:nvSpPr>
          <p:cNvPr id="12" name="Intro"/>
          <p:cNvSpPr/>
          <p:nvPr/>
        </p:nvSpPr>
        <p:spPr>
          <a:xfrm>
            <a:off x="274320" y="600000"/>
            <a:ext cx="859536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Python provides several methods to read data from a file depending on the requirement.</a:t>
            </a:r>
          </a:p>
        </p:txBody>
      </p:sp>
      <p:sp>
        <p:nvSpPr>
          <p:cNvPr id="13" name="Panel1"/>
          <p:cNvSpPr/>
          <p:nvPr/>
        </p:nvSpPr>
        <p:spPr>
          <a:xfrm>
            <a:off x="274320" y="1000000"/>
            <a:ext cx="4250000" cy="770000"/>
          </a:xfrm>
          <a:prstGeom prst="roundRect">
            <a:avLst>
              <a:gd name="adj" fmla="val 6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Text1"/>
          <p:cNvSpPr/>
          <p:nvPr/>
        </p:nvSpPr>
        <p:spPr>
          <a:xfrm>
            <a:off x="474320" y="1060000"/>
            <a:ext cx="38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>
                <a:solidFill>
                  <a:srgbClr val="00B4D8"/>
                </a:solidFill>
                <a:latin typeface="Courier New"/>
                <a:cs typeface="Courier New"/>
              </a:rPr>
              <a:t>read()</a:t>
            </a:r>
            <a:r>
              <a:rPr lang="en-US" sz="100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 Reads the entire file content as a single string.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cs typeface="Courier New"/>
              </a:rPr>
              <a:t>file = open("data.txt", "r")</a:t>
            </a:r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cs typeface="Courier New"/>
              </a:rPr>
              <a:t>print(file.read())</a:t>
            </a:r>
          </a:p>
        </p:txBody>
      </p:sp>
      <p:sp>
        <p:nvSpPr>
          <p:cNvPr id="15" name="Panel2"/>
          <p:cNvSpPr/>
          <p:nvPr/>
        </p:nvSpPr>
        <p:spPr>
          <a:xfrm>
            <a:off x="274320" y="1810000"/>
            <a:ext cx="4250000" cy="770000"/>
          </a:xfrm>
          <a:prstGeom prst="roundRect">
            <a:avLst>
              <a:gd name="adj" fmla="val 6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2"/>
          <p:cNvSpPr/>
          <p:nvPr/>
        </p:nvSpPr>
        <p:spPr>
          <a:xfrm>
            <a:off x="474320" y="1870000"/>
            <a:ext cx="38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>
                <a:solidFill>
                  <a:srgbClr val="F77F00"/>
                </a:solidFill>
                <a:latin typeface="Courier New"/>
                <a:cs typeface="Courier New"/>
              </a:rPr>
              <a:t>read(size)</a:t>
            </a:r>
            <a:r>
              <a:rPr lang="en-US" sz="100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 Reads a specified number of characters.</a:t>
            </a:r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cs typeface="Courier New"/>
              </a:rPr>
              <a:t>print(file.read(10))</a:t>
            </a:r>
          </a:p>
        </p:txBody>
      </p:sp>
      <p:sp>
        <p:nvSpPr>
          <p:cNvPr id="17" name="Panel3"/>
          <p:cNvSpPr/>
          <p:nvPr/>
        </p:nvSpPr>
        <p:spPr>
          <a:xfrm>
            <a:off x="274320" y="2620000"/>
            <a:ext cx="4250000" cy="770000"/>
          </a:xfrm>
          <a:prstGeom prst="roundRect">
            <a:avLst>
              <a:gd name="adj" fmla="val 6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3"/>
          <p:cNvSpPr/>
          <p:nvPr/>
        </p:nvSpPr>
        <p:spPr>
          <a:xfrm>
            <a:off x="474320" y="2680000"/>
            <a:ext cx="38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>
                <a:solidFill>
                  <a:srgbClr val="00B4D8"/>
                </a:solidFill>
                <a:latin typeface="Courier New"/>
                <a:cs typeface="Courier New"/>
              </a:rPr>
              <a:t>readline()</a:t>
            </a:r>
            <a:r>
              <a:rPr lang="en-US" sz="100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 Reads one line at a time from the file.</a:t>
            </a:r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cs typeface="Courier New"/>
              </a:rPr>
              <a:t>print(file.readline())</a:t>
            </a:r>
          </a:p>
        </p:txBody>
      </p:sp>
      <p:sp>
        <p:nvSpPr>
          <p:cNvPr id="19" name="Panel4"/>
          <p:cNvSpPr/>
          <p:nvPr/>
        </p:nvSpPr>
        <p:spPr>
          <a:xfrm>
            <a:off x="274320" y="3430000"/>
            <a:ext cx="4250000" cy="770000"/>
          </a:xfrm>
          <a:prstGeom prst="roundRect">
            <a:avLst>
              <a:gd name="adj" fmla="val 6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Text4"/>
          <p:cNvSpPr/>
          <p:nvPr/>
        </p:nvSpPr>
        <p:spPr>
          <a:xfrm>
            <a:off x="474320" y="3490000"/>
            <a:ext cx="38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b="1">
                <a:solidFill>
                  <a:srgbClr val="F77F00"/>
                </a:solidFill>
                <a:latin typeface="Courier New"/>
                <a:cs typeface="Courier New"/>
              </a:rPr>
              <a:t>readlines()</a:t>
            </a:r>
            <a:r>
              <a:rPr lang="en-US" sz="100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 Reads all lines and returns them as a list.</a:t>
            </a:r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cs typeface="Courier New"/>
              </a:rPr>
              <a:t>print(file.readlines())</a:t>
            </a:r>
          </a:p>
        </p:txBody>
      </p:sp>
      <p:sp>
        <p:nvSpPr>
          <p:cNvPr id="21" name="TableLabel"/>
          <p:cNvSpPr/>
          <p:nvPr/>
        </p:nvSpPr>
        <p:spPr>
          <a:xfrm>
            <a:off x="4660000" y="100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Method Reference</a:t>
            </a:r>
          </a:p>
        </p:txBody>
      </p:sp>
      <p:graphicFrame>
        <p:nvGraphicFramePr>
          <p:cNvPr id="22" name="ReadTable"/>
          <p:cNvGraphicFramePr/>
          <p:nvPr/>
        </p:nvGraphicFramePr>
        <p:xfrm>
          <a:off x="4660000" y="1360000"/>
          <a:ext cx="4209680" cy="1800000"/>
        </p:xfrm>
        <a:graphic>
          <a:graphicData uri="http://schemas.openxmlformats.org/drawingml/2006/table">
            <a:tbl>
              <a:tblPr firstRow="1" bandRow="1"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18288" marB="18288" anchor="ctr"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T="18288" marB="18288" anchor="ctr">
                    <a:solidFill>
                      <a:srgbClr val="1A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read()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Reads the entire file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read(size)</a:t>
                      </a:r>
                    </a:p>
                  </a:txBody>
                  <a:tcPr marT="18288" marB="18288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Reads a specific number of characters</a:t>
                      </a:r>
                    </a:p>
                  </a:txBody>
                  <a:tcPr marT="18288" marB="18288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readline()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Reads a single line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readlines()</a:t>
                      </a:r>
                    </a:p>
                  </a:txBody>
                  <a:tcPr marT="18288" marB="18288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A2A3A"/>
                          </a:solidFill>
                          <a:latin typeface="Calibri"/>
                        </a:rPr>
                        <a:t>Reads all lines into a list</a:t>
                      </a:r>
                    </a:p>
                  </a:txBody>
                  <a:tcPr marT="18288" marB="18288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SummaryCard"/>
          <p:cNvSpPr/>
          <p:nvPr/>
        </p:nvSpPr>
        <p:spPr>
          <a:xfrm>
            <a:off x="4660000" y="3340000"/>
            <a:ext cx="4209680" cy="8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ummaryText"/>
          <p:cNvSpPr/>
          <p:nvPr/>
        </p:nvSpPr>
        <p:spPr>
          <a:xfrm>
            <a:off x="4880000" y="3400000"/>
            <a:ext cx="3769680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Different reading methods let us efficiently process small files, large files, or line-by-line data depending on the application's requirements.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Writing and Appending Files</a:t>
            </a:r>
          </a:p>
        </p:txBody>
      </p:sp>
      <p:sp>
        <p:nvSpPr>
          <p:cNvPr id="12" name="LabelWriting"/>
          <p:cNvSpPr/>
          <p:nvPr/>
        </p:nvSpPr>
        <p:spPr>
          <a:xfrm>
            <a:off x="274320" y="64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Writing</a:t>
            </a:r>
          </a:p>
        </p:txBody>
      </p:sp>
      <p:sp>
        <p:nvSpPr>
          <p:cNvPr id="13" name="WritePanel"/>
          <p:cNvSpPr/>
          <p:nvPr/>
        </p:nvSpPr>
        <p:spPr>
          <a:xfrm>
            <a:off x="274320" y="970000"/>
            <a:ext cx="4250000" cy="13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WriteCode"/>
          <p:cNvSpPr/>
          <p:nvPr/>
        </p:nvSpPr>
        <p:spPr>
          <a:xfrm>
            <a:off x="474320" y="1070000"/>
            <a:ext cx="385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file = open("data.txt", "w")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file.write("Hello Python")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file.close()</a:t>
            </a:r>
          </a:p>
        </p:txBody>
      </p:sp>
      <p:sp>
        <p:nvSpPr>
          <p:cNvPr id="15" name="LabelMulti"/>
          <p:cNvSpPr/>
          <p:nvPr/>
        </p:nvSpPr>
        <p:spPr>
          <a:xfrm>
            <a:off x="274320" y="240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Writing Multiple Lines</a:t>
            </a:r>
          </a:p>
        </p:txBody>
      </p:sp>
      <p:sp>
        <p:nvSpPr>
          <p:cNvPr id="16" name="MultiPanel"/>
          <p:cNvSpPr/>
          <p:nvPr/>
        </p:nvSpPr>
        <p:spPr>
          <a:xfrm>
            <a:off x="274320" y="2730000"/>
            <a:ext cx="4250000" cy="1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MultiCode"/>
          <p:cNvSpPr/>
          <p:nvPr/>
        </p:nvSpPr>
        <p:spPr>
          <a:xfrm>
            <a:off x="474320" y="2830000"/>
            <a:ext cx="38500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file.writelines([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   "Python\n",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   "Java\n"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])</a:t>
            </a:r>
          </a:p>
        </p:txBody>
      </p:sp>
      <p:sp>
        <p:nvSpPr>
          <p:cNvPr id="18" name="LabelAppend"/>
          <p:cNvSpPr/>
          <p:nvPr/>
        </p:nvSpPr>
        <p:spPr>
          <a:xfrm>
            <a:off x="4660000" y="64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Appending</a:t>
            </a:r>
          </a:p>
        </p:txBody>
      </p:sp>
      <p:sp>
        <p:nvSpPr>
          <p:cNvPr id="19" name="AppendPanel"/>
          <p:cNvSpPr/>
          <p:nvPr/>
        </p:nvSpPr>
        <p:spPr>
          <a:xfrm>
            <a:off x="4660000" y="970000"/>
            <a:ext cx="4209680" cy="11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AppendCode"/>
          <p:cNvSpPr/>
          <p:nvPr/>
        </p:nvSpPr>
        <p:spPr>
          <a:xfrm>
            <a:off x="4860000" y="1070000"/>
            <a:ext cx="380968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file = open("data.txt", "a")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file.write("\nNew Line")</a:t>
            </a:r>
          </a:p>
        </p:txBody>
      </p:sp>
      <p:sp>
        <p:nvSpPr>
          <p:cNvPr id="21" name="NoteCard"/>
          <p:cNvSpPr/>
          <p:nvPr/>
        </p:nvSpPr>
        <p:spPr>
          <a:xfrm>
            <a:off x="4660000" y="2730000"/>
            <a:ext cx="4209680" cy="16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NoteText"/>
          <p:cNvSpPr/>
          <p:nvPr/>
        </p:nvSpPr>
        <p:spPr>
          <a:xfrm>
            <a:off x="4920000" y="2830000"/>
            <a:ext cx="368968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ourier New"/>
                <a:cs typeface="Courier New"/>
              </a:rPr>
              <a:t>w</a:t>
            </a: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replaces contents, while </a:t>
            </a:r>
            <a:r>
              <a:rPr lang="en-US" sz="1500" b="1">
                <a:solidFill>
                  <a:srgbClr val="F77F00"/>
                </a:solidFill>
                <a:latin typeface="Courier New"/>
                <a:cs typeface="Courier New"/>
              </a:rPr>
              <a:t>a</a:t>
            </a:r>
            <a:r>
              <a:rPr lang="en-US" sz="15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adds to existing data.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with Statement and File Methods</a:t>
            </a:r>
          </a:p>
        </p:txBody>
      </p:sp>
      <p:sp>
        <p:nvSpPr>
          <p:cNvPr id="12" name="LabelWith"/>
          <p:cNvSpPr/>
          <p:nvPr/>
        </p:nvSpPr>
        <p:spPr>
          <a:xfrm>
            <a:off x="274320" y="600000"/>
            <a:ext cx="425000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The with Statement</a:t>
            </a:r>
          </a:p>
        </p:txBody>
      </p:sp>
      <p:sp>
        <p:nvSpPr>
          <p:cNvPr id="13" name="WithDesc"/>
          <p:cNvSpPr/>
          <p:nvPr/>
        </p:nvSpPr>
        <p:spPr>
          <a:xfrm>
            <a:off x="274320" y="900000"/>
            <a:ext cx="4250000" cy="4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Automatically closes the file after the block finishes execution, even if an error occurs.</a:t>
            </a:r>
          </a:p>
        </p:txBody>
      </p:sp>
      <p:sp>
        <p:nvSpPr>
          <p:cNvPr id="14" name="WithPanel"/>
          <p:cNvSpPr/>
          <p:nvPr/>
        </p:nvSpPr>
        <p:spPr>
          <a:xfrm>
            <a:off x="274320" y="1400000"/>
            <a:ext cx="4250000" cy="560000"/>
          </a:xfrm>
          <a:prstGeom prst="roundRect">
            <a:avLst>
              <a:gd name="adj" fmla="val 6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WithCode"/>
          <p:cNvSpPr/>
          <p:nvPr/>
        </p:nvSpPr>
        <p:spPr>
          <a:xfrm>
            <a:off x="474320" y="1400000"/>
            <a:ext cx="38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cs typeface="Courier New"/>
              </a:rPr>
              <a:t>with open("data.txt", "r") as file:</a:t>
            </a:r>
          </a:p>
          <a:p>
            <a:pPr marL="0" indent="0">
              <a:buNone/>
            </a:pPr>
            <a:r>
              <a:rPr lang="en-US" sz="1050">
                <a:solidFill>
                  <a:srgbClr val="E6EDF3"/>
                </a:solidFill>
                <a:latin typeface="Courier New"/>
                <a:cs typeface="Courier New"/>
              </a:rPr>
              <a:t>    print(file.read())</a:t>
            </a:r>
          </a:p>
        </p:txBody>
      </p:sp>
      <p:sp>
        <p:nvSpPr>
          <p:cNvPr id="16" name="NoteCard"/>
          <p:cNvSpPr/>
          <p:nvPr/>
        </p:nvSpPr>
        <p:spPr>
          <a:xfrm>
            <a:off x="274320" y="2000000"/>
            <a:ext cx="4250000" cy="7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NoteText"/>
          <p:cNvSpPr/>
          <p:nvPr/>
        </p:nvSpPr>
        <p:spPr>
          <a:xfrm>
            <a:off x="474320" y="2000000"/>
            <a:ext cx="385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Using </a:t>
            </a:r>
            <a:r>
              <a:rPr lang="en-US" sz="1100" b="1">
                <a:solidFill>
                  <a:srgbClr val="F77F00"/>
                </a:solidFill>
                <a:latin typeface="Courier New"/>
                <a:cs typeface="Courier New"/>
              </a:rPr>
              <a:t>with</a:t>
            </a:r>
            <a:r>
              <a:rPr lang="en-US" sz="11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makes file handling safer and cleaner, and removes the need to explicitly call </a:t>
            </a:r>
            <a:r>
              <a:rPr lang="en-US" sz="1100" b="1">
                <a:solidFill>
                  <a:srgbClr val="F77F00"/>
                </a:solidFill>
                <a:latin typeface="Courier New"/>
                <a:cs typeface="Courier New"/>
              </a:rPr>
              <a:t>close()</a:t>
            </a:r>
            <a:r>
              <a:rPr lang="en-US" sz="11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8" name="LabelMethods"/>
          <p:cNvSpPr/>
          <p:nvPr/>
        </p:nvSpPr>
        <p:spPr>
          <a:xfrm>
            <a:off x="4660000" y="600000"/>
            <a:ext cx="4209680" cy="2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File Methods</a:t>
            </a:r>
          </a:p>
        </p:txBody>
      </p:sp>
      <p:sp>
        <p:nvSpPr>
          <p:cNvPr id="19" name="Card1"/>
          <p:cNvSpPr/>
          <p:nvPr/>
        </p:nvSpPr>
        <p:spPr>
          <a:xfrm>
            <a:off x="4660000" y="900000"/>
            <a:ext cx="4209680" cy="440000"/>
          </a:xfrm>
          <a:prstGeom prst="roundRect">
            <a:avLst>
              <a:gd name="adj" fmla="val 8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Card1Text"/>
          <p:cNvSpPr/>
          <p:nvPr/>
        </p:nvSpPr>
        <p:spPr>
          <a:xfrm>
            <a:off x="4860000" y="900000"/>
            <a:ext cx="380968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>
                <a:solidFill>
                  <a:srgbClr val="00B4D8"/>
                </a:solidFill>
                <a:latin typeface="Courier New"/>
                <a:cs typeface="Courier New"/>
              </a:rPr>
              <a:t>tell()</a:t>
            </a:r>
            <a:r>
              <a:rPr lang="en-US" sz="100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 Returns the current pointer position.</a:t>
            </a:r>
          </a:p>
          <a:p>
            <a:pPr marL="0" indent="0"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print(file.tell())</a:t>
            </a:r>
          </a:p>
        </p:txBody>
      </p:sp>
      <p:sp>
        <p:nvSpPr>
          <p:cNvPr id="21" name="Card2"/>
          <p:cNvSpPr/>
          <p:nvPr/>
        </p:nvSpPr>
        <p:spPr>
          <a:xfrm>
            <a:off x="4660000" y="1370000"/>
            <a:ext cx="4209680" cy="440000"/>
          </a:xfrm>
          <a:prstGeom prst="roundRect">
            <a:avLst>
              <a:gd name="adj" fmla="val 8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2" name="Card2Text"/>
          <p:cNvSpPr/>
          <p:nvPr/>
        </p:nvSpPr>
        <p:spPr>
          <a:xfrm>
            <a:off x="4860000" y="1370000"/>
            <a:ext cx="380968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>
                <a:solidFill>
                  <a:srgbClr val="F77F00"/>
                </a:solidFill>
                <a:latin typeface="Courier New"/>
                <a:cs typeface="Courier New"/>
              </a:rPr>
              <a:t>seek(position)</a:t>
            </a:r>
            <a:r>
              <a:rPr lang="en-US" sz="100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 Moves the pointer to a position.</a:t>
            </a:r>
          </a:p>
          <a:p>
            <a:pPr marL="0" indent="0"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file.seek(0)</a:t>
            </a:r>
          </a:p>
        </p:txBody>
      </p:sp>
      <p:sp>
        <p:nvSpPr>
          <p:cNvPr id="23" name="Card3"/>
          <p:cNvSpPr/>
          <p:nvPr/>
        </p:nvSpPr>
        <p:spPr>
          <a:xfrm>
            <a:off x="4660000" y="1840000"/>
            <a:ext cx="4209680" cy="440000"/>
          </a:xfrm>
          <a:prstGeom prst="roundRect">
            <a:avLst>
              <a:gd name="adj" fmla="val 8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4" name="Card3Text"/>
          <p:cNvSpPr/>
          <p:nvPr/>
        </p:nvSpPr>
        <p:spPr>
          <a:xfrm>
            <a:off x="4860000" y="1840000"/>
            <a:ext cx="380968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>
                <a:solidFill>
                  <a:srgbClr val="00B4D8"/>
                </a:solidFill>
                <a:latin typeface="Courier New"/>
                <a:cs typeface="Courier New"/>
              </a:rPr>
              <a:t>flush()</a:t>
            </a:r>
            <a:r>
              <a:rPr lang="en-US" sz="100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 Writes buffered data immediately.</a:t>
            </a:r>
          </a:p>
          <a:p>
            <a:pPr marL="0" indent="0"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file.flush()</a:t>
            </a:r>
          </a:p>
        </p:txBody>
      </p:sp>
      <p:sp>
        <p:nvSpPr>
          <p:cNvPr id="25" name="Card4"/>
          <p:cNvSpPr/>
          <p:nvPr/>
        </p:nvSpPr>
        <p:spPr>
          <a:xfrm>
            <a:off x="4660000" y="2310000"/>
            <a:ext cx="4209680" cy="440000"/>
          </a:xfrm>
          <a:prstGeom prst="roundRect">
            <a:avLst>
              <a:gd name="adj" fmla="val 8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6" name="Card4Text"/>
          <p:cNvSpPr/>
          <p:nvPr/>
        </p:nvSpPr>
        <p:spPr>
          <a:xfrm>
            <a:off x="4860000" y="2310000"/>
            <a:ext cx="380968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>
                <a:solidFill>
                  <a:srgbClr val="F77F00"/>
                </a:solidFill>
                <a:latin typeface="Courier New"/>
                <a:cs typeface="Courier New"/>
              </a:rPr>
              <a:t>close()</a:t>
            </a:r>
            <a:r>
              <a:rPr lang="en-US" sz="100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 Closes the file and frees resources.</a:t>
            </a:r>
          </a:p>
          <a:p>
            <a:pPr marL="0" indent="0"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file.close()</a:t>
            </a:r>
          </a:p>
        </p:txBody>
      </p:sp>
      <p:sp>
        <p:nvSpPr>
          <p:cNvPr id="27" name="TableLabel"/>
          <p:cNvSpPr/>
          <p:nvPr/>
        </p:nvSpPr>
        <p:spPr>
          <a:xfrm>
            <a:off x="274320" y="2820000"/>
            <a:ext cx="425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Method Reference</a:t>
            </a:r>
          </a:p>
        </p:txBody>
      </p:sp>
      <p:graphicFrame>
        <p:nvGraphicFramePr>
          <p:cNvPr id="28" name="MethodTable"/>
          <p:cNvGraphicFramePr/>
          <p:nvPr/>
        </p:nvGraphicFramePr>
        <p:xfrm>
          <a:off x="274320" y="3140000"/>
          <a:ext cx="4250000" cy="1640000"/>
        </p:xfrm>
        <a:graphic>
          <a:graphicData uri="http://schemas.openxmlformats.org/drawingml/2006/table">
            <a:tbl>
              <a:tblPr firstRow="1" bandRow="1"/>
              <a:tblGrid>
                <a:gridCol w="1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18288" marB="18288" anchor="ctr"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T="18288" marB="18288" anchor="ctr">
                    <a:solidFill>
                      <a:srgbClr val="1A2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tell()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A2A3A"/>
                          </a:solidFill>
                          <a:latin typeface="Calibri"/>
                        </a:rPr>
                        <a:t>Returns current cursor position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seek()</a:t>
                      </a:r>
                    </a:p>
                  </a:txBody>
                  <a:tcPr marT="18288" marB="18288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A2A3A"/>
                          </a:solidFill>
                          <a:latin typeface="Calibri"/>
                        </a:rPr>
                        <a:t>Moves the file pointer</a:t>
                      </a:r>
                    </a:p>
                  </a:txBody>
                  <a:tcPr marT="18288" marB="18288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flush()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A2A3A"/>
                          </a:solidFill>
                          <a:latin typeface="Calibri"/>
                        </a:rPr>
                        <a:t>Writes buffered data to the file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00B4D8"/>
                          </a:solidFill>
                          <a:latin typeface="Courier New"/>
                          <a:cs typeface="Courier New"/>
                        </a:rPr>
                        <a:t>close()</a:t>
                      </a:r>
                    </a:p>
                  </a:txBody>
                  <a:tcPr marT="18288" marB="18288" anchor="ctr">
                    <a:solidFill>
                      <a:srgbClr val="EB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>
                          <a:solidFill>
                            <a:srgbClr val="1A2A3A"/>
                          </a:solidFill>
                          <a:latin typeface="Calibri"/>
                        </a:rPr>
                        <a:t>Closes the file</a:t>
                      </a:r>
                    </a:p>
                  </a:txBody>
                  <a:tcPr marT="18288" marB="18288" anchor="ctr">
                    <a:solidFill>
                      <a:srgbClr val="E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SummaryCard"/>
          <p:cNvSpPr/>
          <p:nvPr/>
        </p:nvSpPr>
        <p:spPr>
          <a:xfrm>
            <a:off x="4660000" y="2820000"/>
            <a:ext cx="4209680" cy="16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ummaryText"/>
          <p:cNvSpPr/>
          <p:nvPr/>
        </p:nvSpPr>
        <p:spPr>
          <a:xfrm>
            <a:off x="4880000" y="2820000"/>
            <a:ext cx="3769680" cy="1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File methods help control the file pointer, manage data buffering, and ensure files are handled safely and efficiently.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 Properties and Exception Handling</a:t>
            </a:r>
          </a:p>
        </p:txBody>
      </p:sp>
      <p:sp>
        <p:nvSpPr>
          <p:cNvPr id="12" name="LabelProps"/>
          <p:cNvSpPr/>
          <p:nvPr/>
        </p:nvSpPr>
        <p:spPr>
          <a:xfrm>
            <a:off x="274320" y="64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File Properties</a:t>
            </a:r>
          </a:p>
        </p:txBody>
      </p:sp>
      <p:sp>
        <p:nvSpPr>
          <p:cNvPr id="13" name="PropsPanel"/>
          <p:cNvSpPr/>
          <p:nvPr/>
        </p:nvSpPr>
        <p:spPr>
          <a:xfrm>
            <a:off x="274320" y="970000"/>
            <a:ext cx="4250000" cy="135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PropsCode"/>
          <p:cNvSpPr/>
          <p:nvPr/>
        </p:nvSpPr>
        <p:spPr>
          <a:xfrm>
            <a:off x="474320" y="1070000"/>
            <a:ext cx="385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print(file.name)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print(file.mode)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print(file.closed)</a:t>
            </a:r>
          </a:p>
        </p:txBody>
      </p:sp>
      <p:sp>
        <p:nvSpPr>
          <p:cNvPr id="15" name="LabelErrors"/>
          <p:cNvSpPr/>
          <p:nvPr/>
        </p:nvSpPr>
        <p:spPr>
          <a:xfrm>
            <a:off x="274320" y="252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Common Errors</a:t>
            </a:r>
          </a:p>
        </p:txBody>
      </p:sp>
      <p:sp>
        <p:nvSpPr>
          <p:cNvPr id="16" name="ErrorsCard"/>
          <p:cNvSpPr/>
          <p:nvPr/>
        </p:nvSpPr>
        <p:spPr>
          <a:xfrm>
            <a:off x="274320" y="2850000"/>
            <a:ext cx="4250000" cy="148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ErrorsText"/>
          <p:cNvSpPr/>
          <p:nvPr/>
        </p:nvSpPr>
        <p:spPr>
          <a:xfrm>
            <a:off x="494320" y="2950000"/>
            <a:ext cx="3810000" cy="1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>
                <a:solidFill>
                  <a:srgbClr val="1A2A3A"/>
                </a:solidFill>
                <a:latin typeface="Courier New"/>
                <a:cs typeface="Courier New"/>
              </a:rPr>
              <a:t>FileNotFoundError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300" b="1">
                <a:solidFill>
                  <a:srgbClr val="1A2A3A"/>
                </a:solidFill>
                <a:latin typeface="Courier New"/>
                <a:cs typeface="Courier New"/>
              </a:rPr>
              <a:t>PermissionError</a:t>
            </a:r>
          </a:p>
          <a:p>
            <a:pPr marL="0" indent="0">
              <a:buNone/>
            </a:pPr>
            <a:r>
              <a:rPr lang="en-US" sz="1300" b="1">
                <a:solidFill>
                  <a:srgbClr val="1A2A3A"/>
                </a:solidFill>
                <a:latin typeface="Courier New"/>
                <a:cs typeface="Courier New"/>
              </a:rPr>
              <a:t>IOError</a:t>
            </a:r>
          </a:p>
        </p:txBody>
      </p:sp>
      <p:sp>
        <p:nvSpPr>
          <p:cNvPr id="18" name="LabelExc"/>
          <p:cNvSpPr/>
          <p:nvPr/>
        </p:nvSpPr>
        <p:spPr>
          <a:xfrm>
            <a:off x="4660000" y="64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Exception Handling</a:t>
            </a:r>
          </a:p>
        </p:txBody>
      </p:sp>
      <p:sp>
        <p:nvSpPr>
          <p:cNvPr id="19" name="ExcPanel"/>
          <p:cNvSpPr/>
          <p:nvPr/>
        </p:nvSpPr>
        <p:spPr>
          <a:xfrm>
            <a:off x="4660000" y="970000"/>
            <a:ext cx="4209680" cy="3360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ExcCode"/>
          <p:cNvSpPr/>
          <p:nvPr/>
        </p:nvSpPr>
        <p:spPr>
          <a:xfrm>
            <a:off x="4860000" y="1110000"/>
            <a:ext cx="3809680" cy="3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try: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   file = open("abc.txt", "r")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except FileNotFoundError: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   print("File not found")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Handling — Reading &amp; Writing Files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292608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777240"/>
            <a:ext cx="2560320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  File Modes</a:t>
            </a:r>
            <a:endParaRPr lang="en-US" sz="13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2651760" cy="411480"/>
          </a:xfrm>
          <a:prstGeom prst="roundRect">
            <a:avLst>
              <a:gd name="adj" fmla="val 8889"/>
            </a:avLst>
          </a:prstGeom>
          <a:solidFill>
            <a:srgbClr val="F0FAFF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17043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'r'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117043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(default)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1170432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must exist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673352"/>
            <a:ext cx="26517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67335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'w'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167335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03120" y="1673352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Creates/overwrites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176272"/>
            <a:ext cx="2651760" cy="411480"/>
          </a:xfrm>
          <a:prstGeom prst="roundRect">
            <a:avLst>
              <a:gd name="adj" fmla="val 8889"/>
            </a:avLst>
          </a:prstGeom>
          <a:solidFill>
            <a:srgbClr val="F0F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" y="217627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17627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03120" y="2176272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to end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79192"/>
            <a:ext cx="26517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" y="2679192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'r+'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26791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+ Write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2679192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must exist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3337560"/>
            <a:ext cx="2926080" cy="1371600"/>
          </a:xfrm>
          <a:prstGeom prst="roundRect">
            <a:avLst>
              <a:gd name="adj" fmla="val 4000"/>
            </a:avLst>
          </a:prstGeom>
          <a:solidFill>
            <a:srgbClr val="FFF8E7"/>
          </a:solidFill>
          <a:ln/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456432"/>
            <a:ext cx="292608" cy="2926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77240" y="34290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11480" y="374904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'with' block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'w' mode deletes existing content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file after opening (with does it auto)</a:t>
            </a:r>
            <a:endParaRPr lang="en-US" sz="1000" dirty="0"/>
          </a:p>
        </p:txBody>
      </p:sp>
      <p:pic>
        <p:nvPicPr>
          <p:cNvPr id="30" name="Picture 2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E92CCEB-F183-5C8C-23DB-C240DBA7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346" y="685798"/>
            <a:ext cx="3281350" cy="438150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Introduction to Exception Handling</a:t>
            </a:r>
          </a:p>
        </p:txBody>
      </p:sp>
      <p:sp>
        <p:nvSpPr>
          <p:cNvPr id="12" name="Intro"/>
          <p:cNvSpPr/>
          <p:nvPr/>
        </p:nvSpPr>
        <p:spPr>
          <a:xfrm>
            <a:off x="274320" y="640000"/>
            <a:ext cx="859536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An exception is a runtime error that interrupts the normal flow of a program.</a:t>
            </a:r>
          </a:p>
        </p:txBody>
      </p:sp>
      <p:sp>
        <p:nvSpPr>
          <p:cNvPr id="13" name="LabelWhy"/>
          <p:cNvSpPr/>
          <p:nvPr/>
        </p:nvSpPr>
        <p:spPr>
          <a:xfrm>
            <a:off x="274320" y="10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Why Exception Handling?</a:t>
            </a:r>
          </a:p>
        </p:txBody>
      </p:sp>
      <p:sp>
        <p:nvSpPr>
          <p:cNvPr id="14" name="WhyCard"/>
          <p:cNvSpPr/>
          <p:nvPr/>
        </p:nvSpPr>
        <p:spPr>
          <a:xfrm>
            <a:off x="274320" y="1400000"/>
            <a:ext cx="4250000" cy="24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WhyText"/>
          <p:cNvSpPr/>
          <p:nvPr/>
        </p:nvSpPr>
        <p:spPr>
          <a:xfrm>
            <a:off x="534320" y="1500000"/>
            <a:ext cx="3730000" cy="2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Prevents program crashes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Handles errors gracefully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Improves program reliability</a:t>
            </a:r>
          </a:p>
          <a:p>
            <a:pPr marL="0" indent="0"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Provides meaningful error messages</a:t>
            </a:r>
          </a:p>
        </p:txBody>
      </p:sp>
      <p:sp>
        <p:nvSpPr>
          <p:cNvPr id="16" name="LabelEx"/>
          <p:cNvSpPr/>
          <p:nvPr/>
        </p:nvSpPr>
        <p:spPr>
          <a:xfrm>
            <a:off x="4660000" y="10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Example Without Exception Handling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400000"/>
            <a:ext cx="4209680" cy="15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500000"/>
            <a:ext cx="380968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num = int(input("Enter a number: "))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result = 10 / num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print(result)</a:t>
            </a:r>
          </a:p>
        </p:txBody>
      </p:sp>
      <p:sp>
        <p:nvSpPr>
          <p:cNvPr id="19" name="ExNote"/>
          <p:cNvSpPr/>
          <p:nvPr/>
        </p:nvSpPr>
        <p:spPr>
          <a:xfrm>
            <a:off x="4660000" y="3000000"/>
            <a:ext cx="4209680" cy="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ExNoteText"/>
          <p:cNvSpPr/>
          <p:nvPr/>
        </p:nvSpPr>
        <p:spPr>
          <a:xfrm>
            <a:off x="4880000" y="3000000"/>
            <a:ext cx="376968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If the user enters </a:t>
            </a:r>
            <a:r>
              <a:rPr lang="en-US" sz="1300" b="1">
                <a:solidFill>
                  <a:srgbClr val="F77F00"/>
                </a:solidFill>
                <a:latin typeface="Courier New"/>
                <a:cs typeface="Courier New"/>
              </a:rPr>
              <a:t>0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, the program crashes.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try and except Block</a:t>
            </a:r>
          </a:p>
        </p:txBody>
      </p:sp>
      <p:sp>
        <p:nvSpPr>
          <p:cNvPr id="13" name="LabelSyntax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Syntax</a:t>
            </a:r>
          </a:p>
        </p:txBody>
      </p:sp>
      <p:sp>
        <p:nvSpPr>
          <p:cNvPr id="14" name="SyntaxPanel"/>
          <p:cNvSpPr/>
          <p:nvPr/>
        </p:nvSpPr>
        <p:spPr>
          <a:xfrm>
            <a:off x="274320" y="1120000"/>
            <a:ext cx="4250000" cy="15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yntaxCode"/>
          <p:cNvSpPr/>
          <p:nvPr/>
        </p:nvSpPr>
        <p:spPr>
          <a:xfrm>
            <a:off x="514320" y="1220000"/>
            <a:ext cx="377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try: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9FB3C8"/>
                </a:solidFill>
                <a:latin typeface="Courier New"/>
                <a:cs typeface="Courier New"/>
              </a:rPr>
              <a:t>    # Risky code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except:</a:t>
            </a:r>
          </a:p>
          <a:p>
            <a:pPr marL="0" indent="0">
              <a:buNone/>
            </a:pPr>
            <a:r>
              <a:rPr lang="en-US" sz="1100">
                <a:solidFill>
                  <a:srgbClr val="9FB3C8"/>
                </a:solidFill>
                <a:latin typeface="Courier New"/>
                <a:cs typeface="Courier New"/>
              </a:rPr>
              <a:t>    # Error handling code</a:t>
            </a:r>
          </a:p>
        </p:txBody>
      </p:sp>
      <p:sp>
        <p:nvSpPr>
          <p:cNvPr id="16" name="LabelExample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Example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120000"/>
            <a:ext cx="4209680" cy="18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220000"/>
            <a:ext cx="380968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try:</a:t>
            </a: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num = int(input("Enter a number: "))</a:t>
            </a: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print(10 / num)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except:</a:t>
            </a:r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print("An error occurred.")</a:t>
            </a:r>
          </a:p>
        </p:txBody>
      </p:sp>
      <p:sp>
        <p:nvSpPr>
          <p:cNvPr id="19" name="NoteCard"/>
          <p:cNvSpPr/>
          <p:nvPr/>
        </p:nvSpPr>
        <p:spPr>
          <a:xfrm>
            <a:off x="274320" y="3120000"/>
            <a:ext cx="859536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NoteText"/>
          <p:cNvSpPr/>
          <p:nvPr/>
        </p:nvSpPr>
        <p:spPr>
          <a:xfrm>
            <a:off x="534320" y="3120000"/>
            <a:ext cx="807536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The </a:t>
            </a:r>
            <a:r>
              <a:rPr lang="en-US" sz="1300" b="1">
                <a:solidFill>
                  <a:srgbClr val="00B4D8"/>
                </a:solidFill>
                <a:latin typeface="Courier New"/>
                <a:cs typeface="Courier New"/>
              </a:rPr>
              <a:t>try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block contains code that may generate an exception, while the </a:t>
            </a:r>
            <a:r>
              <a:rPr lang="en-US" sz="1300" b="1">
                <a:solidFill>
                  <a:srgbClr val="F77F00"/>
                </a:solidFill>
                <a:latin typeface="Courier New"/>
                <a:cs typeface="Courier New"/>
              </a:rPr>
              <a:t>except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block handles the error.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Handling Specific Exceptions</a:t>
            </a:r>
          </a:p>
        </p:txBody>
      </p:sp>
      <p:sp>
        <p:nvSpPr>
          <p:cNvPr id="12" name="LabelExample"/>
          <p:cNvSpPr/>
          <p:nvPr/>
        </p:nvSpPr>
        <p:spPr>
          <a:xfrm>
            <a:off x="274320" y="760000"/>
            <a:ext cx="4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Example</a:t>
            </a:r>
          </a:p>
        </p:txBody>
      </p:sp>
      <p:sp>
        <p:nvSpPr>
          <p:cNvPr id="13" name="CodePanel"/>
          <p:cNvSpPr/>
          <p:nvPr/>
        </p:nvSpPr>
        <p:spPr>
          <a:xfrm>
            <a:off x="274320" y="1120000"/>
            <a:ext cx="4400000" cy="2700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CodeText"/>
          <p:cNvSpPr/>
          <p:nvPr/>
        </p:nvSpPr>
        <p:spPr>
          <a:xfrm>
            <a:off x="514320" y="1240000"/>
            <a:ext cx="3920000" cy="2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try:</a:t>
            </a:r>
          </a:p>
          <a:p>
            <a:pPr>
              <a:spcAft>
                <a:spcPts val="500"/>
              </a:spcAft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     num = int(input("Enter number: "))</a:t>
            </a:r>
          </a:p>
          <a:p>
            <a:pPr>
              <a:spcAft>
                <a:spcPts val="500"/>
              </a:spcAft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     result = 10 / num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except </a:t>
            </a:r>
            <a:r>
              <a:rPr lang="en-US" sz="1100">
                <a:solidFill>
                  <a:srgbClr val="FFD27F"/>
                </a:solidFill>
                <a:latin typeface="Courier New"/>
                <a:cs typeface="Courier New"/>
              </a:rPr>
              <a:t>ZeroDivisionError</a:t>
            </a: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:</a:t>
            </a:r>
          </a:p>
          <a:p>
            <a:pPr>
              <a:spcAft>
                <a:spcPts val="500"/>
              </a:spcAft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     print("Cannot divide by zero.")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except </a:t>
            </a:r>
            <a:r>
              <a:rPr lang="en-US" sz="1100">
                <a:solidFill>
                  <a:srgbClr val="FFD27F"/>
                </a:solidFill>
                <a:latin typeface="Courier New"/>
                <a:cs typeface="Courier New"/>
              </a:rPr>
              <a:t>ValueError</a:t>
            </a: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:</a:t>
            </a:r>
          </a:p>
          <a:p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     print("Invalid input.")</a:t>
            </a:r>
          </a:p>
        </p:txBody>
      </p:sp>
      <p:sp>
        <p:nvSpPr>
          <p:cNvPr id="15" name="LabelCommon"/>
          <p:cNvSpPr/>
          <p:nvPr/>
        </p:nvSpPr>
        <p:spPr>
          <a:xfrm>
            <a:off x="4860000" y="760000"/>
            <a:ext cx="40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Common Exceptions</a:t>
            </a:r>
          </a:p>
        </p:txBody>
      </p:sp>
      <p:sp>
        <p:nvSpPr>
          <p:cNvPr id="16" name="CommonCard"/>
          <p:cNvSpPr/>
          <p:nvPr/>
        </p:nvSpPr>
        <p:spPr>
          <a:xfrm>
            <a:off x="4860000" y="1120000"/>
            <a:ext cx="4009680" cy="2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CommonText"/>
          <p:cNvSpPr/>
          <p:nvPr/>
        </p:nvSpPr>
        <p:spPr>
          <a:xfrm>
            <a:off x="5120000" y="1260000"/>
            <a:ext cx="3489680" cy="2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00B4D8"/>
                </a:solidFill>
                <a:latin typeface="Courier New"/>
                <a:cs typeface="Courier New"/>
              </a:rPr>
              <a:t>•  ZeroDivisionError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00B4D8"/>
                </a:solidFill>
                <a:latin typeface="Courier New"/>
                <a:cs typeface="Courier New"/>
              </a:rPr>
              <a:t>•  ValueError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00B4D8"/>
                </a:solidFill>
                <a:latin typeface="Courier New"/>
                <a:cs typeface="Courier New"/>
              </a:rPr>
              <a:t>•  TypeError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00B4D8"/>
                </a:solidFill>
                <a:latin typeface="Courier New"/>
                <a:cs typeface="Courier New"/>
              </a:rPr>
              <a:t>•  IndexError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00B4D8"/>
                </a:solidFill>
                <a:latin typeface="Courier New"/>
                <a:cs typeface="Courier New"/>
              </a:rPr>
              <a:t>•  KeyError</a:t>
            </a:r>
          </a:p>
          <a:p>
            <a:pPr marL="0" indent="0">
              <a:buNone/>
            </a:pPr>
            <a:r>
              <a:rPr lang="en-US" sz="1400">
                <a:solidFill>
                  <a:srgbClr val="00B4D8"/>
                </a:solidFill>
                <a:latin typeface="Courier New"/>
                <a:cs typeface="Courier New"/>
              </a:rPr>
              <a:t>•  FileNotFoundError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Multiple Exceptions and Exception Objects</a:t>
            </a:r>
          </a:p>
        </p:txBody>
      </p:sp>
      <p:sp>
        <p:nvSpPr>
          <p:cNvPr id="12" name="LabelMulti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Multiple Exceptions</a:t>
            </a:r>
          </a:p>
        </p:txBody>
      </p:sp>
      <p:sp>
        <p:nvSpPr>
          <p:cNvPr id="13" name="MultiPanel"/>
          <p:cNvSpPr/>
          <p:nvPr/>
        </p:nvSpPr>
        <p:spPr>
          <a:xfrm>
            <a:off x="274320" y="1120000"/>
            <a:ext cx="4250000" cy="1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MultiCode"/>
          <p:cNvSpPr/>
          <p:nvPr/>
        </p:nvSpPr>
        <p:spPr>
          <a:xfrm>
            <a:off x="514320" y="1220000"/>
            <a:ext cx="37700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try:</a:t>
            </a: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value = int(input())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except (</a:t>
            </a:r>
            <a:r>
              <a:rPr lang="en-US" sz="1100" dirty="0" err="1">
                <a:solidFill>
                  <a:srgbClr val="FFD27F"/>
                </a:solidFill>
                <a:latin typeface="Courier New"/>
                <a:cs typeface="Courier New"/>
              </a:rPr>
              <a:t>ValueError</a:t>
            </a: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, </a:t>
            </a:r>
            <a:r>
              <a:rPr lang="en-US" sz="1100" dirty="0" err="1">
                <a:solidFill>
                  <a:srgbClr val="FFD27F"/>
                </a:solidFill>
                <a:latin typeface="Courier New"/>
                <a:cs typeface="Courier New"/>
              </a:rPr>
              <a:t>TypeError</a:t>
            </a: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):</a:t>
            </a:r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print("Invalid value.")</a:t>
            </a:r>
          </a:p>
        </p:txBody>
      </p:sp>
      <p:sp>
        <p:nvSpPr>
          <p:cNvPr id="15" name="LabelObj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Exception Object</a:t>
            </a:r>
          </a:p>
        </p:txBody>
      </p:sp>
      <p:sp>
        <p:nvSpPr>
          <p:cNvPr id="16" name="ObjPanel"/>
          <p:cNvSpPr/>
          <p:nvPr/>
        </p:nvSpPr>
        <p:spPr>
          <a:xfrm>
            <a:off x="4660000" y="1120000"/>
            <a:ext cx="4209680" cy="1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ObjCode"/>
          <p:cNvSpPr/>
          <p:nvPr/>
        </p:nvSpPr>
        <p:spPr>
          <a:xfrm>
            <a:off x="4860000" y="1220000"/>
            <a:ext cx="380968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try:</a:t>
            </a:r>
          </a:p>
          <a:p>
            <a:pPr>
              <a:spcAft>
                <a:spcPts val="500"/>
              </a:spcAft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     print(10 / 0)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FFD27F"/>
                </a:solidFill>
                <a:latin typeface="Courier New"/>
                <a:cs typeface="Courier New"/>
              </a:rPr>
              <a:t>except Exception as e:</a:t>
            </a:r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 print("Error:", e)</a:t>
            </a:r>
          </a:p>
        </p:txBody>
      </p:sp>
      <p:sp>
        <p:nvSpPr>
          <p:cNvPr id="18" name="NoteCard"/>
          <p:cNvSpPr/>
          <p:nvPr/>
        </p:nvSpPr>
        <p:spPr>
          <a:xfrm>
            <a:off x="274320" y="2980000"/>
            <a:ext cx="8595360" cy="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NoteText"/>
          <p:cNvSpPr/>
          <p:nvPr/>
        </p:nvSpPr>
        <p:spPr>
          <a:xfrm>
            <a:off x="534320" y="2980000"/>
            <a:ext cx="8075360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7F00"/>
                </a:solidFill>
                <a:latin typeface="Courier New"/>
                <a:cs typeface="Courier New"/>
              </a:rPr>
              <a:t>e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contains the actual error message.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else and finally Blocks</a:t>
            </a:r>
          </a:p>
        </p:txBody>
      </p:sp>
      <p:sp>
        <p:nvSpPr>
          <p:cNvPr id="12" name="ElseCard"/>
          <p:cNvSpPr/>
          <p:nvPr/>
        </p:nvSpPr>
        <p:spPr>
          <a:xfrm>
            <a:off x="274320" y="900000"/>
            <a:ext cx="4250000" cy="11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ElseText"/>
          <p:cNvSpPr/>
          <p:nvPr/>
        </p:nvSpPr>
        <p:spPr>
          <a:xfrm>
            <a:off x="534320" y="900000"/>
            <a:ext cx="3730000" cy="1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>
                <a:solidFill>
                  <a:srgbClr val="00B4D8"/>
                </a:solidFill>
                <a:latin typeface="Courier New"/>
                <a:cs typeface="Courier New"/>
              </a:rPr>
              <a:t>else</a:t>
            </a:r>
          </a:p>
          <a:p>
            <a:pPr marL="0" indent="0">
              <a:buNone/>
            </a:pP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Executes if no exception occurs.</a:t>
            </a:r>
          </a:p>
        </p:txBody>
      </p:sp>
      <p:sp>
        <p:nvSpPr>
          <p:cNvPr id="14" name="FinallyCard"/>
          <p:cNvSpPr/>
          <p:nvPr/>
        </p:nvSpPr>
        <p:spPr>
          <a:xfrm>
            <a:off x="274320" y="2240000"/>
            <a:ext cx="4250000" cy="11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FinallyText"/>
          <p:cNvSpPr/>
          <p:nvPr/>
        </p:nvSpPr>
        <p:spPr>
          <a:xfrm>
            <a:off x="534320" y="2240000"/>
            <a:ext cx="3730000" cy="1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>
                <a:solidFill>
                  <a:srgbClr val="F77F00"/>
                </a:solidFill>
                <a:latin typeface="Courier New"/>
                <a:cs typeface="Courier New"/>
              </a:rPr>
              <a:t>finally</a:t>
            </a:r>
          </a:p>
          <a:p>
            <a:pPr marL="0" indent="0">
              <a:buNone/>
            </a:pP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Executes whether an exception occurs or not.</a:t>
            </a:r>
          </a:p>
        </p:txBody>
      </p:sp>
      <p:sp>
        <p:nvSpPr>
          <p:cNvPr id="16" name="CodePanel"/>
          <p:cNvSpPr/>
          <p:nvPr/>
        </p:nvSpPr>
        <p:spPr>
          <a:xfrm>
            <a:off x="4660000" y="900000"/>
            <a:ext cx="4209680" cy="2520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CodeText"/>
          <p:cNvSpPr/>
          <p:nvPr/>
        </p:nvSpPr>
        <p:spPr>
          <a:xfrm>
            <a:off x="4860000" y="1000000"/>
            <a:ext cx="3809680" cy="2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try:</a:t>
            </a:r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num = int(input())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except </a:t>
            </a:r>
            <a:r>
              <a:rPr lang="en-US" sz="1100" dirty="0" err="1">
                <a:solidFill>
                  <a:srgbClr val="FFD27F"/>
                </a:solidFill>
                <a:latin typeface="Courier New"/>
                <a:cs typeface="Courier New"/>
              </a:rPr>
              <a:t>ValueError</a:t>
            </a: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:</a:t>
            </a:r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print("Invalid input")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100">
                <a:solidFill>
                  <a:srgbClr val="00B4D8"/>
                </a:solidFill>
                <a:latin typeface="Courier New"/>
                <a:cs typeface="Courier New"/>
              </a:rPr>
              <a:t>else:</a:t>
            </a:r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print("Input accepted")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100">
                <a:solidFill>
                  <a:srgbClr val="F77F00"/>
                </a:solidFill>
                <a:latin typeface="Courier New"/>
                <a:cs typeface="Courier New"/>
              </a:rPr>
              <a:t>finally:</a:t>
            </a:r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print("Program finished")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Raising Exceptions</a:t>
            </a:r>
          </a:p>
        </p:txBody>
      </p:sp>
      <p:sp>
        <p:nvSpPr>
          <p:cNvPr id="12" name="Intro"/>
          <p:cNvSpPr/>
          <p:nvPr/>
        </p:nvSpPr>
        <p:spPr>
          <a:xfrm>
            <a:off x="274320" y="640000"/>
            <a:ext cx="859536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The </a:t>
            </a:r>
            <a:r>
              <a:rPr lang="en-US" sz="1400" b="1">
                <a:solidFill>
                  <a:srgbClr val="F77F00"/>
                </a:solidFill>
                <a:latin typeface="Courier New"/>
                <a:cs typeface="Courier New"/>
              </a:rPr>
              <a:t>raise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keyword generates exceptions manually.</a:t>
            </a:r>
          </a:p>
        </p:txBody>
      </p:sp>
      <p:sp>
        <p:nvSpPr>
          <p:cNvPr id="13" name="LabelExample"/>
          <p:cNvSpPr/>
          <p:nvPr/>
        </p:nvSpPr>
        <p:spPr>
          <a:xfrm>
            <a:off x="274320" y="113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Example</a:t>
            </a:r>
          </a:p>
        </p:txBody>
      </p:sp>
      <p:sp>
        <p:nvSpPr>
          <p:cNvPr id="14" name="ExPanel"/>
          <p:cNvSpPr/>
          <p:nvPr/>
        </p:nvSpPr>
        <p:spPr>
          <a:xfrm>
            <a:off x="274320" y="1470000"/>
            <a:ext cx="4250000" cy="2050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ExCode"/>
          <p:cNvSpPr/>
          <p:nvPr/>
        </p:nvSpPr>
        <p:spPr>
          <a:xfrm>
            <a:off x="514320" y="1570000"/>
            <a:ext cx="3770000" cy="18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age = -5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if age &lt; 0:</a:t>
            </a: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     raise </a:t>
            </a:r>
            <a:r>
              <a:rPr lang="en-US" sz="1100" dirty="0" err="1">
                <a:solidFill>
                  <a:srgbClr val="FFD27F"/>
                </a:solidFill>
                <a:latin typeface="Courier New"/>
                <a:cs typeface="Courier New"/>
              </a:rPr>
              <a:t>ValueError</a:t>
            </a:r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(</a:t>
            </a: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"Age cannot be negative."</a:t>
            </a:r>
          </a:p>
          <a:p>
            <a:r>
              <a:rPr lang="en-US" sz="1100" dirty="0">
                <a:solidFill>
                  <a:srgbClr val="FFD27F"/>
                </a:solidFill>
                <a:latin typeface="Courier New"/>
                <a:cs typeface="Courier New"/>
              </a:rPr>
              <a:t>   </a:t>
            </a:r>
            <a:r>
              <a:rPr lang="en-US" sz="1100">
                <a:solidFill>
                  <a:srgbClr val="FFD27F"/>
                </a:solidFill>
                <a:latin typeface="Courier New"/>
                <a:cs typeface="Courier New"/>
              </a:rPr>
              <a:t>  )</a:t>
            </a:r>
          </a:p>
        </p:txBody>
      </p:sp>
      <p:sp>
        <p:nvSpPr>
          <p:cNvPr id="16" name="LabelCustom"/>
          <p:cNvSpPr/>
          <p:nvPr/>
        </p:nvSpPr>
        <p:spPr>
          <a:xfrm>
            <a:off x="4660000" y="113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Custom Error Message</a:t>
            </a:r>
          </a:p>
        </p:txBody>
      </p:sp>
      <p:sp>
        <p:nvSpPr>
          <p:cNvPr id="17" name="CustomPanel"/>
          <p:cNvSpPr/>
          <p:nvPr/>
        </p:nvSpPr>
        <p:spPr>
          <a:xfrm>
            <a:off x="4660000" y="1470000"/>
            <a:ext cx="4209680" cy="1000000"/>
          </a:xfrm>
          <a:prstGeom prst="roundRect">
            <a:avLst>
              <a:gd name="adj" fmla="val 6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CustomCode"/>
          <p:cNvSpPr/>
          <p:nvPr/>
        </p:nvSpPr>
        <p:spPr>
          <a:xfrm>
            <a:off x="4860000" y="1470000"/>
            <a:ext cx="380968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raise Exception("Something went wrong")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Best Practices</a:t>
            </a:r>
          </a:p>
        </p:txBody>
      </p:sp>
      <p:sp>
        <p:nvSpPr>
          <p:cNvPr id="12" name="LabelBP"/>
          <p:cNvSpPr/>
          <p:nvPr/>
        </p:nvSpPr>
        <p:spPr>
          <a:xfrm>
            <a:off x="274320" y="72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Best Practices</a:t>
            </a:r>
          </a:p>
        </p:txBody>
      </p:sp>
      <p:sp>
        <p:nvSpPr>
          <p:cNvPr id="13" name="BPCard"/>
          <p:cNvSpPr/>
          <p:nvPr/>
        </p:nvSpPr>
        <p:spPr>
          <a:xfrm>
            <a:off x="274320" y="1080000"/>
            <a:ext cx="4250000" cy="25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BPText"/>
          <p:cNvSpPr/>
          <p:nvPr/>
        </p:nvSpPr>
        <p:spPr>
          <a:xfrm>
            <a:off x="514320" y="1200000"/>
            <a:ext cx="3770000" cy="2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Catch specific exceptions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3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Use finally for cleanup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3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Avoid empty except blocks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3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Use meaningful messages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3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Use with for file handling</a:t>
            </a:r>
          </a:p>
          <a:p>
            <a:pPr marL="0" indent="0">
              <a:buNone/>
            </a:pPr>
            <a:r>
              <a:rPr lang="en-US" sz="13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Raise exceptions when necessary</a:t>
            </a:r>
          </a:p>
        </p:txBody>
      </p:sp>
      <p:sp>
        <p:nvSpPr>
          <p:cNvPr id="15" name="LabelFlow"/>
          <p:cNvSpPr/>
          <p:nvPr/>
        </p:nvSpPr>
        <p:spPr>
          <a:xfrm>
            <a:off x="4660000" y="72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Exception Flow</a:t>
            </a:r>
          </a:p>
        </p:txBody>
      </p:sp>
      <p:sp>
        <p:nvSpPr>
          <p:cNvPr id="16" name="FlowCard"/>
          <p:cNvSpPr/>
          <p:nvPr/>
        </p:nvSpPr>
        <p:spPr>
          <a:xfrm>
            <a:off x="4660000" y="1080000"/>
            <a:ext cx="4209680" cy="2580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FlowText"/>
          <p:cNvSpPr/>
          <p:nvPr/>
        </p:nvSpPr>
        <p:spPr>
          <a:xfrm>
            <a:off x="4860000" y="1200000"/>
            <a:ext cx="3809680" cy="2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300"/>
              </a:spcAft>
            </a:pP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Try</a:t>
            </a:r>
            <a:br>
              <a:rPr lang="en-US" sz="1400" b="1" dirty="0">
                <a:solidFill>
                  <a:srgbClr val="E6EDF3"/>
                </a:solidFill>
                <a:ea typeface="+mn-lt"/>
                <a:cs typeface="+mn-lt"/>
              </a:rPr>
            </a:b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 ↓</a:t>
            </a:r>
            <a:br>
              <a:rPr lang="en-US" sz="1400" b="1" dirty="0">
                <a:solidFill>
                  <a:srgbClr val="E6EDF3"/>
                </a:solidFill>
                <a:ea typeface="+mn-lt"/>
                <a:cs typeface="+mn-lt"/>
              </a:rPr>
            </a:b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Exception?</a:t>
            </a:r>
            <a:br>
              <a:rPr lang="en-US" sz="1400" b="1" dirty="0">
                <a:solidFill>
                  <a:srgbClr val="E6EDF3"/>
                </a:solidFill>
                <a:ea typeface="+mn-lt"/>
                <a:cs typeface="+mn-lt"/>
              </a:rPr>
            </a:b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 ↓</a:t>
            </a:r>
            <a:br>
              <a:rPr lang="en-US" sz="1400" b="1" dirty="0">
                <a:solidFill>
                  <a:srgbClr val="E6EDF3"/>
                </a:solidFill>
                <a:ea typeface="+mn-lt"/>
                <a:cs typeface="+mn-lt"/>
              </a:rPr>
            </a:b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Yes → except</a:t>
            </a:r>
            <a:br>
              <a:rPr lang="en-US" sz="1400" b="1" dirty="0">
                <a:solidFill>
                  <a:srgbClr val="E6EDF3"/>
                </a:solidFill>
                <a:ea typeface="+mn-lt"/>
                <a:cs typeface="+mn-lt"/>
              </a:rPr>
            </a:b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 ↓</a:t>
            </a:r>
            <a:br>
              <a:rPr lang="en-US" sz="1400" b="1" dirty="0">
                <a:solidFill>
                  <a:srgbClr val="E6EDF3"/>
                </a:solidFill>
                <a:ea typeface="+mn-lt"/>
                <a:cs typeface="+mn-lt"/>
              </a:rPr>
            </a:b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No → else</a:t>
            </a:r>
            <a:br>
              <a:rPr lang="en-US" sz="1400" b="1" dirty="0">
                <a:solidFill>
                  <a:srgbClr val="E6EDF3"/>
                </a:solidFill>
                <a:ea typeface="+mn-lt"/>
                <a:cs typeface="+mn-lt"/>
              </a:rPr>
            </a:b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 ↓</a:t>
            </a:r>
            <a:br>
              <a:rPr lang="en-US" sz="1400" b="1" dirty="0">
                <a:solidFill>
                  <a:srgbClr val="E6EDF3"/>
                </a:solidFill>
                <a:ea typeface="+mn-lt"/>
                <a:cs typeface="+mn-lt"/>
              </a:rPr>
            </a:br>
            <a:r>
              <a:rPr lang="en-US" sz="1400" b="1">
                <a:solidFill>
                  <a:srgbClr val="E6EDF3"/>
                </a:solidFill>
                <a:ea typeface="+mn-lt"/>
                <a:cs typeface="+mn-lt"/>
              </a:rPr>
              <a:t>finally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8" name="SummaryCard"/>
          <p:cNvSpPr/>
          <p:nvPr/>
        </p:nvSpPr>
        <p:spPr>
          <a:xfrm>
            <a:off x="274320" y="3820000"/>
            <a:ext cx="8595360" cy="850000"/>
          </a:xfrm>
          <a:prstGeom prst="roundRect">
            <a:avLst>
              <a:gd name="adj" fmla="val 6000"/>
            </a:avLst>
          </a:prstGeom>
          <a:solidFill>
            <a:srgbClr val="00B4D8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ummaryText"/>
          <p:cNvSpPr/>
          <p:nvPr/>
        </p:nvSpPr>
        <p:spPr>
          <a:xfrm>
            <a:off x="534320" y="3820000"/>
            <a:ext cx="8075360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Exception handling makes programs more reliable, user-friendly, and capable of recovering from unexpected errors.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 — try · except · finally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42976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777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try / except Syntax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178808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FF0F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17880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Catch specific exceptions first (ValueError), generic (Exception) last!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685800"/>
            <a:ext cx="4069080" cy="420624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777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Common Python Exceptions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1207008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2070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ValueError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0" y="12070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value type: int('abc')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46320" y="1645920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919472" y="1645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ZeroDivisionError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766560" y="1645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by zero: 10 / 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46320" y="2084832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0848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766560" y="20848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type: '5' + 5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46320" y="2523744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919472" y="252374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IndexError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66560" y="2523744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out of bounds: lst[99]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962656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/>
        </p:spPr>
      </p:sp>
      <p:sp>
        <p:nvSpPr>
          <p:cNvPr id="25" name="Text 23"/>
          <p:cNvSpPr/>
          <p:nvPr/>
        </p:nvSpPr>
        <p:spPr>
          <a:xfrm>
            <a:off x="4919472" y="29626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KeyError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766560" y="29626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dict key: d['x']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3401568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015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FileNotFoundError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766560" y="34015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open('ghost.txt', 'r')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3840480"/>
            <a:ext cx="3794760" cy="36576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/>
        </p:spPr>
      </p:sp>
      <p:sp>
        <p:nvSpPr>
          <p:cNvPr id="31" name="Text 29"/>
          <p:cNvSpPr/>
          <p:nvPr/>
        </p:nvSpPr>
        <p:spPr>
          <a:xfrm>
            <a:off x="4919472" y="38404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7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NameError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766560" y="38404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not defined</a:t>
            </a:r>
            <a:endParaRPr lang="en-US" sz="950" dirty="0"/>
          </a:p>
        </p:txBody>
      </p:sp>
      <p:pic>
        <p:nvPicPr>
          <p:cNvPr id="33" name="Picture 32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E58083F8-5802-CF53-66A2-BE63D84A1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70" y="1208314"/>
            <a:ext cx="3481759" cy="283573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Capstone — File-Based Student Records System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67512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everything from Module 1: read CSV → process → compute stats → write report → handle errors.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005840"/>
            <a:ext cx="31546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1115568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263640" y="109728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Used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33872" y="153619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Functions (DRY)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833872" y="173736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Dictionaries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833872" y="19385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File Handling (csv module)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833872" y="213969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Error Handling (try/except)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833872" y="234086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f-strings &amp; formatting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833872" y="254203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Loops &amp; conditionals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0" y="3127248"/>
            <a:ext cx="3154680" cy="1828800"/>
          </a:xfrm>
          <a:prstGeom prst="roundRect">
            <a:avLst>
              <a:gd name="adj" fmla="val 4000"/>
            </a:avLst>
          </a:prstGeom>
          <a:solidFill>
            <a:srgbClr val="FFF8E7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872" y="324612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236208" y="32278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Ideas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833872" y="3611880"/>
            <a:ext cx="2880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a search function: find student by name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Sort and print top 3 students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Let user add new students via input()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Validate: marks must be 0–100</a:t>
            </a:r>
            <a:endParaRPr lang="en-US" sz="1000" dirty="0"/>
          </a:p>
        </p:txBody>
      </p:sp>
      <p:pic>
        <p:nvPicPr>
          <p:cNvPr id="20" name="Picture 19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B0C64017-BD9D-7B31-09CB-7FB0EF17EA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110" y="914400"/>
            <a:ext cx="3758765" cy="420188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3657600"/>
          </a:xfrm>
          <a:prstGeom prst="ellipse">
            <a:avLst/>
          </a:prstGeom>
          <a:solidFill>
            <a:srgbClr val="0096B7">
              <a:alpha val="25000"/>
            </a:srgbClr>
          </a:solidFill>
          <a:ln w="12700">
            <a:solidFill>
              <a:srgbClr val="0096B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2286000"/>
          </a:xfrm>
          <a:prstGeom prst="ellipse">
            <a:avLst/>
          </a:prstGeom>
          <a:solidFill>
            <a:srgbClr val="00B4D8">
              <a:alpha val="40000"/>
            </a:srgbClr>
          </a:solidFill>
          <a:ln w="1270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  A C A D E M 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 / WEEK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 — Thu, Jul 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 — Classes · Objects · Constructors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Introduction to Object-Oriented Programming</a:t>
            </a:r>
          </a:p>
        </p:txBody>
      </p:sp>
      <p:sp>
        <p:nvSpPr>
          <p:cNvPr id="12" name="Intro"/>
          <p:cNvSpPr/>
          <p:nvPr/>
        </p:nvSpPr>
        <p:spPr>
          <a:xfrm>
            <a:off x="274320" y="640000"/>
            <a:ext cx="859536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Object-Oriented Programming (OOP) is a programming paradigm that organizes code using objects and classes.</a:t>
            </a:r>
          </a:p>
        </p:txBody>
      </p:sp>
      <p:sp>
        <p:nvSpPr>
          <p:cNvPr id="13" name="LabelWhy"/>
          <p:cNvSpPr/>
          <p:nvPr/>
        </p:nvSpPr>
        <p:spPr>
          <a:xfrm>
            <a:off x="274320" y="10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Why OOP?</a:t>
            </a:r>
          </a:p>
        </p:txBody>
      </p:sp>
      <p:sp>
        <p:nvSpPr>
          <p:cNvPr id="14" name="WhyCard"/>
          <p:cNvSpPr/>
          <p:nvPr/>
        </p:nvSpPr>
        <p:spPr>
          <a:xfrm>
            <a:off x="274320" y="1400000"/>
            <a:ext cx="4250000" cy="24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WhyText"/>
          <p:cNvSpPr/>
          <p:nvPr/>
        </p:nvSpPr>
        <p:spPr>
          <a:xfrm>
            <a:off x="534320" y="1500000"/>
            <a:ext cx="3730000" cy="2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Better code organization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Code reusability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Easier maintenance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Real-world modeling</a:t>
            </a:r>
          </a:p>
          <a:p>
            <a:pPr marL="0" indent="0"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Reduced code duplication</a:t>
            </a:r>
          </a:p>
        </p:txBody>
      </p:sp>
      <p:sp>
        <p:nvSpPr>
          <p:cNvPr id="16" name="LabelEx"/>
          <p:cNvSpPr/>
          <p:nvPr/>
        </p:nvSpPr>
        <p:spPr>
          <a:xfrm>
            <a:off x="4660000" y="10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Real-World Examples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400000"/>
            <a:ext cx="4209680" cy="15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500000"/>
            <a:ext cx="380968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Car          → Object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Student      → Object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Employee     → Object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Mobile Phone → Object</a:t>
            </a:r>
          </a:p>
        </p:txBody>
      </p:sp>
      <p:sp>
        <p:nvSpPr>
          <p:cNvPr id="19" name="ExNote"/>
          <p:cNvSpPr/>
          <p:nvPr/>
        </p:nvSpPr>
        <p:spPr>
          <a:xfrm>
            <a:off x="4660000" y="3000000"/>
            <a:ext cx="4209680" cy="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ExNoteText"/>
          <p:cNvSpPr/>
          <p:nvPr/>
        </p:nvSpPr>
        <p:spPr>
          <a:xfrm>
            <a:off x="4880000" y="3000000"/>
            <a:ext cx="376968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OOP Concepts: 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Classes, Objects, Constructors, Inheritance, Encapsulation. Today we focus on Classes, Objects, and Constructors.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Classes and Objects</a:t>
            </a:r>
          </a:p>
        </p:txBody>
      </p:sp>
      <p:sp>
        <p:nvSpPr>
          <p:cNvPr id="13" name="LabelSyntax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Class &amp; Object</a:t>
            </a:r>
          </a:p>
        </p:txBody>
      </p:sp>
      <p:sp>
        <p:nvSpPr>
          <p:cNvPr id="14" name="SyntaxPanel"/>
          <p:cNvSpPr/>
          <p:nvPr/>
        </p:nvSpPr>
        <p:spPr>
          <a:xfrm>
            <a:off x="274320" y="1120000"/>
            <a:ext cx="4250000" cy="14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yntaxCode"/>
          <p:cNvSpPr/>
          <p:nvPr/>
        </p:nvSpPr>
        <p:spPr>
          <a:xfrm>
            <a:off x="514320" y="1220000"/>
            <a:ext cx="3770000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class Student: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    pass</a:t>
            </a:r>
          </a:p>
          <a:p>
            <a:pPr marL="0" indent="0">
              <a:spcAft>
                <a:spcPts val="500"/>
              </a:spcAft>
              <a:buNone/>
            </a:pPr>
            <a:endParaRPr lang="en-US" sz="1100">
              <a:solidFill>
                <a:srgbClr val="E6EDF3"/>
              </a:solidFill>
              <a:latin typeface="Courier New"/>
              <a:cs typeface="Courier New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 = Student()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s2 = Student()</a:t>
            </a:r>
          </a:p>
        </p:txBody>
      </p:sp>
      <p:sp>
        <p:nvSpPr>
          <p:cNvPr id="16" name="LabelExample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Examples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120000"/>
            <a:ext cx="4209680" cy="14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220000"/>
            <a:ext cx="3809680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Class   → Student</a:t>
            </a:r>
          </a:p>
          <a:p>
            <a:pPr>
              <a:spcAft>
                <a:spcPts val="500"/>
              </a:spcAft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Objects → John, Alice, Bob</a:t>
            </a:r>
          </a:p>
          <a:p>
            <a:pPr>
              <a:spcAft>
                <a:spcPts val="500"/>
              </a:spcAft>
            </a:pPr>
            <a:endParaRPr lang="en-US" sz="1100">
              <a:solidFill>
                <a:srgbClr val="E6EDF3"/>
              </a:solidFill>
              <a:latin typeface="Courier New"/>
              <a:cs typeface="Courier New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Class   → Car</a:t>
            </a:r>
          </a:p>
          <a:p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Objects → BMW, Audi, Tesla</a:t>
            </a:r>
          </a:p>
        </p:txBody>
      </p:sp>
      <p:sp>
        <p:nvSpPr>
          <p:cNvPr id="19" name="NoteCard"/>
          <p:cNvSpPr/>
          <p:nvPr/>
        </p:nvSpPr>
        <p:spPr>
          <a:xfrm>
            <a:off x="274320" y="3120000"/>
            <a:ext cx="859536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NoteText"/>
          <p:cNvSpPr/>
          <p:nvPr/>
        </p:nvSpPr>
        <p:spPr>
          <a:xfrm>
            <a:off x="534320" y="3120000"/>
            <a:ext cx="807536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A class is a </a:t>
            </a:r>
            <a:r>
              <a:rPr lang="en-US" sz="1300" b="1">
                <a:solidFill>
                  <a:srgbClr val="00B4D8"/>
                </a:solidFill>
                <a:latin typeface="Courier New"/>
                <a:cs typeface="Courier New"/>
              </a:rPr>
              <a:t>blueprint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used to create objects. An </a:t>
            </a:r>
            <a:r>
              <a:rPr lang="en-US" sz="1300" b="1">
                <a:solidFill>
                  <a:srgbClr val="F77F00"/>
                </a:solidFill>
                <a:latin typeface="Courier New"/>
                <a:cs typeface="Courier New"/>
              </a:rPr>
              <a:t>object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is an instance of a class.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Creating a Class</a:t>
            </a:r>
          </a:p>
        </p:txBody>
      </p:sp>
      <p:sp>
        <p:nvSpPr>
          <p:cNvPr id="13" name="LabelSyntax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Syntax</a:t>
            </a:r>
          </a:p>
        </p:txBody>
      </p:sp>
      <p:sp>
        <p:nvSpPr>
          <p:cNvPr id="14" name="SyntaxPanel"/>
          <p:cNvSpPr/>
          <p:nvPr/>
        </p:nvSpPr>
        <p:spPr>
          <a:xfrm>
            <a:off x="274320" y="1120000"/>
            <a:ext cx="4250000" cy="15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yntaxCode"/>
          <p:cNvSpPr/>
          <p:nvPr/>
        </p:nvSpPr>
        <p:spPr>
          <a:xfrm>
            <a:off x="514320" y="1220000"/>
            <a:ext cx="377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class Student:</a:t>
            </a: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def display(self):</a:t>
            </a:r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 print("Hello Student")</a:t>
            </a:r>
          </a:p>
        </p:txBody>
      </p:sp>
      <p:sp>
        <p:nvSpPr>
          <p:cNvPr id="16" name="LabelExample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Creating an Object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120000"/>
            <a:ext cx="4209680" cy="15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220000"/>
            <a:ext cx="380968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 = Student()</a:t>
            </a:r>
          </a:p>
          <a:p>
            <a:pPr marL="0" indent="0">
              <a:spcAft>
                <a:spcPts val="500"/>
              </a:spcAft>
              <a:buNone/>
            </a:pPr>
            <a:endParaRPr lang="en-US" sz="1100">
              <a:solidFill>
                <a:srgbClr val="E6EDF3"/>
              </a:solidFill>
              <a:latin typeface="Courier New"/>
              <a:cs typeface="Courier New"/>
            </a:endParaRP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s1.display()</a:t>
            </a:r>
          </a:p>
        </p:txBody>
      </p:sp>
      <p:sp>
        <p:nvSpPr>
          <p:cNvPr id="19" name="NoteCard"/>
          <p:cNvSpPr/>
          <p:nvPr/>
        </p:nvSpPr>
        <p:spPr>
          <a:xfrm>
            <a:off x="274320" y="3120000"/>
            <a:ext cx="859536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NoteText"/>
          <p:cNvSpPr/>
          <p:nvPr/>
        </p:nvSpPr>
        <p:spPr>
          <a:xfrm>
            <a:off x="534320" y="3120000"/>
            <a:ext cx="807536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Output: Hello Student.  The keyword </a:t>
            </a:r>
            <a:r>
              <a:rPr lang="en-US" sz="1300" b="1">
                <a:solidFill>
                  <a:srgbClr val="F77F00"/>
                </a:solidFill>
                <a:latin typeface="Courier New"/>
                <a:cs typeface="Courier New"/>
              </a:rPr>
              <a:t>self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refers to the current object calling the method.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Instance Variables and Methods</a:t>
            </a:r>
          </a:p>
        </p:txBody>
      </p:sp>
      <p:sp>
        <p:nvSpPr>
          <p:cNvPr id="13" name="LabelSyntax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Class Definition</a:t>
            </a:r>
          </a:p>
        </p:txBody>
      </p:sp>
      <p:sp>
        <p:nvSpPr>
          <p:cNvPr id="14" name="SyntaxPanel"/>
          <p:cNvSpPr/>
          <p:nvPr/>
        </p:nvSpPr>
        <p:spPr>
          <a:xfrm>
            <a:off x="274320" y="1120000"/>
            <a:ext cx="4250000" cy="18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yntaxCode"/>
          <p:cNvSpPr/>
          <p:nvPr/>
        </p:nvSpPr>
        <p:spPr>
          <a:xfrm>
            <a:off x="514320" y="1220000"/>
            <a:ext cx="3770000" cy="16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class Student:</a:t>
            </a:r>
          </a:p>
          <a:p>
            <a:pPr>
              <a:spcAft>
                <a:spcPts val="30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 def 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set_data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(self, name, age):</a:t>
            </a:r>
          </a:p>
          <a:p>
            <a:pPr>
              <a:spcAft>
                <a:spcPts val="30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     </a:t>
            </a: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 self.name = name</a:t>
            </a:r>
          </a:p>
          <a:p>
            <a:pPr>
              <a:spcAft>
                <a:spcPts val="30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      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self.age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= age</a:t>
            </a:r>
          </a:p>
          <a:p>
            <a:pPr marL="0" indent="0">
              <a:spcAft>
                <a:spcPts val="30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30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 </a:t>
            </a: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def display(self):</a:t>
            </a:r>
          </a:p>
          <a:p>
            <a:pPr>
              <a:spcAft>
                <a:spcPts val="30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  </a:t>
            </a: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   print(self.name)</a:t>
            </a:r>
          </a:p>
          <a:p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      print(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self.age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)</a:t>
            </a:r>
          </a:p>
        </p:txBody>
      </p:sp>
      <p:sp>
        <p:nvSpPr>
          <p:cNvPr id="16" name="LabelExample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Using the Object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120000"/>
            <a:ext cx="4209680" cy="18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220000"/>
            <a:ext cx="3809680" cy="16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 = Student()</a:t>
            </a:r>
          </a:p>
          <a:p>
            <a:pPr>
              <a:spcAft>
                <a:spcPts val="500"/>
              </a:spcAft>
            </a:pPr>
            <a:endParaRPr lang="en-US" sz="11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500"/>
              </a:spcAft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s1.set_data("John", 20)</a:t>
            </a:r>
          </a:p>
          <a:p>
            <a:pPr marL="0" indent="0">
              <a:spcAft>
                <a:spcPts val="500"/>
              </a:spcAft>
              <a:buNone/>
            </a:pPr>
            <a:endParaRPr lang="en-US" sz="1100">
              <a:solidFill>
                <a:srgbClr val="E6EDF3"/>
              </a:solidFill>
              <a:latin typeface="Courier New"/>
              <a:cs typeface="Courier New"/>
            </a:endParaRPr>
          </a:p>
          <a:p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s1.display()</a:t>
            </a:r>
          </a:p>
        </p:txBody>
      </p:sp>
      <p:sp>
        <p:nvSpPr>
          <p:cNvPr id="19" name="NoteCard"/>
          <p:cNvSpPr/>
          <p:nvPr/>
        </p:nvSpPr>
        <p:spPr>
          <a:xfrm>
            <a:off x="274320" y="3120000"/>
            <a:ext cx="859536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NoteText"/>
          <p:cNvSpPr/>
          <p:nvPr/>
        </p:nvSpPr>
        <p:spPr>
          <a:xfrm>
            <a:off x="534320" y="3120000"/>
            <a:ext cx="807536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Instance variables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store data that belongs to each individual object.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Constructors (__init__)</a:t>
            </a:r>
          </a:p>
        </p:txBody>
      </p:sp>
      <p:sp>
        <p:nvSpPr>
          <p:cNvPr id="13" name="LabelSyntax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Syntax</a:t>
            </a:r>
          </a:p>
        </p:txBody>
      </p:sp>
      <p:sp>
        <p:nvSpPr>
          <p:cNvPr id="14" name="SyntaxPanel"/>
          <p:cNvSpPr/>
          <p:nvPr/>
        </p:nvSpPr>
        <p:spPr>
          <a:xfrm>
            <a:off x="274320" y="1120000"/>
            <a:ext cx="4250000" cy="1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yntaxCode"/>
          <p:cNvSpPr/>
          <p:nvPr/>
        </p:nvSpPr>
        <p:spPr>
          <a:xfrm>
            <a:off x="514320" y="1220000"/>
            <a:ext cx="377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class Student:</a:t>
            </a:r>
          </a:p>
          <a:p>
            <a:pPr>
              <a:spcAft>
                <a:spcPts val="500"/>
              </a:spcAft>
            </a:pP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     def __</a:t>
            </a:r>
            <a:r>
              <a:rPr lang="en-US" sz="1100" dirty="0" err="1">
                <a:solidFill>
                  <a:srgbClr val="E6EDF3"/>
                </a:solidFill>
                <a:latin typeface="Courier New"/>
                <a:cs typeface="Courier New"/>
              </a:rPr>
              <a:t>init</a:t>
            </a:r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__(self):</a:t>
            </a:r>
          </a:p>
          <a:p>
            <a:r>
              <a:rPr lang="en-US" sz="1100" dirty="0">
                <a:solidFill>
                  <a:srgbClr val="E6EDF3"/>
                </a:solidFill>
                <a:latin typeface="Courier New"/>
                <a:cs typeface="Courier New"/>
              </a:rPr>
              <a:t>         </a:t>
            </a: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 print("Constructor Called")</a:t>
            </a:r>
          </a:p>
        </p:txBody>
      </p:sp>
      <p:sp>
        <p:nvSpPr>
          <p:cNvPr id="16" name="LabelExample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Creating an Object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120000"/>
            <a:ext cx="4209680" cy="17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220000"/>
            <a:ext cx="380968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 = Student()</a:t>
            </a:r>
          </a:p>
          <a:p>
            <a:pPr>
              <a:spcAft>
                <a:spcPts val="500"/>
              </a:spcAft>
            </a:pPr>
            <a:endParaRPr lang="en-US" sz="11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500"/>
              </a:spcAft>
            </a:pPr>
            <a:r>
              <a:rPr lang="en-US" sz="1100">
                <a:solidFill>
                  <a:srgbClr val="9FB3C8"/>
                </a:solidFill>
                <a:latin typeface="Courier New"/>
                <a:cs typeface="Courier New"/>
              </a:rPr>
              <a:t># Output: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Constructor Called</a:t>
            </a:r>
          </a:p>
        </p:txBody>
      </p:sp>
      <p:sp>
        <p:nvSpPr>
          <p:cNvPr id="19" name="NoteCard"/>
          <p:cNvSpPr/>
          <p:nvPr/>
        </p:nvSpPr>
        <p:spPr>
          <a:xfrm>
            <a:off x="274320" y="3120000"/>
            <a:ext cx="859536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NoteText"/>
          <p:cNvSpPr/>
          <p:nvPr/>
        </p:nvSpPr>
        <p:spPr>
          <a:xfrm>
            <a:off x="534320" y="3120000"/>
            <a:ext cx="807536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300" b="1">
                <a:solidFill>
                  <a:srgbClr val="00B4D8"/>
                </a:solidFill>
                <a:latin typeface="Courier New"/>
                <a:cs typeface="Courier New"/>
              </a:rPr>
              <a:t>constructor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automatically executes when an object is created.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Parameterized Constructors</a:t>
            </a:r>
          </a:p>
        </p:txBody>
      </p:sp>
      <p:sp>
        <p:nvSpPr>
          <p:cNvPr id="13" name="LabelSyntax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Class Definition</a:t>
            </a:r>
          </a:p>
        </p:txBody>
      </p:sp>
      <p:sp>
        <p:nvSpPr>
          <p:cNvPr id="14" name="SyntaxPanel"/>
          <p:cNvSpPr/>
          <p:nvPr/>
        </p:nvSpPr>
        <p:spPr>
          <a:xfrm>
            <a:off x="274320" y="1120000"/>
            <a:ext cx="4250000" cy="18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yntaxCode"/>
          <p:cNvSpPr/>
          <p:nvPr/>
        </p:nvSpPr>
        <p:spPr>
          <a:xfrm>
            <a:off x="514320" y="1220000"/>
            <a:ext cx="3770000" cy="16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class Student:</a:t>
            </a:r>
          </a:p>
          <a:p>
            <a:pPr marL="0" indent="0">
              <a:spcAft>
                <a:spcPts val="30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30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     def __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init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__(self, name, age):</a:t>
            </a:r>
          </a:p>
          <a:p>
            <a:pPr>
              <a:spcAft>
                <a:spcPts val="30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  </a:t>
            </a: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   self.name = name</a:t>
            </a:r>
          </a:p>
          <a:p>
            <a:pPr>
              <a:spcAft>
                <a:spcPts val="30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          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self.age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= age</a:t>
            </a:r>
          </a:p>
          <a:p>
            <a:pPr marL="0" indent="0">
              <a:spcAft>
                <a:spcPts val="30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300"/>
              </a:spcAft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    def display(self):</a:t>
            </a:r>
          </a:p>
          <a:p>
            <a:pPr>
              <a:spcAft>
                <a:spcPts val="300"/>
              </a:spcAft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          print(self.name)</a:t>
            </a:r>
          </a:p>
          <a:p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          print(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self.age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)</a:t>
            </a:r>
          </a:p>
        </p:txBody>
      </p:sp>
      <p:sp>
        <p:nvSpPr>
          <p:cNvPr id="16" name="LabelExample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Creating an Object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120000"/>
            <a:ext cx="4209680" cy="183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220000"/>
            <a:ext cx="3809680" cy="16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 = Student("John", 20)</a:t>
            </a:r>
          </a:p>
          <a:p>
            <a:pPr marL="0" indent="0">
              <a:spcAft>
                <a:spcPts val="500"/>
              </a:spcAft>
              <a:buNone/>
            </a:pPr>
            <a:endParaRPr lang="en-US" sz="1100">
              <a:solidFill>
                <a:srgbClr val="E6EDF3"/>
              </a:solidFill>
              <a:latin typeface="Courier New"/>
              <a:cs typeface="Courier New"/>
            </a:endParaRP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s1.display()</a:t>
            </a:r>
          </a:p>
        </p:txBody>
      </p:sp>
      <p:sp>
        <p:nvSpPr>
          <p:cNvPr id="19" name="NoteCard"/>
          <p:cNvSpPr/>
          <p:nvPr/>
        </p:nvSpPr>
        <p:spPr>
          <a:xfrm>
            <a:off x="274320" y="3120000"/>
            <a:ext cx="859536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NoteText"/>
          <p:cNvSpPr/>
          <p:nvPr/>
        </p:nvSpPr>
        <p:spPr>
          <a:xfrm>
            <a:off x="534320" y="3120000"/>
            <a:ext cx="807536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Parameterized constructors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let you pass values into an object at the moment it is created.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Multiple Objects</a:t>
            </a:r>
          </a:p>
        </p:txBody>
      </p:sp>
      <p:sp>
        <p:nvSpPr>
          <p:cNvPr id="13" name="LabelSyntax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Code</a:t>
            </a:r>
          </a:p>
        </p:txBody>
      </p:sp>
      <p:sp>
        <p:nvSpPr>
          <p:cNvPr id="14" name="SyntaxPanel"/>
          <p:cNvSpPr/>
          <p:nvPr/>
        </p:nvSpPr>
        <p:spPr>
          <a:xfrm>
            <a:off x="274320" y="1120000"/>
            <a:ext cx="4250000" cy="1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yntaxCode"/>
          <p:cNvSpPr/>
          <p:nvPr/>
        </p:nvSpPr>
        <p:spPr>
          <a:xfrm>
            <a:off x="514320" y="1220000"/>
            <a:ext cx="377000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 = Student("John", 20)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s2 = Student("Alice", 22)</a:t>
            </a:r>
          </a:p>
          <a:p>
            <a:pPr marL="0" indent="0">
              <a:spcAft>
                <a:spcPts val="500"/>
              </a:spcAft>
              <a:buNone/>
            </a:pPr>
            <a:endParaRPr lang="en-US" sz="1100">
              <a:solidFill>
                <a:srgbClr val="E6EDF3"/>
              </a:solidFill>
              <a:latin typeface="Courier New"/>
              <a:cs typeface="Courier New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s1.display()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s2.display()</a:t>
            </a:r>
          </a:p>
        </p:txBody>
      </p:sp>
      <p:sp>
        <p:nvSpPr>
          <p:cNvPr id="16" name="LabelExample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Output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120000"/>
            <a:ext cx="4209680" cy="160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220000"/>
            <a:ext cx="3809680" cy="1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John 20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Alice 22</a:t>
            </a:r>
          </a:p>
        </p:txBody>
      </p:sp>
      <p:sp>
        <p:nvSpPr>
          <p:cNvPr id="19" name="NoteCard"/>
          <p:cNvSpPr/>
          <p:nvPr/>
        </p:nvSpPr>
        <p:spPr>
          <a:xfrm>
            <a:off x="274320" y="3120000"/>
            <a:ext cx="859536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NoteText"/>
          <p:cNvSpPr/>
          <p:nvPr/>
        </p:nvSpPr>
        <p:spPr>
          <a:xfrm>
            <a:off x="534320" y="3120000"/>
            <a:ext cx="807536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Each object has its own data.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Although objects are created from the same class, each object maintains its own independent state.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self Keyword</a:t>
            </a:r>
          </a:p>
        </p:txBody>
      </p:sp>
      <p:sp>
        <p:nvSpPr>
          <p:cNvPr id="13" name="LabelSyntax"/>
          <p:cNvSpPr/>
          <p:nvPr/>
        </p:nvSpPr>
        <p:spPr>
          <a:xfrm>
            <a:off x="274320" y="760000"/>
            <a:ext cx="42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Example</a:t>
            </a:r>
          </a:p>
        </p:txBody>
      </p:sp>
      <p:sp>
        <p:nvSpPr>
          <p:cNvPr id="14" name="SyntaxPanel"/>
          <p:cNvSpPr/>
          <p:nvPr/>
        </p:nvSpPr>
        <p:spPr>
          <a:xfrm>
            <a:off x="274320" y="1120000"/>
            <a:ext cx="4250000" cy="188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5" name="SyntaxCode"/>
          <p:cNvSpPr/>
          <p:nvPr/>
        </p:nvSpPr>
        <p:spPr>
          <a:xfrm>
            <a:off x="514320" y="1220000"/>
            <a:ext cx="3770000" cy="16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50"/>
              </a:spcAft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class Student:</a:t>
            </a:r>
          </a:p>
          <a:p>
            <a:pPr marL="0" indent="0">
              <a:spcAft>
                <a:spcPts val="25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25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     def __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init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__(self, name):</a:t>
            </a:r>
          </a:p>
          <a:p>
            <a:pPr>
              <a:spcAft>
                <a:spcPts val="25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  </a:t>
            </a: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   self.name = name</a:t>
            </a:r>
          </a:p>
          <a:p>
            <a:pPr marL="0" indent="0">
              <a:spcAft>
                <a:spcPts val="25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250"/>
              </a:spcAft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    def show(self):</a:t>
            </a:r>
          </a:p>
          <a:p>
            <a:pPr>
              <a:spcAft>
                <a:spcPts val="25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  </a:t>
            </a: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   print(self.name)</a:t>
            </a:r>
          </a:p>
          <a:p>
            <a:pPr marL="0" indent="0">
              <a:spcAft>
                <a:spcPts val="25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 marL="0" indent="0">
              <a:spcAft>
                <a:spcPts val="250"/>
              </a:spcAft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s1 = Student("John")</a:t>
            </a:r>
          </a:p>
          <a:p>
            <a:pPr marL="0" indent="0"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s1.show()</a:t>
            </a:r>
          </a:p>
        </p:txBody>
      </p:sp>
      <p:sp>
        <p:nvSpPr>
          <p:cNvPr id="16" name="LabelExample"/>
          <p:cNvSpPr/>
          <p:nvPr/>
        </p:nvSpPr>
        <p:spPr>
          <a:xfrm>
            <a:off x="4660000" y="760000"/>
            <a:ext cx="42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Behind the Scenes</a:t>
            </a:r>
          </a:p>
        </p:txBody>
      </p:sp>
      <p:sp>
        <p:nvSpPr>
          <p:cNvPr id="17" name="ExPanel"/>
          <p:cNvSpPr/>
          <p:nvPr/>
        </p:nvSpPr>
        <p:spPr>
          <a:xfrm>
            <a:off x="4660000" y="1120000"/>
            <a:ext cx="4209680" cy="1880000"/>
          </a:xfrm>
          <a:prstGeom prst="roundRect">
            <a:avLst>
              <a:gd name="adj" fmla="val 4138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8" name="ExCode"/>
          <p:cNvSpPr/>
          <p:nvPr/>
        </p:nvSpPr>
        <p:spPr>
          <a:xfrm>
            <a:off x="4860000" y="1220000"/>
            <a:ext cx="380968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>
                <a:solidFill>
                  <a:srgbClr val="9FB3C8"/>
                </a:solidFill>
                <a:latin typeface="Courier New"/>
                <a:cs typeface="Courier New"/>
              </a:rPr>
              <a:t># Python internally does:</a:t>
            </a:r>
          </a:p>
          <a:p>
            <a:pPr marL="0" indent="0">
              <a:buNone/>
            </a:pPr>
            <a:r>
              <a:rPr lang="en-US" sz="1100">
                <a:solidFill>
                  <a:srgbClr val="E6EDF3"/>
                </a:solidFill>
                <a:latin typeface="Courier New"/>
                <a:cs typeface="Courier New"/>
              </a:rPr>
              <a:t>Student.show(s1)</a:t>
            </a:r>
          </a:p>
        </p:txBody>
      </p:sp>
      <p:sp>
        <p:nvSpPr>
          <p:cNvPr id="19" name="NoteCard"/>
          <p:cNvSpPr/>
          <p:nvPr/>
        </p:nvSpPr>
        <p:spPr>
          <a:xfrm>
            <a:off x="274320" y="3120000"/>
            <a:ext cx="859536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NoteText"/>
          <p:cNvSpPr/>
          <p:nvPr/>
        </p:nvSpPr>
        <p:spPr>
          <a:xfrm>
            <a:off x="534320" y="3120000"/>
            <a:ext cx="807536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B4D8"/>
                </a:solidFill>
                <a:latin typeface="Courier New"/>
                <a:cs typeface="Courier New"/>
              </a:rPr>
              <a:t>self</a:t>
            </a:r>
            <a:r>
              <a:rPr lang="en-US" sz="1300">
                <a:solidFill>
                  <a:srgbClr val="1A2A3A"/>
                </a:solidFill>
                <a:latin typeface="Calibri"/>
                <a:ea typeface="Calibri"/>
                <a:cs typeface="Calibri"/>
              </a:rPr>
              <a:t> represents the current object. It lets each object access its own variables and methods.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11" name="Title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Real-World Example</a:t>
            </a:r>
          </a:p>
        </p:txBody>
      </p:sp>
      <p:sp>
        <p:nvSpPr>
          <p:cNvPr id="12" name="LabelExample"/>
          <p:cNvSpPr/>
          <p:nvPr/>
        </p:nvSpPr>
        <p:spPr>
          <a:xfrm>
            <a:off x="274320" y="760000"/>
            <a:ext cx="4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7F00"/>
                </a:solidFill>
                <a:latin typeface="Calibri"/>
                <a:ea typeface="Calibri"/>
                <a:cs typeface="Calibri"/>
              </a:rPr>
              <a:t>Example</a:t>
            </a:r>
          </a:p>
        </p:txBody>
      </p:sp>
      <p:sp>
        <p:nvSpPr>
          <p:cNvPr id="13" name="CodePanel"/>
          <p:cNvSpPr/>
          <p:nvPr/>
        </p:nvSpPr>
        <p:spPr>
          <a:xfrm>
            <a:off x="274320" y="1120000"/>
            <a:ext cx="4400000" cy="2700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/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4" name="CodeText"/>
          <p:cNvSpPr/>
          <p:nvPr/>
        </p:nvSpPr>
        <p:spPr>
          <a:xfrm>
            <a:off x="514320" y="1240000"/>
            <a:ext cx="3920000" cy="2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50"/>
              </a:spcAft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class Car:</a:t>
            </a:r>
          </a:p>
          <a:p>
            <a:pPr marL="0" indent="0">
              <a:spcAft>
                <a:spcPts val="25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25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 def __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init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__(self, brand, price):</a:t>
            </a:r>
          </a:p>
          <a:p>
            <a:pPr>
              <a:spcAft>
                <a:spcPts val="25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         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self.brand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= brand</a:t>
            </a:r>
          </a:p>
          <a:p>
            <a:pPr>
              <a:spcAft>
                <a:spcPts val="25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          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self.price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 = price</a:t>
            </a:r>
          </a:p>
          <a:p>
            <a:pPr marL="0" indent="0">
              <a:spcAft>
                <a:spcPts val="25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>
              <a:spcAft>
                <a:spcPts val="250"/>
              </a:spcAft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     def details(self):</a:t>
            </a:r>
          </a:p>
          <a:p>
            <a:pPr>
              <a:spcAft>
                <a:spcPts val="25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          print(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self.brand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)</a:t>
            </a:r>
          </a:p>
          <a:p>
            <a:pPr>
              <a:spcAft>
                <a:spcPts val="250"/>
              </a:spcAft>
            </a:pP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          print(</a:t>
            </a:r>
            <a:r>
              <a:rPr lang="en-US" sz="1000" dirty="0" err="1">
                <a:solidFill>
                  <a:srgbClr val="E6EDF3"/>
                </a:solidFill>
                <a:latin typeface="Courier New"/>
                <a:cs typeface="Courier New"/>
              </a:rPr>
              <a:t>self.price</a:t>
            </a:r>
            <a:r>
              <a:rPr lang="en-US" sz="1000" dirty="0">
                <a:solidFill>
                  <a:srgbClr val="E6EDF3"/>
                </a:solidFill>
                <a:latin typeface="Courier New"/>
                <a:cs typeface="Courier New"/>
              </a:rPr>
              <a:t>)</a:t>
            </a:r>
          </a:p>
          <a:p>
            <a:pPr marL="0" indent="0">
              <a:spcAft>
                <a:spcPts val="250"/>
              </a:spcAft>
              <a:buNone/>
            </a:pPr>
            <a:endParaRPr lang="en-US" sz="1000">
              <a:solidFill>
                <a:srgbClr val="E6EDF3"/>
              </a:solidFill>
              <a:latin typeface="Courier New"/>
              <a:cs typeface="Courier New"/>
            </a:endParaRPr>
          </a:p>
          <a:p>
            <a:pPr marL="0" indent="0">
              <a:spcAft>
                <a:spcPts val="250"/>
              </a:spcAft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c1 = Car("BMW", 5000000)</a:t>
            </a:r>
          </a:p>
          <a:p>
            <a:pPr marL="0" indent="0">
              <a:buNone/>
            </a:pPr>
            <a:r>
              <a:rPr lang="en-US" sz="1000">
                <a:solidFill>
                  <a:srgbClr val="E6EDF3"/>
                </a:solidFill>
                <a:latin typeface="Courier New"/>
                <a:cs typeface="Courier New"/>
              </a:rPr>
              <a:t>c1.details()</a:t>
            </a:r>
          </a:p>
        </p:txBody>
      </p:sp>
      <p:sp>
        <p:nvSpPr>
          <p:cNvPr id="15" name="LabelCommon"/>
          <p:cNvSpPr/>
          <p:nvPr/>
        </p:nvSpPr>
        <p:spPr>
          <a:xfrm>
            <a:off x="4860000" y="760000"/>
            <a:ext cx="40096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0B4D8"/>
                </a:solidFill>
                <a:latin typeface="Calibri"/>
                <a:ea typeface="Calibri"/>
                <a:cs typeface="Calibri"/>
              </a:rPr>
              <a:t>This Demonstrates</a:t>
            </a:r>
          </a:p>
        </p:txBody>
      </p:sp>
      <p:sp>
        <p:nvSpPr>
          <p:cNvPr id="16" name="CommonCard"/>
          <p:cNvSpPr/>
          <p:nvPr/>
        </p:nvSpPr>
        <p:spPr>
          <a:xfrm>
            <a:off x="4860000" y="1120000"/>
            <a:ext cx="4009680" cy="2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CommonText"/>
          <p:cNvSpPr/>
          <p:nvPr/>
        </p:nvSpPr>
        <p:spPr>
          <a:xfrm>
            <a:off x="5120000" y="1260000"/>
            <a:ext cx="3489680" cy="2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cs typeface="Calibri"/>
              </a:rPr>
              <a:t>Class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cs typeface="Calibri"/>
              </a:rPr>
              <a:t>Object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cs typeface="Calibri"/>
              </a:rPr>
              <a:t>Constructor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cs typeface="Calibri"/>
              </a:rPr>
              <a:t>Instance Variables</a:t>
            </a:r>
          </a:p>
          <a:p>
            <a:pPr marL="0" indent="0">
              <a:buNone/>
            </a:pPr>
            <a:r>
              <a:rPr lang="en-US" sz="1400">
                <a:solidFill>
                  <a:srgbClr val="2E7D32"/>
                </a:solidFill>
                <a:latin typeface="Calibri"/>
                <a:cs typeface="Calibri"/>
              </a:rPr>
              <a:t>✅  </a:t>
            </a:r>
            <a:r>
              <a:rPr lang="en-US" sz="1400">
                <a:solidFill>
                  <a:srgbClr val="1A2A3A"/>
                </a:solidFill>
                <a:latin typeface="Calibri"/>
                <a:cs typeface="Calibri"/>
              </a:rPr>
              <a:t>Methods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Object-Oriented Programming?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bundles data (attributes) + behaviour (methods) into one unit called a Class.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6977" y="1005840"/>
            <a:ext cx="4082143" cy="3999411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97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Without OOP (Day 4 approach)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0743" y="45445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scale · prone to mistakes · no structure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51169" y="1005840"/>
            <a:ext cx="4372791" cy="3999411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With OOP (today's approach)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4634919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· scalable · reusable · industry standard!</a:t>
            </a:r>
            <a:endParaRPr lang="en-US" sz="1000" dirty="0"/>
          </a:p>
        </p:txBody>
      </p:sp>
      <p:pic>
        <p:nvPicPr>
          <p:cNvPr id="15" name="Picture 1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31B1AD4-9341-C7D9-7D47-F8EBD798F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1" y="1415143"/>
            <a:ext cx="3871984" cy="2999015"/>
          </a:xfrm>
          <a:prstGeom prst="rect">
            <a:avLst/>
          </a:prstGeom>
        </p:spPr>
      </p:pic>
      <p:pic>
        <p:nvPicPr>
          <p:cNvPr id="16" name="Picture 15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7B6FA393-CF7B-F448-E4A6-68FDE2953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586" y="1415142"/>
            <a:ext cx="3661399" cy="3069772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· Objects · __init__ Constructor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429768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777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Anatomy of a Class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685800"/>
            <a:ext cx="4069080" cy="420624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777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Key Concepts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207008"/>
            <a:ext cx="3794760" cy="429768"/>
          </a:xfrm>
          <a:prstGeom prst="roundRect">
            <a:avLst>
              <a:gd name="adj" fmla="val 8511"/>
            </a:avLst>
          </a:prstGeom>
          <a:solidFill>
            <a:srgbClr val="F3EEF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07008"/>
            <a:ext cx="1188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44768" y="1207008"/>
            <a:ext cx="24231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— defines the structure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1709928"/>
            <a:ext cx="3794760" cy="429768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919472" y="1709928"/>
            <a:ext cx="1188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44768" y="1709928"/>
            <a:ext cx="24231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— a real thing made from class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2212848"/>
            <a:ext cx="3794760" cy="429768"/>
          </a:xfrm>
          <a:prstGeom prst="roundRect">
            <a:avLst>
              <a:gd name="adj" fmla="val 8511"/>
            </a:avLst>
          </a:prstGeom>
          <a:solidFill>
            <a:srgbClr val="F3EEFF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2212848"/>
            <a:ext cx="1188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144768" y="2212848"/>
            <a:ext cx="24231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— sets up object on creation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715768"/>
            <a:ext cx="3794760" cy="429768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715768"/>
            <a:ext cx="1188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44768" y="2715768"/>
            <a:ext cx="24231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to the current object (always 1st param)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3218688"/>
            <a:ext cx="3794760" cy="429768"/>
          </a:xfrm>
          <a:prstGeom prst="roundRect">
            <a:avLst>
              <a:gd name="adj" fmla="val 8511"/>
            </a:avLst>
          </a:prstGeom>
          <a:solidFill>
            <a:srgbClr val="F3EEFF"/>
          </a:solidFill>
          <a:ln/>
        </p:spPr>
      </p:sp>
      <p:sp>
        <p:nvSpPr>
          <p:cNvPr id="23" name="Text 21"/>
          <p:cNvSpPr/>
          <p:nvPr/>
        </p:nvSpPr>
        <p:spPr>
          <a:xfrm>
            <a:off x="4919472" y="3218688"/>
            <a:ext cx="1188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attribute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44768" y="3218688"/>
            <a:ext cx="24231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belonging to an object (self.name)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3721608"/>
            <a:ext cx="3794760" cy="429768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9472" y="3721608"/>
            <a:ext cx="1188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144768" y="3721608"/>
            <a:ext cx="24231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belonging to a class (def greet(self):)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4251960"/>
            <a:ext cx="3794760" cy="411480"/>
          </a:xfrm>
          <a:prstGeom prst="roundRect">
            <a:avLst>
              <a:gd name="adj" fmla="val 13333"/>
            </a:avLst>
          </a:prstGeom>
          <a:solidFill>
            <a:srgbClr val="FFF8E7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42519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A class = cookie cutter. An object = the actual cookie!</a:t>
            </a:r>
            <a:endParaRPr lang="en-US" sz="1000" dirty="0"/>
          </a:p>
        </p:txBody>
      </p:sp>
      <p:pic>
        <p:nvPicPr>
          <p:cNvPr id="30" name="Picture 29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EA864724-1EE3-BE74-B20A-FDF41F26A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6" y="1099457"/>
            <a:ext cx="3926091" cy="338001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400300"/>
            <a:ext cx="2743200" cy="2743200"/>
          </a:xfrm>
          <a:prstGeom prst="ellipse">
            <a:avLst/>
          </a:prstGeom>
          <a:solidFill>
            <a:srgbClr val="9B5DE5">
              <a:alpha val="15000"/>
            </a:srgbClr>
          </a:solidFill>
          <a:ln w="12700">
            <a:solidFill>
              <a:srgbClr val="9B5DE5">
                <a:alpha val="1500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61258" y="274320"/>
            <a:ext cx="842554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Practice Questions — Day 7 (OOP Part 1)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38398" y="960120"/>
            <a:ext cx="8677002" cy="360861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28600" indent="-228600">
              <a:buAutoNum type="arabicPeriod"/>
            </a:pPr>
            <a:r>
              <a:rPr lang="en-US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Create a class Book with attributes: title, author, pages. Add a method summary() that prints all details neatly.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228600" indent="-228600">
              <a:buAutoNum type="arabicPeriod"/>
            </a:pPr>
            <a:r>
              <a:rPr lang="en-US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What happens if you forget the 'self' keyword in a method parameter? Show the error and explain why it occurs.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r>
              <a:rPr lang="en-US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Create a class Car with attributes: brand, speed. Add a method accelerate(amount) that increases speed and a brake(amount)that decreases it (min speed = 0).</a:t>
            </a:r>
            <a:endParaRPr lang="en-US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r>
              <a:rPr lang="en-US" dirty="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Create a class Employee with: name, salary. Add a method </a:t>
            </a:r>
            <a:r>
              <a:rPr lang="en-US" dirty="0" err="1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give_raise</a:t>
            </a:r>
            <a:r>
              <a:rPr lang="en-US" dirty="0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(percent) that increases salary by the given percentage and prints the old and new salary.</a:t>
            </a:r>
            <a:endParaRPr lang="en-US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r>
              <a:rPr lang="en-US">
                <a:solidFill>
                  <a:srgbClr val="D4EEF7"/>
                </a:solidFill>
                <a:ea typeface="Calibri" panose="020F0502020204030204"/>
                <a:cs typeface="Calibri" panose="020F0502020204030204"/>
              </a:rPr>
              <a:t>What is the difference between a class and an object? Give a real-life analogy and show it in code.</a:t>
            </a:r>
            <a:endParaRPr lang="en-US">
              <a:solidFill>
                <a:srgbClr val="000000"/>
              </a:solidFill>
              <a:ea typeface="Calibri" panose="020F0502020204030204"/>
              <a:cs typeface="Calibri" panose="020F0502020204030204"/>
            </a:endParaRPr>
          </a:p>
          <a:p>
            <a:pPr marL="228600" indent="-228600">
              <a:buAutoNum type="arabicPeriod"/>
            </a:pPr>
            <a:endParaRPr lang="en-US" dirty="0">
              <a:solidFill>
                <a:srgbClr val="D4EEF7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77240" y="1737360"/>
            <a:ext cx="813816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dirty="0">
              <a:solidFill>
                <a:srgbClr val="D4EEF7"/>
              </a:solidFill>
              <a:ea typeface="Calibri"/>
              <a:cs typeface="Calibri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77240" y="2514600"/>
            <a:ext cx="813816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dirty="0">
              <a:solidFill>
                <a:srgbClr val="D4EEF7"/>
              </a:solidFill>
              <a:ea typeface="Calibri"/>
              <a:cs typeface="Calibri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77240" y="3291840"/>
            <a:ext cx="813816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dirty="0">
              <a:solidFill>
                <a:srgbClr val="D4EEF7"/>
              </a:solidFill>
              <a:ea typeface="Calibri"/>
              <a:cs typeface="Calibri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7240" y="4069080"/>
            <a:ext cx="813816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dirty="0">
              <a:solidFill>
                <a:srgbClr val="D4EEF7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3657600"/>
          </a:xfrm>
          <a:prstGeom prst="ellipse">
            <a:avLst/>
          </a:prstGeom>
          <a:solidFill>
            <a:srgbClr val="0096B7">
              <a:alpha val="25000"/>
            </a:srgbClr>
          </a:solidFill>
          <a:ln w="12700">
            <a:solidFill>
              <a:srgbClr val="0096B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2286000"/>
          </a:xfrm>
          <a:prstGeom prst="ellipse">
            <a:avLst/>
          </a:prstGeom>
          <a:solidFill>
            <a:srgbClr val="00B4D8">
              <a:alpha val="40000"/>
            </a:srgbClr>
          </a:solidFill>
          <a:ln w="12700">
            <a:solidFill>
              <a:srgbClr val="00B4D8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  A C A D E M 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 / WEEK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 — Fri, Jul 10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2 — Inheritance · Encapsulation · Graded Project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 — Parent &amp; Child Classes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 lets a child class reuse and extend a parent class — promoting code reuse.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987552"/>
            <a:ext cx="47548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78992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 Person → Student / Teacher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212080" y="987552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394960" y="107899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Key Terms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03520" y="1508760"/>
            <a:ext cx="3337560" cy="530352"/>
          </a:xfrm>
          <a:prstGeom prst="roundRect">
            <a:avLst>
              <a:gd name="adj" fmla="val 8621"/>
            </a:avLst>
          </a:prstGeom>
          <a:solidFill>
            <a:srgbClr val="F3EE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76672" y="152704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76672" y="1764792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gets all parent attributes &amp; methods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303520" y="2148840"/>
            <a:ext cx="33375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376672" y="21671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super()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76672" y="2404872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parent class method/constructor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03520" y="2788920"/>
            <a:ext cx="3337560" cy="530352"/>
          </a:xfrm>
          <a:prstGeom prst="roundRect">
            <a:avLst>
              <a:gd name="adj" fmla="val 8621"/>
            </a:avLst>
          </a:prstGeom>
          <a:solidFill>
            <a:srgbClr val="F3EE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76672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Override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76672" y="3044952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redefines a parent method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03520" y="3429000"/>
            <a:ext cx="33375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376672" y="344728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isinstance()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76672" y="3685032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isinstance(s, Person) → True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303520" y="4069080"/>
            <a:ext cx="3337560" cy="530352"/>
          </a:xfrm>
          <a:prstGeom prst="roundRect">
            <a:avLst>
              <a:gd name="adj" fmla="val 8621"/>
            </a:avLst>
          </a:prstGeom>
          <a:solidFill>
            <a:srgbClr val="F3EE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76672" y="408736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issubclass()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6672" y="4325112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issubclass(Student, Person) → True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303520" y="4572000"/>
            <a:ext cx="3337560" cy="201168"/>
          </a:xfrm>
          <a:prstGeom prst="roundRect">
            <a:avLst>
              <a:gd name="adj" fmla="val 18182"/>
            </a:avLst>
          </a:prstGeom>
          <a:solidFill>
            <a:srgbClr val="E8F8FF"/>
          </a:solidFill>
          <a:ln/>
        </p:spPr>
      </p:sp>
      <p:sp>
        <p:nvSpPr>
          <p:cNvPr id="27" name="Text 25"/>
          <p:cNvSpPr/>
          <p:nvPr/>
        </p:nvSpPr>
        <p:spPr>
          <a:xfrm>
            <a:off x="5376672" y="45720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DRY: write Person once, reuse in Student &amp; Teacher!</a:t>
            </a:r>
            <a:endParaRPr lang="en-US" sz="900" dirty="0"/>
          </a:p>
        </p:txBody>
      </p:sp>
      <p:pic>
        <p:nvPicPr>
          <p:cNvPr id="28" name="Picture 2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D21BBC84-4A27-041A-50C2-C9C030D3F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43" y="1393371"/>
            <a:ext cx="3752171" cy="3750129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— Protecting Data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= hiding internal details and exposing only what's necessary. Prevents accidental modification.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846320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972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Bank Account Example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0" y="1005840"/>
            <a:ext cx="3520440" cy="38862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0" y="1097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Access Levels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508760"/>
            <a:ext cx="32461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22392" y="1764792"/>
            <a:ext cx="201168" cy="201168"/>
          </a:xfrm>
          <a:prstGeom prst="ellipse">
            <a:avLst/>
          </a:prstGeom>
          <a:solidFill>
            <a:srgbClr val="00C49A"/>
          </a:solidFill>
          <a:ln/>
        </p:spPr>
      </p:sp>
      <p:sp>
        <p:nvSpPr>
          <p:cNvPr id="13" name="Text 11"/>
          <p:cNvSpPr/>
          <p:nvPr/>
        </p:nvSpPr>
        <p:spPr>
          <a:xfrm>
            <a:off x="5687568" y="158191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87568" y="185623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87568" y="2112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from anywhere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94960" y="2560320"/>
            <a:ext cx="32461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22392" y="2816352"/>
            <a:ext cx="201168" cy="201168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18" name="Text 16"/>
          <p:cNvSpPr/>
          <p:nvPr/>
        </p:nvSpPr>
        <p:spPr>
          <a:xfrm>
            <a:off x="5687568" y="26334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87568" y="290779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self._balance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87568" y="316382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Convention: 'don't touch'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outside the class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94960" y="3611880"/>
            <a:ext cx="32461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22392" y="3867912"/>
            <a:ext cx="201168" cy="201168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23" name="Text 21"/>
          <p:cNvSpPr/>
          <p:nvPr/>
        </p:nvSpPr>
        <p:spPr>
          <a:xfrm>
            <a:off x="5687568" y="3685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87568" y="395935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D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self.__pin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87568" y="421538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Name-mangled. Raises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AttributeError if accessed</a:t>
            </a:r>
            <a:endParaRPr lang="en-US" sz="950" dirty="0"/>
          </a:p>
        </p:txBody>
      </p:sp>
      <p:pic>
        <p:nvPicPr>
          <p:cNvPr id="26" name="Picture 25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623C2AAD-2606-8C01-DD70-9929098E2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13" y="1398815"/>
            <a:ext cx="3392358" cy="3494315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Day 8 — Graded Project (Choose ONE)</a:t>
            </a:r>
            <a:endParaRPr lang="en-US" sz="2200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411480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749808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749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7772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Management Program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OOP-based student records system: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600200"/>
            <a:ext cx="3840480" cy="2926080"/>
          </a:xfrm>
          <a:prstGeom prst="roundRect">
            <a:avLst>
              <a:gd name="adj" fmla="val 2500"/>
            </a:avLst>
          </a:prstGeom>
          <a:solidFill>
            <a:srgbClr val="0D1B2A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StudentManager: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students = []  # class variable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add(self, name, marks):...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search(self, name):...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update(self, name, marks):...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get_top(self):...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print_report(self):...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Must include: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Encapsulation (_marks)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At least 5 methods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Error handling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File save/load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18888" y="749808"/>
            <a:ext cx="502920" cy="50292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18888" y="749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94960" y="77724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7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Banking System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298448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Account class with full banking ops: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00600" y="1600200"/>
            <a:ext cx="3840480" cy="2926080"/>
          </a:xfrm>
          <a:prstGeom prst="roundRect">
            <a:avLst>
              <a:gd name="adj" fmla="val 2500"/>
            </a:avLst>
          </a:prstGeom>
          <a:solidFill>
            <a:srgbClr val="0D1B2A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Account: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__init__(self, owner, bal):...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deposit(self, amount):...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withdraw(self, amount):...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transfer(self, acc, amount):...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get_statement(self):...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Must include: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Private __balance attribute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Input validation (negative $)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Transaction history (list)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Transfer between accounts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4800600"/>
            <a:ext cx="8549640" cy="274320"/>
          </a:xfrm>
          <a:prstGeom prst="roundRect">
            <a:avLst>
              <a:gd name="adj" fmla="val 16667"/>
            </a:avLst>
          </a:prstGeom>
          <a:solidFill>
            <a:srgbClr val="F0FAFF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480060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Fast finisher: attempt BOTH. The other one is your portfolio bonus!  |  🏆  Top 2 projects will be featured on Demo Day.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400300"/>
            <a:ext cx="2743200" cy="2743200"/>
          </a:xfrm>
          <a:prstGeom prst="ellipse">
            <a:avLst/>
          </a:prstGeom>
          <a:solidFill>
            <a:srgbClr val="9B5DE5">
              <a:alpha val="15000"/>
            </a:srgbClr>
          </a:solidFill>
          <a:ln w="12700">
            <a:solidFill>
              <a:srgbClr val="9B5DE5">
                <a:alpha val="1500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61258" y="274320"/>
            <a:ext cx="842554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Practice Questions — Day 8 (OOP Part 2)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65612" y="960120"/>
            <a:ext cx="8649788" cy="329837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28600" indent="-228600">
              <a:buAutoNum type="arabicPeriod"/>
            </a:pPr>
            <a:r>
              <a:rPr lang="en-US" dirty="0">
                <a:solidFill>
                  <a:srgbClr val="D4EEF7"/>
                </a:solidFill>
                <a:latin typeface="Calibri"/>
                <a:ea typeface="Calibri"/>
                <a:cs typeface="Calibri"/>
              </a:rPr>
              <a:t>Create a class Animal with a method speak(). Create subclasses Dog and Cat that override speak() with their own sounds. Create a list of mixed animals and call speak() on each.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228600" indent="-228600">
              <a:buAutoNum type="arabicPeriod"/>
            </a:pPr>
            <a:r>
              <a:rPr lang="en-US">
                <a:solidFill>
                  <a:srgbClr val="D4EEF7"/>
                </a:solidFill>
                <a:ea typeface="Calibri"/>
                <a:cs typeface="Calibri"/>
              </a:rPr>
              <a:t>Explain the difference between public, protected, and private attributes with a code example. Why would you use each one?</a:t>
            </a:r>
            <a:endParaRPr lang="en-US">
              <a:ea typeface="Calibri"/>
              <a:cs typeface="Calibri"/>
            </a:endParaRPr>
          </a:p>
          <a:p>
            <a:pPr marL="228600" indent="-228600">
              <a:buAutoNum type="arabicPeriod"/>
            </a:pPr>
            <a:r>
              <a:rPr lang="en-US" dirty="0">
                <a:solidFill>
                  <a:srgbClr val="D4EEF7"/>
                </a:solidFill>
                <a:ea typeface="Calibri"/>
                <a:cs typeface="Calibri"/>
              </a:rPr>
              <a:t>Create a class Shape with area() returning 0. Inherit Circle and Square from it, each with their own area() calculation. </a:t>
            </a:r>
            <a:r>
              <a:rPr lang="en-US">
                <a:solidFill>
                  <a:srgbClr val="D4EEF7"/>
                </a:solidFill>
                <a:ea typeface="Calibri"/>
                <a:cs typeface="Calibri"/>
              </a:rPr>
              <a:t>Test polymorphism</a:t>
            </a:r>
            <a:r>
              <a:rPr lang="en-US" dirty="0">
                <a:solidFill>
                  <a:srgbClr val="D4EEF7"/>
                </a:solidFill>
                <a:ea typeface="Calibri"/>
                <a:cs typeface="Calibri"/>
              </a:rPr>
              <a:t> by calling area() on a list of shapes.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 marL="228600" indent="-228600">
              <a:buAutoNum type="arabicPeriod"/>
            </a:pPr>
            <a:r>
              <a:rPr lang="en-US" dirty="0">
                <a:solidFill>
                  <a:srgbClr val="D4EEF7"/>
                </a:solidFill>
                <a:ea typeface="Calibri"/>
                <a:cs typeface="Calibri"/>
              </a:rPr>
              <a:t>Create a class Rectangle with private attributes __width and __height. Add getter/setter methods. Prevent negative values </a:t>
            </a:r>
            <a:r>
              <a:rPr lang="en-US">
                <a:solidFill>
                  <a:srgbClr val="D4EEF7"/>
                </a:solidFill>
                <a:ea typeface="Calibri"/>
                <a:cs typeface="Calibri"/>
              </a:rPr>
              <a:t>with validation</a:t>
            </a:r>
            <a:r>
              <a:rPr lang="en-US" dirty="0">
                <a:solidFill>
                  <a:srgbClr val="D4EEF7"/>
                </a:solidFill>
                <a:ea typeface="Calibri"/>
                <a:cs typeface="Calibri"/>
              </a:rPr>
              <a:t>.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 marL="228600" indent="-228600">
              <a:buAutoNum type="arabicPeriod"/>
            </a:pPr>
            <a:r>
              <a:rPr lang="en-US">
                <a:solidFill>
                  <a:srgbClr val="D4EEF7"/>
                </a:solidFill>
                <a:ea typeface="Calibri"/>
                <a:cs typeface="Calibri"/>
              </a:rPr>
              <a:t>What is method overriding? Show an example where a child class method produces different output than the parent's same-named method.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 marL="228600" indent="-228600">
              <a:buAutoNum type="arabicPeriod"/>
            </a:pPr>
            <a:endParaRPr lang="en-US" dirty="0">
              <a:solidFill>
                <a:srgbClr val="D4EEF7"/>
              </a:solidFill>
              <a:ea typeface="Calibri"/>
              <a:cs typeface="Calibri"/>
            </a:endParaRPr>
          </a:p>
          <a:p>
            <a:endParaRPr lang="en-US" dirty="0">
              <a:solidFill>
                <a:srgbClr val="D4EEF7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A2A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Recap — What You've Mastered!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56032" y="749808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20624" y="978408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846" y="107137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95097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05840" y="1316736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· Tuples · Dictionaries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 · Methods · Marks Program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090672" y="749808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55264" y="978408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86" y="107137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40480" y="95097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840480" y="1316736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Slicing · Palindrome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Counter · Patterns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925312" y="749808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89904" y="978408"/>
            <a:ext cx="457200" cy="457200"/>
          </a:xfrm>
          <a:prstGeom prst="ellipse">
            <a:avLst/>
          </a:prstGeom>
          <a:solidFill>
            <a:srgbClr val="F77F0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126" y="107137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75120" y="950976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Handling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675120" y="1316736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open/read/write · with block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module · Modes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256032" y="2414016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20624" y="2642616"/>
            <a:ext cx="457200" cy="45720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846" y="2708366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5840" y="261518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005840" y="2980944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try/except/finally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exceptions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090672" y="2414016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255264" y="2642616"/>
            <a:ext cx="457200" cy="457200"/>
          </a:xfrm>
          <a:prstGeom prst="ellipse">
            <a:avLst/>
          </a:prstGeom>
          <a:solidFill>
            <a:srgbClr val="9B5DE5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86" y="273558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840480" y="261518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1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3840480" y="2980944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· __init__ · self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&amp; Methods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5925312" y="2414016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089904" y="2642616"/>
            <a:ext cx="457200" cy="457200"/>
          </a:xfrm>
          <a:prstGeom prst="ellipse">
            <a:avLst/>
          </a:prstGeom>
          <a:solidFill>
            <a:srgbClr val="9B5DE5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1126" y="273558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675120" y="2615184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Part 2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6675120" y="2980944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 · super()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· Graded Project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3200400"/>
          </a:xfrm>
          <a:prstGeom prst="ellipse">
            <a:avLst/>
          </a:prstGeom>
          <a:solidFill>
            <a:srgbClr val="00B4D8">
              <a:alpha val="20000"/>
            </a:srgbClr>
          </a:solidFill>
          <a:ln w="12700">
            <a:solidFill>
              <a:srgbClr val="00B4D8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0"/>
            <a:ext cx="2011680" cy="2011680"/>
          </a:xfrm>
          <a:prstGeom prst="ellipse">
            <a:avLst/>
          </a:prstGeom>
          <a:solidFill>
            <a:srgbClr val="00B4D8">
              <a:alpha val="35000"/>
            </a:srgbClr>
          </a:solidFill>
          <a:ln w="12700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 Next 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— Frontend Basics (HTML · CSS · JavaScript)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1E3A4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581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24128" y="146304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 — Mon Jul 13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24128" y="1719072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Basics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6002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structure · headings · links · images · forms → Portfolio Page start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377440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1E3A4A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420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24128" y="24231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10 — Tue Jul 14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24128" y="2679192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Basics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25603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Selectors · box model · flexbox · responsive design → Portfolio styling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1E3A4A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5021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24128" y="33832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11 — Wed Jul 15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24128" y="3639312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Basics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83280" y="3520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· functions · DOM manipulation · events → Interactive Portfolio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343400"/>
            <a:ext cx="8412480" cy="384048"/>
          </a:xfrm>
          <a:prstGeom prst="roundRect">
            <a:avLst>
              <a:gd name="adj" fmla="val 14286"/>
            </a:avLst>
          </a:prstGeom>
          <a:solidFill>
            <a:srgbClr val="0D2A38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3434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Weekend Homework: Revisit all 5 days · Attempt bonus questions · Try extending the graded project!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0"/>
            <a:ext cx="4572000" cy="4572000"/>
          </a:xfrm>
          <a:prstGeom prst="ellipse">
            <a:avLst/>
          </a:prstGeom>
          <a:solidFill>
            <a:srgbClr val="0096B7">
              <a:alpha val="20000"/>
            </a:srgbClr>
          </a:solidFill>
          <a:ln w="12700">
            <a:solidFill>
              <a:srgbClr val="0096B7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0"/>
            <a:ext cx="2743200" cy="2743200"/>
          </a:xfrm>
          <a:prstGeom prst="ellipse">
            <a:avLst/>
          </a:prstGeom>
          <a:solidFill>
            <a:srgbClr val="00B4D8">
              <a:alpha val="35000"/>
            </a:srgbClr>
          </a:solidFill>
          <a:ln w="12700">
            <a:solidFill>
              <a:srgbClr val="00B4D8">
                <a:alpha val="35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71352" y="320040"/>
            <a:ext cx="74839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Work This Week!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02412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gone from Python basics to Object-Oriented Programming in one week 🚀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572768"/>
            <a:ext cx="8229600" cy="1417320"/>
          </a:xfrm>
          <a:prstGeom prst="roundRect">
            <a:avLst>
              <a:gd name="adj" fmla="val 6452"/>
            </a:avLst>
          </a:prstGeom>
          <a:solidFill>
            <a:srgbClr val="1A2A3A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— Before you leave, write: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0574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"Today I learned ___ and my one remaining doubt is ___"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3154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Monday for Week 3 — the web awaits! 🌐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 Academy  ·  Python Bootcamp  ·  July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25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Academy — Python Bootcamp — Week 2</dc:title>
  <dc:subject>PptxGenJS Presentation</dc:subject>
  <dc:creator>PptxGenJS</dc:creator>
  <cp:lastModifiedBy>PptxGenJS</cp:lastModifiedBy>
  <cp:revision>532</cp:revision>
  <dcterms:created xsi:type="dcterms:W3CDTF">2026-06-25T09:28:44Z</dcterms:created>
  <dcterms:modified xsi:type="dcterms:W3CDTF">2026-06-29T09:26:20Z</dcterms:modified>
</cp:coreProperties>
</file>