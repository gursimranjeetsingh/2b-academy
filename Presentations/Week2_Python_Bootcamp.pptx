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A87A39-AD9E-9A9C-8655-904CD7250E84}" v="490" dt="2026-06-26T07:13:16.957"/>
    <p1510:client id="{63F758A6-DFD6-692D-D637-865CC9576077}" v="186" dt="2026-06-26T05:31:14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2C1D7-725B-42A7-B0C3-42DB30EA6634}" type="datetimeFigureOut"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67B63-BC5A-4812-A2CE-E2B27930202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3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5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2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03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45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706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654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16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77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628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35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081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314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47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645920"/>
            <a:ext cx="4114800" cy="41148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822960"/>
            <a:ext cx="2743200" cy="27432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Bootcamp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Data Structures · Strings · Files &amp; Error Handling · OOP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 – Jul 10, 2026  |  Days 4–8  |  15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B3A4B"/>
          </a:solidFill>
          <a:ln/>
        </p:spPr>
      </p:sp>
      <p:sp>
        <p:nvSpPr>
          <p:cNvPr id="10" name="Text 7"/>
          <p:cNvSpPr/>
          <p:nvPr/>
        </p:nvSpPr>
        <p:spPr>
          <a:xfrm>
            <a:off x="448492" y="3154680"/>
            <a:ext cx="2373085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54680" y="31546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B3A4B"/>
          </a:solidFill>
          <a:ln/>
        </p:spPr>
      </p:sp>
      <p:sp>
        <p:nvSpPr>
          <p:cNvPr id="13" name="Text 9"/>
          <p:cNvSpPr/>
          <p:nvPr/>
        </p:nvSpPr>
        <p:spPr>
          <a:xfrm>
            <a:off x="3140529" y="3154680"/>
            <a:ext cx="2373085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&amp; Files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852160" y="3154680"/>
            <a:ext cx="2377440" cy="594360"/>
          </a:xfrm>
          <a:prstGeom prst="roundRect">
            <a:avLst>
              <a:gd name="adj" fmla="val 12308"/>
            </a:avLst>
          </a:prstGeom>
          <a:solidFill>
            <a:srgbClr val="1B3A4B"/>
          </a:solidFill>
          <a:ln/>
        </p:spPr>
      </p:sp>
      <p:sp>
        <p:nvSpPr>
          <p:cNvPr id="16" name="Text 11"/>
          <p:cNvSpPr/>
          <p:nvPr/>
        </p:nvSpPr>
        <p:spPr>
          <a:xfrm>
            <a:off x="5843452" y="3154680"/>
            <a:ext cx="2373085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Basics</a:t>
            </a:r>
            <a:endParaRPr lang="en-US" sz="1300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At-a-Glance — What We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50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713232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877824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7498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Jul 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9875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0" y="8961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· Tuples · Dicts · Student Marks Program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1655064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68680" y="1517904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1682496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7320" y="1554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Jul 7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417320" y="17922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0" y="1700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Palindrome · Patterns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74320" y="245973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5"/>
          <p:cNvSpPr/>
          <p:nvPr/>
        </p:nvSpPr>
        <p:spPr>
          <a:xfrm>
            <a:off x="274320" y="2459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68680" y="2322576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487168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2359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Jul 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417320" y="25968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+ Errors + Capstone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0" y="250545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· try/except · Module 1 Capstone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274320" y="32644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6" name="Text 21"/>
          <p:cNvSpPr/>
          <p:nvPr/>
        </p:nvSpPr>
        <p:spPr>
          <a:xfrm>
            <a:off x="27432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868680" y="3127248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32918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1638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Jul 9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417320" y="3401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572000" y="331012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Objects · Constructors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74320" y="4069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3" name="Text 27"/>
          <p:cNvSpPr/>
          <p:nvPr/>
        </p:nvSpPr>
        <p:spPr>
          <a:xfrm>
            <a:off x="2743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868680" y="3931920"/>
            <a:ext cx="7955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096512"/>
            <a:ext cx="320040" cy="32004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17320" y="39684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Jul 10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1417320" y="4206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2 + Project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72000" y="4114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· Encapsulation · Graded Project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Quick Recap — What You Already Know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601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473" y="1078557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Setup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20040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 + VS Code · First program ran!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84248" y="77724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487168" y="96012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893" y="1078557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75688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Types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75688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· float · str · bool · None · type()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739896" y="77724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42816" y="960120"/>
            <a:ext cx="594360" cy="594360"/>
          </a:xfrm>
          <a:prstGeom prst="ellipse">
            <a:avLst/>
          </a:prstGeom>
          <a:solidFill>
            <a:srgbClr val="F77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7769" y="1078557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31336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31336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· input() · f-strings · type conversion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95544" y="77724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98464" y="960120"/>
            <a:ext cx="594360" cy="594360"/>
          </a:xfrm>
          <a:prstGeom prst="ellipse">
            <a:avLst/>
          </a:prstGeom>
          <a:solidFill>
            <a:srgbClr val="00C49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3418" y="1078557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86984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586984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if/elif/else · for loops · while loops · break/continue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251192" y="77724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54112" y="960120"/>
            <a:ext cx="594360" cy="594360"/>
          </a:xfrm>
          <a:prstGeom prst="ellipse">
            <a:avLst/>
          </a:prstGeom>
          <a:solidFill>
            <a:srgbClr val="9B5DE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0837" y="1078557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42632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42632" y="210312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· parameters · return · default args · built-ins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28600" y="3246120"/>
            <a:ext cx="8686800" cy="411480"/>
          </a:xfrm>
          <a:prstGeom prst="roundRect">
            <a:avLst>
              <a:gd name="adj" fmla="val 13333"/>
            </a:avLst>
          </a:prstGeom>
          <a:solidFill>
            <a:srgbClr val="E8F8FF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3756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858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go deeper — data structures, files, errors, and object-oriented programming!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/ WEEK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— Mon, Jul 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Structures: Lists · Tuples · Dictionaries + Student Marks Program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Tuples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11480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Mutable · Allow Duplicates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38128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 </a:t>
            </a: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· remove · sort · pop · insert · index · count · reverse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713232"/>
            <a:ext cx="4206240" cy="425196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822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Tuples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· Immutable · Allow Duplicates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96097" y="4334691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3EE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41817" y="4334691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Tuple = List that cannot be changed. Use for constants.</a:t>
            </a:r>
            <a:endParaRPr lang="en-US" sz="1000" dirty="0"/>
          </a:p>
        </p:txBody>
      </p:sp>
      <p:pic>
        <p:nvPicPr>
          <p:cNvPr id="21" name="Picture 2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0FA9C52-4711-A08C-71C9-1603BE022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50" y="1453242"/>
            <a:ext cx="3834873" cy="2813958"/>
          </a:xfrm>
          <a:prstGeom prst="rect">
            <a:avLst/>
          </a:prstGeom>
        </p:spPr>
      </p:pic>
      <p:pic>
        <p:nvPicPr>
          <p:cNvPr id="22" name="Picture 2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1AEF015-3748-33A6-E8F2-EBBF63DFF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321" y="1426028"/>
            <a:ext cx="3569245" cy="2830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Dictionaries — Key-Value Pairs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57200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What is a Dictionary?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195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key: value pairs — like a real dictionary (word: definition). Keys must be unique.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685800"/>
            <a:ext cx="3794760" cy="42519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0" y="777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Methods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66360" y="1207008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0FAFF"/>
          </a:solidFill>
          <a:ln/>
        </p:spPr>
      </p:sp>
      <p:sp>
        <p:nvSpPr>
          <p:cNvPr id="12" name="Text 10"/>
          <p:cNvSpPr/>
          <p:nvPr/>
        </p:nvSpPr>
        <p:spPr>
          <a:xfrm>
            <a:off x="5230368" y="120700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.keys()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12070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keys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1636776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230368" y="16367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.values()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46520" y="16367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values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66360" y="2066544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0FAFF"/>
          </a:solidFill>
          <a:ln/>
        </p:spPr>
      </p:sp>
      <p:sp>
        <p:nvSpPr>
          <p:cNvPr id="18" name="Text 16"/>
          <p:cNvSpPr/>
          <p:nvPr/>
        </p:nvSpPr>
        <p:spPr>
          <a:xfrm>
            <a:off x="5230368" y="20665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.items()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0665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(key, value) pairs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2496312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230368" y="249631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.get(k)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46520" y="249631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access (no crash if missing)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926080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0FAFF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926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.pop(k)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9260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and return value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3355848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230368" y="3355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3355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key exists: 'name' in 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66360" y="3785616"/>
            <a:ext cx="3474720" cy="347472"/>
          </a:xfrm>
          <a:prstGeom prst="roundRect">
            <a:avLst>
              <a:gd name="adj" fmla="val 10526"/>
            </a:avLst>
          </a:prstGeom>
          <a:solidFill>
            <a:srgbClr val="F0FAFF"/>
          </a:solidFill>
          <a:ln/>
        </p:spPr>
      </p:sp>
      <p:sp>
        <p:nvSpPr>
          <p:cNvPr id="30" name="Text 28"/>
          <p:cNvSpPr/>
          <p:nvPr/>
        </p:nvSpPr>
        <p:spPr>
          <a:xfrm>
            <a:off x="5230368" y="37856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len(d)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378561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key-value pairs</a:t>
            </a:r>
            <a:endParaRPr lang="en-US" sz="1000" dirty="0"/>
          </a:p>
        </p:txBody>
      </p:sp>
      <p:pic>
        <p:nvPicPr>
          <p:cNvPr id="32" name="Picture 3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BEB4D31-C94D-F90D-579E-BA4C3E923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221" y="1475013"/>
            <a:ext cx="3157314" cy="33201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Practical — Student Marks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 names and marks in a dictionary. Compute average, highest, lowest. Print a formatted report.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078992"/>
            <a:ext cx="32461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2070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44768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Practice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42432" y="1572768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Dictionary creation &amp; iteration
• Built-in functions: sum / max / min
• f-string formatting (:&lt;15, :&gt;5.1f)
• Conditional expression (grade logic)</a:t>
            </a:r>
            <a:endParaRPr lang="en-US" sz="1000" dirty="0"/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C44B5CF-AF82-37E0-6A2C-D532196B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21" y="1034142"/>
            <a:ext cx="4047117" cy="40494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55815" y="274320"/>
            <a:ext cx="843098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 — Day 4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37755" y="780505"/>
            <a:ext cx="8377645" cy="354874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D4EEF7"/>
                </a:solidFill>
                <a:latin typeface="Calibri"/>
                <a:ea typeface="Calibri"/>
                <a:cs typeface="Calibri"/>
              </a:rPr>
              <a:t>Create a list of 5 numbers. Print the list reversed WITHOUT using .reverse() or reversed().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6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Given a dictionary of {country: capital}, write a function that takes a country name and returns its capital (or 'Not found').</a:t>
            </a:r>
            <a:endParaRPr lang="en-US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6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Create a list of student marks. Remove all students who scored below 40 (use a loop — not list comprehension).</a:t>
            </a:r>
            <a:endParaRPr lang="en-US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6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Convert a list of words into a dictionary where key = word, value = length of word. Example: ['hi', 'hello'] → {'hi':2, 'hello':5}</a:t>
            </a:r>
            <a:endParaRPr lang="en-US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sz="1600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Write a program to count how many times each letter appears in a given</a:t>
            </a:r>
            <a:r>
              <a:rPr lang="en-US" sz="16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 string using a dictionary.</a:t>
            </a:r>
            <a:endParaRPr lang="en-US" sz="16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/ WEEK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Tue, Jul 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Handling: Methods · Manipulation · Pattern Programs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Operations &amp; Methods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 sequences of characters. Python gives you a rich toolkit to work with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️  Indexing &amp; Slicing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4110663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immutable: s[0] = 'J' → TypeError!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1148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  String Methods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00600" y="411480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8E7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41148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Methods don't change the original string — they return a NEW string!</a:t>
            </a:r>
            <a:endParaRPr lang="en-US" sz="1000" dirty="0"/>
          </a:p>
        </p:txBody>
      </p:sp>
      <p:pic>
        <p:nvPicPr>
          <p:cNvPr id="16" name="Picture 15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D674A8B7-61D7-2DDD-FFB2-9FBF494F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19" y="1415141"/>
            <a:ext cx="3833174" cy="2460173"/>
          </a:xfrm>
          <a:prstGeom prst="rect">
            <a:avLst/>
          </a:prstGeom>
        </p:spPr>
      </p:pic>
      <p:pic>
        <p:nvPicPr>
          <p:cNvPr id="18" name="Picture 17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D981069-F350-EC76-4EE9-61AFBABAE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370" y="1528220"/>
            <a:ext cx="3891644" cy="2087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Lab — String Manipulation + Pattern Programs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519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384048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Palindrome Checker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68580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777240"/>
            <a:ext cx="374904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B4D8"/>
                </a:solidFill>
                <a:latin typeface="Calibri"/>
                <a:ea typeface="Calibri"/>
                <a:cs typeface="Calibri"/>
              </a:rPr>
              <a:t>Word &amp; Vowel Counter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496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77F00"/>
                </a:solidFill>
                <a:latin typeface="Calibri"/>
                <a:ea typeface="Calibri"/>
                <a:cs typeface="Calibri"/>
              </a:rPr>
              <a:t> Pattern Programs (Practical)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33832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1A3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401568"/>
            <a:ext cx="1737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*****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383280"/>
            <a:ext cx="1920240" cy="1325880"/>
          </a:xfrm>
          <a:prstGeom prst="roundRect">
            <a:avLst>
              <a:gd name="adj" fmla="val 4138"/>
            </a:avLst>
          </a:prstGeom>
          <a:solidFill>
            <a:srgbClr val="1A3A2A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401568"/>
            <a:ext cx="1737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1 2 3 4 5</a:t>
            </a:r>
            <a:endParaRPr lang="en-US" sz="1100" dirty="0"/>
          </a:p>
        </p:txBody>
      </p:sp>
      <p:pic>
        <p:nvPicPr>
          <p:cNvPr id="20" name="Picture 19" descr="A computer code with text on it&#10;&#10;AI-generated content may be incorrect.">
            <a:extLst>
              <a:ext uri="{FF2B5EF4-FFF2-40B4-BE49-F238E27FC236}">
                <a16:creationId xmlns:a16="http://schemas.microsoft.com/office/drawing/2014/main" id="{5E3AF8C3-C173-3EC2-B583-05649D97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43" y="1137767"/>
            <a:ext cx="3907972" cy="1414725"/>
          </a:xfrm>
          <a:prstGeom prst="rect">
            <a:avLst/>
          </a:prstGeom>
        </p:spPr>
      </p:pic>
      <p:pic>
        <p:nvPicPr>
          <p:cNvPr id="21" name="Picture 2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6CAA0860-0AD8-361C-E278-2F551726A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844" y="1068684"/>
            <a:ext cx="3314700" cy="1547447"/>
          </a:xfrm>
          <a:prstGeom prst="rect">
            <a:avLst/>
          </a:prstGeom>
        </p:spPr>
      </p:pic>
      <p:pic>
        <p:nvPicPr>
          <p:cNvPr id="22" name="Picture 2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E6F9E69-0B75-C636-A766-81EFE6A9A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958" y="3348931"/>
            <a:ext cx="3227615" cy="13847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21129" y="274320"/>
            <a:ext cx="836567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 — Day 5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20040" y="960120"/>
            <a:ext cx="8595360" cy="34507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AutoNum type="arabicPeriod"/>
            </a:pPr>
            <a:r>
              <a:rPr lang="en-US" sz="2000" dirty="0">
                <a:solidFill>
                  <a:srgbClr val="D4EEF7"/>
                </a:solidFill>
                <a:latin typeface="Calibri"/>
                <a:ea typeface="Calibri"/>
                <a:cs typeface="Calibri"/>
              </a:rPr>
              <a:t>Write a function that takes a sentence and returns it with every word capitalized (without using .title()).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sz="2000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Write a program that checks whether a given string is an anagram of another string. E.g. 'listen' and 'silent'.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 sz="20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Count the frequency of each character in a string. Print only characters that appear more than once.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 sz="200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Write a program to print a right-angled triangle of numbers. Row 1 = '1', Row 2 = '1 2', Row 3 = '1 2 3'…</a:t>
            </a:r>
            <a:endParaRPr lang="en-US" sz="2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 sz="2000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Remove all vowels from a given string. E.g. 'Python is fun' → '</a:t>
            </a:r>
            <a:r>
              <a:rPr lang="en-US" sz="2000" dirty="0" err="1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Pythn</a:t>
            </a:r>
            <a:r>
              <a:rPr lang="en-US" sz="2000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 s </a:t>
            </a:r>
            <a:r>
              <a:rPr lang="en-US" sz="2000" dirty="0" err="1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fn</a:t>
            </a:r>
            <a:r>
              <a:rPr lang="en-US" sz="2000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'.</a:t>
            </a:r>
            <a:endParaRPr lang="en-US" sz="2000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endParaRPr lang="en-US" sz="2000" dirty="0">
              <a:solidFill>
                <a:srgbClr val="D4EEF7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endParaRPr lang="en-US" sz="2000" dirty="0">
              <a:solidFill>
                <a:srgbClr val="D4EEF7"/>
              </a:solidFill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/ WEEK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Wed, Jul 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· Error Handling · Module 1 Capstone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— Reading &amp; Writing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256032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/>
                <a:ea typeface="Calibri"/>
                <a:cs typeface="Calibri"/>
              </a:rPr>
              <a:t>  File Modes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51760" cy="411480"/>
          </a:xfrm>
          <a:prstGeom prst="roundRect">
            <a:avLst>
              <a:gd name="adj" fmla="val 8889"/>
            </a:avLst>
          </a:prstGeom>
          <a:solidFill>
            <a:srgbClr val="F0FAFF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1704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1704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(default)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17043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must exist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73352"/>
            <a:ext cx="26517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167335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'w'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67335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67335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Creates/overwrites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76272"/>
            <a:ext cx="2651760" cy="411480"/>
          </a:xfrm>
          <a:prstGeom prst="roundRect">
            <a:avLst>
              <a:gd name="adj" fmla="val 8889"/>
            </a:avLst>
          </a:prstGeom>
          <a:solidFill>
            <a:srgbClr val="F0FA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2176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17627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17627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to end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679192"/>
            <a:ext cx="265176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67919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'r+'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67919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Write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679192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must exist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2926080" cy="13716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56432"/>
            <a:ext cx="292608" cy="29260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240" y="34290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11480" y="37490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'with' block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'w' mode deletes existing 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file after opening (with does it auto)</a:t>
            </a:r>
            <a:endParaRPr lang="en-US" sz="1000" dirty="0"/>
          </a:p>
        </p:txBody>
      </p:sp>
      <p:pic>
        <p:nvPicPr>
          <p:cNvPr id="30" name="Picture 2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E92CCEB-F183-5C8C-23DB-C240DBA73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346" y="685798"/>
            <a:ext cx="3281350" cy="43815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try · except · finally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try / except Syntax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4178808"/>
            <a:ext cx="4023360" cy="502920"/>
          </a:xfrm>
          <a:prstGeom prst="roundRect">
            <a:avLst>
              <a:gd name="adj" fmla="val 10909"/>
            </a:avLst>
          </a:prstGeom>
          <a:solidFill>
            <a:srgbClr val="FFF0F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7880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Catch specific exceptions first (ValueError), generic (Exception) last!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685800"/>
            <a:ext cx="4069080" cy="42062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Common Python Exceptions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207008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0" y="12070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value type: int('abc')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1645920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by zero: 10 /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084832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/>
        </p:spPr>
      </p:sp>
      <p:sp>
        <p:nvSpPr>
          <p:cNvPr id="19" name="Text 17"/>
          <p:cNvSpPr/>
          <p:nvPr/>
        </p:nvSpPr>
        <p:spPr>
          <a:xfrm>
            <a:off x="4919472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0" y="20848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type: '5' + 5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523744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19472" y="25237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IndexError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766560" y="252374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out of bounds: lst[99]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962656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66560" y="2962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dict key: d['x']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401568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401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FileNotFoundError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34015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open('ghost.txt', 'r')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840480"/>
            <a:ext cx="3794760" cy="365760"/>
          </a:xfrm>
          <a:prstGeom prst="roundRect">
            <a:avLst>
              <a:gd name="adj" fmla="val 10000"/>
            </a:avLst>
          </a:prstGeom>
          <a:solidFill>
            <a:srgbClr val="FFF0F3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not defined</a:t>
            </a:r>
            <a:endParaRPr lang="en-US" sz="950" dirty="0"/>
          </a:p>
        </p:txBody>
      </p:sp>
      <p:pic>
        <p:nvPicPr>
          <p:cNvPr id="33" name="Picture 3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58083F8-5802-CF53-66A2-BE63D84A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38" y="1208314"/>
            <a:ext cx="3559424" cy="28357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Capstone — File-Based Student Records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6751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everything from Module 1: read CSV → process → compute stats → write report → handle errors.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0" y="1005840"/>
            <a:ext cx="3154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11556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6364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33872" y="1536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Functions (DRY)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833872" y="173736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Dictionaries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833872" y="19385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File Handling (csv module)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33872" y="213969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Error Handling (try/except)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33872" y="234086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f-strings &amp; formatting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33872" y="254203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Loops &amp; conditionals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69280" y="3127248"/>
            <a:ext cx="3154680" cy="18288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32461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36208" y="32278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Ideas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833872" y="3611880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search function: find student by 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 and print top 3 students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Let user add new students via input()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Validate: marks must be 0–100</a:t>
            </a:r>
            <a:endParaRPr lang="en-US" sz="1000" dirty="0"/>
          </a:p>
        </p:txBody>
      </p:sp>
      <p:pic>
        <p:nvPicPr>
          <p:cNvPr id="20" name="Picture 1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0C64017-BD9D-7B31-09CB-7FB0EF17E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10" y="914400"/>
            <a:ext cx="3758765" cy="42018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/ WEEK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Thu, Jul 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Classes · Objects · Constructors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Object-Oriented Programming?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bundles data (attributes) + behaviour (methods) into one unit called a Class.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6977" y="1005840"/>
            <a:ext cx="4082143" cy="3999411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OOP (Day 4 approach)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0743" y="45445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 · prone to mistakes · no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51169" y="1005840"/>
            <a:ext cx="4372791" cy="3999411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OOP (today's approach)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634919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scalable · reusable · industry standard!</a:t>
            </a:r>
            <a:endParaRPr lang="en-US" sz="1000" dirty="0"/>
          </a:p>
        </p:txBody>
      </p:sp>
      <p:pic>
        <p:nvPicPr>
          <p:cNvPr id="15" name="Picture 1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31B1AD4-9341-C7D9-7D47-F8EBD798F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01" y="1415143"/>
            <a:ext cx="3871984" cy="2999015"/>
          </a:xfrm>
          <a:prstGeom prst="rect">
            <a:avLst/>
          </a:prstGeom>
        </p:spPr>
      </p:pic>
      <p:pic>
        <p:nvPicPr>
          <p:cNvPr id="16" name="Picture 1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B6FA393-CF7B-F448-E4A6-68FDE2953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586" y="1415142"/>
            <a:ext cx="3661399" cy="30697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Objects · __init__ Constructor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77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Anatomy of a Class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069080" cy="420624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777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Concepts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20700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3EEFF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120700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44768" y="120700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defines the structure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70992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70992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44768" y="170992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— a real thing made from class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3EEFF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221284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4768" y="221284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— sets up object on creation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71576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271576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44768" y="271576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the current object (always 1st param)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21868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3EEFF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1868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44768" y="321868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belonging to an object (self.name)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21608"/>
            <a:ext cx="379476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3721608"/>
            <a:ext cx="1188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44768" y="3721608"/>
            <a:ext cx="2423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belonging to a class (def greet(self):)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4251960"/>
            <a:ext cx="3794760" cy="411480"/>
          </a:xfrm>
          <a:prstGeom prst="roundRect">
            <a:avLst>
              <a:gd name="adj" fmla="val 13333"/>
            </a:avLst>
          </a:prstGeom>
          <a:solidFill>
            <a:srgbClr val="FFF8E7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class = cookie cutter. An object = the actual cookie!</a:t>
            </a:r>
            <a:endParaRPr lang="en-US" sz="1000" dirty="0"/>
          </a:p>
        </p:txBody>
      </p:sp>
      <p:pic>
        <p:nvPicPr>
          <p:cNvPr id="30" name="Picture 2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A864724-1EE3-BE74-B20A-FDF41F26A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6" y="1099457"/>
            <a:ext cx="3926091" cy="33800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9B5DE5">
              <a:alpha val="15000"/>
            </a:srgbClr>
          </a:solidFill>
          <a:ln w="12700">
            <a:solidFill>
              <a:srgbClr val="9B5DE5">
                <a:alpha val="1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1258" y="274320"/>
            <a:ext cx="84255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 — Day 7 (OOP Part 1)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38398" y="960120"/>
            <a:ext cx="8677002" cy="360861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AutoNum type="arabicPeriod"/>
            </a:pPr>
            <a:r>
              <a:rPr lang="en-US" dirty="0">
                <a:solidFill>
                  <a:srgbClr val="D4EEF7"/>
                </a:solidFill>
                <a:latin typeface="Calibri"/>
                <a:ea typeface="Calibri"/>
                <a:cs typeface="Calibri"/>
              </a:rPr>
              <a:t>Create a class Book with attributes: title, author, pages. Add a method summary() that prints all details neatly.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What happens if you forget the 'self' keyword in a method parameter? Show the error and explain why it occurs.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Create a class Car with attributes: brand, speed. Add a method accelerate(amount) that increases speed and a brake(amount)that decreases it (min speed = 0).</a:t>
            </a:r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Create a class Employee with: name, salary. Add a method </a:t>
            </a:r>
            <a:r>
              <a:rPr lang="en-US" dirty="0" err="1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give_raise</a:t>
            </a:r>
            <a:r>
              <a:rPr lang="en-US" dirty="0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(percent) that increases salary by the given percentage and prints the old and new salary.</a:t>
            </a:r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r>
              <a:rPr lang="en-US">
                <a:solidFill>
                  <a:srgbClr val="D4EEF7"/>
                </a:solidFill>
                <a:ea typeface="Calibri" panose="020F0502020204030204"/>
                <a:cs typeface="Calibri" panose="020F0502020204030204"/>
              </a:rPr>
              <a:t>What is the difference between a class and an object? Give a real-life analogy and show it in code.</a:t>
            </a:r>
            <a:endParaRPr lang="en-US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28600" indent="-228600">
              <a:buAutoNum type="arabicPeriod"/>
            </a:pPr>
            <a:endParaRPr lang="en-US" dirty="0">
              <a:solidFill>
                <a:srgbClr val="D4EEF7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77240" y="1737360"/>
            <a:ext cx="81381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D4EEF7"/>
              </a:solidFill>
              <a:ea typeface="Calibri"/>
              <a:cs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240" y="2514600"/>
            <a:ext cx="81381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D4EEF7"/>
              </a:solidFill>
              <a:ea typeface="Calibri"/>
              <a:cs typeface="Calibr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77240" y="3291840"/>
            <a:ext cx="81381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D4EEF7"/>
              </a:solidFill>
              <a:ea typeface="Calibri"/>
              <a:cs typeface="Calibr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7240" y="4069080"/>
            <a:ext cx="81381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1200" dirty="0">
              <a:solidFill>
                <a:srgbClr val="D4EEF7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3657600" cy="3657600"/>
          </a:xfrm>
          <a:prstGeom prst="ellipse">
            <a:avLst/>
          </a:prstGeom>
          <a:solidFill>
            <a:srgbClr val="0096B7">
              <a:alpha val="25000"/>
            </a:srgbClr>
          </a:solidFill>
          <a:ln w="12700">
            <a:solidFill>
              <a:srgbClr val="0096B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286000" cy="2286000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 A C A D E M 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/ WEEK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Fri, Jul 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2 — Inheritance · Encapsulation · Graded Project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— Parent &amp; Child Classes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lets a child class reuse and extend a parent class — promoting code reuse.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75488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Person → Student / Teacher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987552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10789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Terms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150876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3EEFF"/>
          </a:solidFill>
          <a:ln/>
        </p:spPr>
      </p:sp>
      <p:sp>
        <p:nvSpPr>
          <p:cNvPr id="12" name="Text 10"/>
          <p:cNvSpPr/>
          <p:nvPr/>
        </p:nvSpPr>
        <p:spPr>
          <a:xfrm>
            <a:off x="5376672" y="152704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76672" y="176479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gets all parent attributes &amp; methods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0" y="214884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376672" y="21671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40487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parent class method/constructor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78892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3EE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76672" y="280720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Override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76672" y="304495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redefines a parent method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342900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376672" y="34472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76672" y="368503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isinstance(s, Person) → True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03520" y="4069080"/>
            <a:ext cx="3337560" cy="530352"/>
          </a:xfrm>
          <a:prstGeom prst="roundRect">
            <a:avLst>
              <a:gd name="adj" fmla="val 8621"/>
            </a:avLst>
          </a:prstGeom>
          <a:solidFill>
            <a:srgbClr val="F3EE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76672" y="40873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issubclass()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76672" y="432511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issubclass(Student, Person) → True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03520" y="4572000"/>
            <a:ext cx="3337560" cy="201168"/>
          </a:xfrm>
          <a:prstGeom prst="roundRect">
            <a:avLst>
              <a:gd name="adj" fmla="val 18182"/>
            </a:avLst>
          </a:prstGeom>
          <a:solidFill>
            <a:srgbClr val="E8F8FF"/>
          </a:solidFill>
          <a:ln/>
        </p:spPr>
      </p:sp>
      <p:sp>
        <p:nvSpPr>
          <p:cNvPr id="27" name="Text 25"/>
          <p:cNvSpPr/>
          <p:nvPr/>
        </p:nvSpPr>
        <p:spPr>
          <a:xfrm>
            <a:off x="5376672" y="4572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DRY: write Person once, reuse in Student &amp; Teacher!</a:t>
            </a:r>
            <a:endParaRPr lang="en-US" sz="900" dirty="0"/>
          </a:p>
        </p:txBody>
      </p:sp>
      <p:pic>
        <p:nvPicPr>
          <p:cNvPr id="28" name="Picture 2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21BBC84-4A27-041A-50C2-C9C030D3F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43" y="1393371"/>
            <a:ext cx="3752171" cy="375012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— Protecting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= hiding internal details and exposing only what's necessary. Prevents accidental modification.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84632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Bank Account Example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00584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1097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Access Levels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508760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22392" y="1764792"/>
            <a:ext cx="201168" cy="201168"/>
          </a:xfrm>
          <a:prstGeom prst="ellipse">
            <a:avLst/>
          </a:prstGeom>
          <a:solidFill>
            <a:srgbClr val="00C49A"/>
          </a:solidFill>
          <a:ln/>
        </p:spPr>
      </p:sp>
      <p:sp>
        <p:nvSpPr>
          <p:cNvPr id="13" name="Text 11"/>
          <p:cNvSpPr/>
          <p:nvPr/>
        </p:nvSpPr>
        <p:spPr>
          <a:xfrm>
            <a:off x="5687568" y="15819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87568" y="185623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87568" y="211226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anywhere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2560320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22392" y="2816352"/>
            <a:ext cx="201168" cy="201168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8" name="Text 16"/>
          <p:cNvSpPr/>
          <p:nvPr/>
        </p:nvSpPr>
        <p:spPr>
          <a:xfrm>
            <a:off x="5687568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87568" y="29077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self._balance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87568" y="31638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'don't touch'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outside the class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3611880"/>
            <a:ext cx="3246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635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22392" y="3867912"/>
            <a:ext cx="201168" cy="201168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5687568" y="3685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87568" y="39593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5D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self.__pin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87568" y="42153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Name-mangled. Raises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AttributeError if accessed</a:t>
            </a:r>
            <a:endParaRPr lang="en-US" sz="950" dirty="0"/>
          </a:p>
        </p:txBody>
      </p:sp>
      <p:pic>
        <p:nvPicPr>
          <p:cNvPr id="26" name="Picture 25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623C2AAD-2606-8C01-DD70-9929098E2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13" y="1398815"/>
            <a:ext cx="3392358" cy="34943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Day 8 — Graded Project (Choose ONE)</a:t>
            </a:r>
            <a:endParaRPr lang="en-US" sz="22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749808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49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777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OOP-based student records system: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60020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StudentManager: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students = []  # class variable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add(self, name, marks):...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search(self, name):...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update(self, name, marks):...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get_top(self):...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print_report(self):...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Must include: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Encapsulation (_marks)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At least 5 methods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Error handling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File save/load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749808"/>
            <a:ext cx="502920" cy="50292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18888" y="749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777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Banking System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29844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Account class with full banking ops: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600200"/>
            <a:ext cx="3840480" cy="2926080"/>
          </a:xfrm>
          <a:prstGeom prst="roundRect">
            <a:avLst>
              <a:gd name="adj" fmla="val 2500"/>
            </a:avLst>
          </a:prstGeom>
          <a:solidFill>
            <a:srgbClr val="0D1B2A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owner, bal):...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deposit(self, amount):...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withdraw(self, amount):...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transfer(self, acc, amount):...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get_statement(self):...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Must include: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Private __balance attribute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Input validation (negative $)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Transaction history (list)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✅ Transfer between accounts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800600"/>
            <a:ext cx="8549640" cy="274320"/>
          </a:xfrm>
          <a:prstGeom prst="roundRect">
            <a:avLst>
              <a:gd name="adj" fmla="val 16667"/>
            </a:avLst>
          </a:prstGeom>
          <a:solidFill>
            <a:srgbClr val="F0FA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 finisher: attempt BOTH. The other one is your portfolio bonus!  |  🏆  Top 2 projects will be featured on Demo Day.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9B5DE5">
              <a:alpha val="15000"/>
            </a:srgbClr>
          </a:solidFill>
          <a:ln w="12700">
            <a:solidFill>
              <a:srgbClr val="9B5DE5">
                <a:alpha val="1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61258" y="274320"/>
            <a:ext cx="842554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Practice Questions — Day 8 (OOP Part 2)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65612" y="960120"/>
            <a:ext cx="8649788" cy="32983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28600" indent="-228600">
              <a:buAutoNum type="arabicPeriod"/>
            </a:pPr>
            <a:r>
              <a:rPr lang="en-US" dirty="0">
                <a:solidFill>
                  <a:srgbClr val="D4EEF7"/>
                </a:solidFill>
                <a:latin typeface="Calibri"/>
                <a:ea typeface="Calibri"/>
                <a:cs typeface="Calibri"/>
              </a:rPr>
              <a:t>Create a class Animal with a method speak(). Create subclasses Dog and Cat that override speak() with their own sounds. Create a list of mixed animals and call speak() on each.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solidFill>
                  <a:srgbClr val="D4EEF7"/>
                </a:solidFill>
                <a:ea typeface="Calibri"/>
                <a:cs typeface="Calibri"/>
              </a:rPr>
              <a:t>Explain the difference between public, protected, and private attributes with a code example. Why would you use each one?</a:t>
            </a:r>
            <a:endParaRPr lang="en-US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>
                <a:solidFill>
                  <a:srgbClr val="D4EEF7"/>
                </a:solidFill>
                <a:ea typeface="Calibri"/>
                <a:cs typeface="Calibri"/>
              </a:rPr>
              <a:t>Create a class Shape with area() returning 0. Inherit Circle and Square from it, each with their own area() calculation. </a:t>
            </a:r>
            <a:r>
              <a:rPr lang="en-US">
                <a:solidFill>
                  <a:srgbClr val="D4EEF7"/>
                </a:solidFill>
                <a:ea typeface="Calibri"/>
                <a:cs typeface="Calibri"/>
              </a:rPr>
              <a:t>Test polymorphism</a:t>
            </a:r>
            <a:r>
              <a:rPr lang="en-US" dirty="0">
                <a:solidFill>
                  <a:srgbClr val="D4EEF7"/>
                </a:solidFill>
                <a:ea typeface="Calibri"/>
                <a:cs typeface="Calibri"/>
              </a:rPr>
              <a:t> by calling area() on a list of shapes.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>
                <a:solidFill>
                  <a:srgbClr val="D4EEF7"/>
                </a:solidFill>
                <a:ea typeface="Calibri"/>
                <a:cs typeface="Calibri"/>
              </a:rPr>
              <a:t>Create a class Rectangle with private attributes __width and __height. Add getter/setter methods. Prevent negative values </a:t>
            </a:r>
            <a:r>
              <a:rPr lang="en-US">
                <a:solidFill>
                  <a:srgbClr val="D4EEF7"/>
                </a:solidFill>
                <a:ea typeface="Calibri"/>
                <a:cs typeface="Calibri"/>
              </a:rPr>
              <a:t>with validation</a:t>
            </a:r>
            <a:r>
              <a:rPr lang="en-US" dirty="0">
                <a:solidFill>
                  <a:srgbClr val="D4EEF7"/>
                </a:solidFill>
                <a:ea typeface="Calibri"/>
                <a:cs typeface="Calibri"/>
              </a:rPr>
              <a:t>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solidFill>
                  <a:srgbClr val="D4EEF7"/>
                </a:solidFill>
                <a:ea typeface="Calibri"/>
                <a:cs typeface="Calibri"/>
              </a:rPr>
              <a:t>What is method overriding? Show an example where a child class method produces different output than the parent's same-named method.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endParaRPr lang="en-US" dirty="0">
              <a:solidFill>
                <a:srgbClr val="D4EEF7"/>
              </a:solidFill>
              <a:ea typeface="Calibri"/>
              <a:cs typeface="Calibri"/>
            </a:endParaRPr>
          </a:p>
          <a:p>
            <a:endParaRPr lang="en-US" dirty="0">
              <a:solidFill>
                <a:srgbClr val="D4EEF7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B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Recap — What You've Mastered!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749808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0624" y="9784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46" y="10713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9509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13167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· Tuples · Dictionaries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· Methods · Marks Program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90672" y="749808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55264" y="97840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486" y="10713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9509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0" y="13167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· Slicing · Palindrome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Counter · Patterns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25312" y="749808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89904" y="978408"/>
            <a:ext cx="457200" cy="457200"/>
          </a:xfrm>
          <a:prstGeom prst="ellipse">
            <a:avLst/>
          </a:prstGeom>
          <a:solidFill>
            <a:srgbClr val="F77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126" y="10713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75120" y="9509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75120" y="1316736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open/read/write · with block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module · Modes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56032" y="2414016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0624" y="2642616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846" y="270836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" y="26151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05840" y="298094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try/except/finally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090672" y="2414016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55264" y="2642616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486" y="273558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26151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840480" y="298094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· __init__ · self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&amp; Methods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925312" y="2414016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89904" y="2642616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126" y="273558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75120" y="261518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2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675120" y="2980944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· super()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· Graded Project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 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— Frontend Basics (HTML · CSS · JavaScript)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3A4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24128" y="14630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Mon Jul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4128" y="171907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6002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· headings · links · images · forms → Portfolio Page start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3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5420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24128" y="24231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Tue Jul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267919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· box model · flexbox · responsive design → Portfolio styling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37560"/>
            <a:ext cx="8412480" cy="804672"/>
          </a:xfrm>
          <a:prstGeom prst="roundRect">
            <a:avLst>
              <a:gd name="adj" fmla="val 9091"/>
            </a:avLst>
          </a:prstGeom>
          <a:solidFill>
            <a:srgbClr val="1E3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02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24128" y="33832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 — Wed Jul 15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3639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Basics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· functions · DOM manipulation · events → Interactive Portfolio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34340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0D2A3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343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Weekend Homework: Revisit all 5 days · Attempt bonus questions · Try extending the graded project!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096B7">
              <a:alpha val="20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548640"/>
            <a:ext cx="2743200" cy="274320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71352" y="320040"/>
            <a:ext cx="7483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This Week!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241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gone from Python basics to Object-Oriented Programming in one week 🚀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72768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1A2A3A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— Before you leave, write: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2057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"Today I learned ___ and my one remaining doubt is ___"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154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Monday for Week 3 — the web awaits! 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 Academy  ·  Python Bootcamp  · 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Academy — Python Bootcamp — Week 2</dc:title>
  <dc:subject>PptxGenJS Presentation</dc:subject>
  <dc:creator>PptxGenJS</dc:creator>
  <cp:lastModifiedBy>PptxGenJS</cp:lastModifiedBy>
  <cp:revision>333</cp:revision>
  <dcterms:created xsi:type="dcterms:W3CDTF">2026-06-25T09:28:44Z</dcterms:created>
  <dcterms:modified xsi:type="dcterms:W3CDTF">2026-06-26T07:14:02Z</dcterms:modified>
</cp:coreProperties>
</file>