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59" r:id="rId3"/>
    <p:sldId id="260" r:id="rId4"/>
    <p:sldId id="261" r:id="rId5"/>
    <p:sldId id="282" r:id="rId6"/>
    <p:sldId id="262" r:id="rId7"/>
    <p:sldId id="289" r:id="rId8"/>
    <p:sldId id="290" r:id="rId9"/>
    <p:sldId id="291" r:id="rId10"/>
    <p:sldId id="283" r:id="rId11"/>
    <p:sldId id="284" r:id="rId12"/>
    <p:sldId id="285" r:id="rId13"/>
    <p:sldId id="286" r:id="rId14"/>
    <p:sldId id="287" r:id="rId15"/>
    <p:sldId id="288" r:id="rId16"/>
    <p:sldId id="292" r:id="rId17"/>
    <p:sldId id="264" r:id="rId18"/>
    <p:sldId id="293" r:id="rId19"/>
    <p:sldId id="294" r:id="rId20"/>
    <p:sldId id="295" r:id="rId21"/>
    <p:sldId id="265" r:id="rId22"/>
    <p:sldId id="266" r:id="rId23"/>
    <p:sldId id="267" r:id="rId24"/>
    <p:sldId id="268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271" r:id="rId36"/>
    <p:sldId id="272" r:id="rId37"/>
    <p:sldId id="273" r:id="rId38"/>
    <p:sldId id="306" r:id="rId39"/>
    <p:sldId id="274" r:id="rId40"/>
    <p:sldId id="307" r:id="rId41"/>
    <p:sldId id="308" r:id="rId42"/>
    <p:sldId id="309" r:id="rId43"/>
    <p:sldId id="310" r:id="rId44"/>
    <p:sldId id="276" r:id="rId45"/>
    <p:sldId id="275" r:id="rId46"/>
    <p:sldId id="311" r:id="rId47"/>
    <p:sldId id="312" r:id="rId48"/>
    <p:sldId id="313" r:id="rId49"/>
    <p:sldId id="314" r:id="rId50"/>
    <p:sldId id="315" r:id="rId51"/>
    <p:sldId id="277" r:id="rId52"/>
    <p:sldId id="278" r:id="rId53"/>
    <p:sldId id="279" r:id="rId54"/>
    <p:sldId id="280" r:id="rId55"/>
    <p:sldId id="281" r:id="rId5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62ECE7-6A30-FE4C-407D-8899E0536EEA}" v="66" dt="2026-06-30T15:19:42.183"/>
    <p1510:client id="{8523DE7F-0155-E928-A5C5-657E0752427F}" v="3" dt="2026-06-29T09:47:33.804"/>
    <p1510:client id="{C9FF244D-90AE-8FB4-AC6D-56192B7222B7}" v="22" dt="2026-06-29T07:36:36.760"/>
    <p1510:client id="{FB4D492C-B246-CA66-36B6-D0A7986D01AE}" v="75" dt="2026-06-29T11:43:52.7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649CE-33BC-42C5-BC4D-3398AA877E63}" type="datetimeFigureOut"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DFFD18-7037-477F-B7D6-B8BC51CFD3E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05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everyone! Introduce yourself and the bootcamp. This is Day 1 of a 22-day journey. The energy you set today defines the whole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Who has heard of Python? Who has tried coding before? Use Netflix, Instagram, YouTube as examples of Python-powered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 live on the projector. Watch the room — help anyone who gets stuck. Don't move on until everyone has python --version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A function is like a recipe. You write it once, then cook it (call it) whenever you want. You don't rewrite the recipe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F3809-0AEE-48B5-3ADC-9A9C584CB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A047F7-77A5-85AC-FC01-148A94057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F4C6C0-5E3E-AF55-A66D-C5FACF1CD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1B8CE-1A4C-7EF5-4694-A31F3B56E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810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92C7A-009B-0CFA-F6EA-67ADC6C23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BC2E14-1D2F-74A5-3822-9F9779B95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3F6C31-B53A-1FDD-04E9-29492C164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5C48D-E9A5-0344-8A41-D78DA5110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719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FED1E-2560-0BAE-CB66-21E413A1F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E2F04-7BD0-6BB0-9DFE-491F3C11E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B037A-8114-2ECD-2EA1-1E59B79CD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1EB88-C486-E484-4812-5C8821A1D4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346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92FD0-DC5A-C796-5AE1-01F0E8139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E7E02-D56B-CD56-F050-7785549F4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F0DA8B-946D-548F-228A-DA9D95461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80F3F-0EA1-2418-A14F-76ABC95C1A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0177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F254-21E2-9249-C4C8-9B85ABCD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165A-7B4C-A091-1E8F-EFA637466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31E99-04C3-C39C-D269-D4895C93A3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D709A-A4B3-C8D0-5A1B-0EF17FF23D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376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End-of-week recap! Ask students to write their 'today I learned' exit ticket. Read these before Week 2 starts to identify who needs extra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week on a high note! Tell them what they'll BUILD by end of Week 2 — a student records system saved to a file with OOP. It sounds impressive now!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 the exit tickets physically or ask them to type in a shared doc. Review them tonight and plan any re-teaching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ngall.com/nasa-png" TargetMode="External"/><Relationship Id="rId3" Type="http://schemas.openxmlformats.org/officeDocument/2006/relationships/hyperlink" Target="https://www.pluginsxbmc.com/2018/01/como-ver-netflix-con-kodi.html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echnofaq.org/posts/2020/10/tunelf-spotify-music-converter-download-spotify-songs-to-mp3/" TargetMode="External"/><Relationship Id="rId11" Type="http://schemas.openxmlformats.org/officeDocument/2006/relationships/image" Target="../media/image1.png"/><Relationship Id="rId5" Type="http://schemas.openxmlformats.org/officeDocument/2006/relationships/image" Target="../media/image4.png"/><Relationship Id="rId10" Type="http://schemas.openxmlformats.org/officeDocument/2006/relationships/hyperlink" Target="http://educacion-con-tic.blogspot.com.es/" TargetMode="External"/><Relationship Id="rId4" Type="http://schemas.openxmlformats.org/officeDocument/2006/relationships/image" Target="../media/image3.jpe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560320"/>
            <a:ext cx="2743200" cy="274320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91440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Bootcamp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90B4C5"/>
                </a:solidFill>
              </a:rPr>
              <a:t>Week 1 — Python Fundamentals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B4D8"/>
                </a:solidFill>
              </a:rPr>
              <a:t>Jul 1 – Jul 3, 2026  |  Days 1-3  |  9 Hours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🐍  Python 3.x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1752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💻  VS Code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0" y="365760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3657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🚀  Beginner Friendly</a:t>
            </a:r>
            <a:endParaRPr lang="en-US" sz="1400" dirty="0"/>
          </a:p>
        </p:txBody>
      </p:sp>
      <p:pic>
        <p:nvPicPr>
          <p:cNvPr id="14" name="Picture 13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77A5D50A-AF60-7E54-D08A-FCD7ED2EA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9" y="510268"/>
            <a:ext cx="1861458" cy="775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At-a-Glance — What We Cover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51560" y="1005840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10058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1  (Wed Jul 1)  — Python Setup, Variables, Data Types, Operators, I/O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719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51560" y="1719072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88720" y="171907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2  (Thu Jul 2)  — Control Statements: if-else, Loops + Number Guessing Game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" y="2432304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4323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51560" y="2432304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188720" y="2432304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3  (Fri Jul 3)  — Functions, DRY Principle, Built-ins + Quiz Scorer Project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145536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51560" y="3145536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188720" y="3145536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Weekend —  Practice! Revisit all 3 days' code, attempt bonus exercises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760" y="3858768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8587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51560" y="3858768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88720" y="3858768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Coming up Week 2 → Data Structures, Strings, File Handling, OOP Basics</a:t>
            </a:r>
            <a:endParaRPr lang="en-US" sz="1500" dirty="0"/>
          </a:p>
        </p:txBody>
      </p:sp>
      <p:pic>
        <p:nvPicPr>
          <p:cNvPr id="25" name="Picture 24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36ADA6C5-BCA3-4B8C-2579-1F0143693D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1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1 — Wed, Jul 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Orientation + Python Basics: Setup · Variables · I/O · Operators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37A2BF8F-994C-E148-012B-21C716422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is Python?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Python is an interpreted, high-level, beginner-friendly programming language — readable, powerful, and used everywhere.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Web Dev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Django · Flask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Powerful backends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🤖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1168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AI / 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1168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TensorFlow · scikit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What we'll build!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74904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Data Science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4904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Pandas · NumPy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Analyse anything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⚙️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48640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Automation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Scripts · bots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Save hours of 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2376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22376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Game Dev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PyGame · Arcade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For fun projects</a:t>
            </a:r>
            <a:endParaRPr lang="en-US" sz="1200" dirty="0"/>
          </a:p>
        </p:txBody>
      </p:sp>
      <p:pic>
        <p:nvPicPr>
          <p:cNvPr id="26" name="Picture 25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016CBBE1-307A-9472-F437-CC1553B72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FFFFFF"/>
                </a:solidFill>
              </a:rPr>
              <a:t>Python in the Real World</a:t>
            </a:r>
            <a:endParaRPr lang="en-US" sz="2400"/>
          </a:p>
        </p:txBody>
      </p:sp>
      <p:sp>
        <p:nvSpPr>
          <p:cNvPr id="4" name="Subtitle"/>
          <p:cNvSpPr/>
          <p:nvPr/>
        </p:nvSpPr>
        <p:spPr>
          <a:xfrm>
            <a:off x="365760" y="914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>
                <a:solidFill>
                  <a:srgbClr val="0D1B2A"/>
                </a:solidFill>
              </a:rPr>
              <a:t>From Instagram to NASA — Python powers products used by billions of people every day.</a:t>
            </a:r>
            <a:endParaRPr lang="en-US" sz="1500"/>
          </a:p>
        </p:txBody>
      </p:sp>
      <p:sp>
        <p:nvSpPr>
          <p:cNvPr id="5" name="Card 1"/>
          <p:cNvSpPr/>
          <p:nvPr/>
        </p:nvSpPr>
        <p:spPr>
          <a:xfrm>
            <a:off x="27432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Label 1"/>
          <p:cNvSpPr/>
          <p:nvPr/>
        </p:nvSpPr>
        <p:spPr>
          <a:xfrm>
            <a:off x="27432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Instagram</a:t>
            </a:r>
            <a:endParaRPr lang="en-US" sz="1400"/>
          </a:p>
        </p:txBody>
      </p:sp>
      <p:sp>
        <p:nvSpPr>
          <p:cNvPr id="8" name="Desc 1"/>
          <p:cNvSpPr/>
          <p:nvPr/>
        </p:nvSpPr>
        <p:spPr>
          <a:xfrm>
            <a:off x="365760" y="2962003"/>
            <a:ext cx="1417320" cy="515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Backend built on Django, serving 2B+ users</a:t>
            </a:r>
            <a:endParaRPr lang="en-US" sz="1200"/>
          </a:p>
        </p:txBody>
      </p:sp>
      <p:sp>
        <p:nvSpPr>
          <p:cNvPr id="9" name="Card 2"/>
          <p:cNvSpPr/>
          <p:nvPr/>
        </p:nvSpPr>
        <p:spPr>
          <a:xfrm>
            <a:off x="201168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Label 2"/>
          <p:cNvSpPr/>
          <p:nvPr/>
        </p:nvSpPr>
        <p:spPr>
          <a:xfrm>
            <a:off x="201168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Netflix</a:t>
            </a:r>
            <a:endParaRPr lang="en-US" sz="1400"/>
          </a:p>
        </p:txBody>
      </p:sp>
      <p:sp>
        <p:nvSpPr>
          <p:cNvPr id="12" name="Desc 2"/>
          <p:cNvSpPr/>
          <p:nvPr/>
        </p:nvSpPr>
        <p:spPr>
          <a:xfrm>
            <a:off x="2103120" y="2962003"/>
            <a:ext cx="1417320" cy="559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Recommendation engine &amp; workflow automation</a:t>
            </a:r>
            <a:endParaRPr lang="en-US" sz="1200"/>
          </a:p>
        </p:txBody>
      </p:sp>
      <p:sp>
        <p:nvSpPr>
          <p:cNvPr id="13" name="Card 3"/>
          <p:cNvSpPr/>
          <p:nvPr/>
        </p:nvSpPr>
        <p:spPr>
          <a:xfrm>
            <a:off x="374904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Label 3"/>
          <p:cNvSpPr/>
          <p:nvPr/>
        </p:nvSpPr>
        <p:spPr>
          <a:xfrm>
            <a:off x="374904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Spotify</a:t>
            </a:r>
            <a:endParaRPr lang="en-US" sz="1400"/>
          </a:p>
        </p:txBody>
      </p:sp>
      <p:sp>
        <p:nvSpPr>
          <p:cNvPr id="16" name="Desc 3"/>
          <p:cNvSpPr/>
          <p:nvPr/>
        </p:nvSpPr>
        <p:spPr>
          <a:xfrm>
            <a:off x="384048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Data pipelines that power Discover Weekly</a:t>
            </a:r>
            <a:endParaRPr lang="en-US" sz="1200"/>
          </a:p>
        </p:txBody>
      </p:sp>
      <p:sp>
        <p:nvSpPr>
          <p:cNvPr id="17" name="Card 4"/>
          <p:cNvSpPr/>
          <p:nvPr/>
        </p:nvSpPr>
        <p:spPr>
          <a:xfrm>
            <a:off x="548640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Label 4"/>
          <p:cNvSpPr/>
          <p:nvPr/>
        </p:nvSpPr>
        <p:spPr>
          <a:xfrm>
            <a:off x="548640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NASA</a:t>
            </a:r>
            <a:endParaRPr lang="en-US" sz="1400"/>
          </a:p>
        </p:txBody>
      </p:sp>
      <p:sp>
        <p:nvSpPr>
          <p:cNvPr id="20" name="Desc 4"/>
          <p:cNvSpPr/>
          <p:nvPr/>
        </p:nvSpPr>
        <p:spPr>
          <a:xfrm>
            <a:off x="557784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Scientific computing &amp; mission data analysis</a:t>
            </a:r>
            <a:endParaRPr lang="en-US" sz="1200"/>
          </a:p>
        </p:txBody>
      </p:sp>
      <p:sp>
        <p:nvSpPr>
          <p:cNvPr id="21" name="Card 5"/>
          <p:cNvSpPr/>
          <p:nvPr/>
        </p:nvSpPr>
        <p:spPr>
          <a:xfrm>
            <a:off x="7223760" y="1554480"/>
            <a:ext cx="160020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Label 5"/>
          <p:cNvSpPr/>
          <p:nvPr/>
        </p:nvSpPr>
        <p:spPr>
          <a:xfrm>
            <a:off x="7223760" y="2649583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B4D8"/>
                </a:solidFill>
              </a:rPr>
              <a:t>Dropbox</a:t>
            </a:r>
            <a:endParaRPr lang="en-US" sz="1400"/>
          </a:p>
        </p:txBody>
      </p:sp>
      <p:sp>
        <p:nvSpPr>
          <p:cNvPr id="24" name="Desc 5"/>
          <p:cNvSpPr/>
          <p:nvPr/>
        </p:nvSpPr>
        <p:spPr>
          <a:xfrm>
            <a:off x="7315200" y="2972889"/>
            <a:ext cx="141732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45566"/>
                </a:solidFill>
              </a:rPr>
              <a:t>Desktop app &amp; file sync engine in Python</a:t>
            </a:r>
            <a:endParaRPr lang="en-US" sz="1200"/>
          </a:p>
        </p:txBody>
      </p:sp>
      <p:sp>
        <p:nvSpPr>
          <p:cNvPr id="25" name="Power Band"/>
          <p:cNvSpPr/>
          <p:nvPr/>
        </p:nvSpPr>
        <p:spPr>
          <a:xfrm>
            <a:off x="274320" y="3840480"/>
            <a:ext cx="8549640" cy="100584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Power Text"/>
          <p:cNvSpPr/>
          <p:nvPr/>
        </p:nvSpPr>
        <p:spPr>
          <a:xfrm>
            <a:off x="548640" y="38862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0B4D8"/>
                </a:solidFill>
              </a:rPr>
              <a:t>Why Python is so powerful</a:t>
            </a:r>
            <a:endParaRPr lang="en-US" sz="1500"/>
          </a:p>
          <a:p>
            <a:pPr marL="0" indent="0" algn="ctr">
              <a:buNone/>
            </a:pPr>
            <a:r>
              <a:rPr lang="en-US" sz="1300">
                <a:solidFill>
                  <a:srgbClr val="FFFFFF"/>
                </a:solidFill>
              </a:rPr>
              <a:t>Simple, readable syntax  •  400,000+ ready-made libraries  •  Runs on every platform  •  Scales to billions of users</a:t>
            </a:r>
            <a:endParaRPr lang="en-US" sz="1300"/>
          </a:p>
        </p:txBody>
      </p:sp>
      <p:pic>
        <p:nvPicPr>
          <p:cNvPr id="27" name="Picture 26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D68F464E-33D4-3B14-83CD-13F4B2F27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340429" y="1608364"/>
            <a:ext cx="941615" cy="941615"/>
          </a:xfrm>
          <a:prstGeom prst="rect">
            <a:avLst/>
          </a:prstGeom>
        </p:spPr>
      </p:pic>
      <p:pic>
        <p:nvPicPr>
          <p:cNvPr id="30" name="Picture 29" descr="Instagram Símbolo Logotipo · Imagens grátis no Pixabay">
            <a:extLst>
              <a:ext uri="{FF2B5EF4-FFF2-40B4-BE49-F238E27FC236}">
                <a16:creationId xmlns:a16="http://schemas.microsoft.com/office/drawing/2014/main" id="{3E19AFE7-5536-93A1-FB2A-D7BF670D5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14" y="1585232"/>
            <a:ext cx="995657" cy="987879"/>
          </a:xfrm>
          <a:prstGeom prst="rect">
            <a:avLst/>
          </a:prstGeom>
        </p:spPr>
      </p:pic>
      <p:pic>
        <p:nvPicPr>
          <p:cNvPr id="31" name="Picture 30" descr="A white circle with three lines in it&#10;&#10;AI-generated content may be incorrect.">
            <a:extLst>
              <a:ext uri="{FF2B5EF4-FFF2-40B4-BE49-F238E27FC236}">
                <a16:creationId xmlns:a16="http://schemas.microsoft.com/office/drawing/2014/main" id="{66E62CF0-8C88-1325-8926-137F7FB186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954791" y="1743076"/>
            <a:ext cx="1190874" cy="672193"/>
          </a:xfrm>
          <a:prstGeom prst="rect">
            <a:avLst/>
          </a:prstGeom>
        </p:spPr>
      </p:pic>
      <p:pic>
        <p:nvPicPr>
          <p:cNvPr id="34" name="Picture 33" descr="A logo with a red and white circle&#10;&#10;AI-generated content may be incorrect.">
            <a:extLst>
              <a:ext uri="{FF2B5EF4-FFF2-40B4-BE49-F238E27FC236}">
                <a16:creationId xmlns:a16="http://schemas.microsoft.com/office/drawing/2014/main" id="{3D7BE65E-A5F2-90D1-0B92-FB4BD3052A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790895" y="1661432"/>
            <a:ext cx="996648" cy="840922"/>
          </a:xfrm>
          <a:prstGeom prst="rect">
            <a:avLst/>
          </a:prstGeom>
        </p:spPr>
      </p:pic>
      <p:pic>
        <p:nvPicPr>
          <p:cNvPr id="37" name="Picture 36" descr="A blue logo with black background&#10;&#10;AI-generated content may be incorrect.">
            <a:extLst>
              <a:ext uri="{FF2B5EF4-FFF2-40B4-BE49-F238E27FC236}">
                <a16:creationId xmlns:a16="http://schemas.microsoft.com/office/drawing/2014/main" id="{05C1EB94-C64C-5799-8E59-D5D244B129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602310" y="1666875"/>
            <a:ext cx="840922" cy="835479"/>
          </a:xfrm>
          <a:prstGeom prst="rect">
            <a:avLst/>
          </a:prstGeom>
        </p:spPr>
      </p:pic>
      <p:pic>
        <p:nvPicPr>
          <p:cNvPr id="10" name="Picture 9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8AF36E47-7ED3-C470-5BED-2F739D7FF21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Environment Setup (Do This Together!)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60120" y="9601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9601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Download Python 3.x  </a:t>
            </a:r>
            <a:r>
              <a:rPr lang="en-US" sz="1300" dirty="0">
                <a:solidFill>
                  <a:srgbClr val="445566"/>
                </a:solidFill>
              </a:rPr>
              <a:t>— Go to python.org → Downloads → Install with 'Add to PATH' checked 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801368"/>
            <a:ext cx="502920" cy="50292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60120" y="1755648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7556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Verify Installation  </a:t>
            </a:r>
            <a:r>
              <a:rPr lang="en-US" sz="1300" dirty="0">
                <a:solidFill>
                  <a:srgbClr val="445566"/>
                </a:solidFill>
              </a:rPr>
              <a:t>— Open terminal/cmd → type:  python --version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445566"/>
                </a:solidFill>
              </a:rPr>
              <a:t>You should see: Python 3.x.x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596896"/>
            <a:ext cx="502920" cy="5029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596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60120" y="2551176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2551176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Install VS Code  </a:t>
            </a:r>
            <a:r>
              <a:rPr lang="en-US" sz="1300" dirty="0">
                <a:solidFill>
                  <a:srgbClr val="445566"/>
                </a:solidFill>
              </a:rPr>
              <a:t>— Go to code.visualstudio.com → Download → Install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392424"/>
            <a:ext cx="502920" cy="50292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60120" y="3346704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3346704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Python Extension  </a:t>
            </a:r>
            <a:r>
              <a:rPr lang="en-US" sz="1300" dirty="0">
                <a:solidFill>
                  <a:srgbClr val="445566"/>
                </a:solidFill>
              </a:rPr>
              <a:t>— Open VS Code → Extensions (Ctrl+Shift+X) → Search 'Python' → Install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18795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60120" y="4142232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414223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First Program!  </a:t>
            </a:r>
            <a:r>
              <a:rPr lang="en-US" sz="1300" dirty="0">
                <a:solidFill>
                  <a:srgbClr val="445566"/>
                </a:solidFill>
              </a:rPr>
              <a:t>— Create hello.py → type print("Hello, World!") → Run ▶</a:t>
            </a:r>
            <a:endParaRPr lang="en-US" sz="1400" dirty="0"/>
          </a:p>
        </p:txBody>
      </p:sp>
      <p:pic>
        <p:nvPicPr>
          <p:cNvPr id="25" name="Picture 24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D1310C28-F6CE-13AE-9858-A4CD226B7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ro to Data Type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Introduction to Python Data Types</a:t>
            </a:r>
            <a:endParaRPr lang="en-US" sz="2800" b="1"/>
          </a:p>
        </p:txBody>
      </p:sp>
      <p:sp>
        <p:nvSpPr>
          <p:cNvPr id="4" name="Concept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What is a Data Type?</a:t>
            </a:r>
          </a:p>
          <a:p>
            <a:pPr marL="0" indent="0" algn="l">
              <a:buNone/>
            </a:pPr>
            <a:r>
              <a:rPr lang="en-US" sz="1500">
                <a:solidFill>
                  <a:srgbClr val="0D1B2A"/>
                </a:solidFill>
              </a:rPr>
              <a:t>A data type defines the kind of value a variable can store and the operations that can be performed on it.</a:t>
            </a:r>
          </a:p>
          <a:p>
            <a:pPr marL="0" indent="0" algn="l">
              <a:buNone/>
            </a:pPr>
            <a:endParaRPr lang="en-US" sz="900"/>
          </a:p>
          <a:p>
            <a:pPr marL="0" indent="0" algn="l">
              <a:buNone/>
            </a:pPr>
            <a:r>
              <a:rPr lang="en-US" sz="1700" b="1">
                <a:solidFill>
                  <a:srgbClr val="0077B6"/>
                </a:solidFill>
              </a:rPr>
              <a:t>Why Data Types Matter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Store different kinds of data.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Perform appropriate operations.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Improve code readability.</a:t>
            </a:r>
          </a:p>
          <a:p>
            <a:pPr marL="228600" indent="-228600" algn="l">
              <a:buFont typeface="Arial"/>
              <a:buChar char="•"/>
            </a:pPr>
            <a:r>
              <a:rPr lang="en-US" sz="1500">
                <a:solidFill>
                  <a:srgbClr val="0D1B2A"/>
                </a:solidFill>
              </a:rPr>
              <a:t>Help prevent programming errors.</a:t>
            </a:r>
          </a:p>
        </p:txBody>
      </p:sp>
      <p:sp>
        <p:nvSpPr>
          <p:cNvPr id="5" name="Example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3716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name = "Alice"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FFFFFF"/>
                </a:solidFill>
                <a:latin typeface="Courier New"/>
                <a:cs typeface="Courier New"/>
              </a:rPr>
              <a:t>is_student = True</a:t>
            </a:r>
          </a:p>
          <a:p>
            <a:pPr marL="0" indent="0" algn="l">
              <a:buNone/>
            </a:pPr>
            <a:endParaRPr lang="en-US" sz="80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print(type(age))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print(type(name))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56CFE1"/>
                </a:solidFill>
                <a:latin typeface="Courier New"/>
                <a:cs typeface="Courier New"/>
              </a:rPr>
              <a:t>print(type(is_student))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A60E9A8F-F4D2-4085-6836-48EE037C7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Basic Data Types</a:t>
            </a:r>
            <a:endParaRPr lang="en-US" sz="2800" b="1"/>
          </a:p>
        </p:txBody>
      </p:sp>
      <p:graphicFrame>
        <p:nvGraphicFramePr>
          <p:cNvPr id="4" name="Types Table"/>
          <p:cNvGraphicFramePr>
            <a:graphicFrameLocks noGrp="1"/>
          </p:cNvGraphicFramePr>
          <p:nvPr/>
        </p:nvGraphicFramePr>
        <p:xfrm>
          <a:off x="365760" y="1140000"/>
          <a:ext cx="4400000" cy="3800000"/>
        </p:xfrm>
        <a:graphic>
          <a:graphicData uri="http://schemas.openxmlformats.org/drawingml/2006/table">
            <a:tbl>
              <a:tblPr firstRow="1"/>
              <a:tblGrid>
                <a:gridCol w="11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Data Type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Whole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float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Decimal numbers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3.14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complex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Real and imaginary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2 + 3j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str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Text values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"Python"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bool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True or False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True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NoneType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Represents no value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None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 Card"/>
          <p:cNvSpPr/>
          <p:nvPr/>
        </p:nvSpPr>
        <p:spPr>
          <a:xfrm>
            <a:off x="4994240" y="1140000"/>
            <a:ext cx="378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60020" tIns="137160" rIns="9144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price = 99.99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name = "Python"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is_pass = True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result = None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32FDC794-3EB4-17F2-6A87-B10F1AF33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Collection Data Types</a:t>
            </a:r>
            <a:endParaRPr lang="en-US" sz="2800" b="1"/>
          </a:p>
        </p:txBody>
      </p:sp>
      <p:graphicFrame>
        <p:nvGraphicFramePr>
          <p:cNvPr id="4" name="Types Table"/>
          <p:cNvGraphicFramePr>
            <a:graphicFrameLocks noGrp="1"/>
          </p:cNvGraphicFramePr>
          <p:nvPr/>
        </p:nvGraphicFramePr>
        <p:xfrm>
          <a:off x="365760" y="1140000"/>
          <a:ext cx="4400000" cy="3350000"/>
        </p:xfrm>
        <a:graphic>
          <a:graphicData uri="http://schemas.openxmlformats.org/drawingml/2006/table">
            <a:tbl>
              <a:tblPr firstRow="1"/>
              <a:tblGrid>
                <a:gridCol w="11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Data Type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list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Ordered and mutable collection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[1, 2, 3]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tuple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Ordered and immutable collection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(1, 2, 3)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Unordered collection of unique values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{1, 2, 3}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dict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Key-value pairs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1B7A6E"/>
                          </a:solidFill>
                          <a:latin typeface="Courier New"/>
                          <a:cs typeface="Courier New"/>
                        </a:rPr>
                        <a:t>{"name": "John"}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Example Card"/>
          <p:cNvSpPr/>
          <p:nvPr/>
        </p:nvSpPr>
        <p:spPr>
          <a:xfrm>
            <a:off x="4994240" y="1140000"/>
            <a:ext cx="3784000" cy="3800000"/>
          </a:xfrm>
          <a:prstGeom prst="roundRect">
            <a:avLst>
              <a:gd name="adj" fmla="val 3000"/>
            </a:avLst>
          </a:prstGeom>
          <a:solidFill>
            <a:srgbClr val="0D1B2A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60020" tIns="137160" rIns="91440" bIns="137160" rtlCol="0" anchor="t"/>
          <a:lstStyle/>
          <a:p>
            <a:pPr marL="0" indent="0" algn="l">
              <a:buNone/>
            </a:pPr>
            <a:r>
              <a:rPr lang="en-US" sz="1700" b="1">
                <a:solidFill>
                  <a:srgbClr val="56CFE1"/>
                </a:solidFill>
              </a:rPr>
              <a:t>Example</a:t>
            </a:r>
          </a:p>
          <a:p>
            <a:pPr marL="0" indent="0" algn="l">
              <a:buNone/>
            </a:pPr>
            <a:endParaRPr lang="en-US" sz="700"/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fruits = ["Apple","Mango"]</a:t>
            </a:r>
            <a:endParaRPr lang="en-US" sz="1300" dirty="0">
              <a:solidFill>
                <a:srgbClr val="000000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        point = (10, 20)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numbers = {1, 2, 3}</a:t>
            </a:r>
          </a:p>
          <a:p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student = 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{</a:t>
            </a:r>
            <a:endParaRPr lang="en-US"/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   </a:t>
            </a: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"name": "John",</a:t>
            </a:r>
          </a:p>
          <a:p>
            <a:r>
              <a:rPr lang="en-US" sz="1300" b="1" dirty="0">
                <a:solidFill>
                  <a:srgbClr val="FFFFFF"/>
                </a:solidFill>
                <a:latin typeface="Courier New"/>
                <a:cs typeface="Courier New"/>
              </a:rPr>
              <a:t>   </a:t>
            </a:r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"age": 20</a:t>
            </a:r>
          </a:p>
          <a:p>
            <a:r>
              <a:rPr lang="en-US" sz="1300" b="1">
                <a:solidFill>
                  <a:srgbClr val="FFFFFF"/>
                </a:solidFill>
                <a:latin typeface="Courier New"/>
                <a:cs typeface="Courier New"/>
              </a:rPr>
              <a:t>}</a:t>
            </a:r>
            <a:endParaRPr lang="en-US"/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46704B8-DD6C-194D-6B09-3AB7AB10E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at is a Variable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FFFFFF"/>
                </a:solidFill>
              </a:rPr>
              <a:t>What is a Variable?</a:t>
            </a:r>
            <a:endParaRPr lang="en-US" sz="3600" b="1"/>
          </a:p>
        </p:txBody>
      </p:sp>
      <p:sp>
        <p:nvSpPr>
          <p:cNvPr id="4" name="Definition"/>
          <p:cNvSpPr/>
          <p:nvPr/>
        </p:nvSpPr>
        <p:spPr>
          <a:xfrm>
            <a:off x="365760" y="1140000"/>
            <a:ext cx="841248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0D1B2A"/>
                </a:solidFill>
              </a:rPr>
              <a:t>A variable is a name that refers to an object in memory.</a:t>
            </a:r>
            <a:endParaRPr lang="en-US" sz="2400" b="1"/>
          </a:p>
        </p:txBody>
      </p:sp>
      <p:sp>
        <p:nvSpPr>
          <p:cNvPr id="5" name="Wrong Card"/>
          <p:cNvSpPr/>
          <p:nvPr/>
        </p:nvSpPr>
        <p:spPr>
          <a:xfrm>
            <a:off x="365760" y="2080000"/>
            <a:ext cx="4069080" cy="16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5383B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C1121F"/>
                </a:solidFill>
              </a:rPr>
              <a:t>This does NOT mean:</a:t>
            </a:r>
          </a:p>
          <a:p>
            <a:pPr marL="0" indent="0" algn="l">
              <a:buNone/>
            </a:pPr>
            <a:r>
              <a:rPr lang="en-US" sz="1800" i="1">
                <a:solidFill>
                  <a:srgbClr val="495057"/>
                </a:solidFill>
              </a:rPr>
              <a:t>“Create a box called x and put 10 inside.”</a:t>
            </a:r>
          </a:p>
        </p:txBody>
      </p:sp>
      <p:sp>
        <p:nvSpPr>
          <p:cNvPr id="6" name="Right Card"/>
          <p:cNvSpPr/>
          <p:nvPr/>
        </p:nvSpPr>
        <p:spPr>
          <a:xfrm>
            <a:off x="4709160" y="2080000"/>
            <a:ext cx="4069080" cy="166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B7A6E"/>
                </a:solidFill>
              </a:rPr>
              <a:t>Python actually does: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1. Create an integer object 10.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2. Create the name x.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3. Make x point to the object 10.</a:t>
            </a:r>
          </a:p>
        </p:txBody>
      </p:sp>
      <p:sp>
        <p:nvSpPr>
          <p:cNvPr id="7" name="Diagram Bar"/>
          <p:cNvSpPr/>
          <p:nvPr/>
        </p:nvSpPr>
        <p:spPr>
          <a:xfrm>
            <a:off x="365760" y="3880000"/>
            <a:ext cx="8412480" cy="108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00B4D8"/>
                </a:solidFill>
                <a:latin typeface="Courier New"/>
                <a:cs typeface="Courier New"/>
              </a:rPr>
              <a:t>x = 10</a:t>
            </a:r>
            <a:r>
              <a:rPr lang="en-US" sz="4000" b="1">
                <a:solidFill>
                  <a:srgbClr val="FFFFFF"/>
                </a:solidFill>
                <a:latin typeface="Courier New"/>
                <a:cs typeface="Courier New"/>
              </a:rPr>
              <a:t>     x  →  10</a:t>
            </a:r>
            <a:endParaRPr lang="en-US" sz="4000" b="1">
              <a:latin typeface="Courier New"/>
              <a:cs typeface="Courier New"/>
            </a:endParaRPr>
          </a:p>
        </p:txBody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BA3934D7-6821-3261-6C38-522EB3EFC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verything is an Objec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</a:rPr>
              <a:t>Everything in Python is an Object</a:t>
            </a:r>
            <a:endParaRPr lang="en-US" sz="3000" b="1"/>
          </a:p>
        </p:txBody>
      </p:sp>
      <p:sp>
        <p:nvSpPr>
          <p:cNvPr id="4" name="Lead"/>
          <p:cNvSpPr/>
          <p:nvPr/>
        </p:nvSpPr>
        <p:spPr>
          <a:xfrm>
            <a:off x="365760" y="1100000"/>
            <a:ext cx="84124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D1B2A"/>
                </a:solidFill>
              </a:rPr>
              <a:t>In Python, these are all objects:</a:t>
            </a:r>
            <a:endParaRPr lang="en-US" sz="2000" b="1"/>
          </a:p>
        </p:txBody>
      </p:sp>
      <p:sp>
        <p:nvSpPr>
          <p:cNvPr id="5" name="Pill Numbers"/>
          <p:cNvSpPr/>
          <p:nvPr/>
        </p:nvSpPr>
        <p:spPr>
          <a:xfrm>
            <a:off x="365760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Numbers</a:t>
            </a:r>
          </a:p>
        </p:txBody>
      </p:sp>
      <p:sp>
        <p:nvSpPr>
          <p:cNvPr id="6" name="Pill Strings"/>
          <p:cNvSpPr/>
          <p:nvPr/>
        </p:nvSpPr>
        <p:spPr>
          <a:xfrm>
            <a:off x="2075688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Strings</a:t>
            </a:r>
          </a:p>
        </p:txBody>
      </p:sp>
      <p:sp>
        <p:nvSpPr>
          <p:cNvPr id="7" name="Pill Lists"/>
          <p:cNvSpPr/>
          <p:nvPr/>
        </p:nvSpPr>
        <p:spPr>
          <a:xfrm>
            <a:off x="3785616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Lists</a:t>
            </a:r>
          </a:p>
        </p:txBody>
      </p:sp>
      <p:sp>
        <p:nvSpPr>
          <p:cNvPr id="8" name="Pill Functions"/>
          <p:cNvSpPr/>
          <p:nvPr/>
        </p:nvSpPr>
        <p:spPr>
          <a:xfrm>
            <a:off x="5495544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Functions</a:t>
            </a:r>
          </a:p>
        </p:txBody>
      </p:sp>
      <p:sp>
        <p:nvSpPr>
          <p:cNvPr id="9" name="Pill Classes"/>
          <p:cNvSpPr/>
          <p:nvPr/>
        </p:nvSpPr>
        <p:spPr>
          <a:xfrm>
            <a:off x="7205472" y="1800000"/>
            <a:ext cx="1572768" cy="560000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/>
        </p:spPr>
        <p:txBody>
          <a:bodyPr wrap="square" lIns="45720" tIns="9144" rIns="45720" bIns="9144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Classes</a:t>
            </a:r>
          </a:p>
        </p:txBody>
      </p:sp>
      <p:sp>
        <p:nvSpPr>
          <p:cNvPr id="10" name="Code Bar"/>
          <p:cNvSpPr/>
          <p:nvPr/>
        </p:nvSpPr>
        <p:spPr>
          <a:xfrm>
            <a:off x="365760" y="2620000"/>
            <a:ext cx="8412480" cy="1640000"/>
          </a:xfrm>
          <a:prstGeom prst="roundRect">
            <a:avLst>
              <a:gd name="adj" fmla="val 6000"/>
            </a:avLst>
          </a:prstGeom>
          <a:solidFill>
            <a:srgbClr val="0D1B2A"/>
          </a:solidFill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a = 5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b = "hello"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B4D8"/>
                </a:solidFill>
                <a:latin typeface="Courier New"/>
                <a:cs typeface="Courier New"/>
              </a:rPr>
              <a:t>c = [1, 2, 3]</a:t>
            </a:r>
          </a:p>
        </p:txBody>
      </p:sp>
      <p:sp>
        <p:nvSpPr>
          <p:cNvPr id="11" name="Closing"/>
          <p:cNvSpPr/>
          <p:nvPr/>
        </p:nvSpPr>
        <p:spPr>
          <a:xfrm>
            <a:off x="365760" y="4360000"/>
            <a:ext cx="841248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1B7A6E"/>
                </a:solidFill>
              </a:rPr>
              <a:t>Each value exists somewhere in memory as an object.</a:t>
            </a:r>
            <a:endParaRPr lang="en-US" sz="2000" b="1"/>
          </a:p>
        </p:txBody>
      </p:sp>
      <p:pic>
        <p:nvPicPr>
          <p:cNvPr id="13" name="Picture 12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4931F08D-A70A-02A9-6A03-7C1B69F45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ariable Assignmen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rgbClr val="FFFFFF"/>
                </a:solidFill>
              </a:rPr>
              <a:t>Variable Assignment</a:t>
            </a:r>
            <a:endParaRPr lang="en-US" sz="3400" b="1"/>
          </a:p>
        </p:txBody>
      </p:sp>
      <p:sp>
        <p:nvSpPr>
          <p:cNvPr id="4" name="Binding Card"/>
          <p:cNvSpPr/>
          <p:nvPr/>
        </p:nvSpPr>
        <p:spPr>
          <a:xfrm>
            <a:off x="365760" y="1140000"/>
            <a:ext cx="4069080" cy="24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Binding</a:t>
            </a:r>
          </a:p>
          <a:p>
            <a:pPr marL="0" indent="0" algn="l">
              <a:buNone/>
            </a:pPr>
            <a:r>
              <a:rPr lang="en-US" sz="28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This is called binding.</a:t>
            </a: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The name x becomes bound to the integer object 10.</a:t>
            </a:r>
          </a:p>
        </p:txBody>
      </p:sp>
      <p:sp>
        <p:nvSpPr>
          <p:cNvPr id="5" name="Reassignment Card"/>
          <p:cNvSpPr/>
          <p:nvPr/>
        </p:nvSpPr>
        <p:spPr>
          <a:xfrm>
            <a:off x="4709160" y="1140000"/>
            <a:ext cx="4069080" cy="24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</a:rPr>
              <a:t>Reassignment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077B6"/>
                </a:solidFill>
                <a:latin typeface="Courier New"/>
                <a:cs typeface="Courier New"/>
              </a:rPr>
              <a:t>x = 20</a:t>
            </a:r>
          </a:p>
          <a:p>
            <a:pPr marL="0" indent="0" algn="l">
              <a:buNone/>
            </a:pPr>
            <a:r>
              <a:rPr lang="en-US" sz="1800" b="1">
                <a:solidFill>
                  <a:srgbClr val="0D1B2A"/>
                </a:solidFill>
                <a:latin typeface="Courier New"/>
                <a:cs typeface="Courier New"/>
              </a:rPr>
              <a:t>x → 10   becomes   x → 20</a:t>
            </a:r>
          </a:p>
        </p:txBody>
      </p:sp>
      <p:sp>
        <p:nvSpPr>
          <p:cNvPr id="6" name="GC Note"/>
          <p:cNvSpPr/>
          <p:nvPr/>
        </p:nvSpPr>
        <p:spPr>
          <a:xfrm>
            <a:off x="365760" y="3700000"/>
            <a:ext cx="8412480" cy="116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274320" tIns="91440" rIns="274320" bIns="9144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</a:rPr>
              <a:t>The old object may eventually be removed by garbage collection if nothing references it.</a:t>
            </a:r>
            <a:endParaRPr lang="en-US" sz="1900" b="1"/>
          </a:p>
        </p:txBody>
      </p:sp>
      <p:pic>
        <p:nvPicPr>
          <p:cNvPr id="8" name="Picture 7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C62B7A6-A5BB-E1D5-EC9E-59AF71FCB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mes and Object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rgbClr val="FFFFFF"/>
                </a:solidFill>
              </a:rPr>
              <a:t>Names and Objects</a:t>
            </a:r>
            <a:endParaRPr lang="en-US" sz="3400" b="1"/>
          </a:p>
        </p:txBody>
      </p:sp>
      <p:sp>
        <p:nvSpPr>
          <p:cNvPr id="4" name="Memory Card"/>
          <p:cNvSpPr/>
          <p:nvPr/>
        </p:nvSpPr>
        <p:spPr>
          <a:xfrm>
            <a:off x="365760" y="1140000"/>
            <a:ext cx="4069080" cy="25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</a:rPr>
              <a:t>Memory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  <a:latin typeface="Courier New"/>
                <a:cs typeface="Courier New"/>
              </a:rPr>
              <a:t>a = 100</a:t>
            </a:r>
          </a:p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  <a:latin typeface="Courier New"/>
                <a:cs typeface="Courier New"/>
              </a:rPr>
              <a:t>b = a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0D1B2A"/>
                </a:solidFill>
                <a:latin typeface="Courier New"/>
                <a:cs typeface="Courier New"/>
              </a:rPr>
              <a:t>a → 100 ← b</a:t>
            </a:r>
          </a:p>
          <a:p>
            <a:pPr marL="0" indent="0" algn="l">
              <a:buNone/>
            </a:pPr>
            <a:r>
              <a:rPr lang="en-US" sz="1600">
                <a:solidFill>
                  <a:srgbClr val="0D1B2A"/>
                </a:solidFill>
              </a:rPr>
              <a:t>Both variables point to the same object.</a:t>
            </a:r>
          </a:p>
        </p:txBody>
      </p:sp>
      <p:sp>
        <p:nvSpPr>
          <p:cNvPr id="5" name="Identity Card"/>
          <p:cNvSpPr/>
          <p:nvPr/>
        </p:nvSpPr>
        <p:spPr>
          <a:xfrm>
            <a:off x="4709160" y="1140000"/>
            <a:ext cx="4069080" cy="252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</a:rPr>
              <a:t>Checking Identity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a = 100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b = a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print(a is b)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0D1B2A"/>
                </a:solidFill>
              </a:rPr>
              <a:t>Output:  </a:t>
            </a: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True</a:t>
            </a:r>
          </a:p>
        </p:txBody>
      </p:sp>
      <p:sp>
        <p:nvSpPr>
          <p:cNvPr id="6" name="Takeaway"/>
          <p:cNvSpPr/>
          <p:nvPr/>
        </p:nvSpPr>
        <p:spPr>
          <a:xfrm>
            <a:off x="365760" y="3760000"/>
            <a:ext cx="8412480" cy="110000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/>
        </p:spPr>
        <p:txBody>
          <a:bodyPr wrap="square" lIns="274320" tIns="91440" rIns="274320" bIns="9144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B4D8"/>
                </a:solidFill>
                <a:latin typeface="Courier New"/>
                <a:cs typeface="Courier New"/>
              </a:rPr>
              <a:t>is</a:t>
            </a:r>
            <a:r>
              <a:rPr lang="en-US" sz="2000" b="1">
                <a:solidFill>
                  <a:srgbClr val="FFFFFF"/>
                </a:solidFill>
              </a:rPr>
              <a:t> checks whether two variables refer to the same object.</a:t>
            </a:r>
            <a:endParaRPr lang="en-US" sz="2000" b="1"/>
          </a:p>
        </p:txBody>
      </p:sp>
      <p:pic>
        <p:nvPicPr>
          <p:cNvPr id="8" name="Picture 7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2EED3F58-F769-3FD8-3EA8-1B16F5687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dentity and Dynamic Typing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Object Identity &amp; Dynamic Typing</a:t>
            </a:r>
            <a:endParaRPr lang="en-US" sz="2800" b="1"/>
          </a:p>
        </p:txBody>
      </p:sp>
      <p:sp>
        <p:nvSpPr>
          <p:cNvPr id="4" name="Id Card"/>
          <p:cNvSpPr/>
          <p:nvPr/>
        </p:nvSpPr>
        <p:spPr>
          <a:xfrm>
            <a:off x="3657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200" b="1">
                <a:solidFill>
                  <a:srgbClr val="1B7A6E"/>
                </a:solidFill>
              </a:rPr>
              <a:t>id() Function</a:t>
            </a:r>
          </a:p>
          <a:p>
            <a:endParaRPr lang="en-US" sz="17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Every object has a unique identity.</a:t>
            </a:r>
            <a:endParaRPr lang="en-US"/>
          </a:p>
          <a:p>
            <a:endParaRPr lang="en-US" sz="20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  <a:endParaRPr lang="en-US"/>
          </a:p>
          <a:p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print(id(x))</a:t>
            </a:r>
          </a:p>
          <a:p>
            <a:pPr marL="0" indent="0" algn="l">
              <a:buNone/>
            </a:pPr>
            <a:endParaRPr lang="en-US" sz="160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600" b="1">
                <a:solidFill>
                  <a:srgbClr val="495057"/>
                </a:solidFill>
              </a:rPr>
              <a:t>Example: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140736811430216</a:t>
            </a:r>
          </a:p>
          <a:p>
            <a:endParaRPr lang="en-US" sz="16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600" dirty="0">
                <a:solidFill>
                  <a:srgbClr val="0D1B2A"/>
                </a:solidFill>
              </a:rPr>
              <a:t>Usually the object's memory address in </a:t>
            </a:r>
            <a:r>
              <a:rPr lang="en-US" sz="1600" dirty="0" err="1">
                <a:solidFill>
                  <a:srgbClr val="0D1B2A"/>
                </a:solidFill>
              </a:rPr>
              <a:t>CPython</a:t>
            </a:r>
            <a:r>
              <a:rPr lang="en-US" sz="1600" dirty="0">
                <a:solidFill>
                  <a:srgbClr val="0D1B2A"/>
                </a:solidFill>
              </a:rPr>
              <a:t>.</a:t>
            </a:r>
            <a:endParaRPr lang="en-US" sz="1600">
              <a:solidFill>
                <a:srgbClr val="0D1B2A"/>
              </a:solidFill>
              <a:ea typeface="Calibri"/>
              <a:cs typeface="Calibri"/>
            </a:endParaRPr>
          </a:p>
        </p:txBody>
      </p:sp>
      <p:sp>
        <p:nvSpPr>
          <p:cNvPr id="5" name="Typing Card"/>
          <p:cNvSpPr/>
          <p:nvPr/>
        </p:nvSpPr>
        <p:spPr>
          <a:xfrm>
            <a:off x="47091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2200" b="1">
                <a:solidFill>
                  <a:srgbClr val="0077B6"/>
                </a:solidFill>
              </a:rPr>
              <a:t>Dynamic Typing</a:t>
            </a:r>
          </a:p>
          <a:p>
            <a:endParaRPr lang="en-US" sz="17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Python is dynamically typed.</a:t>
            </a:r>
            <a:endParaRPr lang="en-US"/>
          </a:p>
          <a:p>
            <a:endParaRPr lang="en-US" sz="20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10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"hello"</a:t>
            </a:r>
          </a:p>
          <a:p>
            <a:r>
              <a:rPr lang="en-US" sz="2000" b="1">
                <a:solidFill>
                  <a:srgbClr val="0077B6"/>
                </a:solidFill>
                <a:latin typeface="Courier New"/>
                <a:cs typeface="Courier New"/>
              </a:rPr>
              <a:t>x = [1, 2]</a:t>
            </a:r>
          </a:p>
          <a:p>
            <a:pPr marL="0" indent="0" algn="l">
              <a:buNone/>
            </a:pPr>
            <a:endParaRPr lang="en-US" sz="1700" dirty="0">
              <a:solidFill>
                <a:srgbClr val="0D1B2A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700">
                <a:solidFill>
                  <a:srgbClr val="0D1B2A"/>
                </a:solidFill>
              </a:rPr>
              <a:t>The variable has no fixed type – the object carries the type.</a:t>
            </a:r>
            <a:endParaRPr lang="en-US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type(x)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D193612B-B9A0-CE4D-6864-A4953066C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yping, Naming and Assignment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Typing, Naming &amp; Assignment</a:t>
            </a:r>
            <a:endParaRPr lang="en-US" sz="2800" b="1"/>
          </a:p>
        </p:txBody>
      </p:sp>
      <p:sp>
        <p:nvSpPr>
          <p:cNvPr id="4" name="Strong Typing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Strong Typing</a:t>
            </a:r>
          </a:p>
          <a:p>
            <a:endParaRPr lang="en-US" sz="12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Python is strongly typed.</a:t>
            </a:r>
            <a:endParaRPr lang="en-US"/>
          </a:p>
          <a:p>
            <a:endParaRPr lang="en-US" sz="13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300" b="1" dirty="0">
                <a:solidFill>
                  <a:srgbClr val="0077B6"/>
                </a:solidFill>
                <a:latin typeface="Courier New"/>
                <a:cs typeface="Courier New"/>
              </a:rPr>
              <a:t>"5" + 5</a:t>
            </a:r>
            <a:r>
              <a:rPr lang="en-US" sz="1200" dirty="0">
                <a:solidFill>
                  <a:srgbClr val="495057"/>
                </a:solidFill>
              </a:rPr>
              <a:t>  produces  </a:t>
            </a:r>
            <a:r>
              <a:rPr lang="en-US" sz="1300" b="1" dirty="0" err="1">
                <a:solidFill>
                  <a:srgbClr val="C1121F"/>
                </a:solidFill>
                <a:latin typeface="Courier New"/>
                <a:cs typeface="Courier New"/>
              </a:rPr>
              <a:t>TypeError</a:t>
            </a:r>
            <a:endParaRPr lang="en-US" sz="1300" b="1" dirty="0">
              <a:solidFill>
                <a:srgbClr val="C1121F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150" dirty="0">
              <a:solidFill>
                <a:srgbClr val="0D1B2A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Python does not automatically convert incompatible types.</a:t>
            </a:r>
            <a:endParaRPr lang="en-US"/>
          </a:p>
        </p:txBody>
      </p:sp>
      <p:sp>
        <p:nvSpPr>
          <p:cNvPr id="5" name="Naming Rules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Variable Naming Rules</a:t>
            </a:r>
          </a:p>
          <a:p>
            <a:r>
              <a:rPr lang="en-US" sz="1200" b="1">
                <a:solidFill>
                  <a:srgbClr val="1B7A6E"/>
                </a:solidFill>
              </a:rPr>
              <a:t>Valid: </a:t>
            </a:r>
            <a:endParaRPr lang="en-US">
              <a:solidFill>
                <a:srgbClr val="000000"/>
              </a:solidFill>
            </a:endParaRPr>
          </a:p>
          <a:p>
            <a:r>
              <a:rPr lang="en-US" sz="1200" b="1" dirty="0">
                <a:solidFill>
                  <a:srgbClr val="1B7A6E"/>
                </a:solidFill>
              </a:rPr>
              <a:t> </a:t>
            </a: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name = "John"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age2 = 20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_student = "A"</a:t>
            </a:r>
            <a:endParaRPr lang="en-US">
              <a:ea typeface="Calibri"/>
              <a:cs typeface="Calibri"/>
            </a:endParaRPr>
          </a:p>
          <a:p>
            <a:r>
              <a:rPr lang="en-US" sz="1200" b="1">
                <a:solidFill>
                  <a:srgbClr val="C1121F"/>
                </a:solidFill>
              </a:rPr>
              <a:t>Invalid: </a:t>
            </a:r>
          </a:p>
          <a:p>
            <a:r>
              <a:rPr lang="en-US" sz="1200" b="1" dirty="0">
                <a:solidFill>
                  <a:srgbClr val="C1121F"/>
                </a:solidFill>
              </a:rPr>
              <a:t> </a:t>
            </a:r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2age = 20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my-name = 10 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495057"/>
                </a:solidFill>
                <a:latin typeface="Courier New"/>
                <a:cs typeface="Courier New"/>
              </a:rPr>
              <a:t> class = 5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6" name="Keywords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Keywords Cannot Be Variables</a:t>
            </a:r>
          </a:p>
          <a:p>
            <a:endParaRPr lang="en-US" sz="13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if = 10</a:t>
            </a:r>
            <a:r>
              <a:rPr lang="en-US" sz="1200" b="1">
                <a:solidFill>
                  <a:srgbClr val="C1121F"/>
                </a:solidFill>
              </a:rPr>
              <a:t>   → Error</a:t>
            </a:r>
            <a:endParaRPr lang="en-US"/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Keywords include: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D1B2A"/>
                </a:solidFill>
                <a:latin typeface="Courier New"/>
                <a:cs typeface="Courier New"/>
              </a:rPr>
              <a:t>if   else   while   for   class   def   return   import</a:t>
            </a:r>
          </a:p>
        </p:txBody>
      </p:sp>
      <p:sp>
        <p:nvSpPr>
          <p:cNvPr id="7" name="Multiple Assignment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Multiple Assignment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a, b, c = 1, 2, 3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Python performs tuple packing and unpacking.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values = (1, 2, 3)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values[0]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b = values[1] </a:t>
            </a:r>
            <a:endParaRPr lang="en-US">
              <a:solidFill>
                <a:srgbClr val="000000"/>
              </a:solidFill>
              <a:latin typeface="Calibri" panose="020F0502020204030204"/>
              <a:ea typeface="Calibri"/>
              <a:cs typeface="Calibri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c = values[2]</a:t>
            </a:r>
            <a:endParaRPr lang="en-US">
              <a:ea typeface="Calibri"/>
              <a:cs typeface="Calibri"/>
            </a:endParaRPr>
          </a:p>
        </p:txBody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05B1E27F-AE5C-6B55-4365-9A3FEBD22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wapping, Aliasing, Mutability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Swapping, Aliasing &amp; Mutability</a:t>
            </a:r>
            <a:endParaRPr lang="en-US" sz="2800" b="1"/>
          </a:p>
        </p:txBody>
      </p:sp>
      <p:sp>
        <p:nvSpPr>
          <p:cNvPr id="4" name="Swapping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Swapping Variables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10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b = 20</a:t>
            </a:r>
            <a:endParaRPr lang="en-US">
              <a:ea typeface="Calibri"/>
              <a:cs typeface="Calibri"/>
            </a:endParaRPr>
          </a:p>
          <a:p>
            <a:r>
              <a:rPr lang="en-US" sz="1300" b="1">
                <a:solidFill>
                  <a:srgbClr val="C1121F"/>
                </a:solidFill>
                <a:latin typeface="Courier New"/>
                <a:cs typeface="Courier New"/>
              </a:rPr>
              <a:t>a, b = b, a</a:t>
            </a:r>
          </a:p>
          <a:p>
            <a:pPr marL="0" indent="0" algn="l">
              <a:buNone/>
            </a:pPr>
            <a:endParaRPr lang="en-US" sz="115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Internally: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temp = (b, a)</a:t>
            </a: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temp[0]    b = temp[1]</a:t>
            </a:r>
          </a:p>
        </p:txBody>
      </p:sp>
      <p:sp>
        <p:nvSpPr>
          <p:cNvPr id="5" name="Aliasing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Aliasing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[1, 2]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 b = a</a:t>
            </a:r>
            <a:endParaRPr lang="en-US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b.append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(3)</a:t>
            </a: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print(a)</a:t>
            </a:r>
            <a:r>
              <a:rPr lang="en-US" sz="1150">
                <a:solidFill>
                  <a:srgbClr val="495057"/>
                </a:solidFill>
              </a:rPr>
              <a:t>  →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[1, 2, 3]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Both variables point to the same list.</a:t>
            </a:r>
            <a:endParaRPr lang="en-US"/>
          </a:p>
        </p:txBody>
      </p:sp>
      <p:sp>
        <p:nvSpPr>
          <p:cNvPr id="6" name="Immutable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Immutable Objects</a:t>
            </a:r>
            <a:r>
              <a:rPr lang="en-US" sz="1150" dirty="0">
                <a:solidFill>
                  <a:srgbClr val="0D1B2A"/>
                </a:solidFill>
              </a:rPr>
              <a:t>  – cannot change after creation.</a:t>
            </a:r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 dirty="0">
                <a:solidFill>
                  <a:srgbClr val="495057"/>
                </a:solidFill>
              </a:rPr>
              <a:t>Examples:  </a:t>
            </a:r>
            <a:r>
              <a:rPr lang="en-US" sz="1150" b="1">
                <a:solidFill>
                  <a:srgbClr val="0077B6"/>
                </a:solidFill>
                <a:latin typeface="Courier New"/>
                <a:cs typeface="Courier New"/>
              </a:rPr>
              <a:t>int, float, bool, str, tuple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x = 10  </a:t>
            </a:r>
          </a:p>
          <a:p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x += 1</a:t>
            </a:r>
            <a:r>
              <a:rPr lang="en-US" sz="1150">
                <a:solidFill>
                  <a:srgbClr val="0D1B2A"/>
                </a:solidFill>
              </a:rPr>
              <a:t>  → new object</a:t>
            </a:r>
            <a:endParaRPr lang="en-US"/>
          </a:p>
          <a:p>
            <a:endParaRPr lang="en-US" sz="1100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00">
                <a:solidFill>
                  <a:srgbClr val="495057"/>
                </a:solidFill>
              </a:rPr>
              <a:t>10 object destroyed (if unused), 11 object created.</a:t>
            </a:r>
            <a:endParaRPr lang="en-US"/>
          </a:p>
        </p:txBody>
      </p:sp>
      <p:sp>
        <p:nvSpPr>
          <p:cNvPr id="7" name="Mutable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6858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Mutable Objects</a:t>
            </a:r>
            <a:r>
              <a:rPr lang="en-US" sz="1150" dirty="0">
                <a:solidFill>
                  <a:srgbClr val="0D1B2A"/>
                </a:solidFill>
              </a:rPr>
              <a:t>  – can change after creation.</a:t>
            </a:r>
          </a:p>
          <a:p>
            <a:endParaRPr lang="en-US" sz="115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150" b="1" dirty="0">
                <a:solidFill>
                  <a:srgbClr val="495057"/>
                </a:solidFill>
              </a:rPr>
              <a:t>Examples:  </a:t>
            </a:r>
            <a:r>
              <a:rPr lang="en-US" sz="1150" b="1" dirty="0">
                <a:solidFill>
                  <a:srgbClr val="0077B6"/>
                </a:solidFill>
                <a:latin typeface="Courier New"/>
                <a:cs typeface="Courier New"/>
              </a:rPr>
              <a:t>list, </a:t>
            </a:r>
            <a:r>
              <a:rPr lang="en-US" sz="1150" b="1" dirty="0" err="1">
                <a:solidFill>
                  <a:srgbClr val="0077B6"/>
                </a:solidFill>
                <a:latin typeface="Courier New"/>
                <a:cs typeface="Courier New"/>
              </a:rPr>
              <a:t>dict</a:t>
            </a:r>
            <a:r>
              <a:rPr lang="en-US" sz="1150" b="1" dirty="0">
                <a:solidFill>
                  <a:srgbClr val="0077B6"/>
                </a:solidFill>
                <a:latin typeface="Courier New"/>
                <a:cs typeface="Courier New"/>
              </a:rPr>
              <a:t>, set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numbers = [1, 2]</a:t>
            </a:r>
            <a:endParaRPr lang="en-US"/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numbers.append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(3)</a:t>
            </a:r>
          </a:p>
          <a:p>
            <a:endParaRPr lang="en-US" sz="115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50">
                <a:solidFill>
                  <a:srgbClr val="0D1B2A"/>
                </a:solidFill>
              </a:rPr>
              <a:t>The same list object changes.</a:t>
            </a:r>
            <a:endParaRPr lang="en-US"/>
          </a:p>
        </p:txBody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477720F4-FAFA-2F18-D5B8-0758074D2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Input, Output &amp; f-Strings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Python communicates with the user through print() for output and input() for input. f-strings make formatting easy.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input() always gives a STRING — use int() or float() to convert numbers!</a:t>
            </a:r>
            <a:endParaRPr lang="en-US" sz="1200" dirty="0"/>
          </a:p>
        </p:txBody>
      </p:sp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694AEBE-0AD8-259F-390F-705236483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1274" y="1404256"/>
            <a:ext cx="3961451" cy="3042558"/>
          </a:xfrm>
          <a:prstGeom prst="rect">
            <a:avLst/>
          </a:prstGeom>
        </p:spPr>
      </p:pic>
      <p:pic>
        <p:nvPicPr>
          <p:cNvPr id="6" name="Picture 5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7075158D-412B-0A48-88BA-A343EBDBD5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nt Function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Courier New"/>
                <a:cs typeface="Courier New"/>
              </a:rPr>
              <a:t>print()</a:t>
            </a:r>
            <a:r>
              <a:rPr lang="en-US" sz="2800" b="1">
                <a:solidFill>
                  <a:srgbClr val="FFFFFF"/>
                </a:solidFill>
              </a:rPr>
              <a:t> Function</a:t>
            </a:r>
            <a:endParaRPr lang="en-US" sz="2800" b="1"/>
          </a:p>
        </p:txBody>
      </p:sp>
      <p:sp>
        <p:nvSpPr>
          <p:cNvPr id="4" name="What Is Card"/>
          <p:cNvSpPr/>
          <p:nvPr/>
        </p:nvSpPr>
        <p:spPr>
          <a:xfrm>
            <a:off x="3657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900" b="1">
                <a:solidFill>
                  <a:srgbClr val="1B7A6E"/>
                </a:solidFill>
              </a:rPr>
              <a:t>1. What is print()?</a:t>
            </a:r>
          </a:p>
          <a:p>
            <a:pPr marL="0" indent="0" algn="l">
              <a:buNone/>
            </a:pPr>
            <a:r>
              <a:rPr lang="en-US" sz="1400">
                <a:solidFill>
                  <a:srgbClr val="0D1B2A"/>
                </a:solidFill>
              </a:rPr>
              <a:t>print() is a built-in Python function used to display output on the screen.</a:t>
            </a:r>
          </a:p>
          <a:p>
            <a:pPr marL="0" indent="0" algn="l">
              <a:buNone/>
            </a:pPr>
            <a:endParaRPr lang="en-US" sz="800"/>
          </a:p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  <a:latin typeface="Courier New"/>
                <a:cs typeface="Courier New"/>
              </a:rPr>
              <a:t>print("Hello World")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Output:</a:t>
            </a:r>
          </a:p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  <a:latin typeface="Courier New"/>
                <a:cs typeface="Courier New"/>
              </a:rPr>
              <a:t>Hello World</a:t>
            </a:r>
          </a:p>
        </p:txBody>
      </p:sp>
      <p:sp>
        <p:nvSpPr>
          <p:cNvPr id="5" name="Syntax Card"/>
          <p:cNvSpPr/>
          <p:nvPr/>
        </p:nvSpPr>
        <p:spPr>
          <a:xfrm>
            <a:off x="4709160" y="1140000"/>
            <a:ext cx="40690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900" b="1">
                <a:solidFill>
                  <a:srgbClr val="0077B6"/>
                </a:solidFill>
              </a:rPr>
              <a:t>2. Syntax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print(*objects, sep=' ', end='\n')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Parameters:</a:t>
            </a:r>
          </a:p>
        </p:txBody>
      </p:sp>
      <p:graphicFrame>
        <p:nvGraphicFramePr>
          <p:cNvPr id="6" name="Parameters Table"/>
          <p:cNvGraphicFramePr>
            <a:graphicFrameLocks noGrp="1"/>
          </p:cNvGraphicFramePr>
          <p:nvPr/>
        </p:nvGraphicFramePr>
        <p:xfrm>
          <a:off x="4892040" y="2620000"/>
          <a:ext cx="3703320" cy="1820000"/>
        </p:xfrm>
        <a:graphic>
          <a:graphicData uri="http://schemas.openxmlformats.org/drawingml/2006/table">
            <a:tbl>
              <a:tblPr firstRow="1"/>
              <a:tblGrid>
                <a:gridCol w="13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 marL="64008" marR="64008" marT="27432" marB="27432" anchor="ctr"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*objects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Values to print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sep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Separator between values</a:t>
                      </a:r>
                    </a:p>
                  </a:txBody>
                  <a:tcPr marL="64008" marR="64008" marT="27432" marB="27432" anchor="ctr">
                    <a:solidFill>
                      <a:srgbClr val="E3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0077B6"/>
                          </a:solidFill>
                          <a:latin typeface="Courier New"/>
                          <a:cs typeface="Courier New"/>
                        </a:rPr>
                        <a:t>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0D1B2A"/>
                          </a:solidFill>
                        </a:rPr>
                        <a:t>What to print at the end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Picture 7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4CDF0B2-E8A8-1F91-D3A5-1CB3E71E1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nt Examples sep end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Courier New"/>
                <a:cs typeface="Courier New"/>
              </a:rPr>
              <a:t>print()</a:t>
            </a:r>
            <a:r>
              <a:rPr lang="en-US" sz="2800" b="1">
                <a:solidFill>
                  <a:srgbClr val="FFFFFF"/>
                </a:solidFill>
              </a:rPr>
              <a:t> – Values, sep &amp; end</a:t>
            </a:r>
            <a:endParaRPr lang="en-US" sz="2800" b="1"/>
          </a:p>
        </p:txBody>
      </p:sp>
      <p:sp>
        <p:nvSpPr>
          <p:cNvPr id="4" name="Printing Strings"/>
          <p:cNvSpPr/>
          <p:nvPr/>
        </p:nvSpPr>
        <p:spPr>
          <a:xfrm>
            <a:off x="36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Printing Strings</a:t>
            </a:r>
            <a:endParaRPr lang="en-US" b="1">
              <a:solidFill>
                <a:srgbClr val="1B7A6E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print("Python")</a:t>
            </a:r>
            <a:r>
              <a:rPr lang="en-US" sz="12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Python</a:t>
            </a:r>
          </a:p>
        </p:txBody>
      </p:sp>
      <p:sp>
        <p:nvSpPr>
          <p:cNvPr id="5" name="Printing Numbers"/>
          <p:cNvSpPr/>
          <p:nvPr/>
        </p:nvSpPr>
        <p:spPr>
          <a:xfrm>
            <a:off x="323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0077B6"/>
                </a:solidFill>
              </a:rPr>
              <a:t>Printing Numbers</a:t>
            </a:r>
            <a:endParaRPr lang="en-US" b="1">
              <a:solidFill>
                <a:srgbClr val="0077B6"/>
              </a:solidFill>
              <a:ea typeface="Calibri"/>
              <a:cs typeface="Calibri"/>
            </a:endParaRPr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print(100)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100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print(3.14)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3.14</a:t>
            </a:r>
          </a:p>
        </p:txBody>
      </p:sp>
      <p:sp>
        <p:nvSpPr>
          <p:cNvPr id="6" name="Printing Multiple"/>
          <p:cNvSpPr/>
          <p:nvPr/>
        </p:nvSpPr>
        <p:spPr>
          <a:xfrm>
            <a:off x="6105760" y="1080000"/>
            <a:ext cx="26700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Printing Multiple Values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name = "John"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age = 25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print(name, age)</a:t>
            </a:r>
            <a:r>
              <a:rPr lang="en-US" sz="11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John 25</a:t>
            </a:r>
          </a:p>
          <a:p>
            <a:endParaRPr lang="en-US" sz="9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000">
                <a:solidFill>
                  <a:srgbClr val="0D1B2A"/>
                </a:solidFill>
              </a:rPr>
              <a:t>Default: a space separates values.</a:t>
            </a:r>
            <a:endParaRPr lang="en-US" sz="1000">
              <a:ea typeface="Calibri"/>
              <a:cs typeface="Calibri"/>
            </a:endParaRPr>
          </a:p>
        </p:txBody>
      </p:sp>
      <p:sp>
        <p:nvSpPr>
          <p:cNvPr id="7" name="sep Parameter"/>
          <p:cNvSpPr/>
          <p:nvPr/>
        </p:nvSpPr>
        <p:spPr>
          <a:xfrm>
            <a:off x="365760" y="2900000"/>
            <a:ext cx="4092000" cy="2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77B6"/>
                </a:solidFill>
              </a:rPr>
              <a:t>The </a:t>
            </a:r>
            <a:r>
              <a:rPr lang="en-US" b="1" dirty="0" err="1">
                <a:solidFill>
                  <a:srgbClr val="0077B6"/>
                </a:solidFill>
              </a:rPr>
              <a:t>sep</a:t>
            </a:r>
            <a:r>
              <a:rPr lang="en-US" b="1" dirty="0">
                <a:solidFill>
                  <a:srgbClr val="0077B6"/>
                </a:solidFill>
              </a:rPr>
              <a:t> Parameter</a:t>
            </a:r>
            <a:endParaRPr lang="en-US" sz="2400" b="1">
              <a:solidFill>
                <a:srgbClr val="0077B6"/>
              </a:solidFill>
              <a:ea typeface="Calibri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print("A", "B", "C")</a:t>
            </a:r>
            <a:r>
              <a:rPr lang="en-US" sz="1200">
                <a:solidFill>
                  <a:srgbClr val="495057"/>
                </a:solidFill>
              </a:rPr>
              <a:t>  →  </a:t>
            </a: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A B C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print("A", "B", "C", 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sep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="-")</a:t>
            </a:r>
            <a:r>
              <a:rPr lang="en-US" sz="1200" dirty="0">
                <a:solidFill>
                  <a:srgbClr val="495057"/>
                </a:solidFill>
              </a:rPr>
              <a:t>  →  </a:t>
            </a:r>
            <a:r>
              <a:rPr lang="en-US" sz="1400" b="1" dirty="0">
                <a:solidFill>
                  <a:srgbClr val="1B7A6E"/>
                </a:solidFill>
                <a:latin typeface="Courier New"/>
                <a:cs typeface="Courier New"/>
              </a:rPr>
              <a:t>A-B-C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print(1, 2, 3, 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sep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=", ")</a:t>
            </a:r>
            <a:r>
              <a:rPr lang="en-US" sz="1200" dirty="0">
                <a:solidFill>
                  <a:srgbClr val="495057"/>
                </a:solidFill>
              </a:rPr>
              <a:t>  →  </a:t>
            </a:r>
            <a:r>
              <a:rPr lang="en-US" sz="1400" b="1" dirty="0">
                <a:solidFill>
                  <a:srgbClr val="1B7A6E"/>
                </a:solidFill>
                <a:latin typeface="Courier New"/>
                <a:cs typeface="Courier New"/>
              </a:rPr>
              <a:t>1, 2, 3</a:t>
            </a:r>
          </a:p>
        </p:txBody>
      </p:sp>
      <p:sp>
        <p:nvSpPr>
          <p:cNvPr id="8" name="end Parameter"/>
          <p:cNvSpPr/>
          <p:nvPr/>
        </p:nvSpPr>
        <p:spPr>
          <a:xfrm>
            <a:off x="4686240" y="2900000"/>
            <a:ext cx="4092000" cy="2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18872" tIns="82296" rIns="100584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The end Parameter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print("Hello")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print("World")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Hello</a:t>
            </a:r>
            <a:br>
              <a:rPr lang="en-US" sz="2800" dirty="0"/>
            </a:b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World</a:t>
            </a:r>
          </a:p>
          <a:p>
            <a:pPr marL="0" indent="0" algn="l">
              <a:buNone/>
            </a:pPr>
            <a:r>
              <a:rPr lang="en-US" sz="1100">
                <a:solidFill>
                  <a:srgbClr val="0D1B2A"/>
                </a:solidFill>
              </a:rPr>
              <a:t>Default: end="\n" adds a newline.</a:t>
            </a:r>
            <a:endParaRPr lang="en-US" sz="1100">
              <a:solidFill>
                <a:srgbClr val="0D1B2A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print("Hello", end=" 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print("World")</a:t>
            </a:r>
            <a:r>
              <a:rPr lang="en-US" sz="1400">
                <a:solidFill>
                  <a:srgbClr val="495057"/>
                </a:solidFill>
              </a:rPr>
              <a:t>  →  </a:t>
            </a:r>
            <a:r>
              <a:rPr lang="en-US" sz="1600" b="1">
                <a:solidFill>
                  <a:srgbClr val="1B7A6E"/>
                </a:solidFill>
                <a:latin typeface="Courier New"/>
                <a:cs typeface="Courier New"/>
              </a:rPr>
              <a:t>Hello World</a:t>
            </a:r>
          </a:p>
        </p:txBody>
      </p:sp>
      <p:pic>
        <p:nvPicPr>
          <p:cNvPr id="10" name="Picture 9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B37C2BD1-BC25-5246-A845-3DA30FC88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-Strings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f-Strings &amp; Formatting</a:t>
            </a:r>
            <a:endParaRPr lang="en-US" sz="2800" b="1"/>
          </a:p>
        </p:txBody>
      </p:sp>
      <p:sp>
        <p:nvSpPr>
          <p:cNvPr id="4" name="fStrings Card"/>
          <p:cNvSpPr/>
          <p:nvPr/>
        </p:nvSpPr>
        <p:spPr>
          <a:xfrm>
            <a:off x="3657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B7A6E"/>
                </a:solidFill>
              </a:rPr>
              <a:t>f-Strings (Modern </a:t>
            </a:r>
            <a:r>
              <a:rPr lang="en-US" b="1" dirty="0" err="1">
                <a:solidFill>
                  <a:srgbClr val="1B7A6E"/>
                </a:solidFill>
              </a:rPr>
              <a:t>printf</a:t>
            </a:r>
            <a:r>
              <a:rPr lang="en-US" b="1" dirty="0">
                <a:solidFill>
                  <a:srgbClr val="1B7A6E"/>
                </a:solidFill>
              </a:rPr>
              <a:t>)</a:t>
            </a:r>
            <a:endParaRPr lang="en-US" sz="1600" b="1">
              <a:solidFill>
                <a:srgbClr val="1B7A6E"/>
              </a:solidFill>
              <a:ea typeface="Calibri"/>
              <a:cs typeface="Calibri"/>
            </a:endParaRPr>
          </a:p>
          <a:p>
            <a:endParaRPr lang="en-US" sz="11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name = "John"  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age = 25</a:t>
            </a:r>
            <a:endParaRPr lang="en-US"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100" b="1" dirty="0" err="1">
                <a:solidFill>
                  <a:srgbClr val="0077B6"/>
                </a:solidFill>
                <a:latin typeface="Courier New"/>
                <a:cs typeface="Courier New"/>
              </a:rPr>
              <a:t>f"My</a:t>
            </a: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 name is {name}")</a:t>
            </a:r>
          </a:p>
          <a:p>
            <a:pPr marL="0" indent="0" algn="l">
              <a:buNone/>
            </a:pP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100" b="1" dirty="0" err="1">
                <a:solidFill>
                  <a:srgbClr val="0077B6"/>
                </a:solidFill>
                <a:latin typeface="Courier New"/>
                <a:cs typeface="Courier New"/>
              </a:rPr>
              <a:t>f"Age</a:t>
            </a:r>
            <a:r>
              <a:rPr lang="en-US" sz="1100" b="1" dirty="0">
                <a:solidFill>
                  <a:srgbClr val="0077B6"/>
                </a:solidFill>
                <a:latin typeface="Courier New"/>
                <a:cs typeface="Courier New"/>
              </a:rPr>
              <a:t> is {age}")</a:t>
            </a:r>
          </a:p>
          <a:p>
            <a:endParaRPr lang="en-US" sz="1050" b="1" dirty="0">
              <a:solidFill>
                <a:srgbClr val="495057"/>
              </a:solidFill>
            </a:endParaRPr>
          </a:p>
          <a:p>
            <a:r>
              <a:rPr lang="en-US" sz="1050" b="1">
                <a:solidFill>
                  <a:srgbClr val="495057"/>
                </a:solidFill>
              </a:rPr>
              <a:t>Output:  </a:t>
            </a:r>
            <a:endParaRPr lang="en-US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My name is John</a:t>
            </a:r>
            <a:br>
              <a:rPr lang="en-US" dirty="0"/>
            </a:b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Age is 25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5" name="Expressions Card"/>
          <p:cNvSpPr/>
          <p:nvPr/>
        </p:nvSpPr>
        <p:spPr>
          <a:xfrm>
            <a:off x="4709160" y="110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0077B6"/>
                </a:solidFill>
              </a:rPr>
              <a:t>Expressions Inside f-Strings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a = 10    b = 20</a:t>
            </a:r>
            <a:endParaRPr lang="en-US"/>
          </a:p>
          <a:p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print(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f"Sum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 = {</a:t>
            </a:r>
            <a:r>
              <a:rPr lang="en-US" sz="1200" b="1" dirty="0" err="1">
                <a:solidFill>
                  <a:srgbClr val="0077B6"/>
                </a:solidFill>
                <a:latin typeface="Courier New"/>
                <a:cs typeface="Courier New"/>
              </a:rPr>
              <a:t>a+b</a:t>
            </a:r>
            <a:r>
              <a:rPr lang="en-US" sz="1200" b="1" dirty="0">
                <a:solidFill>
                  <a:srgbClr val="0077B6"/>
                </a:solidFill>
                <a:latin typeface="Courier New"/>
                <a:cs typeface="Courier New"/>
              </a:rPr>
              <a:t>}")</a:t>
            </a:r>
          </a:p>
          <a:p>
            <a:pPr marL="0" indent="0" algn="l">
              <a:buNone/>
            </a:pPr>
            <a:endParaRPr lang="en-US" sz="1100" b="1" dirty="0">
              <a:solidFill>
                <a:srgbClr val="495057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100" b="1">
                <a:solidFill>
                  <a:srgbClr val="495057"/>
                </a:solidFill>
              </a:rPr>
              <a:t>Output: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Sum = 30</a:t>
            </a:r>
            <a:endParaRPr lang="en-US"/>
          </a:p>
        </p:txBody>
      </p:sp>
      <p:sp>
        <p:nvSpPr>
          <p:cNvPr id="6" name="Decimal Card"/>
          <p:cNvSpPr/>
          <p:nvPr/>
        </p:nvSpPr>
        <p:spPr>
          <a:xfrm>
            <a:off x="3657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Decimal Formatting</a:t>
            </a:r>
            <a:endParaRPr lang="en-US" b="1">
              <a:solidFill>
                <a:srgbClr val="1B7A6E"/>
              </a:solidFill>
              <a:ea typeface="Calibri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pi = 3.14159265</a:t>
            </a:r>
            <a:endParaRPr lang="en-US"/>
          </a:p>
          <a:p>
            <a:pPr marL="0" indent="0" algn="l">
              <a:buNone/>
            </a:pPr>
            <a:r>
              <a:rPr lang="en-US" sz="1200" b="1">
                <a:solidFill>
                  <a:srgbClr val="0077B6"/>
                </a:solidFill>
                <a:latin typeface="Courier New"/>
                <a:cs typeface="Courier New"/>
              </a:rPr>
              <a:t>print(f"{pi:.2f}")</a:t>
            </a:r>
            <a:r>
              <a:rPr lang="en-US" sz="1150">
                <a:solidFill>
                  <a:srgbClr val="495057"/>
                </a:solidFill>
              </a:rPr>
              <a:t>  →  </a:t>
            </a: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3.14</a:t>
            </a:r>
          </a:p>
          <a:p>
            <a:endParaRPr lang="en-US" sz="10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100">
                <a:solidFill>
                  <a:srgbClr val="0D1B2A"/>
                </a:solidFill>
              </a:rPr>
              <a:t>.2f keeps two decimal places.</a:t>
            </a:r>
            <a:endParaRPr lang="en-US" sz="1100"/>
          </a:p>
        </p:txBody>
      </p:sp>
      <p:sp>
        <p:nvSpPr>
          <p:cNvPr id="7" name="Width Card"/>
          <p:cNvSpPr/>
          <p:nvPr/>
        </p:nvSpPr>
        <p:spPr>
          <a:xfrm>
            <a:off x="4709160" y="3120000"/>
            <a:ext cx="4069080" cy="1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82296" rIns="137160" bIns="54864" rtlCol="0" anchor="t"/>
          <a:lstStyle/>
          <a:p>
            <a:pPr marL="0" indent="0" algn="l">
              <a:buNone/>
            </a:pPr>
            <a:r>
              <a:rPr lang="en-US" b="1">
                <a:solidFill>
                  <a:srgbClr val="1B7A6E"/>
                </a:solidFill>
              </a:rPr>
              <a:t>Width Formatting</a:t>
            </a:r>
          </a:p>
          <a:p>
            <a:endParaRPr lang="en-US" sz="12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text = "cat" </a:t>
            </a:r>
            <a:endParaRPr lang="en-US">
              <a:solidFill>
                <a:srgbClr val="000000"/>
              </a:solidFill>
              <a:latin typeface="Calibri" panose="020F0502020204030204"/>
              <a:ea typeface="+mn-lt"/>
              <a:cs typeface="Calibri" panose="020F0502020204030204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num = 42 </a:t>
            </a:r>
            <a:endParaRPr lang="en-US">
              <a:solidFill>
                <a:srgbClr val="000000"/>
              </a:solidFill>
              <a:latin typeface="Calibri" panose="020F0502020204030204"/>
              <a:ea typeface="+mn-lt"/>
              <a:cs typeface="Calibri"/>
            </a:endParaRPr>
          </a:p>
          <a:p>
            <a:endParaRPr lang="en-US" sz="1200" b="1" dirty="0">
              <a:solidFill>
                <a:srgbClr val="0077B6"/>
              </a:solidFill>
              <a:latin typeface="Courier New"/>
              <a:ea typeface="+mn-lt"/>
              <a:cs typeface="Courier New"/>
            </a:endParaRPr>
          </a:p>
          <a:p>
            <a:r>
              <a:rPr lang="en-US" sz="1200" b="1">
                <a:solidFill>
                  <a:srgbClr val="0077B6"/>
                </a:solidFill>
                <a:latin typeface="Courier New"/>
                <a:ea typeface="+mn-lt"/>
                <a:cs typeface="Courier New"/>
              </a:rPr>
              <a:t>print(f"|{text:10}|") # Output: |cat | print(f"|{num:10}|") # Output: | 42|</a:t>
            </a:r>
            <a:endParaRPr lang="en-US">
              <a:ea typeface="Calibri"/>
              <a:cs typeface="Calibri"/>
            </a:endParaRPr>
          </a:p>
        </p:txBody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B039AFD7-F8B3-3DC8-3460-9243B2975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Operators in Python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Arithmetic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+    Addition         5+3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-    Subtraction      5-3 =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    Multiplication   5*3 = 15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    Division         7/2 = 3.5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//   Floor Div        7//2 =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%    Modulo           7%2 = 1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**   Power            2**3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400">
              <a:latin typeface="Courier New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Comparison Operators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 !=  &gt;  &lt;  &gt;=  &lt;=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Logical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and  →  both must be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or   →  at least one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not  →  flips True/False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Assignment Operators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= 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+= 3   # x = x + 3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-= 2   # x = x - 2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*= 4   # x = x * 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Type Conversion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int('5') · float('3.2') · str(10)</a:t>
            </a:r>
            <a:endParaRPr lang="en-US" sz="1400" dirty="0"/>
          </a:p>
        </p:txBody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8030E1AF-E2D4-5EDD-6D84-3A1A73D8C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1 Practical — Calculator Program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Mini project: Build a calculator that takes two numbers and an operator as input, performs the operation, and prints the result.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Tomorrow we use if-else to make the calculator handle ALL operators automatically!</a:t>
            </a:r>
            <a:endParaRPr lang="en-US" sz="1200" dirty="0"/>
          </a:p>
        </p:txBody>
      </p:sp>
      <p:pic>
        <p:nvPicPr>
          <p:cNvPr id="10" name="Picture 9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2F31C65E-97FE-DE11-B02B-943322099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005" y="1496785"/>
            <a:ext cx="4253433" cy="2922815"/>
          </a:xfrm>
          <a:prstGeom prst="rect">
            <a:avLst/>
          </a:prstGeom>
        </p:spPr>
      </p:pic>
      <p:pic>
        <p:nvPicPr>
          <p:cNvPr id="6" name="Picture 5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80FF52A7-6B2F-DD4E-9AF7-3BD3E63F1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1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10343"/>
            <a:ext cx="8229600" cy="373597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Q1.  </a:t>
            </a:r>
            <a:r>
              <a:rPr lang="en-US" sz="1400" dirty="0">
                <a:solidFill>
                  <a:srgbClr val="FFFFFF"/>
                </a:solidFill>
              </a:rPr>
              <a:t>Write a program that asks for your name and age, then prints: 'Hello [name], you will turn [age+1] next year!'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Q2.  </a:t>
            </a:r>
            <a:r>
              <a:rPr lang="en-US" sz="1400">
                <a:solidFill>
                  <a:srgbClr val="FFFFFF"/>
                </a:solidFill>
              </a:rPr>
              <a:t>What is the output of: print(type(3.14))  and  print(type(True))?</a:t>
            </a:r>
            <a:endParaRPr lang="en-US" sz="1400">
              <a:ea typeface="Calibri"/>
              <a:cs typeface="Calibri"/>
            </a:endParaRPr>
          </a:p>
          <a:p>
            <a:pPr>
              <a:spcAft>
                <a:spcPts val="1200"/>
              </a:spcAft>
            </a:pPr>
            <a:r>
              <a:rPr lang="en-US" sz="1500" b="1">
                <a:solidFill>
                  <a:srgbClr val="FFD166"/>
                </a:solidFill>
                <a:ea typeface="Calibri"/>
                <a:cs typeface="Calibri"/>
              </a:rPr>
              <a:t>Q3.</a:t>
            </a:r>
            <a:r>
              <a:rPr lang="en-US" sz="1500" b="1" dirty="0">
                <a:solidFill>
                  <a:srgbClr val="FFD166"/>
                </a:solidFill>
                <a:ea typeface="+mn-lt"/>
                <a:cs typeface="+mn-lt"/>
              </a:rPr>
              <a:t> </a:t>
            </a:r>
            <a:r>
              <a:rPr lang="en-US" sz="1400">
                <a:solidFill>
                  <a:srgbClr val="FFFFFF"/>
                </a:solidFill>
                <a:ea typeface="+mn-lt"/>
                <a:cs typeface="+mn-lt"/>
              </a:rPr>
              <a:t>Ask the user for their first name and last name, then print their full name using an f-string.</a:t>
            </a:r>
            <a:endParaRPr lang="en-US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Q4.  </a:t>
            </a:r>
            <a:r>
              <a:rPr lang="en-US" sz="1400" dirty="0">
                <a:solidFill>
                  <a:srgbClr val="FFFFFF"/>
                </a:solidFill>
              </a:rPr>
              <a:t>Convert the string '42' to an integer and multiply it by 3. Print the result.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Q5.  </a:t>
            </a:r>
            <a:r>
              <a:rPr lang="en-US" sz="1400" dirty="0">
                <a:solidFill>
                  <a:srgbClr val="FFFFFF"/>
                </a:solidFill>
              </a:rPr>
              <a:t>Bug Hunt: name = input('name') / print('Hello + name) — Find and fix both errors.</a:t>
            </a:r>
            <a:endParaRPr lang="en-US" sz="1400" dirty="0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spcAft>
                <a:spcPts val="1200"/>
              </a:spcAft>
            </a:pPr>
            <a:r>
              <a:rPr lang="en-US" sz="1400" b="1" dirty="0">
                <a:solidFill>
                  <a:srgbClr val="FFD166"/>
                </a:solidFill>
                <a:ea typeface="+mn-lt"/>
                <a:cs typeface="+mn-lt"/>
              </a:rPr>
              <a:t>Q6. 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Using one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print()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statement with </a:t>
            </a:r>
            <a:r>
              <a:rPr lang="en-US" sz="140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sep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and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end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, print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,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,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separated by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 | 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and ending with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"!!!"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instead of a newline.</a:t>
            </a:r>
          </a:p>
          <a:p>
            <a:pPr>
              <a:spcAft>
                <a:spcPts val="1200"/>
              </a:spcAft>
            </a:pPr>
            <a:r>
              <a:rPr lang="en-US" sz="150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Q7.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= 499.5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. Print it with exactly two decimal places using an f-string.</a:t>
            </a:r>
            <a:endParaRPr lang="en-US" dirty="0">
              <a:ea typeface="Calibri"/>
              <a:cs typeface="Calibri"/>
            </a:endParaRPr>
          </a:p>
          <a:p>
            <a:pPr>
              <a:spcAft>
                <a:spcPts val="1200"/>
              </a:spcAft>
            </a:pPr>
            <a:r>
              <a:rPr lang="en-US" sz="1500" b="1">
                <a:solidFill>
                  <a:srgbClr val="FFD166"/>
                </a:solidFill>
                <a:ea typeface="+mn-lt"/>
                <a:cs typeface="+mn-lt"/>
              </a:rPr>
              <a:t>Q8. 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Ask the user for their age and whether they have a valid ID (yes/no). Print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"Entry allowed"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only if age ≥ 18 and they have a valid ID — using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and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directly, no nested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if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.</a:t>
            </a:r>
            <a:endParaRPr lang="en-US" dirty="0">
              <a:ea typeface="Calibri"/>
              <a:cs typeface="Calibri"/>
            </a:endParaRPr>
          </a:p>
          <a:p>
            <a:pPr>
              <a:spcAft>
                <a:spcPts val="1200"/>
              </a:spcAft>
            </a:pPr>
            <a:endParaRPr lang="en-US" sz="1400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2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2 — Thu, Jul 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Control Statements: if-else · Loops · Number Guessing Game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CCE55B8-E356-53D9-84BB-981E91FC0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Decision Making in Python</a:t>
            </a:r>
            <a:endParaRPr lang="en-US" sz="2800" b="1"/>
          </a:p>
        </p:txBody>
      </p:sp>
      <p:sp>
        <p:nvSpPr>
          <p:cNvPr id="4" name="Concept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7A6E"/>
                </a:solidFill>
              </a:rPr>
              <a:t>Conditional Statements (if, </a:t>
            </a:r>
            <a:r>
              <a:rPr lang="en-US" sz="1600" b="1" dirty="0" err="1">
                <a:solidFill>
                  <a:srgbClr val="1B7A6E"/>
                </a:solidFill>
              </a:rPr>
              <a:t>elif</a:t>
            </a:r>
            <a:r>
              <a:rPr lang="en-US" sz="1600" b="1" dirty="0">
                <a:solidFill>
                  <a:srgbClr val="1B7A6E"/>
                </a:solidFill>
              </a:rPr>
              <a:t>, else)</a:t>
            </a:r>
          </a:p>
          <a:p>
            <a:endParaRPr lang="en-US" sz="13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300">
                <a:solidFill>
                  <a:srgbClr val="0D1B2A"/>
                </a:solidFill>
              </a:rPr>
              <a:t>Conditional statements allow a program to make decisions and execute different blocks of code based on conditions.</a:t>
            </a:r>
            <a:endParaRPr lang="en-US"/>
          </a:p>
          <a:p>
            <a:pPr marL="0" indent="0" algn="l">
              <a:buNone/>
            </a:pPr>
            <a:endParaRPr lang="en-US" sz="700"/>
          </a:p>
          <a:p>
            <a:endParaRPr lang="en-US" sz="1500" b="1" dirty="0">
              <a:solidFill>
                <a:srgbClr val="0077B6"/>
              </a:solidFill>
            </a:endParaRPr>
          </a:p>
          <a:p>
            <a:r>
              <a:rPr lang="en-US" sz="1500" b="1">
                <a:solidFill>
                  <a:srgbClr val="0077B6"/>
                </a:solidFill>
              </a:rPr>
              <a:t>Why Use Conditions?</a:t>
            </a:r>
            <a:endParaRPr lang="en-US"/>
          </a:p>
          <a:p>
            <a:pPr marL="0" indent="0" algn="l">
              <a:buNone/>
            </a:pPr>
            <a:endParaRPr lang="en-US" sz="1300" dirty="0">
              <a:solidFill>
                <a:srgbClr val="1B7A6E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Make decisions in programs</a:t>
            </a:r>
            <a:endParaRPr lang="en-US"/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Validate user input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Compare values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1B7A6E"/>
                </a:solidFill>
              </a:rPr>
              <a:t>✅ </a:t>
            </a:r>
            <a:r>
              <a:rPr lang="en-US" sz="1300">
                <a:solidFill>
                  <a:srgbClr val="0D1B2A"/>
                </a:solidFill>
              </a:rPr>
              <a:t>Control program flow</a:t>
            </a:r>
          </a:p>
        </p:txBody>
      </p:sp>
      <p:sp>
        <p:nvSpPr>
          <p:cNvPr id="5" name="Syntax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Syntax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condition: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200" dirty="0">
              <a:solidFill>
                <a:srgbClr val="0D1B2A"/>
              </a:solidFill>
            </a:endParaRPr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The indented block runs only when the condition is True.</a:t>
            </a:r>
            <a:endParaRPr lang="en-US"/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1689CB7A-7AF7-6164-957C-016DEDEA1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The if statement executes a block of code only when the condition is True.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age = 18</a:t>
            </a:r>
            <a:endParaRPr lang="en-US"/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age &gt;= 18: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print("Eligible to vote")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0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Eligible to vote</a:t>
            </a:r>
          </a:p>
        </p:txBody>
      </p:sp>
      <p:sp>
        <p:nvSpPr>
          <p:cNvPr id="5" name="Flow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Flow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</a:rPr>
              <a:t>Condition is True</a:t>
            </a:r>
            <a:r>
              <a:rPr lang="en-US" sz="1300">
                <a:solidFill>
                  <a:srgbClr val="0D1B2A"/>
                </a:solidFill>
              </a:rPr>
              <a:t> → Execute code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C1121F"/>
                </a:solidFill>
              </a:rPr>
              <a:t>Condition is False</a:t>
            </a:r>
            <a:r>
              <a:rPr lang="en-US" sz="1300">
                <a:solidFill>
                  <a:srgbClr val="0D1B2A"/>
                </a:solidFill>
              </a:rPr>
              <a:t> → Skip code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5E71807B-E0F8-ABF0-C032-6A720A0C1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if-else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The else block executes when the condition is False.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num = 7</a:t>
            </a:r>
            <a:endParaRPr lang="en-US"/>
          </a:p>
          <a:p>
            <a:pPr marL="0" indent="0" algn="l">
              <a:buNone/>
            </a:pPr>
            <a:endParaRPr lang="en-US" sz="4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num % 2 == 0: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print("Even")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print("Odd")</a:t>
            </a:r>
          </a:p>
          <a:p>
            <a:pPr marL="0" indent="0" algn="l">
              <a:buNone/>
            </a:pPr>
            <a:endParaRPr lang="en-US" sz="60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endParaRPr lang="en-US" sz="1300" b="1" dirty="0">
              <a:solidFill>
                <a:srgbClr val="495057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Odd</a:t>
            </a:r>
          </a:p>
        </p:txBody>
      </p:sp>
      <p:sp>
        <p:nvSpPr>
          <p:cNvPr id="5" name="Flow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Flow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</a:rPr>
              <a:t>Condition True</a:t>
            </a:r>
            <a:r>
              <a:rPr lang="en-US" sz="1300">
                <a:solidFill>
                  <a:srgbClr val="0D1B2A"/>
                </a:solidFill>
              </a:rPr>
              <a:t> → if block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C1121F"/>
                </a:solidFill>
              </a:rPr>
              <a:t>Condition False</a:t>
            </a:r>
            <a:r>
              <a:rPr lang="en-US" sz="1300">
                <a:solidFill>
                  <a:srgbClr val="0D1B2A"/>
                </a:solidFill>
              </a:rPr>
              <a:t> → else block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B6DB51E2-9FDF-2F3E-E3CA-3B2A6DECB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if-elif-else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Used when multiple conditions need to be checked.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40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marks = 85</a:t>
            </a:r>
            <a:endParaRPr lang="en-US"/>
          </a:p>
          <a:p>
            <a:pPr marL="0" indent="0" algn="l">
              <a:buNone/>
            </a:pPr>
            <a:endParaRPr lang="en-US" sz="3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marks &gt;= 90: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A+")</a:t>
            </a:r>
          </a:p>
          <a:p>
            <a:pPr marL="0" indent="0" algn="l">
              <a:buNone/>
            </a:pPr>
            <a:r>
              <a:rPr lang="en-US" sz="1400" b="1" dirty="0" err="1">
                <a:solidFill>
                  <a:srgbClr val="0077B6"/>
                </a:solidFill>
                <a:latin typeface="Courier New"/>
                <a:cs typeface="Courier New"/>
              </a:rPr>
              <a:t>elif</a:t>
            </a:r>
            <a:r>
              <a:rPr lang="en-US" sz="1400" b="1" dirty="0">
                <a:solidFill>
                  <a:srgbClr val="0077B6"/>
                </a:solidFill>
                <a:latin typeface="Courier New"/>
                <a:cs typeface="Courier New"/>
              </a:rPr>
              <a:t> marks &gt;= 75: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A")</a:t>
            </a:r>
          </a:p>
          <a:p>
            <a:pPr marL="0" indent="0" algn="l">
              <a:buNone/>
            </a:pPr>
            <a:r>
              <a:rPr lang="en-US" sz="1400" b="1" dirty="0" err="1">
                <a:solidFill>
                  <a:srgbClr val="0077B6"/>
                </a:solidFill>
                <a:latin typeface="Courier New"/>
                <a:cs typeface="Courier New"/>
              </a:rPr>
              <a:t>elif</a:t>
            </a:r>
            <a:r>
              <a:rPr lang="en-US" sz="1400" b="1" dirty="0">
                <a:solidFill>
                  <a:srgbClr val="0077B6"/>
                </a:solidFill>
                <a:latin typeface="Courier New"/>
                <a:cs typeface="Courier New"/>
              </a:rPr>
              <a:t> marks &gt;= 60: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print("Grade B")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print("Fail")</a:t>
            </a:r>
          </a:p>
        </p:txBody>
      </p:sp>
      <p:sp>
        <p:nvSpPr>
          <p:cNvPr id="5" name="Output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Output</a:t>
            </a:r>
          </a:p>
          <a:p>
            <a:pPr marL="0" indent="0" algn="l">
              <a:buNone/>
            </a:pPr>
            <a:endParaRPr lang="en-US" sz="800"/>
          </a:p>
          <a:p>
            <a:pPr marL="0" indent="0" algn="l">
              <a:buNone/>
            </a:pPr>
            <a:r>
              <a:rPr lang="en-US" sz="2000" b="1">
                <a:solidFill>
                  <a:srgbClr val="1B7A6E"/>
                </a:solidFill>
                <a:latin typeface="Courier New"/>
                <a:cs typeface="Courier New"/>
              </a:rPr>
              <a:t>Grade A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marks = 85 fails the first test but passes marks &gt;= 75, so the second branch runs.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58029780-2193-A140-FDCA-081EDA5EF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Nested if Statement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94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An if statement inside another if statement.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age = 20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citizen = True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if age &gt;= 18: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if citizen: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        print("Eligible to vote")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450" b="1">
                <a:solidFill>
                  <a:srgbClr val="1B7A6E"/>
                </a:solidFill>
                <a:latin typeface="Courier New"/>
                <a:cs typeface="Courier New"/>
              </a:rPr>
              <a:t>Eligible to vote</a:t>
            </a:r>
          </a:p>
        </p:txBody>
      </p:sp>
      <p:sp>
        <p:nvSpPr>
          <p:cNvPr id="5" name="Uses Card"/>
          <p:cNvSpPr/>
          <p:nvPr/>
        </p:nvSpPr>
        <p:spPr>
          <a:xfrm>
            <a:off x="5534240" y="1140000"/>
            <a:ext cx="3244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Uses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Login systems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Permission checks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• </a:t>
            </a:r>
            <a:r>
              <a:rPr lang="en-US" sz="1350">
                <a:solidFill>
                  <a:srgbClr val="0D1B2A"/>
                </a:solidFill>
              </a:rPr>
              <a:t>Multiple dependent conditions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BC4358E7-E046-A6C6-EA38-BE21AB073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Comparison &amp; Logical Operators</a:t>
            </a:r>
            <a:endParaRPr lang="en-US" sz="2800" b="1"/>
          </a:p>
        </p:txBody>
      </p:sp>
      <p:sp>
        <p:nvSpPr>
          <p:cNvPr id="4" name="Comparison Card"/>
          <p:cNvSpPr/>
          <p:nvPr/>
        </p:nvSpPr>
        <p:spPr>
          <a:xfrm>
            <a:off x="365760" y="1140000"/>
            <a:ext cx="4180000" cy="20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Comparison Operators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==  </a:t>
            </a:r>
            <a:r>
              <a:rPr lang="en-US" sz="1250">
                <a:solidFill>
                  <a:srgbClr val="0D1B2A"/>
                </a:solidFill>
              </a:rPr>
              <a:t>Equal to    </a:t>
            </a: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!=  </a:t>
            </a:r>
            <a:r>
              <a:rPr lang="en-US" sz="1250">
                <a:solidFill>
                  <a:srgbClr val="0D1B2A"/>
                </a:solidFill>
              </a:rPr>
              <a:t>Not equal to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&gt;   </a:t>
            </a:r>
            <a:r>
              <a:rPr lang="en-US" sz="1250">
                <a:solidFill>
                  <a:srgbClr val="0D1B2A"/>
                </a:solidFill>
              </a:rPr>
              <a:t>Greater than </a:t>
            </a: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&lt;   </a:t>
            </a:r>
            <a:r>
              <a:rPr lang="en-US" sz="1250">
                <a:solidFill>
                  <a:srgbClr val="0D1B2A"/>
                </a:solidFill>
              </a:rPr>
              <a:t>Less than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&gt;=  </a:t>
            </a:r>
            <a:r>
              <a:rPr lang="en-US" sz="1250">
                <a:solidFill>
                  <a:srgbClr val="0D1B2A"/>
                </a:solidFill>
              </a:rPr>
              <a:t>Greater or equal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&lt;=  </a:t>
            </a:r>
            <a:r>
              <a:rPr lang="en-US" sz="1250">
                <a:solidFill>
                  <a:srgbClr val="0D1B2A"/>
                </a:solidFill>
              </a:rPr>
              <a:t>Less or equal</a:t>
            </a:r>
          </a:p>
        </p:txBody>
      </p:sp>
      <p:sp>
        <p:nvSpPr>
          <p:cNvPr id="5" name="Logical Card"/>
          <p:cNvSpPr/>
          <p:nvPr/>
        </p:nvSpPr>
        <p:spPr>
          <a:xfrm>
            <a:off x="4773760" y="1140000"/>
            <a:ext cx="4004480" cy="20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Logical Operators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and  </a:t>
            </a:r>
            <a:r>
              <a:rPr lang="en-US" sz="1250">
                <a:solidFill>
                  <a:srgbClr val="0D1B2A"/>
                </a:solidFill>
              </a:rPr>
              <a:t>Both conditions True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or   </a:t>
            </a:r>
            <a:r>
              <a:rPr lang="en-US" sz="1250">
                <a:solidFill>
                  <a:srgbClr val="0D1B2A"/>
                </a:solidFill>
              </a:rPr>
              <a:t>Any one True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not  </a:t>
            </a:r>
            <a:r>
              <a:rPr lang="en-US" sz="1250">
                <a:solidFill>
                  <a:srgbClr val="0D1B2A"/>
                </a:solidFill>
              </a:rPr>
              <a:t>Reverses the condition</a:t>
            </a:r>
          </a:p>
        </p:txBody>
      </p:sp>
      <p:sp>
        <p:nvSpPr>
          <p:cNvPr id="7" name="And Example Card"/>
          <p:cNvSpPr/>
          <p:nvPr/>
        </p:nvSpPr>
        <p:spPr>
          <a:xfrm>
            <a:off x="365760" y="3260000"/>
            <a:ext cx="2658000" cy="16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t"/>
          <a:lstStyle/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and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if age&gt;=18 and citizen:</a:t>
            </a:r>
            <a:endParaRPr lang="en-US"/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print("Eligible")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print("No")</a:t>
            </a:r>
          </a:p>
        </p:txBody>
      </p:sp>
      <p:sp>
        <p:nvSpPr>
          <p:cNvPr id="8" name="Or Example Card"/>
          <p:cNvSpPr/>
          <p:nvPr/>
        </p:nvSpPr>
        <p:spPr>
          <a:xfrm>
            <a:off x="3243760" y="3260000"/>
            <a:ext cx="2658000" cy="16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t"/>
          <a:lstStyle/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or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050" b="1" dirty="0">
                <a:solidFill>
                  <a:srgbClr val="0077B6"/>
                </a:solidFill>
                <a:latin typeface="Courier New"/>
                <a:cs typeface="Courier New"/>
              </a:rPr>
              <a:t>if </a:t>
            </a:r>
            <a:r>
              <a:rPr lang="en-US" sz="1050" b="1" dirty="0" err="1">
                <a:solidFill>
                  <a:srgbClr val="0077B6"/>
                </a:solidFill>
                <a:latin typeface="Courier New"/>
                <a:cs typeface="Courier New"/>
              </a:rPr>
              <a:t>vip</a:t>
            </a:r>
            <a:r>
              <a:rPr lang="en-US" sz="1050" b="1" dirty="0">
                <a:solidFill>
                  <a:srgbClr val="0077B6"/>
                </a:solidFill>
                <a:latin typeface="Courier New"/>
                <a:cs typeface="Courier New"/>
              </a:rPr>
              <a:t> or member:</a:t>
            </a:r>
            <a:endParaRPr lang="en-US" dirty="0"/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print("Welcome")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print("Guest")</a:t>
            </a:r>
          </a:p>
        </p:txBody>
      </p:sp>
      <p:sp>
        <p:nvSpPr>
          <p:cNvPr id="9" name="Not Example Card"/>
          <p:cNvSpPr/>
          <p:nvPr/>
        </p:nvSpPr>
        <p:spPr>
          <a:xfrm>
            <a:off x="6121760" y="3260000"/>
            <a:ext cx="2656480" cy="16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91440" rIns="137160" bIns="91440" rtlCol="0" anchor="t"/>
          <a:lstStyle/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not</a:t>
            </a:r>
          </a:p>
          <a:p>
            <a:endParaRPr lang="en-US" sz="10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if not blocked:</a:t>
            </a:r>
            <a:endParaRPr lang="en-US"/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print("Allowed")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else:</a:t>
            </a:r>
          </a:p>
          <a:p>
            <a:pPr marL="0" indent="0" algn="l">
              <a:buNone/>
            </a:pPr>
            <a:r>
              <a:rPr lang="en-US" sz="1050" b="1">
                <a:solidFill>
                  <a:srgbClr val="0077B6"/>
                </a:solidFill>
                <a:latin typeface="Courier New"/>
                <a:cs typeface="Courier New"/>
              </a:rPr>
              <a:t>    print("Denied")</a:t>
            </a:r>
          </a:p>
        </p:txBody>
      </p:sp>
      <p:pic>
        <p:nvPicPr>
          <p:cNvPr id="10" name="Picture 9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18FBE551-A5DC-7303-84B0-31FCEBB07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Introduction to Loops</a:t>
            </a:r>
            <a:endParaRPr lang="en-US" sz="2800" b="1"/>
          </a:p>
        </p:txBody>
      </p:sp>
      <p:sp>
        <p:nvSpPr>
          <p:cNvPr id="4" name="Intro Card"/>
          <p:cNvSpPr/>
          <p:nvPr/>
        </p:nvSpPr>
        <p:spPr>
          <a:xfrm>
            <a:off x="365760" y="1140000"/>
            <a:ext cx="8412480" cy="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ctr"/>
          <a:lstStyle/>
          <a:p>
            <a:pPr marL="0" indent="0" algn="l">
              <a:buNone/>
            </a:pPr>
            <a:r>
              <a:rPr lang="en-US" sz="1450">
                <a:solidFill>
                  <a:srgbClr val="0D1B2A"/>
                </a:solidFill>
              </a:rPr>
              <a:t>Loops execute a block of code repeatedly until a condition becomes false or all elements in a sequence are processed.</a:t>
            </a:r>
          </a:p>
        </p:txBody>
      </p:sp>
      <p:sp>
        <p:nvSpPr>
          <p:cNvPr id="5" name="Types Card"/>
          <p:cNvSpPr/>
          <p:nvPr/>
        </p:nvSpPr>
        <p:spPr>
          <a:xfrm>
            <a:off x="365760" y="2180000"/>
            <a:ext cx="4180000" cy="276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Types of Loops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for</a:t>
            </a:r>
            <a:r>
              <a:rPr lang="en-US" sz="1350" b="1">
                <a:solidFill>
                  <a:srgbClr val="0D1B2A"/>
                </a:solidFill>
              </a:rPr>
              <a:t> loop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Used when the number of iterations is known.</a:t>
            </a:r>
          </a:p>
          <a:p>
            <a:pPr marL="0" indent="0" algn="l">
              <a:buNone/>
            </a:pPr>
            <a:endParaRPr lang="en-US" sz="500"/>
          </a:p>
          <a:p>
            <a:pPr marL="0" indent="0" algn="l">
              <a:buNone/>
            </a:pPr>
            <a:r>
              <a:rPr lang="en-US" sz="1400" b="1">
                <a:solidFill>
                  <a:srgbClr val="0077B6"/>
                </a:solidFill>
                <a:latin typeface="Courier New"/>
                <a:cs typeface="Courier New"/>
              </a:rPr>
              <a:t>while</a:t>
            </a:r>
            <a:r>
              <a:rPr lang="en-US" sz="1350" b="1">
                <a:solidFill>
                  <a:srgbClr val="0D1B2A"/>
                </a:solidFill>
              </a:rPr>
              <a:t> loop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Used when repetition depends on a condition.</a:t>
            </a:r>
          </a:p>
        </p:txBody>
      </p:sp>
      <p:sp>
        <p:nvSpPr>
          <p:cNvPr id="6" name="Benefits Card"/>
          <p:cNvSpPr/>
          <p:nvPr/>
        </p:nvSpPr>
        <p:spPr>
          <a:xfrm>
            <a:off x="4773760" y="2180000"/>
            <a:ext cx="4004480" cy="276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1B7A6E"/>
                </a:solidFill>
              </a:rPr>
              <a:t>Benefits of Loops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Reduce code repetition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Save time and effort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Process collections of data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Automate repetitive tasks</a:t>
            </a:r>
          </a:p>
        </p:txBody>
      </p:sp>
      <p:pic>
        <p:nvPicPr>
          <p:cNvPr id="8" name="Picture 7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D81B2304-CD6F-EFE5-F889-43B2CDDA7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for Loop &amp; range()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50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Syntax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for variable in sequence: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Example</a:t>
            </a:r>
          </a:p>
          <a:p>
            <a:pPr marL="0" indent="0" algn="l">
              <a:buNone/>
            </a:pPr>
            <a:r>
              <a:rPr lang="en-US" sz="1300" b="1" dirty="0">
                <a:solidFill>
                  <a:srgbClr val="0077B6"/>
                </a:solidFill>
                <a:latin typeface="Courier New"/>
                <a:cs typeface="Courier New"/>
              </a:rPr>
              <a:t>for </a:t>
            </a:r>
            <a:r>
              <a:rPr lang="en-US" sz="1300" b="1" dirty="0" err="1">
                <a:solidFill>
                  <a:srgbClr val="0077B6"/>
                </a:solidFill>
                <a:latin typeface="Courier New"/>
                <a:cs typeface="Courier New"/>
              </a:rPr>
              <a:t>i</a:t>
            </a:r>
            <a:r>
              <a:rPr lang="en-US" sz="1300" b="1" dirty="0">
                <a:solidFill>
                  <a:srgbClr val="0077B6"/>
                </a:solidFill>
                <a:latin typeface="Courier New"/>
                <a:cs typeface="Courier New"/>
              </a:rPr>
              <a:t> in range(5):</a:t>
            </a:r>
          </a:p>
          <a:p>
            <a:pPr marL="0" indent="0" algn="l">
              <a:buNone/>
            </a:pPr>
            <a:r>
              <a:rPr lang="en-US" sz="1300" b="1" dirty="0">
                <a:solidFill>
                  <a:srgbClr val="0077B6"/>
                </a:solidFill>
                <a:latin typeface="Courier New"/>
                <a:cs typeface="Courier New"/>
              </a:rPr>
              <a:t>    print(</a:t>
            </a:r>
            <a:r>
              <a:rPr lang="en-US" sz="1300" b="1" dirty="0" err="1">
                <a:solidFill>
                  <a:srgbClr val="0077B6"/>
                </a:solidFill>
                <a:latin typeface="Courier New"/>
                <a:cs typeface="Courier New"/>
              </a:rPr>
              <a:t>i</a:t>
            </a:r>
            <a:r>
              <a:rPr lang="en-US" sz="1300" b="1" dirty="0">
                <a:solidFill>
                  <a:srgbClr val="0077B6"/>
                </a:solidFill>
                <a:latin typeface="Courier New"/>
                <a:cs typeface="Courier New"/>
              </a:rPr>
              <a:t>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0  1  2  3  4</a:t>
            </a:r>
          </a:p>
        </p:txBody>
      </p:sp>
      <p:sp>
        <p:nvSpPr>
          <p:cNvPr id="5" name="Range Card"/>
          <p:cNvSpPr/>
          <p:nvPr/>
        </p:nvSpPr>
        <p:spPr>
          <a:xfrm>
            <a:off x="5093760" y="1140000"/>
            <a:ext cx="368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range() Function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range(5)</a:t>
            </a:r>
            <a:r>
              <a:rPr lang="en-US" sz="1300">
                <a:solidFill>
                  <a:srgbClr val="0D1B2A"/>
                </a:solidFill>
              </a:rPr>
              <a:t> → 0 to 4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range(1,6)</a:t>
            </a:r>
            <a:r>
              <a:rPr lang="en-US" sz="1300">
                <a:solidFill>
                  <a:srgbClr val="0D1B2A"/>
                </a:solidFill>
              </a:rPr>
              <a:t> → 1 to 5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range(1,10,2)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0D1B2A"/>
                </a:solidFill>
              </a:rPr>
              <a:t>→ 1, 3, 5, 7, 9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0C5B4898-AB61-7A12-CA6B-C098FE2D7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The while Loop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50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Syntax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while condition: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Example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count = 1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while count &lt;= 5: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print(count)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    count += 1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1  2  3  4  5</a:t>
            </a:r>
          </a:p>
        </p:txBody>
      </p:sp>
      <p:sp>
        <p:nvSpPr>
          <p:cNvPr id="5" name="Warning Card"/>
          <p:cNvSpPr/>
          <p:nvPr/>
        </p:nvSpPr>
        <p:spPr>
          <a:xfrm>
            <a:off x="5093760" y="1140000"/>
            <a:ext cx="3684480" cy="3800000"/>
          </a:xfrm>
          <a:prstGeom prst="roundRect">
            <a:avLst>
              <a:gd name="adj" fmla="val 3000"/>
            </a:avLst>
          </a:prstGeom>
          <a:solidFill>
            <a:srgbClr val="FFF4E6"/>
          </a:solidFill>
          <a:ln w="19050">
            <a:solidFill>
              <a:srgbClr val="E07A1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B5560B"/>
                </a:solidFill>
              </a:rPr>
              <a:t>Be Careful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>
                <a:solidFill>
                  <a:srgbClr val="0D1B2A"/>
                </a:solidFill>
              </a:rPr>
              <a:t>If the condition never becomes False, an infinite loop occurs.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Always update the variable used in the condition so the loop can end.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43FEC709-A4E8-7E45-7FF8-20117D49D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Loop Control Statements</a:t>
            </a:r>
            <a:endParaRPr lang="en-US" sz="2800" b="1"/>
          </a:p>
        </p:txBody>
      </p:sp>
      <p:sp>
        <p:nvSpPr>
          <p:cNvPr id="4" name="Break Card"/>
          <p:cNvSpPr/>
          <p:nvPr/>
        </p:nvSpPr>
        <p:spPr>
          <a:xfrm>
            <a:off x="365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  <a:latin typeface="Courier New"/>
                <a:cs typeface="Courier New"/>
              </a:rPr>
              <a:t>break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Terminates the loop immediately.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for i in range(5):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if i == 3: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    break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print(i)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Output: </a:t>
            </a: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0 1 2</a:t>
            </a:r>
          </a:p>
        </p:txBody>
      </p:sp>
      <p:sp>
        <p:nvSpPr>
          <p:cNvPr id="5" name="Continue Card"/>
          <p:cNvSpPr/>
          <p:nvPr/>
        </p:nvSpPr>
        <p:spPr>
          <a:xfrm>
            <a:off x="3243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  <a:latin typeface="Courier New"/>
                <a:cs typeface="Courier New"/>
              </a:rPr>
              <a:t>continue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Skips the current iteration.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for i in range(5):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if i == 2: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    continue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print(i)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50" b="1">
                <a:solidFill>
                  <a:srgbClr val="495057"/>
                </a:solidFill>
              </a:rPr>
              <a:t>Output: </a:t>
            </a:r>
            <a:r>
              <a:rPr lang="en-US" sz="1150" b="1">
                <a:solidFill>
                  <a:srgbClr val="1B7A6E"/>
                </a:solidFill>
                <a:latin typeface="Courier New"/>
                <a:cs typeface="Courier New"/>
              </a:rPr>
              <a:t>0 1 3 4</a:t>
            </a:r>
          </a:p>
        </p:txBody>
      </p:sp>
      <p:sp>
        <p:nvSpPr>
          <p:cNvPr id="6" name="Pass Card"/>
          <p:cNvSpPr/>
          <p:nvPr/>
        </p:nvSpPr>
        <p:spPr>
          <a:xfrm>
            <a:off x="6121760" y="1140000"/>
            <a:ext cx="2656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  <a:latin typeface="Courier New"/>
                <a:cs typeface="Courier New"/>
              </a:rPr>
              <a:t>pass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Acts as a placeholder and performs no action.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if True: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0077B6"/>
                </a:solidFill>
                <a:latin typeface="Courier New"/>
                <a:cs typeface="Courier New"/>
              </a:rPr>
              <a:t>    pass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250">
                <a:solidFill>
                  <a:srgbClr val="0D1B2A"/>
                </a:solidFill>
              </a:rPr>
              <a:t>Useful where code is required but you have nothing to run yet.</a:t>
            </a:r>
          </a:p>
        </p:txBody>
      </p:sp>
      <p:pic>
        <p:nvPicPr>
          <p:cNvPr id="8" name="Picture 7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3E197546-9C9F-306A-B17F-FF1E7DDDA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2 Practical — Number Guessing Game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2754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Combine random module + while loop + if-elif-else to build an interactive game!</a:t>
            </a:r>
            <a:endParaRPr lang="en-US" sz="1400" dirty="0"/>
          </a:p>
        </p:txBody>
      </p:sp>
      <p:pic>
        <p:nvPicPr>
          <p:cNvPr id="5" name="Picture 4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FC1EA87F-164E-9158-2C7F-66B419B66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940" y="1191986"/>
            <a:ext cx="5055007" cy="3766458"/>
          </a:xfrm>
          <a:prstGeom prst="rect">
            <a:avLst/>
          </a:prstGeom>
        </p:spPr>
      </p:pic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9DEEC5A-2326-D865-4003-D93D0B68A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465909"/>
            <a:ext cx="8412480" cy="7119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2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170215"/>
            <a:ext cx="8229600" cy="367610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Q1.  </a:t>
            </a:r>
            <a:r>
              <a:rPr lang="en-US" sz="1400" dirty="0">
                <a:solidFill>
                  <a:srgbClr val="FFFFFF"/>
                </a:solidFill>
              </a:rPr>
              <a:t>Write an if-else program to check if a number entered by the user is positive, negative, or zero.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Q2.  </a:t>
            </a:r>
            <a:r>
              <a:rPr lang="en-US" sz="1400" dirty="0">
                <a:solidFill>
                  <a:srgbClr val="FFFFFF"/>
                </a:solidFill>
              </a:rPr>
              <a:t>Print a multiplication table for any number entered by the user (using a for loop).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Q3.  </a:t>
            </a:r>
            <a:r>
              <a:rPr lang="en-US" sz="1400" dirty="0">
                <a:solidFill>
                  <a:srgbClr val="FFFFFF"/>
                </a:solidFill>
              </a:rPr>
              <a:t>Using a while loop, keep asking the user for a number until they enter 0. Print the sum of all numbers entered.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Q4.  </a:t>
            </a:r>
            <a:r>
              <a:rPr lang="en-US" sz="1400" dirty="0">
                <a:solidFill>
                  <a:srgbClr val="FFFFFF"/>
                </a:solidFill>
              </a:rPr>
              <a:t>Write a program that prints numbers 1–20 but skips multiples of 3 (use continue).</a:t>
            </a:r>
            <a:endParaRPr lang="en-US" sz="1400">
              <a:ea typeface="Calibri"/>
              <a:cs typeface="Calibri"/>
            </a:endParaRPr>
          </a:p>
          <a:p>
            <a:pPr marL="0" indent="0" algn="l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D166"/>
                </a:solidFill>
              </a:rPr>
              <a:t>Q5.  </a:t>
            </a:r>
            <a:r>
              <a:rPr lang="en-US" sz="1400" dirty="0">
                <a:solidFill>
                  <a:srgbClr val="FFFFFF"/>
                </a:solidFill>
              </a:rPr>
              <a:t>Modify the Number Guessing Game: add a maximum attempts limit of 7. If exceeded, print 'Game over!'</a:t>
            </a:r>
            <a:endParaRPr lang="en-US" sz="1400" dirty="0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spcAft>
                <a:spcPts val="1200"/>
              </a:spcAft>
            </a:pPr>
            <a:r>
              <a:rPr lang="en-US" sz="1400" b="1" dirty="0">
                <a:solidFill>
                  <a:srgbClr val="FFD166"/>
                </a:solidFill>
                <a:ea typeface="+mn-lt"/>
                <a:cs typeface="+mn-lt"/>
              </a:rPr>
              <a:t>Q6. 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Take a student's marks as input and print their grade using an </a:t>
            </a:r>
            <a:r>
              <a:rPr lang="en-US" sz="1400" dirty="0" err="1">
                <a:solidFill>
                  <a:srgbClr val="FFFFFF"/>
                </a:solidFill>
                <a:ea typeface="+mn-lt"/>
                <a:cs typeface="+mn-lt"/>
              </a:rPr>
              <a:t>elif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chain: 90+ → "A+", 75–89 → "A", 60–74 → "B", below 60 → "Fail".</a:t>
            </a:r>
          </a:p>
          <a:p>
            <a:pPr>
              <a:spcAft>
                <a:spcPts val="1200"/>
              </a:spcAft>
            </a:pPr>
            <a:r>
              <a:rPr lang="en-US" sz="1400" b="1">
                <a:solidFill>
                  <a:srgbClr val="FFD166"/>
                </a:solidFill>
                <a:ea typeface="+mn-lt"/>
                <a:cs typeface="+mn-lt"/>
              </a:rPr>
              <a:t>Q7. </a:t>
            </a:r>
            <a:r>
              <a:rPr lang="en-US" sz="1400">
                <a:solidFill>
                  <a:srgbClr val="FFFFFF"/>
                </a:solidFill>
                <a:ea typeface="+mn-lt"/>
                <a:cs typeface="+mn-lt"/>
              </a:rPr>
              <a:t>Write a login check using nested if statements: first check if the username matches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"admin"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, and only if it does, check if the password matches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"1234"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. Print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"Access granted"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,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"Wrong password"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, or 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"Unknown user"</a:t>
            </a:r>
            <a:r>
              <a:rPr lang="en-US" sz="1400" dirty="0">
                <a:solidFill>
                  <a:srgbClr val="FFFFFF"/>
                </a:solidFill>
                <a:ea typeface="+mn-lt"/>
                <a:cs typeface="+mn-lt"/>
              </a:rPr>
              <a:t> accordingly.</a:t>
            </a:r>
            <a:endParaRPr lang="en-US" sz="14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3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3 — Fri, Jul 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Functions — DRY Principle · Parameters · Return Values · Built-ins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D410B720-1D83-02EE-6BC3-8AEF2997A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Introduction to Functions</a:t>
            </a:r>
            <a:endParaRPr lang="en-US" sz="2800" b="1"/>
          </a:p>
        </p:txBody>
      </p:sp>
      <p:sp>
        <p:nvSpPr>
          <p:cNvPr id="4" name="Intro Card"/>
          <p:cNvSpPr/>
          <p:nvPr/>
        </p:nvSpPr>
        <p:spPr>
          <a:xfrm>
            <a:off x="365760" y="1140000"/>
            <a:ext cx="8412480" cy="76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00000" rIns="182880" bIns="100000" rtlCol="0" anchor="ctr"/>
          <a:lstStyle/>
          <a:p>
            <a:pPr marL="0" indent="0" algn="l">
              <a:buNone/>
            </a:pPr>
            <a:r>
              <a:rPr lang="en-US" sz="1450">
                <a:solidFill>
                  <a:srgbClr val="0D1B2A"/>
                </a:solidFill>
              </a:rPr>
              <a:t>A function is a reusable block of code that performs a specific task.</a:t>
            </a:r>
          </a:p>
        </p:txBody>
      </p:sp>
      <p:sp>
        <p:nvSpPr>
          <p:cNvPr id="5" name="Why Card"/>
          <p:cNvSpPr/>
          <p:nvPr/>
        </p:nvSpPr>
        <p:spPr>
          <a:xfrm>
            <a:off x="365760" y="2040000"/>
            <a:ext cx="4180000" cy="2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1B7A6E"/>
                </a:solidFill>
              </a:rPr>
              <a:t>Why Use Functions?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Code reusability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Reduces code duplication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Improves readability</a:t>
            </a:r>
          </a:p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</a:rPr>
              <a:t>✓ </a:t>
            </a:r>
            <a:r>
              <a:rPr lang="en-US" sz="1350">
                <a:solidFill>
                  <a:srgbClr val="0D1B2A"/>
                </a:solidFill>
              </a:rPr>
              <a:t>Easier testing and maintenance</a:t>
            </a:r>
          </a:p>
        </p:txBody>
      </p:sp>
      <p:sp>
        <p:nvSpPr>
          <p:cNvPr id="6" name="Code Card"/>
          <p:cNvSpPr/>
          <p:nvPr/>
        </p:nvSpPr>
        <p:spPr>
          <a:xfrm>
            <a:off x="4773760" y="2040000"/>
            <a:ext cx="4004480" cy="2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Syntax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function_name():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statements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Example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greet():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print("Hello World")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greet()</a:t>
            </a:r>
          </a:p>
        </p:txBody>
      </p:sp>
      <p:pic>
        <p:nvPicPr>
          <p:cNvPr id="8" name="Picture 7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EA93520B-BD73-1BB4-B2D8-64AEA7675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Functions? — The DRY Principle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</a:rPr>
              <a:t>DRY = Don't Repeat Yourself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1B2A"/>
                </a:solidFill>
              </a:rPr>
              <a:t>Functions let you write code ONCE and use it ANYWHERE.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FF0F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233C"/>
                </a:solidFill>
              </a:rPr>
              <a:t>❌  Without Functions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0FFF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D6A0"/>
                </a:solidFill>
              </a:rPr>
              <a:t>✅  With Functions</a:t>
            </a:r>
            <a:endParaRPr lang="en-US" sz="14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FB854B-F91E-2A21-9827-B2E8F2E8B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71" y="2296163"/>
            <a:ext cx="3907973" cy="2167703"/>
          </a:xfrm>
          <a:prstGeom prst="rect">
            <a:avLst/>
          </a:prstGeom>
        </p:spPr>
      </p:pic>
      <p:pic>
        <p:nvPicPr>
          <p:cNvPr id="13" name="Picture 12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AF6CA995-2384-7B4C-BAC1-3DFE77734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879" y="2286000"/>
            <a:ext cx="3913415" cy="2356758"/>
          </a:xfrm>
          <a:prstGeom prst="rect">
            <a:avLst/>
          </a:prstGeom>
        </p:spPr>
      </p:pic>
      <p:pic>
        <p:nvPicPr>
          <p:cNvPr id="11" name="Picture 10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8E3E4658-25D3-6802-E2F2-10D689AF2F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Parameters &amp; Arguments</a:t>
            </a:r>
            <a:endParaRPr lang="en-US" sz="2800" b="1"/>
          </a:p>
        </p:txBody>
      </p:sp>
      <p:sp>
        <p:nvSpPr>
          <p:cNvPr id="4" name="Code Card"/>
          <p:cNvSpPr/>
          <p:nvPr/>
        </p:nvSpPr>
        <p:spPr>
          <a:xfrm>
            <a:off x="365760" y="1140000"/>
            <a:ext cx="440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350">
                <a:solidFill>
                  <a:srgbClr val="0D1B2A"/>
                </a:solidFill>
              </a:rPr>
              <a:t>Parameters receive values when a function is called.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greet(name):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print("Hello", name)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greet("John")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30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Default value example</a:t>
            </a:r>
            <a:endParaRPr lang="en-US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greet(name="Guest"):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print("Hello", name)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greet("John")</a:t>
            </a:r>
          </a:p>
        </p:txBody>
      </p:sp>
      <p:sp>
        <p:nvSpPr>
          <p:cNvPr id="5" name="Types Card"/>
          <p:cNvSpPr/>
          <p:nvPr/>
        </p:nvSpPr>
        <p:spPr>
          <a:xfrm>
            <a:off x="4993760" y="1140000"/>
            <a:ext cx="378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37160" rIns="182880" bIns="13716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Types of Parameters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Positional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add(10, 20)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Keyword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add(a=10, b=20)</a:t>
            </a:r>
          </a:p>
          <a:p>
            <a:pPr marL="0" indent="0" algn="l">
              <a:buNone/>
            </a:pPr>
            <a:endParaRPr lang="en-US" sz="400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</a:rPr>
              <a:t>Default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greet(name="Guest")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9EEE0008-0019-6BB7-281C-E5205F87D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Variable-Length Arguments</a:t>
            </a:r>
            <a:endParaRPr lang="en-US" sz="2800" b="1"/>
          </a:p>
        </p:txBody>
      </p:sp>
      <p:sp>
        <p:nvSpPr>
          <p:cNvPr id="4" name="Args Card"/>
          <p:cNvSpPr/>
          <p:nvPr/>
        </p:nvSpPr>
        <p:spPr>
          <a:xfrm>
            <a:off x="365760" y="1140000"/>
            <a:ext cx="418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7A6E"/>
                </a:solidFill>
                <a:latin typeface="Courier New"/>
                <a:cs typeface="Courier New"/>
              </a:rPr>
              <a:t>*</a:t>
            </a:r>
            <a:r>
              <a:rPr lang="en-US" sz="1500" b="1" dirty="0" err="1">
                <a:solidFill>
                  <a:srgbClr val="1B7A6E"/>
                </a:solidFill>
                <a:latin typeface="Courier New"/>
                <a:cs typeface="Courier New"/>
              </a:rPr>
              <a:t>args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Multiple positional arguments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add(*numbers):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print(numbers)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add(10, 20, 30)</a:t>
            </a:r>
          </a:p>
          <a:p>
            <a:pPr marL="0" indent="0" algn="l">
              <a:buNone/>
            </a:pPr>
            <a:endParaRPr lang="en-US" sz="600"/>
          </a:p>
          <a:p>
            <a:endParaRPr lang="en-US" sz="1300" b="1" dirty="0">
              <a:solidFill>
                <a:srgbClr val="495057"/>
              </a:solidFill>
            </a:endParaRPr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  <a:endParaRPr lang="en-US"/>
          </a:p>
          <a:p>
            <a:pPr marL="0" indent="0" algn="l">
              <a:buNone/>
            </a:pPr>
            <a:r>
              <a:rPr lang="en-US" sz="1400" b="1">
                <a:solidFill>
                  <a:srgbClr val="1B7A6E"/>
                </a:solidFill>
                <a:latin typeface="Courier New"/>
                <a:cs typeface="Courier New"/>
              </a:rPr>
              <a:t>(10, 20, 30)</a:t>
            </a:r>
          </a:p>
        </p:txBody>
      </p:sp>
      <p:sp>
        <p:nvSpPr>
          <p:cNvPr id="5" name="Kwargs Card"/>
          <p:cNvSpPr/>
          <p:nvPr/>
        </p:nvSpPr>
        <p:spPr>
          <a:xfrm>
            <a:off x="4773760" y="1140000"/>
            <a:ext cx="400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  <a:latin typeface="Courier New"/>
                <a:cs typeface="Courier New"/>
              </a:rPr>
              <a:t>**kwargs</a:t>
            </a:r>
          </a:p>
          <a:p>
            <a:pPr marL="0" indent="0" algn="l">
              <a:buNone/>
            </a:pPr>
            <a:r>
              <a:rPr lang="en-US" sz="1250">
                <a:solidFill>
                  <a:srgbClr val="495057"/>
                </a:solidFill>
              </a:rPr>
              <a:t>Multiple keyword arguments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student(**data):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print(data)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student(name="John", age=20)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1B7A6E"/>
                </a:solidFill>
                <a:latin typeface="Courier New"/>
                <a:cs typeface="Courier New"/>
              </a:rPr>
              <a:t>{'name': 'John', 'age': 20}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D0E09C5-E3D6-82EC-38E5-9F6EA5429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Return Statement &amp; Scope</a:t>
            </a:r>
            <a:endParaRPr lang="en-US" sz="2800" b="1"/>
          </a:p>
        </p:txBody>
      </p:sp>
      <p:sp>
        <p:nvSpPr>
          <p:cNvPr id="4" name="Return Card"/>
          <p:cNvSpPr/>
          <p:nvPr/>
        </p:nvSpPr>
        <p:spPr>
          <a:xfrm>
            <a:off x="365760" y="1140000"/>
            <a:ext cx="4180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1B7A6E"/>
                </a:solidFill>
              </a:rPr>
              <a:t>Return Statement</a:t>
            </a:r>
          </a:p>
          <a:p>
            <a:pPr marL="0" indent="0" algn="l">
              <a:buNone/>
            </a:pPr>
            <a:r>
              <a:rPr lang="en-US" sz="1300">
                <a:solidFill>
                  <a:srgbClr val="495057"/>
                </a:solidFill>
              </a:rPr>
              <a:t>Sends a value back to the caller.</a:t>
            </a:r>
          </a:p>
          <a:p>
            <a:pPr marL="0" indent="0" algn="l">
              <a:buNone/>
            </a:pPr>
            <a:endParaRPr lang="en-US" sz="700"/>
          </a:p>
          <a:p>
            <a:endParaRPr lang="en-US" sz="1350" b="1" dirty="0">
              <a:solidFill>
                <a:srgbClr val="0077B6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add(a, b):</a:t>
            </a:r>
            <a:endParaRPr lang="en-US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return a + b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result = add(10, 20)</a:t>
            </a:r>
          </a:p>
        </p:txBody>
      </p:sp>
      <p:sp>
        <p:nvSpPr>
          <p:cNvPr id="5" name="Scope Card"/>
          <p:cNvSpPr/>
          <p:nvPr/>
        </p:nvSpPr>
        <p:spPr>
          <a:xfrm>
            <a:off x="4773760" y="1140000"/>
            <a:ext cx="4004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82880" tIns="120000" rIns="182880" bIns="12000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77B6"/>
                </a:solidFill>
              </a:rPr>
              <a:t>Variable Scope</a:t>
            </a:r>
          </a:p>
          <a:p>
            <a:pPr marL="0" indent="0" algn="l">
              <a:buNone/>
            </a:pPr>
            <a:endParaRPr lang="en-US" sz="500"/>
          </a:p>
          <a:p>
            <a:pPr marL="0" indent="0" algn="l">
              <a:buNone/>
            </a:pPr>
            <a:r>
              <a:rPr lang="en-US" sz="1350" b="1">
                <a:solidFill>
                  <a:srgbClr val="1B7A6E"/>
                </a:solidFill>
              </a:rPr>
              <a:t>Local: </a:t>
            </a:r>
            <a:r>
              <a:rPr lang="en-US" sz="1300">
                <a:solidFill>
                  <a:srgbClr val="0D1B2A"/>
                </a:solidFill>
              </a:rPr>
              <a:t>Exists inside the function.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1B7A6E"/>
                </a:solidFill>
              </a:rPr>
              <a:t>Global: </a:t>
            </a:r>
            <a:r>
              <a:rPr lang="en-US" sz="1300">
                <a:solidFill>
                  <a:srgbClr val="0D1B2A"/>
                </a:solidFill>
              </a:rPr>
              <a:t>Exists outside the function.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x = 100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def show():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y = 50</a:t>
            </a:r>
          </a:p>
          <a:p>
            <a:pPr marL="0" indent="0" algn="l">
              <a:buNone/>
            </a:pPr>
            <a:r>
              <a:rPr lang="en-US" sz="1350" b="1">
                <a:solidFill>
                  <a:srgbClr val="0077B6"/>
                </a:solidFill>
                <a:latin typeface="Courier New"/>
                <a:cs typeface="Courier New"/>
              </a:rPr>
              <a:t>    print(y)</a:t>
            </a:r>
          </a:p>
        </p:txBody>
      </p:sp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F1F3D0C0-5B86-E894-E69B-7FE0CA76E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10000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itle"/>
          <p:cNvSpPr/>
          <p:nvPr/>
        </p:nvSpPr>
        <p:spPr>
          <a:xfrm>
            <a:off x="365760" y="0"/>
            <a:ext cx="84124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</a:rPr>
              <a:t>Important Function Concepts</a:t>
            </a:r>
            <a:endParaRPr lang="en-US" sz="2800" b="1"/>
          </a:p>
        </p:txBody>
      </p:sp>
      <p:sp>
        <p:nvSpPr>
          <p:cNvPr id="4" name="Lambda Card"/>
          <p:cNvSpPr/>
          <p:nvPr/>
        </p:nvSpPr>
        <p:spPr>
          <a:xfrm>
            <a:off x="365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Lambda Function</a:t>
            </a:r>
          </a:p>
          <a:p>
            <a:pPr marL="0" indent="0" algn="l">
              <a:buNone/>
            </a:pPr>
            <a:r>
              <a:rPr lang="en-US" sz="1200">
                <a:solidFill>
                  <a:srgbClr val="495057"/>
                </a:solidFill>
              </a:rPr>
              <a:t>Anonymous one-line function.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150" b="1">
                <a:solidFill>
                  <a:srgbClr val="0077B6"/>
                </a:solidFill>
                <a:latin typeface="Courier New"/>
                <a:cs typeface="Courier New"/>
              </a:rPr>
              <a:t>square = lambda x: x * x</a:t>
            </a:r>
          </a:p>
          <a:p>
            <a:pPr marL="0" indent="0" algn="l">
              <a:buNone/>
            </a:pPr>
            <a:r>
              <a:rPr lang="en-US" sz="1150" b="1">
                <a:solidFill>
                  <a:srgbClr val="0077B6"/>
                </a:solidFill>
                <a:latin typeface="Courier New"/>
                <a:cs typeface="Courier New"/>
              </a:rPr>
              <a:t>print(square(5))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300" b="1">
                <a:solidFill>
                  <a:srgbClr val="495057"/>
                </a:solidFill>
              </a:rPr>
              <a:t>Output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1B7A6E"/>
                </a:solidFill>
                <a:latin typeface="Courier New"/>
                <a:cs typeface="Courier New"/>
              </a:rPr>
              <a:t>25</a:t>
            </a:r>
          </a:p>
        </p:txBody>
      </p:sp>
      <p:sp>
        <p:nvSpPr>
          <p:cNvPr id="5" name="Recursive Card"/>
          <p:cNvSpPr/>
          <p:nvPr/>
        </p:nvSpPr>
        <p:spPr>
          <a:xfrm>
            <a:off x="3243760" y="1140000"/>
            <a:ext cx="265800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077B6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77B6"/>
                </a:solidFill>
              </a:rPr>
              <a:t>Recursive Function</a:t>
            </a:r>
          </a:p>
          <a:p>
            <a:pPr marL="0" indent="0" algn="l">
              <a:buNone/>
            </a:pPr>
            <a:r>
              <a:rPr lang="en-US" sz="1200">
                <a:solidFill>
                  <a:srgbClr val="495057"/>
                </a:solidFill>
              </a:rPr>
              <a:t>A function that calls itself.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def factorial(n):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    if n == 1: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        return 1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0077B6"/>
                </a:solidFill>
                <a:latin typeface="Courier New"/>
                <a:cs typeface="Courier New"/>
              </a:rPr>
              <a:t>    return n * factorial(n-1)</a:t>
            </a:r>
          </a:p>
          <a:p>
            <a:pPr marL="0" indent="0" algn="l">
              <a:buNone/>
            </a:pPr>
            <a:endParaRPr lang="en-US" sz="600"/>
          </a:p>
          <a:p>
            <a:pPr marL="0" indent="0" algn="l">
              <a:buNone/>
            </a:pPr>
            <a:r>
              <a:rPr lang="en-US" sz="1200">
                <a:solidFill>
                  <a:srgbClr val="0D1B2A"/>
                </a:solidFill>
              </a:rPr>
              <a:t>Each call reduces the problem until a base case stops it.</a:t>
            </a:r>
          </a:p>
        </p:txBody>
      </p:sp>
      <p:sp>
        <p:nvSpPr>
          <p:cNvPr id="6" name="Builtin Card"/>
          <p:cNvSpPr/>
          <p:nvPr/>
        </p:nvSpPr>
        <p:spPr>
          <a:xfrm>
            <a:off x="6121760" y="1140000"/>
            <a:ext cx="2656480" cy="38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 wrap="square" lIns="137160" tIns="120000" rIns="137160" bIns="12000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1B7A6E"/>
                </a:solidFill>
              </a:rPr>
              <a:t>Built-in Functions</a:t>
            </a:r>
          </a:p>
          <a:p>
            <a:pPr marL="0" indent="0" algn="l">
              <a:buNone/>
            </a:pPr>
            <a:r>
              <a:rPr lang="en-US" sz="1200">
                <a:solidFill>
                  <a:srgbClr val="495057"/>
                </a:solidFill>
              </a:rPr>
              <a:t>Ready-to-use Python functions.</a:t>
            </a:r>
          </a:p>
          <a:p>
            <a:pPr marL="0" indent="0" algn="l">
              <a:buNone/>
            </a:pPr>
            <a:endParaRPr lang="en-US" sz="700"/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print()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len()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input()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type()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sum()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max()</a:t>
            </a:r>
          </a:p>
          <a:p>
            <a:pPr marL="0" indent="0" algn="l">
              <a:buNone/>
            </a:pPr>
            <a:r>
              <a:rPr lang="en-US" sz="1300" b="1">
                <a:solidFill>
                  <a:srgbClr val="0077B6"/>
                </a:solidFill>
                <a:latin typeface="Courier New"/>
                <a:cs typeface="Courier New"/>
              </a:rPr>
              <a:t>min()</a:t>
            </a:r>
          </a:p>
        </p:txBody>
      </p:sp>
      <p:pic>
        <p:nvPicPr>
          <p:cNvPr id="8" name="Picture 7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31F924BD-4947-C440-DAAB-87CC94955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Useful Built-in Functions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Math &amp; Sequences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len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([1,2,3])      → 3
sum([1,2,3])      → 6
max([5,2,8])      → 8
min([5,2,8])      → 2
abs(-7)           → 7
round(3.567, 2)   → 3.57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Range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range(5)      → 0,1,2,3,4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range(1,6)    → 1,2,3,4,5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range(0,10,2) → 0,2,4,6,8</a:t>
            </a:r>
            <a:endParaRPr lang="en-US" sz="1400">
              <a:latin typeface="Courier New"/>
              <a:cs typeface="Courier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Sorting &amp; Type Checks
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sorted([3,1,2])   → [1,2,3]
sorted([3,1,2], reverse=True)
type(42)     → &lt;class 'int'&gt;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isinstance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(42, int) → True
</a:t>
            </a:r>
            <a:endParaRPr lang="en-US" sz="1300" dirty="0">
              <a:solidFill>
                <a:srgbClr val="0D1B2A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Common Lab Functions to Write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is_even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(n):</a:t>
            </a:r>
            <a:endParaRPr lang="en-US" sz="1400" dirty="0">
              <a:latin typeface="Courier New"/>
              <a:ea typeface="Calibri" panose="020F0502020204030204"/>
              <a:cs typeface="Calibri" panose="020F0502020204030204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   return n % 2 == 0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factorial(n):</a:t>
            </a:r>
            <a:endParaRPr lang="en-US" sz="1400" dirty="0"/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 result = 1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n+1):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      result *=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endParaRPr lang="en-US" sz="1400" dirty="0" err="1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</a:t>
            </a:r>
            <a:r>
              <a:rPr lang="en-US" sz="12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return result</a:t>
            </a:r>
            <a:endParaRPr lang="en-US" sz="140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reverse_string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(s):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 return s[::-1]</a:t>
            </a:r>
            <a:endParaRPr lang="en-US" sz="1400" dirty="0">
              <a:latin typeface="Courier New"/>
              <a:cs typeface="Courier New"/>
            </a:endParaRPr>
          </a:p>
        </p:txBody>
      </p:sp>
      <p:pic>
        <p:nvPicPr>
          <p:cNvPr id="9" name="Picture 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E415DC9-B167-40E0-5596-4C3F6CDEE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Function Syntax — def, Parameters, Return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1230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Functions are defined with 'def', can accept parameters (inputs), and can return values (outputs).</a:t>
            </a:r>
            <a:endParaRPr lang="en-US" sz="1400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74246BA-6CCF-29AC-45DD-FE4A0A9B0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74" y="1110343"/>
            <a:ext cx="3088651" cy="3967843"/>
          </a:xfrm>
          <a:prstGeom prst="rect">
            <a:avLst/>
          </a:prstGeom>
        </p:spPr>
      </p:pic>
      <p:pic>
        <p:nvPicPr>
          <p:cNvPr id="6" name="Picture 5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4457D081-0207-5D93-56EB-8897A13C8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47414-A501-A0E9-34C5-A917C8803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52C544-8568-C201-0F65-2C34B02DA9BA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D6C147-159E-5D86-12D3-45A3ABAE2C0D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</a:rPr>
              <a:t>Lambda Function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0FFB59B-350B-583D-6C3F-C55DD3336787}"/>
              </a:ext>
            </a:extLst>
          </p:cNvPr>
          <p:cNvSpPr/>
          <p:nvPr/>
        </p:nvSpPr>
        <p:spPr>
          <a:xfrm>
            <a:off x="365760" y="914400"/>
            <a:ext cx="8412480" cy="84146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A </a:t>
            </a:r>
            <a:r>
              <a:rPr lang="en-US" sz="1400" b="1">
                <a:solidFill>
                  <a:srgbClr val="0D1B2A"/>
                </a:solidFill>
                <a:ea typeface="+mn-lt"/>
                <a:cs typeface="+mn-lt"/>
              </a:rPr>
              <a:t>lambda function</a:t>
            </a:r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 is a small, anonymous function in Python that can have any number of parameters but only </a:t>
            </a:r>
            <a:r>
              <a:rPr lang="en-US" sz="1400" b="1">
                <a:solidFill>
                  <a:srgbClr val="0D1B2A"/>
                </a:solidFill>
                <a:ea typeface="+mn-lt"/>
                <a:cs typeface="+mn-lt"/>
              </a:rPr>
              <a:t>one expression</a:t>
            </a:r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.</a:t>
            </a:r>
            <a:endParaRPr lang="en-US"/>
          </a:p>
          <a:p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It is called </a:t>
            </a:r>
            <a:r>
              <a:rPr lang="en-US" sz="1400" b="1">
                <a:solidFill>
                  <a:srgbClr val="0D1B2A"/>
                </a:solidFill>
                <a:ea typeface="+mn-lt"/>
                <a:cs typeface="+mn-lt"/>
              </a:rPr>
              <a:t>anonymous</a:t>
            </a:r>
            <a:r>
              <a:rPr lang="en-US" sz="1400">
                <a:solidFill>
                  <a:srgbClr val="0D1B2A"/>
                </a:solidFill>
                <a:ea typeface="+mn-lt"/>
                <a:cs typeface="+mn-lt"/>
              </a:rPr>
              <a:t> because it does not require a function name.</a:t>
            </a:r>
            <a:endParaRPr lang="en-US"/>
          </a:p>
          <a:p>
            <a:pPr marL="0" indent="0" algn="l">
              <a:buNone/>
            </a:pPr>
            <a:endParaRPr lang="en-US" sz="1400" dirty="0">
              <a:solidFill>
                <a:srgbClr val="0D1B2A"/>
              </a:solidFill>
              <a:ea typeface="Calibri"/>
              <a:cs typeface="Calibri"/>
            </a:endParaRPr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AA1EC56A-6CD1-8FBC-D309-4313983ED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306" y="1758043"/>
            <a:ext cx="5003387" cy="3211286"/>
          </a:xfrm>
          <a:prstGeom prst="rect">
            <a:avLst/>
          </a:prstGeom>
        </p:spPr>
      </p:pic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9166F361-E3C1-4DF3-6C52-655D2DCF86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4584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58412D-ECA8-7AF0-B0B8-E04758A5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EDB51B-1730-4D25-832B-49E9A1F63EDC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17513A-577E-D848-1D75-E8060EF08683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Lambda with Multiple Parameters</a:t>
            </a:r>
            <a:endParaRPr lang="en-US">
              <a:ea typeface="+mn-lt"/>
              <a:cs typeface="+mn-lt"/>
            </a:endParaRP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AD9E334-46D7-C41B-3113-611355E0C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85" y="1155770"/>
            <a:ext cx="7522029" cy="3528646"/>
          </a:xfrm>
          <a:prstGeom prst="rect">
            <a:avLst/>
          </a:prstGeom>
        </p:spPr>
      </p:pic>
      <p:pic>
        <p:nvPicPr>
          <p:cNvPr id="5" name="Picture 4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3917DF2E-46C0-33A2-79E0-CA66878F52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932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D708B-66F5-3B30-9189-09E4E835E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FCD72D-B581-A3CC-1884-7FAB7C90DD73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507B56-EB95-9B50-CB3F-6128A22B4C0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Lambda with </a:t>
            </a:r>
            <a:r>
              <a:rPr lang="en-US" sz="2200" b="1">
                <a:solidFill>
                  <a:srgbClr val="FFFFFF"/>
                </a:solidFill>
                <a:latin typeface="Calibri"/>
                <a:ea typeface="+mn-lt"/>
                <a:cs typeface="+mn-lt"/>
              </a:rPr>
              <a:t>Conditional Expression</a:t>
            </a:r>
            <a:endParaRPr lang="en-US">
              <a:solidFill>
                <a:srgbClr val="000000"/>
              </a:solidFill>
              <a:latin typeface="Calibri"/>
              <a:ea typeface="+mn-lt"/>
              <a:cs typeface="+mn-lt"/>
            </a:endParaRPr>
          </a:p>
        </p:txBody>
      </p:sp>
      <p:pic>
        <p:nvPicPr>
          <p:cNvPr id="4" name="Picture 3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46173AE5-B5EB-1588-3581-A3F8D35DA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85" y="1041469"/>
            <a:ext cx="7908472" cy="3708261"/>
          </a:xfrm>
          <a:prstGeom prst="rect">
            <a:avLst/>
          </a:prstGeom>
        </p:spPr>
      </p:pic>
      <p:pic>
        <p:nvPicPr>
          <p:cNvPr id="6" name="Picture 5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7A013440-D9AE-C2BF-5DF1-A38440872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672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15075-0F68-188C-2A35-E9CE73AFC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3A1187-E4B0-9542-9B06-CC35C9359C13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9D22B18-82FE-8391-07AA-513AF9FAAA6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Lambda Returning Multiple Values</a:t>
            </a:r>
            <a:endParaRPr lang="en-US">
              <a:solidFill>
                <a:srgbClr val="000000"/>
              </a:solidFill>
              <a:latin typeface="Calibri"/>
              <a:ea typeface="+mn-lt"/>
              <a:cs typeface="+mn-lt"/>
            </a:endParaRPr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403266E-2F2E-7C77-A96F-D9A1189D0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57" y="934287"/>
            <a:ext cx="7102929" cy="3971611"/>
          </a:xfrm>
          <a:prstGeom prst="rect">
            <a:avLst/>
          </a:prstGeom>
        </p:spPr>
      </p:pic>
      <p:pic>
        <p:nvPicPr>
          <p:cNvPr id="6" name="Picture 5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D52654CB-3D55-1804-6D9E-9BF6E9558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0384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8F7440-DA56-813E-A1FF-63C55FF8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058120-377E-465E-6AB9-20E50A732F3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7EB891-8BFB-327F-BDF2-7E9AC2E946D3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FFFFFF"/>
                </a:solidFill>
                <a:ea typeface="+mn-lt"/>
                <a:cs typeface="+mn-lt"/>
              </a:rPr>
              <a:t>Recursive Function</a:t>
            </a:r>
            <a:endParaRPr lang="en-US"/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BE9266B-6ACE-1BB1-7063-6B447D4D7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399" y="832756"/>
            <a:ext cx="4983201" cy="4185558"/>
          </a:xfrm>
          <a:prstGeom prst="rect">
            <a:avLst/>
          </a:prstGeom>
        </p:spPr>
      </p:pic>
      <p:pic>
        <p:nvPicPr>
          <p:cNvPr id="5" name="Picture 4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E7429662-6CF1-9228-9F48-C67896259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5736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3 Practical — Function-Based Quiz Scorer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68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Build a quiz where each question is evaluated by a function, and scores are tracked and reported at the end.</a:t>
            </a:r>
            <a:endParaRPr lang="en-US" sz="1400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B60F601-CECE-F11D-BAEC-C33B9474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9413" y="1094014"/>
            <a:ext cx="3645175" cy="3978729"/>
          </a:xfrm>
          <a:prstGeom prst="rect">
            <a:avLst/>
          </a:prstGeom>
        </p:spPr>
      </p:pic>
      <p:pic>
        <p:nvPicPr>
          <p:cNvPr id="7" name="Picture 6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FCA9F16E-DD48-4257-2C10-35CC61C84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3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 function </a:t>
            </a:r>
            <a:r>
              <a:rPr lang="en-US" sz="1500" dirty="0" err="1">
                <a:solidFill>
                  <a:srgbClr val="FFFFFF"/>
                </a:solidFill>
              </a:rPr>
              <a:t>is_prime</a:t>
            </a:r>
            <a:r>
              <a:rPr lang="en-US" sz="1500" dirty="0">
                <a:solidFill>
                  <a:srgbClr val="FFFFFF"/>
                </a:solidFill>
              </a:rPr>
              <a:t>(n) that returns True if n is a prime number, False otherwise.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Write a function </a:t>
            </a:r>
            <a:r>
              <a:rPr lang="en-US" sz="1500" dirty="0" err="1">
                <a:solidFill>
                  <a:srgbClr val="FFFFFF"/>
                </a:solidFill>
              </a:rPr>
              <a:t>find_max</a:t>
            </a:r>
            <a:r>
              <a:rPr lang="en-US" sz="1500" dirty="0">
                <a:solidFill>
                  <a:srgbClr val="FFFFFF"/>
                </a:solidFill>
              </a:rPr>
              <a:t>(</a:t>
            </a:r>
            <a:r>
              <a:rPr lang="en-US" sz="1500" dirty="0" err="1">
                <a:solidFill>
                  <a:srgbClr val="FFFFFF"/>
                </a:solidFill>
              </a:rPr>
              <a:t>nums</a:t>
            </a:r>
            <a:r>
              <a:rPr lang="en-US" sz="1500" dirty="0">
                <a:solidFill>
                  <a:srgbClr val="FFFFFF"/>
                </a:solidFill>
              </a:rPr>
              <a:t>) that returns the largest number in a list WITHOUT using max().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Write a function </a:t>
            </a:r>
            <a:r>
              <a:rPr lang="en-US" sz="1500" dirty="0" err="1">
                <a:solidFill>
                  <a:srgbClr val="FFFFFF"/>
                </a:solidFill>
              </a:rPr>
              <a:t>celsius_to_fahrenheit</a:t>
            </a:r>
            <a:r>
              <a:rPr lang="en-US" sz="1500" dirty="0">
                <a:solidFill>
                  <a:srgbClr val="FFFFFF"/>
                </a:solidFill>
              </a:rPr>
              <a:t>(c) and call it for 0°C, 100°C, and 37°C.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What is the difference between return and print inside a function? Give an example of each.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Write a function </a:t>
            </a:r>
            <a:r>
              <a:rPr lang="en-US" sz="1500" dirty="0" err="1">
                <a:solidFill>
                  <a:srgbClr val="FFFFFF"/>
                </a:solidFill>
              </a:rPr>
              <a:t>count_vowels</a:t>
            </a:r>
            <a:r>
              <a:rPr lang="en-US" sz="1500" dirty="0">
                <a:solidFill>
                  <a:srgbClr val="FFFFFF"/>
                </a:solidFill>
              </a:rPr>
              <a:t>(word) that returns the number of vowels in the given string.</a:t>
            </a:r>
          </a:p>
          <a:p>
            <a:pPr>
              <a:spcAft>
                <a:spcPts val="1200"/>
              </a:spcAft>
            </a:pPr>
            <a:r>
              <a:rPr lang="en-US" sz="1500" b="1">
                <a:solidFill>
                  <a:srgbClr val="FFD166"/>
                </a:solidFill>
                <a:ea typeface="+mn-lt"/>
                <a:cs typeface="+mn-lt"/>
              </a:rPr>
              <a:t>Q6. </a:t>
            </a:r>
            <a:r>
              <a:rPr lang="en-US" sz="1500" dirty="0">
                <a:solidFill>
                  <a:srgbClr val="FFFFFF"/>
                </a:solidFill>
                <a:ea typeface="+mn-lt"/>
                <a:cs typeface="+mn-lt"/>
              </a:rPr>
              <a:t>Write a function </a:t>
            </a:r>
            <a:r>
              <a:rPr lang="en-US" sz="15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total(*numbers)</a:t>
            </a:r>
            <a:r>
              <a:rPr lang="en-US" sz="1500" dirty="0">
                <a:solidFill>
                  <a:srgbClr val="FFFFFF"/>
                </a:solidFill>
                <a:ea typeface="+mn-lt"/>
                <a:cs typeface="+mn-lt"/>
              </a:rPr>
              <a:t> that returns the sum of however many numbers are passed in. </a:t>
            </a:r>
            <a:r>
              <a:rPr lang="en-US" sz="1500">
                <a:solidFill>
                  <a:srgbClr val="FFFFFF"/>
                </a:solidFill>
                <a:ea typeface="+mn-lt"/>
                <a:cs typeface="+mn-lt"/>
              </a:rPr>
              <a:t>Call it with 2 numbers, then 5 numbers, then zero numbers — what does it return for zero?</a:t>
            </a:r>
          </a:p>
          <a:p>
            <a:pPr>
              <a:spcAft>
                <a:spcPts val="1200"/>
              </a:spcAft>
            </a:pPr>
            <a:r>
              <a:rPr lang="en-US" sz="1500" b="1">
                <a:solidFill>
                  <a:srgbClr val="FFD166"/>
                </a:solidFill>
                <a:ea typeface="+mn-lt"/>
                <a:cs typeface="+mn-lt"/>
              </a:rPr>
              <a:t>Q7. </a:t>
            </a:r>
            <a:r>
              <a:rPr lang="en-US" sz="1500" dirty="0">
                <a:solidFill>
                  <a:srgbClr val="FFFFFF"/>
                </a:solidFill>
                <a:ea typeface="+mn-lt"/>
                <a:cs typeface="+mn-lt"/>
              </a:rPr>
              <a:t>Write a function </a:t>
            </a:r>
            <a:r>
              <a:rPr lang="en-US" sz="1500" dirty="0">
                <a:solidFill>
                  <a:srgbClr val="FFFFFF"/>
                </a:solidFill>
                <a:latin typeface="Calibri" panose="020F0502020204030204"/>
                <a:ea typeface="+mn-lt"/>
                <a:cs typeface="+mn-lt"/>
              </a:rPr>
              <a:t>print_profile(**details)</a:t>
            </a:r>
            <a:r>
              <a:rPr lang="en-US" sz="1500" dirty="0">
                <a:solidFill>
                  <a:srgbClr val="FFFFFF"/>
                </a:solidFill>
                <a:ea typeface="+mn-lt"/>
                <a:cs typeface="+mn-lt"/>
              </a:rPr>
              <a:t> that prints each key-value pair it receives, one per line. Call it like </a:t>
            </a:r>
            <a:r>
              <a:rPr lang="en-US" sz="1500" dirty="0">
                <a:solidFill>
                  <a:srgbClr val="FFFFFF"/>
                </a:solidFill>
                <a:latin typeface="Calibri" panose="020F0502020204030204"/>
                <a:ea typeface="+mn-lt"/>
                <a:cs typeface="+mn-lt"/>
              </a:rPr>
              <a:t>print_profile(name="John", age=20, city="Delhi")</a:t>
            </a:r>
            <a:r>
              <a:rPr lang="en-US" sz="1500" dirty="0">
                <a:solidFill>
                  <a:srgbClr val="FFFFFF"/>
                </a:solidFill>
                <a:ea typeface="+mn-lt"/>
                <a:cs typeface="+mn-lt"/>
              </a:rPr>
              <a:t>.</a:t>
            </a:r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Recap — What You've Learned!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Python Setup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Python 3.x + VS Code installed and running. You wrote your first program!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Variables &amp; Types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int, float, str, bool, None. Dynamic typing. type() function.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1792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Input / Output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print(), input(), f-strings, type conversion (int, float, str).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432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➕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657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Operators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Arithmetic, comparison, logical, assignment operators and precedence.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2918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Control 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if/elif/else for decisions. for and while loops with break/continue.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2179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Functions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def, parameters, return values, default arguments, built-in functions.</a:t>
            </a:r>
            <a:endParaRPr lang="en-US" sz="1100" dirty="0"/>
          </a:p>
        </p:txBody>
      </p:sp>
      <p:pic>
        <p:nvPicPr>
          <p:cNvPr id="29" name="Picture 28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45F9CDEE-4188-B67C-6C70-19ECB5934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B4D8"/>
                </a:solidFill>
              </a:rPr>
              <a:t>Coming Up Next 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Week 2 — Data, Strings, Files &amp; 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920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📋  </a:t>
            </a:r>
            <a:r>
              <a:rPr lang="en-US" sz="1400" b="1" dirty="0">
                <a:solidFill>
                  <a:srgbClr val="FFD166"/>
                </a:solidFill>
              </a:rPr>
              <a:t>Day 4 — Mon Jul 6  </a:t>
            </a:r>
            <a:r>
              <a:rPr lang="en-US" sz="1400" dirty="0">
                <a:solidFill>
                  <a:srgbClr val="90B4C5"/>
                </a:solidFill>
              </a:rPr>
              <a:t>— Lists, Tuples, Dictionaries + Student Marks Program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624328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243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✂️  </a:t>
            </a:r>
            <a:r>
              <a:rPr lang="en-US" sz="1400" b="1" dirty="0">
                <a:solidFill>
                  <a:srgbClr val="FFD166"/>
                </a:solidFill>
              </a:rPr>
              <a:t>Day 5 — Tue Jul 7  </a:t>
            </a:r>
            <a:r>
              <a:rPr lang="en-US" sz="1400" dirty="0">
                <a:solidFill>
                  <a:srgbClr val="90B4C5"/>
                </a:solidFill>
              </a:rPr>
              <a:t>— String Handling: methods, patterns, palindrome checker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3328416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328416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📁  </a:t>
            </a:r>
            <a:r>
              <a:rPr lang="en-US" sz="1400" b="1" dirty="0">
                <a:solidFill>
                  <a:srgbClr val="FFD166"/>
                </a:solidFill>
              </a:rPr>
              <a:t>Day 6 — Wed Jul 8  </a:t>
            </a:r>
            <a:r>
              <a:rPr lang="en-US" sz="1400" dirty="0">
                <a:solidFill>
                  <a:srgbClr val="90B4C5"/>
                </a:solidFill>
              </a:rPr>
              <a:t>— File Handling, Error Handling + Module 1 Capstone Project!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4032504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403250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🏛️  </a:t>
            </a:r>
            <a:r>
              <a:rPr lang="en-US" sz="1400" b="1" dirty="0">
                <a:solidFill>
                  <a:srgbClr val="FFD166"/>
                </a:solidFill>
              </a:rPr>
              <a:t>Day 7-8 — Thu/Fri  </a:t>
            </a:r>
            <a:r>
              <a:rPr lang="en-US" sz="1400" dirty="0">
                <a:solidFill>
                  <a:srgbClr val="90B4C5"/>
                </a:solidFill>
              </a:rPr>
              <a:t>— OOP: Classes, Objects, Inheritance, Encapsulation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</a:rPr>
              <a:t>🏠  Weekend Homework: Revisit all 3 days' code · Attempt bonus questions · Come with doubts!</a:t>
            </a:r>
            <a:endParaRPr lang="en-US" sz="1300" dirty="0"/>
          </a:p>
        </p:txBody>
      </p:sp>
      <p:pic>
        <p:nvPicPr>
          <p:cNvPr id="15" name="Picture 14" descr="A logo with a circle and a blue circle&#10;&#10;AI-generated content may be incorrect.">
            <a:extLst>
              <a:ext uri="{FF2B5EF4-FFF2-40B4-BE49-F238E27FC236}">
                <a16:creationId xmlns:a16="http://schemas.microsoft.com/office/drawing/2014/main" id="{6B0C2633-6677-B08E-B832-AB5D73856C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85" y="151039"/>
            <a:ext cx="1137558" cy="47625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4114800" cy="4114800"/>
          </a:xfrm>
          <a:prstGeom prst="ellipse">
            <a:avLst/>
          </a:prstGeom>
          <a:solidFill>
            <a:srgbClr val="00B4D8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457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🐍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Great Work Today!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B4C5"/>
                </a:solidFill>
              </a:rPr>
              <a:t>You've taken your first step into the world of Python 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</a:rPr>
              <a:t>Exit Ticket — Before you leave, write: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338328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29000"/>
            <a:ext cx="6217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</a:rPr>
              <a:t>"Today I learned ___ and my one doubt is ___"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6677"/>
                </a:solidFill>
              </a:rPr>
              <a:t>2b Academy  ·  Python Bootcamp  ·  July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26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Academy — Week 1: Python Fundamentals</dc:title>
  <dc:subject>PptxGenJS Presentation</dc:subject>
  <dc:creator>PptxGenJS</dc:creator>
  <cp:lastModifiedBy>PptxGenJS</cp:lastModifiedBy>
  <cp:revision>404</cp:revision>
  <dcterms:created xsi:type="dcterms:W3CDTF">2026-06-25T06:46:46Z</dcterms:created>
  <dcterms:modified xsi:type="dcterms:W3CDTF">2026-06-30T15:20:08Z</dcterms:modified>
</cp:coreProperties>
</file>