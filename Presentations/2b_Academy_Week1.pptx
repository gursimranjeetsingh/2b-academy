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8"/>
  </p:notesMasterIdLst>
  <p:sldIdLst>
    <p:sldId id="256" r:id="rId2"/>
    <p:sldId id="258" r:id="rId3"/>
    <p:sldId id="259" r:id="rId4"/>
    <p:sldId id="260" r:id="rId5"/>
    <p:sldId id="261" r:id="rId6"/>
    <p:sldId id="282" r:id="rId7"/>
    <p:sldId id="262" r:id="rId8"/>
    <p:sldId id="289" r:id="rId9"/>
    <p:sldId id="290" r:id="rId10"/>
    <p:sldId id="291" r:id="rId11"/>
    <p:sldId id="283" r:id="rId12"/>
    <p:sldId id="284" r:id="rId13"/>
    <p:sldId id="285" r:id="rId14"/>
    <p:sldId id="286" r:id="rId15"/>
    <p:sldId id="287" r:id="rId16"/>
    <p:sldId id="288" r:id="rId17"/>
    <p:sldId id="292" r:id="rId18"/>
    <p:sldId id="264" r:id="rId19"/>
    <p:sldId id="293" r:id="rId20"/>
    <p:sldId id="294" r:id="rId21"/>
    <p:sldId id="295" r:id="rId22"/>
    <p:sldId id="265" r:id="rId23"/>
    <p:sldId id="266" r:id="rId24"/>
    <p:sldId id="267" r:id="rId25"/>
    <p:sldId id="268" r:id="rId26"/>
    <p:sldId id="296" r:id="rId27"/>
    <p:sldId id="297" r:id="rId28"/>
    <p:sldId id="298" r:id="rId29"/>
    <p:sldId id="299" r:id="rId30"/>
    <p:sldId id="300" r:id="rId31"/>
    <p:sldId id="301" r:id="rId32"/>
    <p:sldId id="302" r:id="rId33"/>
    <p:sldId id="303" r:id="rId34"/>
    <p:sldId id="304" r:id="rId35"/>
    <p:sldId id="305" r:id="rId36"/>
    <p:sldId id="271" r:id="rId37"/>
    <p:sldId id="272" r:id="rId38"/>
    <p:sldId id="273" r:id="rId39"/>
    <p:sldId id="306" r:id="rId40"/>
    <p:sldId id="274" r:id="rId41"/>
    <p:sldId id="307" r:id="rId42"/>
    <p:sldId id="308" r:id="rId43"/>
    <p:sldId id="309" r:id="rId44"/>
    <p:sldId id="310" r:id="rId45"/>
    <p:sldId id="276" r:id="rId46"/>
    <p:sldId id="275" r:id="rId47"/>
    <p:sldId id="311" r:id="rId48"/>
    <p:sldId id="312" r:id="rId49"/>
    <p:sldId id="313" r:id="rId50"/>
    <p:sldId id="314" r:id="rId51"/>
    <p:sldId id="315" r:id="rId52"/>
    <p:sldId id="277" r:id="rId53"/>
    <p:sldId id="278" r:id="rId54"/>
    <p:sldId id="279" r:id="rId55"/>
    <p:sldId id="280" r:id="rId56"/>
    <p:sldId id="281" r:id="rId5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77B54F-E1E8-2154-E1D8-0A2E084563F4}" v="410" dt="2026-06-28T14:22:08.415"/>
    <p1510:client id="{8523DE7F-0155-E928-A5C5-657E0752427F}" v="3" dt="2026-06-29T09:47:33.804"/>
    <p1510:client id="{C9FF244D-90AE-8FB4-AC6D-56192B7222B7}" v="22" dt="2026-06-29T07:36:36.760"/>
    <p1510:client id="{FB4D492C-B246-CA66-36B6-D0A7986D01AE}" v="75" dt="2026-06-29T11:43:52.7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9649CE-33BC-42C5-BC4D-3398AA877E63}" type="datetimeFigureOut">
              <a:t>6/29/2026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DFFD18-7037-477F-B7D6-B8BC51CFD3E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8058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everyone! Introduce yourself and the bootcamp. This is Day 1 of a 22-day journey. The energy you set today defines the whole batch.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daily structure. Tell students they will NOT just watch — they code every day. Exit ticket is important; read them before the next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Who has heard of Python? Who has tried coding before? Use Netflix, Instagram, YouTube as examples of Python-powered products.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this live on the projector. Watch the room — help anyone who gets stuck. Don't move on until everyone has python --version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Analogy: A function is like a recipe. You write it once, then cook it (call it) whenever you want. You don't rewrite the recipe each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F3809-0AEE-48B5-3ADC-9A9C584CB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A047F7-77A5-85AC-FC01-148A94057D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F4C6C0-5E3E-AF55-A66D-C5FACF1CD0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01B8CE-1A4C-7EF5-4694-A31F3B56EF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7810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92C7A-009B-0CFA-F6EA-67ADC6C23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BC2E14-1D2F-74A5-3822-9F9779B958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3F6C31-B53A-1FDD-04E9-29492C164A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75C48D-E9A5-0344-8A41-D78DA5110A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27194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FED1E-2560-0BAE-CB66-21E413A1F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DE2F04-7BD0-6BB0-9DFE-491F3C11E3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7B037A-8114-2ECD-2EA1-1E59B79CDC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B1EB88-C486-E484-4812-5C8821A1D4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73464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92FD0-DC5A-C796-5AE1-01F0E8139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5E7E02-D56B-CD56-F050-7785549F4A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F0DA8B-946D-548F-228A-DA9D95461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180F3F-0EA1-2418-A14F-76ABC95C1A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01770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7F254-21E2-9249-C4C8-9B85ABCD9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BB165A-7B4C-A091-1E8F-EFA6374663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A31E99-04C3-C39C-D269-D4895C93A3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7D709A-A4B3-C8D0-5A1B-0EF17FF23D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63764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End-of-week recap! Ask students to write their 'today I learned' exit ticket. Read these before Week 2 starts to identify who needs extra support.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the week on a high note! Tell them what they'll BUILD by end of Week 2 — a student records system saved to a file with OOP. It sounds impressive now!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Collect the exit tickets physically or ask them to type in a shared doc. Review them tonight and plan any re-teaching for tomorrow.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://www.pngall.com/nasa-png" TargetMode="External"/><Relationship Id="rId3" Type="http://schemas.openxmlformats.org/officeDocument/2006/relationships/hyperlink" Target="https://www.pluginsxbmc.com/2018/01/como-ver-netflix-con-kodi.html" TargetMode="External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technofaq.org/posts/2020/10/tunelf-spotify-music-converter-download-spotify-songs-to-mp3/" TargetMode="External"/><Relationship Id="rId5" Type="http://schemas.openxmlformats.org/officeDocument/2006/relationships/image" Target="../media/image3.png"/><Relationship Id="rId10" Type="http://schemas.openxmlformats.org/officeDocument/2006/relationships/hyperlink" Target="http://educacion-con-tic.blogspot.com.es/" TargetMode="External"/><Relationship Id="rId4" Type="http://schemas.openxmlformats.org/officeDocument/2006/relationships/image" Target="../media/image2.jpeg"/><Relationship Id="rId9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57200"/>
            <a:ext cx="4572000" cy="4572000"/>
          </a:xfrm>
          <a:prstGeom prst="ellipse">
            <a:avLst/>
          </a:prstGeom>
          <a:solidFill>
            <a:srgbClr val="00B4D8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560320"/>
            <a:ext cx="2743200" cy="2743200"/>
          </a:xfrm>
          <a:prstGeom prst="ellipse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kern="0" spc="600" dirty="0">
                <a:solidFill>
                  <a:srgbClr val="00B4D8"/>
                </a:solidFill>
              </a:rPr>
              <a:t>2b ACADEMY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6858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</a:rPr>
              <a:t>Python Bootcamp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90B4C5"/>
                </a:solidFill>
              </a:rPr>
              <a:t>Week 1 — Python Fundamentals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B4D8"/>
                </a:solidFill>
              </a:rPr>
              <a:t>Jul 1 – Jul 3, 2026  |  Days 1-3  |  9 Hours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657600"/>
            <a:ext cx="2286000" cy="640080"/>
          </a:xfrm>
          <a:prstGeom prst="roundRect">
            <a:avLst>
              <a:gd name="adj" fmla="val 14286"/>
            </a:avLst>
          </a:prstGeom>
          <a:solidFill>
            <a:srgbClr val="00B4D8">
              <a:alpha val="3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6576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🐍  Python 3.x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017520" y="3657600"/>
            <a:ext cx="2286000" cy="640080"/>
          </a:xfrm>
          <a:prstGeom prst="roundRect">
            <a:avLst>
              <a:gd name="adj" fmla="val 14286"/>
            </a:avLst>
          </a:prstGeom>
          <a:solidFill>
            <a:srgbClr val="00B4D8">
              <a:alpha val="3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3017520" y="36576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💻  VS Code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0" y="3657600"/>
            <a:ext cx="2743200" cy="640080"/>
          </a:xfrm>
          <a:prstGeom prst="roundRect">
            <a:avLst>
              <a:gd name="adj" fmla="val 14286"/>
            </a:avLst>
          </a:prstGeom>
          <a:solidFill>
            <a:srgbClr val="00B4D8">
              <a:alpha val="3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0" y="36576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🚀  Beginner Friendly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How </a:t>
            </a:r>
            <a:r>
              <a:rPr lang="en-US" sz="2200" b="1">
                <a:solidFill>
                  <a:srgbClr val="FFFFFF"/>
                </a:solidFill>
              </a:rPr>
              <a:t>Everyday</a:t>
            </a:r>
            <a:r>
              <a:rPr lang="en-US" sz="2200" b="1" dirty="0">
                <a:solidFill>
                  <a:srgbClr val="FFFFFF"/>
                </a:solidFill>
              </a:rPr>
              <a:t> Works — The 3-Hour Rhythm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606040" cy="3529149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2606040" cy="640080"/>
          </a:xfrm>
          <a:prstGeom prst="roundRect">
            <a:avLst>
              <a:gd name="adj" fmla="val 17143"/>
            </a:avLst>
          </a:prstGeom>
          <a:solidFill>
            <a:srgbClr val="00B4D8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325880"/>
            <a:ext cx="2606040" cy="2743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9601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Hour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26187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1B2A"/>
                </a:solidFill>
              </a:rPr>
              <a:t>LEARN IT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2423160" cy="26855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334455"/>
                </a:solidFill>
              </a:rPr>
              <a:t>Concept + Analogy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334455"/>
                </a:solidFill>
              </a:rPr>
              <a:t>Live coding demo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334455"/>
                </a:solidFill>
              </a:rPr>
              <a:t>Code-along with you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46120" y="960120"/>
            <a:ext cx="2606040" cy="3529149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960120"/>
            <a:ext cx="2606040" cy="640080"/>
          </a:xfrm>
          <a:prstGeom prst="roundRect">
            <a:avLst>
              <a:gd name="adj" fmla="val 17143"/>
            </a:avLst>
          </a:prstGeom>
          <a:solidFill>
            <a:srgbClr val="F77F00"/>
          </a:solidFill>
          <a:ln/>
        </p:spPr>
      </p:sp>
      <p:sp>
        <p:nvSpPr>
          <p:cNvPr id="12" name="Shape 10"/>
          <p:cNvSpPr/>
          <p:nvPr/>
        </p:nvSpPr>
        <p:spPr>
          <a:xfrm>
            <a:off x="3246120" y="1325880"/>
            <a:ext cx="2606040" cy="274320"/>
          </a:xfrm>
          <a:prstGeom prst="rect">
            <a:avLst/>
          </a:prstGeom>
          <a:solidFill>
            <a:srgbClr val="F77F00"/>
          </a:solidFill>
          <a:ln/>
        </p:spPr>
      </p:sp>
      <p:sp>
        <p:nvSpPr>
          <p:cNvPr id="13" name="Text 11"/>
          <p:cNvSpPr/>
          <p:nvPr/>
        </p:nvSpPr>
        <p:spPr>
          <a:xfrm>
            <a:off x="3246120" y="9601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Hour 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46120" y="126187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1B2A"/>
                </a:solidFill>
              </a:rPr>
              <a:t>DO IT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37560" y="1691640"/>
            <a:ext cx="2423160" cy="26855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334455"/>
                </a:solidFill>
              </a:rPr>
              <a:t>Independent lab problems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334455"/>
                </a:solidFill>
              </a:rPr>
              <a:t>Pair programming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334455"/>
                </a:solidFill>
              </a:rPr>
              <a:t>2 students present solutions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26480" y="960120"/>
            <a:ext cx="2578826" cy="3529149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960120"/>
            <a:ext cx="2606040" cy="640080"/>
          </a:xfrm>
          <a:prstGeom prst="roundRect">
            <a:avLst>
              <a:gd name="adj" fmla="val 17143"/>
            </a:avLst>
          </a:prstGeom>
          <a:solidFill>
            <a:srgbClr val="06D6A0"/>
          </a:solidFill>
          <a:ln/>
        </p:spPr>
      </p:sp>
      <p:sp>
        <p:nvSpPr>
          <p:cNvPr id="18" name="Shape 16"/>
          <p:cNvSpPr/>
          <p:nvPr/>
        </p:nvSpPr>
        <p:spPr>
          <a:xfrm>
            <a:off x="6126480" y="1325880"/>
            <a:ext cx="2606040" cy="27432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0" y="9601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Hour 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126480" y="126187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1B2A"/>
                </a:solidFill>
              </a:rPr>
              <a:t>USE IT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17920" y="1691640"/>
            <a:ext cx="2450374" cy="26855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334455"/>
                </a:solidFill>
              </a:rPr>
              <a:t>Mini-project / practical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334455"/>
                </a:solidFill>
              </a:rPr>
              <a:t>Peer code review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334455"/>
                </a:solidFill>
              </a:rPr>
              <a:t>Exit ticket + tomorrow preview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65760" y="4572000"/>
            <a:ext cx="8412480" cy="384048"/>
          </a:xfrm>
          <a:prstGeom prst="roundRect">
            <a:avLst>
              <a:gd name="adj" fmla="val 19048"/>
            </a:avLst>
          </a:prstGeom>
          <a:solidFill>
            <a:srgbClr val="FFD166">
              <a:alpha val="4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5720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⚡ Engagement: Daily quiz · Bug hunts · Pair programming · Rotating presenters · Exit tickets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Week 1 At-a-Glance — What We Cover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548640" cy="502920"/>
          </a:xfrm>
          <a:prstGeom prst="roundRect">
            <a:avLst>
              <a:gd name="adj" fmla="val 10909"/>
            </a:avLst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058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51560" y="1005840"/>
            <a:ext cx="76809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88720" y="100584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0D1B2A"/>
                </a:solidFill>
              </a:rPr>
              <a:t>Day 1  (Wed Jul 1)  — Python Setup, Variables, Data Types, Operators, I/O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1719072"/>
            <a:ext cx="548640" cy="502920"/>
          </a:xfrm>
          <a:prstGeom prst="roundRect">
            <a:avLst>
              <a:gd name="adj" fmla="val 10909"/>
            </a:avLst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71907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51560" y="1719072"/>
            <a:ext cx="76809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188720" y="1719072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0D1B2A"/>
                </a:solidFill>
              </a:rPr>
              <a:t>Day 2  (Thu Jul 2)  — Control Statements: if-else, Loops + Number Guessing Game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65760" y="2432304"/>
            <a:ext cx="548640" cy="502920"/>
          </a:xfrm>
          <a:prstGeom prst="roundRect">
            <a:avLst>
              <a:gd name="adj" fmla="val 10909"/>
            </a:avLst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2432304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051560" y="2432304"/>
            <a:ext cx="76809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188720" y="2432304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0D1B2A"/>
                </a:solidFill>
              </a:rPr>
              <a:t>Day 3  (Fri Jul 3)  — Functions, DRY Principle, Built-ins + Quiz Scorer Project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3145536"/>
            <a:ext cx="548640" cy="502920"/>
          </a:xfrm>
          <a:prstGeom prst="roundRect">
            <a:avLst>
              <a:gd name="adj" fmla="val 10909"/>
            </a:avLst>
          </a:prstGeom>
          <a:solidFill>
            <a:srgbClr val="00B4D8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3145536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051560" y="3145536"/>
            <a:ext cx="76809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188720" y="3145536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0D1B2A"/>
                </a:solidFill>
              </a:rPr>
              <a:t>Weekend —  Practice! Revisit all 3 days' code, attempt bonus exercises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65760" y="3858768"/>
            <a:ext cx="548640" cy="502920"/>
          </a:xfrm>
          <a:prstGeom prst="roundRect">
            <a:avLst>
              <a:gd name="adj" fmla="val 10909"/>
            </a:avLst>
          </a:prstGeom>
          <a:solidFill>
            <a:srgbClr val="00B4D8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385876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</a:rPr>
              <a:t>5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051560" y="3858768"/>
            <a:ext cx="76809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188720" y="3858768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0D1B2A"/>
                </a:solidFill>
              </a:rPr>
              <a:t>Coming up Week 2 → Data Structures, Strings, File Handling, OOP Basics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194560" cy="411480"/>
          </a:xfrm>
          <a:prstGeom prst="roundRect">
            <a:avLst>
              <a:gd name="adj" fmla="val 17778"/>
            </a:avLst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DAY 1 / WEEK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</a:rPr>
              <a:t>Day 1 — Wed, Jul 1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514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0B4D8"/>
                </a:solidFill>
              </a:rPr>
              <a:t>Orientation + Python Basics: Setup · Variables · I/O · Operators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0" y="3200400"/>
            <a:ext cx="2286000" cy="2286000"/>
          </a:xfrm>
          <a:prstGeom prst="ellipse">
            <a:avLst/>
          </a:prstGeom>
          <a:solidFill>
            <a:srgbClr val="00B4D8">
              <a:alpha val="1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046720" y="2560320"/>
            <a:ext cx="1097280" cy="1097280"/>
          </a:xfrm>
          <a:prstGeom prst="ellipse">
            <a:avLst/>
          </a:prstGeom>
          <a:solidFill>
            <a:srgbClr val="00B4D8">
              <a:alpha val="30000"/>
            </a:srgbClr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is Python?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0D1B2A"/>
                </a:solidFill>
              </a:rPr>
              <a:t>Python is an interpreted, high-level, beginner-friendly programming language — readable, powerful, and used everywhere.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1645920"/>
            <a:ext cx="1600200" cy="32004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7373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🌐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74320" y="24231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</a:rPr>
              <a:t>Web Dev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2834640"/>
            <a:ext cx="16002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45566"/>
                </a:solidFill>
              </a:rPr>
              <a:t>Django · Flask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45566"/>
                </a:solidFill>
              </a:rPr>
              <a:t>Powerful backends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011680" y="1645920"/>
            <a:ext cx="1600200" cy="32004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11680" y="17373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🤖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011680" y="24231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</a:rPr>
              <a:t>AI / ML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011680" y="2834640"/>
            <a:ext cx="16002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45566"/>
                </a:solidFill>
              </a:rPr>
              <a:t>TensorFlow · scikit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45566"/>
                </a:solidFill>
              </a:rPr>
              <a:t>What we'll build!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749040" y="1645920"/>
            <a:ext cx="1600200" cy="32004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749040" y="17373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📊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749040" y="24231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</a:rPr>
              <a:t>Data Science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749040" y="2834640"/>
            <a:ext cx="16002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45566"/>
                </a:solidFill>
              </a:rPr>
              <a:t>Pandas · NumPy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45566"/>
                </a:solidFill>
              </a:rPr>
              <a:t>Analyse anything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0" y="1645920"/>
            <a:ext cx="1600200" cy="32004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0" y="17373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⚙️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5486400" y="24231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</a:rPr>
              <a:t>Automation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0" y="2834640"/>
            <a:ext cx="16002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45566"/>
                </a:solidFill>
              </a:rPr>
              <a:t>Scripts · bots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45566"/>
                </a:solidFill>
              </a:rPr>
              <a:t>Save hours of work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223760" y="1645920"/>
            <a:ext cx="1600200" cy="32004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223760" y="17373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🎮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7223760" y="24231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</a:rPr>
              <a:t>Game Dev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223760" y="2834640"/>
            <a:ext cx="16002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45566"/>
                </a:solidFill>
              </a:rPr>
              <a:t>PyGame · Arcade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45566"/>
                </a:solidFill>
              </a:rPr>
              <a:t>For fun projects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itle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FFFFFF"/>
                </a:solidFill>
              </a:rPr>
              <a:t>Python in the Real World</a:t>
            </a:r>
            <a:endParaRPr lang="en-US" sz="2400"/>
          </a:p>
        </p:txBody>
      </p:sp>
      <p:sp>
        <p:nvSpPr>
          <p:cNvPr id="4" name="Subtitle"/>
          <p:cNvSpPr/>
          <p:nvPr/>
        </p:nvSpPr>
        <p:spPr>
          <a:xfrm>
            <a:off x="365760" y="9144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>
                <a:solidFill>
                  <a:srgbClr val="0D1B2A"/>
                </a:solidFill>
              </a:rPr>
              <a:t>From Instagram to NASA — Python powers products used by billions of people every day.</a:t>
            </a:r>
            <a:endParaRPr lang="en-US" sz="1500"/>
          </a:p>
        </p:txBody>
      </p:sp>
      <p:sp>
        <p:nvSpPr>
          <p:cNvPr id="5" name="Card 1"/>
          <p:cNvSpPr/>
          <p:nvPr/>
        </p:nvSpPr>
        <p:spPr>
          <a:xfrm>
            <a:off x="274320" y="1554480"/>
            <a:ext cx="1600200" cy="21488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Label 1"/>
          <p:cNvSpPr/>
          <p:nvPr/>
        </p:nvSpPr>
        <p:spPr>
          <a:xfrm>
            <a:off x="274320" y="2649583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0B4D8"/>
                </a:solidFill>
              </a:rPr>
              <a:t>Instagram</a:t>
            </a:r>
            <a:endParaRPr lang="en-US" sz="1400"/>
          </a:p>
        </p:txBody>
      </p:sp>
      <p:sp>
        <p:nvSpPr>
          <p:cNvPr id="8" name="Desc 1"/>
          <p:cNvSpPr/>
          <p:nvPr/>
        </p:nvSpPr>
        <p:spPr>
          <a:xfrm>
            <a:off x="365760" y="2962003"/>
            <a:ext cx="141732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445566"/>
                </a:solidFill>
              </a:rPr>
              <a:t>Backend built on Django, serving 2B+ users</a:t>
            </a:r>
            <a:endParaRPr lang="en-US" sz="1200"/>
          </a:p>
        </p:txBody>
      </p:sp>
      <p:sp>
        <p:nvSpPr>
          <p:cNvPr id="9" name="Card 2"/>
          <p:cNvSpPr/>
          <p:nvPr/>
        </p:nvSpPr>
        <p:spPr>
          <a:xfrm>
            <a:off x="2011680" y="1554480"/>
            <a:ext cx="1600200" cy="21488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Label 2"/>
          <p:cNvSpPr/>
          <p:nvPr/>
        </p:nvSpPr>
        <p:spPr>
          <a:xfrm>
            <a:off x="2011680" y="2649583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0B4D8"/>
                </a:solidFill>
              </a:rPr>
              <a:t>Netflix</a:t>
            </a:r>
            <a:endParaRPr lang="en-US" sz="1400"/>
          </a:p>
        </p:txBody>
      </p:sp>
      <p:sp>
        <p:nvSpPr>
          <p:cNvPr id="12" name="Desc 2"/>
          <p:cNvSpPr/>
          <p:nvPr/>
        </p:nvSpPr>
        <p:spPr>
          <a:xfrm>
            <a:off x="2103120" y="2962003"/>
            <a:ext cx="1417320" cy="559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445566"/>
                </a:solidFill>
              </a:rPr>
              <a:t>Recommendation engine &amp; workflow automation</a:t>
            </a:r>
            <a:endParaRPr lang="en-US" sz="1200"/>
          </a:p>
        </p:txBody>
      </p:sp>
      <p:sp>
        <p:nvSpPr>
          <p:cNvPr id="13" name="Card 3"/>
          <p:cNvSpPr/>
          <p:nvPr/>
        </p:nvSpPr>
        <p:spPr>
          <a:xfrm>
            <a:off x="3749040" y="1554480"/>
            <a:ext cx="1600200" cy="21488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Label 3"/>
          <p:cNvSpPr/>
          <p:nvPr/>
        </p:nvSpPr>
        <p:spPr>
          <a:xfrm>
            <a:off x="3749040" y="2649583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0B4D8"/>
                </a:solidFill>
              </a:rPr>
              <a:t>Spotify</a:t>
            </a:r>
            <a:endParaRPr lang="en-US" sz="1400"/>
          </a:p>
        </p:txBody>
      </p:sp>
      <p:sp>
        <p:nvSpPr>
          <p:cNvPr id="16" name="Desc 3"/>
          <p:cNvSpPr/>
          <p:nvPr/>
        </p:nvSpPr>
        <p:spPr>
          <a:xfrm>
            <a:off x="3840480" y="2972889"/>
            <a:ext cx="141732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445566"/>
                </a:solidFill>
              </a:rPr>
              <a:t>Data pipelines that power Discover Weekly</a:t>
            </a:r>
            <a:endParaRPr lang="en-US" sz="1200"/>
          </a:p>
        </p:txBody>
      </p:sp>
      <p:sp>
        <p:nvSpPr>
          <p:cNvPr id="17" name="Card 4"/>
          <p:cNvSpPr/>
          <p:nvPr/>
        </p:nvSpPr>
        <p:spPr>
          <a:xfrm>
            <a:off x="5486400" y="1554480"/>
            <a:ext cx="1600200" cy="21488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Label 4"/>
          <p:cNvSpPr/>
          <p:nvPr/>
        </p:nvSpPr>
        <p:spPr>
          <a:xfrm>
            <a:off x="5486400" y="2649583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0B4D8"/>
                </a:solidFill>
              </a:rPr>
              <a:t>NASA</a:t>
            </a:r>
            <a:endParaRPr lang="en-US" sz="1400"/>
          </a:p>
        </p:txBody>
      </p:sp>
      <p:sp>
        <p:nvSpPr>
          <p:cNvPr id="20" name="Desc 4"/>
          <p:cNvSpPr/>
          <p:nvPr/>
        </p:nvSpPr>
        <p:spPr>
          <a:xfrm>
            <a:off x="5577840" y="2972889"/>
            <a:ext cx="141732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445566"/>
                </a:solidFill>
              </a:rPr>
              <a:t>Scientific computing &amp; mission data analysis</a:t>
            </a:r>
            <a:endParaRPr lang="en-US" sz="1200"/>
          </a:p>
        </p:txBody>
      </p:sp>
      <p:sp>
        <p:nvSpPr>
          <p:cNvPr id="21" name="Card 5"/>
          <p:cNvSpPr/>
          <p:nvPr/>
        </p:nvSpPr>
        <p:spPr>
          <a:xfrm>
            <a:off x="7223760" y="1554480"/>
            <a:ext cx="1600200" cy="21488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Label 5"/>
          <p:cNvSpPr/>
          <p:nvPr/>
        </p:nvSpPr>
        <p:spPr>
          <a:xfrm>
            <a:off x="7223760" y="2649583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0B4D8"/>
                </a:solidFill>
              </a:rPr>
              <a:t>Dropbox</a:t>
            </a:r>
            <a:endParaRPr lang="en-US" sz="1400"/>
          </a:p>
        </p:txBody>
      </p:sp>
      <p:sp>
        <p:nvSpPr>
          <p:cNvPr id="24" name="Desc 5"/>
          <p:cNvSpPr/>
          <p:nvPr/>
        </p:nvSpPr>
        <p:spPr>
          <a:xfrm>
            <a:off x="7315200" y="2972889"/>
            <a:ext cx="141732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445566"/>
                </a:solidFill>
              </a:rPr>
              <a:t>Desktop app &amp; file sync engine in Python</a:t>
            </a:r>
            <a:endParaRPr lang="en-US" sz="1200"/>
          </a:p>
        </p:txBody>
      </p:sp>
      <p:sp>
        <p:nvSpPr>
          <p:cNvPr id="25" name="Power Band"/>
          <p:cNvSpPr/>
          <p:nvPr/>
        </p:nvSpPr>
        <p:spPr>
          <a:xfrm>
            <a:off x="274320" y="3840480"/>
            <a:ext cx="8549640" cy="1005840"/>
          </a:xfrm>
          <a:prstGeom prst="roundRect">
            <a:avLst>
              <a:gd name="adj" fmla="val 8000"/>
            </a:avLst>
          </a:prstGeom>
          <a:solidFill>
            <a:srgbClr val="0D1B2A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Power Text"/>
          <p:cNvSpPr/>
          <p:nvPr/>
        </p:nvSpPr>
        <p:spPr>
          <a:xfrm>
            <a:off x="548640" y="3886200"/>
            <a:ext cx="8001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00B4D8"/>
                </a:solidFill>
              </a:rPr>
              <a:t>Why Python is so powerful</a:t>
            </a:r>
            <a:endParaRPr lang="en-US" sz="1500"/>
          </a:p>
          <a:p>
            <a:pPr marL="0" indent="0" algn="ctr">
              <a:buNone/>
            </a:pPr>
            <a:r>
              <a:rPr lang="en-US" sz="1300">
                <a:solidFill>
                  <a:srgbClr val="FFFFFF"/>
                </a:solidFill>
              </a:rPr>
              <a:t>Simple, readable syntax  •  400,000+ ready-made libraries  •  Runs on every platform  •  Scales to billions of users</a:t>
            </a:r>
            <a:endParaRPr lang="en-US" sz="1300"/>
          </a:p>
        </p:txBody>
      </p:sp>
      <p:pic>
        <p:nvPicPr>
          <p:cNvPr id="27" name="Picture 26" descr="A red letter on a black background&#10;&#10;AI-generated content may be incorrect.">
            <a:extLst>
              <a:ext uri="{FF2B5EF4-FFF2-40B4-BE49-F238E27FC236}">
                <a16:creationId xmlns:a16="http://schemas.microsoft.com/office/drawing/2014/main" id="{D68F464E-33D4-3B14-83CD-13F4B2F27A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340429" y="1608364"/>
            <a:ext cx="941615" cy="941615"/>
          </a:xfrm>
          <a:prstGeom prst="rect">
            <a:avLst/>
          </a:prstGeom>
        </p:spPr>
      </p:pic>
      <p:pic>
        <p:nvPicPr>
          <p:cNvPr id="30" name="Picture 29" descr="Instagram Símbolo Logotipo · Imagens grátis no Pixabay">
            <a:extLst>
              <a:ext uri="{FF2B5EF4-FFF2-40B4-BE49-F238E27FC236}">
                <a16:creationId xmlns:a16="http://schemas.microsoft.com/office/drawing/2014/main" id="{3E19AFE7-5536-93A1-FB2A-D7BF670D5C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414" y="1585232"/>
            <a:ext cx="995657" cy="987879"/>
          </a:xfrm>
          <a:prstGeom prst="rect">
            <a:avLst/>
          </a:prstGeom>
        </p:spPr>
      </p:pic>
      <p:pic>
        <p:nvPicPr>
          <p:cNvPr id="31" name="Picture 30" descr="A white circle with three lines in it&#10;&#10;AI-generated content may be incorrect.">
            <a:extLst>
              <a:ext uri="{FF2B5EF4-FFF2-40B4-BE49-F238E27FC236}">
                <a16:creationId xmlns:a16="http://schemas.microsoft.com/office/drawing/2014/main" id="{66E62CF0-8C88-1325-8926-137F7FB186E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3954791" y="1743076"/>
            <a:ext cx="1190874" cy="672193"/>
          </a:xfrm>
          <a:prstGeom prst="rect">
            <a:avLst/>
          </a:prstGeom>
        </p:spPr>
      </p:pic>
      <p:pic>
        <p:nvPicPr>
          <p:cNvPr id="34" name="Picture 33" descr="A logo with a red and white circle&#10;&#10;AI-generated content may be incorrect.">
            <a:extLst>
              <a:ext uri="{FF2B5EF4-FFF2-40B4-BE49-F238E27FC236}">
                <a16:creationId xmlns:a16="http://schemas.microsoft.com/office/drawing/2014/main" id="{3D7BE65E-A5F2-90D1-0B92-FB4BD3052A7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5790895" y="1661432"/>
            <a:ext cx="996648" cy="840922"/>
          </a:xfrm>
          <a:prstGeom prst="rect">
            <a:avLst/>
          </a:prstGeom>
        </p:spPr>
      </p:pic>
      <p:pic>
        <p:nvPicPr>
          <p:cNvPr id="37" name="Picture 36" descr="A blue logo with black background&#10;&#10;AI-generated content may be incorrect.">
            <a:extLst>
              <a:ext uri="{FF2B5EF4-FFF2-40B4-BE49-F238E27FC236}">
                <a16:creationId xmlns:a16="http://schemas.microsoft.com/office/drawing/2014/main" id="{05C1EB94-C64C-5799-8E59-D5D244B129C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7602310" y="1666875"/>
            <a:ext cx="840922" cy="83547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Environment Setup (Do This Together!)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005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60120" y="960120"/>
            <a:ext cx="77724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97280" y="960120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1B2A"/>
                </a:solidFill>
              </a:rPr>
              <a:t>Download Python 3.x  </a:t>
            </a:r>
            <a:r>
              <a:rPr lang="en-US" sz="1300" dirty="0">
                <a:solidFill>
                  <a:srgbClr val="445566"/>
                </a:solidFill>
              </a:rPr>
              <a:t>— Go to python.org → Downloads → Install with 'Add to PATH' checked ✓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801368"/>
            <a:ext cx="502920" cy="502920"/>
          </a:xfrm>
          <a:prstGeom prst="ellipse">
            <a:avLst/>
          </a:prstGeom>
          <a:solidFill>
            <a:srgbClr val="F77F00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801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60120" y="1755648"/>
            <a:ext cx="77724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97280" y="1755648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1B2A"/>
                </a:solidFill>
              </a:rPr>
              <a:t>Verify Installation  </a:t>
            </a:r>
            <a:r>
              <a:rPr lang="en-US" sz="1300" dirty="0">
                <a:solidFill>
                  <a:srgbClr val="445566"/>
                </a:solidFill>
              </a:rPr>
              <a:t>— Open terminal/cmd → type:  python --version</a:t>
            </a:r>
            <a:endParaRPr lang="en-US" sz="14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445566"/>
                </a:solidFill>
              </a:rPr>
              <a:t>You should see: Python 3.x.x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" y="2596896"/>
            <a:ext cx="502920" cy="502920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25968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60120" y="2551176"/>
            <a:ext cx="77724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097280" y="2551176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1B2A"/>
                </a:solidFill>
              </a:rPr>
              <a:t>Install VS Code  </a:t>
            </a:r>
            <a:r>
              <a:rPr lang="en-US" sz="1300" dirty="0">
                <a:solidFill>
                  <a:srgbClr val="445566"/>
                </a:solidFill>
              </a:rPr>
              <a:t>— Go to code.visualstudio.com → Download → Install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74320" y="3392424"/>
            <a:ext cx="502920" cy="502920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33924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60120" y="3346704"/>
            <a:ext cx="77724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097280" y="3346704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1B2A"/>
                </a:solidFill>
              </a:rPr>
              <a:t>Python Extension  </a:t>
            </a:r>
            <a:r>
              <a:rPr lang="en-US" sz="1300" dirty="0">
                <a:solidFill>
                  <a:srgbClr val="445566"/>
                </a:solidFill>
              </a:rPr>
              <a:t>— Open VS Code → Extensions (Ctrl+Shift+X) → Search 'Python' → Install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74320" y="4187952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4187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</a:rPr>
              <a:t>5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60120" y="4142232"/>
            <a:ext cx="77724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97280" y="4142232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1B2A"/>
                </a:solidFill>
              </a:rPr>
              <a:t>First Program!  </a:t>
            </a:r>
            <a:r>
              <a:rPr lang="en-US" sz="1300" dirty="0">
                <a:solidFill>
                  <a:srgbClr val="445566"/>
                </a:solidFill>
              </a:rPr>
              <a:t>— Create hello.py → type print("Hello, World!") → Run ▶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Intro to Data Types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/>
          <p:cNvSpPr/>
          <p:nvPr/>
        </p:nvSpPr>
        <p:spPr>
          <a:xfrm>
            <a:off x="0" y="0"/>
            <a:ext cx="9144000" cy="1000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itle"/>
          <p:cNvSpPr/>
          <p:nvPr/>
        </p:nvSpPr>
        <p:spPr>
          <a:xfrm>
            <a:off x="365760" y="0"/>
            <a:ext cx="841248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>
                <a:solidFill>
                  <a:srgbClr val="FFFFFF"/>
                </a:solidFill>
              </a:rPr>
              <a:t>Introduction to Python Data Types</a:t>
            </a:r>
            <a:endParaRPr lang="en-US" sz="2800" b="1"/>
          </a:p>
        </p:txBody>
      </p:sp>
      <p:sp>
        <p:nvSpPr>
          <p:cNvPr id="4" name="Concept Card"/>
          <p:cNvSpPr/>
          <p:nvPr/>
        </p:nvSpPr>
        <p:spPr>
          <a:xfrm>
            <a:off x="365760" y="1140000"/>
            <a:ext cx="4940000" cy="38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2A9D8F"/>
            </a:solidFill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 wrap="square" lIns="182880" tIns="137160" rIns="182880" bIns="137160" rtlCol="0" anchor="t"/>
          <a:lstStyle/>
          <a:p>
            <a:pPr marL="0" indent="0" algn="l">
              <a:buNone/>
            </a:pPr>
            <a:r>
              <a:rPr lang="en-US" sz="2000" b="1">
                <a:solidFill>
                  <a:srgbClr val="1B7A6E"/>
                </a:solidFill>
              </a:rPr>
              <a:t>What is a Data Type?</a:t>
            </a:r>
          </a:p>
          <a:p>
            <a:pPr marL="0" indent="0" algn="l">
              <a:buNone/>
            </a:pPr>
            <a:r>
              <a:rPr lang="en-US" sz="1500">
                <a:solidFill>
                  <a:srgbClr val="0D1B2A"/>
                </a:solidFill>
              </a:rPr>
              <a:t>A data type defines the kind of value a variable can store and the operations that can be performed on it.</a:t>
            </a:r>
          </a:p>
          <a:p>
            <a:pPr marL="0" indent="0" algn="l">
              <a:buNone/>
            </a:pPr>
            <a:endParaRPr lang="en-US" sz="900"/>
          </a:p>
          <a:p>
            <a:pPr marL="0" indent="0" algn="l">
              <a:buNone/>
            </a:pPr>
            <a:r>
              <a:rPr lang="en-US" sz="1700" b="1">
                <a:solidFill>
                  <a:srgbClr val="0077B6"/>
                </a:solidFill>
              </a:rPr>
              <a:t>Why Data Types Matter</a:t>
            </a:r>
          </a:p>
          <a:p>
            <a:pPr marL="228600" indent="-228600" algn="l">
              <a:buFont typeface="Arial"/>
              <a:buChar char="•"/>
            </a:pPr>
            <a:r>
              <a:rPr lang="en-US" sz="1500">
                <a:solidFill>
                  <a:srgbClr val="0D1B2A"/>
                </a:solidFill>
              </a:rPr>
              <a:t>Store different kinds of data.</a:t>
            </a:r>
          </a:p>
          <a:p>
            <a:pPr marL="228600" indent="-228600" algn="l">
              <a:buFont typeface="Arial"/>
              <a:buChar char="•"/>
            </a:pPr>
            <a:r>
              <a:rPr lang="en-US" sz="1500">
                <a:solidFill>
                  <a:srgbClr val="0D1B2A"/>
                </a:solidFill>
              </a:rPr>
              <a:t>Perform appropriate operations.</a:t>
            </a:r>
          </a:p>
          <a:p>
            <a:pPr marL="228600" indent="-228600" algn="l">
              <a:buFont typeface="Arial"/>
              <a:buChar char="•"/>
            </a:pPr>
            <a:r>
              <a:rPr lang="en-US" sz="1500">
                <a:solidFill>
                  <a:srgbClr val="0D1B2A"/>
                </a:solidFill>
              </a:rPr>
              <a:t>Improve code readability.</a:t>
            </a:r>
          </a:p>
          <a:p>
            <a:pPr marL="228600" indent="-228600" algn="l">
              <a:buFont typeface="Arial"/>
              <a:buChar char="•"/>
            </a:pPr>
            <a:r>
              <a:rPr lang="en-US" sz="1500">
                <a:solidFill>
                  <a:srgbClr val="0D1B2A"/>
                </a:solidFill>
              </a:rPr>
              <a:t>Help prevent programming errors.</a:t>
            </a:r>
          </a:p>
        </p:txBody>
      </p:sp>
      <p:sp>
        <p:nvSpPr>
          <p:cNvPr id="5" name="Example Card"/>
          <p:cNvSpPr/>
          <p:nvPr/>
        </p:nvSpPr>
        <p:spPr>
          <a:xfrm>
            <a:off x="5534240" y="1140000"/>
            <a:ext cx="3244000" cy="3800000"/>
          </a:xfrm>
          <a:prstGeom prst="roundRect">
            <a:avLst>
              <a:gd name="adj" fmla="val 3000"/>
            </a:avLst>
          </a:prstGeom>
          <a:solidFill>
            <a:srgbClr val="0D1B2A"/>
          </a:solidFill>
          <a:ln w="19050">
            <a:solidFill>
              <a:srgbClr val="0077B6"/>
            </a:solidFill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 wrap="square" lIns="182880" tIns="137160" rIns="137160" bIns="137160" rtlCol="0" anchor="t"/>
          <a:lstStyle/>
          <a:p>
            <a:pPr marL="0" indent="0" algn="l">
              <a:buNone/>
            </a:pPr>
            <a:r>
              <a:rPr lang="en-US" sz="1700" b="1">
                <a:solidFill>
                  <a:srgbClr val="56CFE1"/>
                </a:solidFill>
              </a:rPr>
              <a:t>Example</a:t>
            </a:r>
          </a:p>
          <a:p>
            <a:pPr marL="0" indent="0" algn="l">
              <a:buNone/>
            </a:pPr>
            <a:endParaRPr lang="en-US" sz="700"/>
          </a:p>
          <a:p>
            <a:pPr marL="0" indent="0" algn="l">
              <a:buNone/>
            </a:pPr>
            <a:r>
              <a:rPr lang="en-US" sz="1400" b="1">
                <a:solidFill>
                  <a:srgbClr val="FFFFFF"/>
                </a:solidFill>
                <a:latin typeface="Courier New"/>
                <a:cs typeface="Courier New"/>
              </a:rPr>
              <a:t>age = 25</a:t>
            </a:r>
          </a:p>
          <a:p>
            <a:pPr marL="0" indent="0" algn="l">
              <a:buNone/>
            </a:pPr>
            <a:r>
              <a:rPr lang="en-US" sz="1400" b="1">
                <a:solidFill>
                  <a:srgbClr val="FFFFFF"/>
                </a:solidFill>
                <a:latin typeface="Courier New"/>
                <a:cs typeface="Courier New"/>
              </a:rPr>
              <a:t>name = "Alice"</a:t>
            </a:r>
          </a:p>
          <a:p>
            <a:pPr marL="0" indent="0" algn="l">
              <a:buNone/>
            </a:pPr>
            <a:r>
              <a:rPr lang="en-US" sz="1400" b="1">
                <a:solidFill>
                  <a:srgbClr val="FFFFFF"/>
                </a:solidFill>
                <a:latin typeface="Courier New"/>
                <a:cs typeface="Courier New"/>
              </a:rPr>
              <a:t>is_student = True</a:t>
            </a:r>
          </a:p>
          <a:p>
            <a:pPr marL="0" indent="0" algn="l">
              <a:buNone/>
            </a:pPr>
            <a:endParaRPr lang="en-US" sz="800">
              <a:latin typeface="Courier New"/>
              <a:cs typeface="Courier New"/>
            </a:endParaRPr>
          </a:p>
          <a:p>
            <a:pPr marL="0" indent="0" algn="l">
              <a:buNone/>
            </a:pPr>
            <a:r>
              <a:rPr lang="en-US" sz="1400" b="1">
                <a:solidFill>
                  <a:srgbClr val="56CFE1"/>
                </a:solidFill>
                <a:latin typeface="Courier New"/>
                <a:cs typeface="Courier New"/>
              </a:rPr>
              <a:t>print(type(age))</a:t>
            </a:r>
          </a:p>
          <a:p>
            <a:pPr marL="0" indent="0" algn="l">
              <a:buNone/>
            </a:pPr>
            <a:r>
              <a:rPr lang="en-US" sz="1400" b="1">
                <a:solidFill>
                  <a:srgbClr val="56CFE1"/>
                </a:solidFill>
                <a:latin typeface="Courier New"/>
                <a:cs typeface="Courier New"/>
              </a:rPr>
              <a:t>print(type(name))</a:t>
            </a:r>
          </a:p>
          <a:p>
            <a:pPr marL="0" indent="0" algn="l">
              <a:buNone/>
            </a:pPr>
            <a:r>
              <a:rPr lang="en-US" sz="1400" b="1">
                <a:solidFill>
                  <a:srgbClr val="56CFE1"/>
                </a:solidFill>
                <a:latin typeface="Courier New"/>
                <a:cs typeface="Courier New"/>
              </a:rPr>
              <a:t>print(type(is_student))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/>
          <p:cNvSpPr/>
          <p:nvPr/>
        </p:nvSpPr>
        <p:spPr>
          <a:xfrm>
            <a:off x="0" y="0"/>
            <a:ext cx="9144000" cy="1000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itle"/>
          <p:cNvSpPr/>
          <p:nvPr/>
        </p:nvSpPr>
        <p:spPr>
          <a:xfrm>
            <a:off x="365760" y="0"/>
            <a:ext cx="841248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>
                <a:solidFill>
                  <a:srgbClr val="FFFFFF"/>
                </a:solidFill>
              </a:rPr>
              <a:t>Basic Data Types</a:t>
            </a:r>
            <a:endParaRPr lang="en-US" sz="2800" b="1"/>
          </a:p>
        </p:txBody>
      </p:sp>
      <p:graphicFrame>
        <p:nvGraphicFramePr>
          <p:cNvPr id="4" name="Types Table"/>
          <p:cNvGraphicFramePr>
            <a:graphicFrameLocks noGrp="1"/>
          </p:cNvGraphicFramePr>
          <p:nvPr/>
        </p:nvGraphicFramePr>
        <p:xfrm>
          <a:off x="365760" y="1140000"/>
          <a:ext cx="4400000" cy="3800000"/>
        </p:xfrm>
        <a:graphic>
          <a:graphicData uri="http://schemas.openxmlformats.org/drawingml/2006/table">
            <a:tbl>
              <a:tblPr firstRow="1"/>
              <a:tblGrid>
                <a:gridCol w="11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</a:rPr>
                        <a:t>Data Type</a:t>
                      </a:r>
                    </a:p>
                  </a:txBody>
                  <a:tcPr marL="64008" marR="64008" marT="27432" marB="27432" anchor="ctr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 marL="64008" marR="64008" marT="27432" marB="27432" anchor="ctr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</a:rPr>
                        <a:t>Example</a:t>
                      </a:r>
                    </a:p>
                  </a:txBody>
                  <a:tcPr marL="64008" marR="64008" marT="27432" marB="27432" anchor="ctr"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5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>
                          <a:solidFill>
                            <a:srgbClr val="0077B6"/>
                          </a:solidFill>
                          <a:latin typeface="Courier New"/>
                          <a:cs typeface="Courier New"/>
                        </a:rPr>
                        <a:t>int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0D1B2A"/>
                          </a:solidFill>
                        </a:rPr>
                        <a:t>Whole numbers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>
                          <a:solidFill>
                            <a:srgbClr val="1B7A6E"/>
                          </a:solidFill>
                          <a:latin typeface="Courier New"/>
                          <a:cs typeface="Courier New"/>
                        </a:rPr>
                        <a:t>10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5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>
                          <a:solidFill>
                            <a:srgbClr val="0077B6"/>
                          </a:solidFill>
                          <a:latin typeface="Courier New"/>
                          <a:cs typeface="Courier New"/>
                        </a:rPr>
                        <a:t>float</a:t>
                      </a:r>
                    </a:p>
                  </a:txBody>
                  <a:tcPr marL="64008" marR="64008" marT="27432" marB="27432" anchor="ctr">
                    <a:solidFill>
                      <a:srgbClr val="E3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0D1B2A"/>
                          </a:solidFill>
                        </a:rPr>
                        <a:t>Decimal numbers</a:t>
                      </a:r>
                    </a:p>
                  </a:txBody>
                  <a:tcPr marL="64008" marR="64008" marT="27432" marB="27432" anchor="ctr">
                    <a:solidFill>
                      <a:srgbClr val="E3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>
                          <a:solidFill>
                            <a:srgbClr val="1B7A6E"/>
                          </a:solidFill>
                          <a:latin typeface="Courier New"/>
                          <a:cs typeface="Courier New"/>
                        </a:rPr>
                        <a:t>3.14</a:t>
                      </a:r>
                    </a:p>
                  </a:txBody>
                  <a:tcPr marL="64008" marR="64008" marT="27432" marB="27432" anchor="ctr">
                    <a:solidFill>
                      <a:srgbClr val="E3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5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>
                          <a:solidFill>
                            <a:srgbClr val="0077B6"/>
                          </a:solidFill>
                          <a:latin typeface="Courier New"/>
                          <a:cs typeface="Courier New"/>
                        </a:rPr>
                        <a:t>complex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0D1B2A"/>
                          </a:solidFill>
                        </a:rPr>
                        <a:t>Real and imaginary numbers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>
                          <a:solidFill>
                            <a:srgbClr val="1B7A6E"/>
                          </a:solidFill>
                          <a:latin typeface="Courier New"/>
                          <a:cs typeface="Courier New"/>
                        </a:rPr>
                        <a:t>2 + 3j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5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>
                          <a:solidFill>
                            <a:srgbClr val="0077B6"/>
                          </a:solidFill>
                          <a:latin typeface="Courier New"/>
                          <a:cs typeface="Courier New"/>
                        </a:rPr>
                        <a:t>str</a:t>
                      </a:r>
                    </a:p>
                  </a:txBody>
                  <a:tcPr marL="64008" marR="64008" marT="27432" marB="27432" anchor="ctr">
                    <a:solidFill>
                      <a:srgbClr val="E3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0D1B2A"/>
                          </a:solidFill>
                        </a:rPr>
                        <a:t>Text values</a:t>
                      </a:r>
                    </a:p>
                  </a:txBody>
                  <a:tcPr marL="64008" marR="64008" marT="27432" marB="27432" anchor="ctr">
                    <a:solidFill>
                      <a:srgbClr val="E3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>
                          <a:solidFill>
                            <a:srgbClr val="1B7A6E"/>
                          </a:solidFill>
                          <a:latin typeface="Courier New"/>
                          <a:cs typeface="Courier New"/>
                        </a:rPr>
                        <a:t>"Python"</a:t>
                      </a:r>
                    </a:p>
                  </a:txBody>
                  <a:tcPr marL="64008" marR="64008" marT="27432" marB="27432" anchor="ctr">
                    <a:solidFill>
                      <a:srgbClr val="E3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5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>
                          <a:solidFill>
                            <a:srgbClr val="0077B6"/>
                          </a:solidFill>
                          <a:latin typeface="Courier New"/>
                          <a:cs typeface="Courier New"/>
                        </a:rPr>
                        <a:t>bool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0D1B2A"/>
                          </a:solidFill>
                        </a:rPr>
                        <a:t>True or False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>
                          <a:solidFill>
                            <a:srgbClr val="1B7A6E"/>
                          </a:solidFill>
                          <a:latin typeface="Courier New"/>
                          <a:cs typeface="Courier New"/>
                        </a:rPr>
                        <a:t>True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5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>
                          <a:solidFill>
                            <a:srgbClr val="0077B6"/>
                          </a:solidFill>
                          <a:latin typeface="Courier New"/>
                          <a:cs typeface="Courier New"/>
                        </a:rPr>
                        <a:t>NoneType</a:t>
                      </a:r>
                    </a:p>
                  </a:txBody>
                  <a:tcPr marL="64008" marR="64008" marT="27432" marB="27432" anchor="ctr">
                    <a:solidFill>
                      <a:srgbClr val="E3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0D1B2A"/>
                          </a:solidFill>
                        </a:rPr>
                        <a:t>Represents no value</a:t>
                      </a:r>
                    </a:p>
                  </a:txBody>
                  <a:tcPr marL="64008" marR="64008" marT="27432" marB="27432" anchor="ctr">
                    <a:solidFill>
                      <a:srgbClr val="E3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>
                          <a:solidFill>
                            <a:srgbClr val="1B7A6E"/>
                          </a:solidFill>
                          <a:latin typeface="Courier New"/>
                          <a:cs typeface="Courier New"/>
                        </a:rPr>
                        <a:t>None</a:t>
                      </a:r>
                    </a:p>
                  </a:txBody>
                  <a:tcPr marL="64008" marR="64008" marT="27432" marB="27432" anchor="ctr">
                    <a:solidFill>
                      <a:srgbClr val="E3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Example Card"/>
          <p:cNvSpPr/>
          <p:nvPr/>
        </p:nvSpPr>
        <p:spPr>
          <a:xfrm>
            <a:off x="4994240" y="1140000"/>
            <a:ext cx="3784000" cy="3800000"/>
          </a:xfrm>
          <a:prstGeom prst="roundRect">
            <a:avLst>
              <a:gd name="adj" fmla="val 3000"/>
            </a:avLst>
          </a:prstGeom>
          <a:solidFill>
            <a:srgbClr val="0D1B2A"/>
          </a:solidFill>
          <a:ln w="19050">
            <a:solidFill>
              <a:srgbClr val="0077B6"/>
            </a:solidFill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 wrap="square" lIns="160020" tIns="137160" rIns="91440" bIns="137160" rtlCol="0" anchor="t"/>
          <a:lstStyle/>
          <a:p>
            <a:pPr marL="0" indent="0" algn="l">
              <a:buNone/>
            </a:pPr>
            <a:r>
              <a:rPr lang="en-US" sz="1700" b="1">
                <a:solidFill>
                  <a:srgbClr val="56CFE1"/>
                </a:solidFill>
              </a:rPr>
              <a:t>Example</a:t>
            </a:r>
          </a:p>
          <a:p>
            <a:pPr marL="0" indent="0" algn="l">
              <a:buNone/>
            </a:pPr>
            <a:endParaRPr lang="en-US" sz="700"/>
          </a:p>
          <a:p>
            <a:pPr marL="0" indent="0" algn="l">
              <a:buNone/>
            </a:pPr>
            <a:r>
              <a:rPr lang="en-US" sz="1300" b="1">
                <a:solidFill>
                  <a:srgbClr val="FFFFFF"/>
                </a:solidFill>
                <a:latin typeface="Courier New"/>
                <a:cs typeface="Courier New"/>
              </a:rPr>
              <a:t>age = 25</a:t>
            </a:r>
          </a:p>
          <a:p>
            <a:pPr marL="0" indent="0" algn="l">
              <a:buNone/>
            </a:pPr>
            <a:r>
              <a:rPr lang="en-US" sz="1300" b="1">
                <a:solidFill>
                  <a:srgbClr val="FFFFFF"/>
                </a:solidFill>
                <a:latin typeface="Courier New"/>
                <a:cs typeface="Courier New"/>
              </a:rPr>
              <a:t>price = 99.99</a:t>
            </a:r>
          </a:p>
          <a:p>
            <a:pPr marL="0" indent="0" algn="l">
              <a:buNone/>
            </a:pPr>
            <a:r>
              <a:rPr lang="en-US" sz="1300" b="1">
                <a:solidFill>
                  <a:srgbClr val="FFFFFF"/>
                </a:solidFill>
                <a:latin typeface="Courier New"/>
                <a:cs typeface="Courier New"/>
              </a:rPr>
              <a:t>name = "Python"</a:t>
            </a:r>
          </a:p>
          <a:p>
            <a:pPr marL="0" indent="0" algn="l">
              <a:buNone/>
            </a:pPr>
            <a:r>
              <a:rPr lang="en-US" sz="1300" b="1">
                <a:solidFill>
                  <a:srgbClr val="FFFFFF"/>
                </a:solidFill>
                <a:latin typeface="Courier New"/>
                <a:cs typeface="Courier New"/>
              </a:rPr>
              <a:t>is_pass = True</a:t>
            </a:r>
          </a:p>
          <a:p>
            <a:pPr marL="0" indent="0" algn="l">
              <a:buNone/>
            </a:pPr>
            <a:r>
              <a:rPr lang="en-US" sz="1300" b="1">
                <a:solidFill>
                  <a:srgbClr val="FFFFFF"/>
                </a:solidFill>
                <a:latin typeface="Courier New"/>
                <a:cs typeface="Courier New"/>
              </a:rPr>
              <a:t>result = None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/>
          <p:cNvSpPr/>
          <p:nvPr/>
        </p:nvSpPr>
        <p:spPr>
          <a:xfrm>
            <a:off x="0" y="0"/>
            <a:ext cx="9144000" cy="1000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itle"/>
          <p:cNvSpPr/>
          <p:nvPr/>
        </p:nvSpPr>
        <p:spPr>
          <a:xfrm>
            <a:off x="365760" y="0"/>
            <a:ext cx="841248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>
                <a:solidFill>
                  <a:srgbClr val="FFFFFF"/>
                </a:solidFill>
              </a:rPr>
              <a:t>Collection Data Types</a:t>
            </a:r>
            <a:endParaRPr lang="en-US" sz="2800" b="1"/>
          </a:p>
        </p:txBody>
      </p:sp>
      <p:graphicFrame>
        <p:nvGraphicFramePr>
          <p:cNvPr id="4" name="Types Table"/>
          <p:cNvGraphicFramePr>
            <a:graphicFrameLocks noGrp="1"/>
          </p:cNvGraphicFramePr>
          <p:nvPr/>
        </p:nvGraphicFramePr>
        <p:xfrm>
          <a:off x="365760" y="1140000"/>
          <a:ext cx="4400000" cy="3350000"/>
        </p:xfrm>
        <a:graphic>
          <a:graphicData uri="http://schemas.openxmlformats.org/drawingml/2006/table">
            <a:tbl>
              <a:tblPr firstRow="1"/>
              <a:tblGrid>
                <a:gridCol w="11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</a:rPr>
                        <a:t>Data Type</a:t>
                      </a:r>
                    </a:p>
                  </a:txBody>
                  <a:tcPr marL="64008" marR="64008" marT="27432" marB="27432" anchor="ctr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 marL="64008" marR="64008" marT="27432" marB="27432" anchor="ctr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</a:rPr>
                        <a:t>Example</a:t>
                      </a:r>
                    </a:p>
                  </a:txBody>
                  <a:tcPr marL="64008" marR="64008" marT="27432" marB="27432" anchor="ctr"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>
                          <a:solidFill>
                            <a:srgbClr val="0077B6"/>
                          </a:solidFill>
                          <a:latin typeface="Courier New"/>
                          <a:cs typeface="Courier New"/>
                        </a:rPr>
                        <a:t>list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0D1B2A"/>
                          </a:solidFill>
                        </a:rPr>
                        <a:t>Ordered and mutable collection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>
                          <a:solidFill>
                            <a:srgbClr val="1B7A6E"/>
                          </a:solidFill>
                          <a:latin typeface="Courier New"/>
                          <a:cs typeface="Courier New"/>
                        </a:rPr>
                        <a:t>[1, 2, 3]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>
                          <a:solidFill>
                            <a:srgbClr val="0077B6"/>
                          </a:solidFill>
                          <a:latin typeface="Courier New"/>
                          <a:cs typeface="Courier New"/>
                        </a:rPr>
                        <a:t>tuple</a:t>
                      </a:r>
                    </a:p>
                  </a:txBody>
                  <a:tcPr marL="64008" marR="64008" marT="27432" marB="27432" anchor="ctr">
                    <a:solidFill>
                      <a:srgbClr val="E3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0D1B2A"/>
                          </a:solidFill>
                        </a:rPr>
                        <a:t>Ordered and immutable collection</a:t>
                      </a:r>
                    </a:p>
                  </a:txBody>
                  <a:tcPr marL="64008" marR="64008" marT="27432" marB="27432" anchor="ctr">
                    <a:solidFill>
                      <a:srgbClr val="E3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>
                          <a:solidFill>
                            <a:srgbClr val="1B7A6E"/>
                          </a:solidFill>
                          <a:latin typeface="Courier New"/>
                          <a:cs typeface="Courier New"/>
                        </a:rPr>
                        <a:t>(1, 2, 3)</a:t>
                      </a:r>
                    </a:p>
                  </a:txBody>
                  <a:tcPr marL="64008" marR="64008" marT="27432" marB="27432" anchor="ctr">
                    <a:solidFill>
                      <a:srgbClr val="E3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>
                          <a:solidFill>
                            <a:srgbClr val="0077B6"/>
                          </a:solidFill>
                          <a:latin typeface="Courier New"/>
                          <a:cs typeface="Courier New"/>
                        </a:rPr>
                        <a:t>set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0D1B2A"/>
                          </a:solidFill>
                        </a:rPr>
                        <a:t>Unordered collection of unique values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>
                          <a:solidFill>
                            <a:srgbClr val="1B7A6E"/>
                          </a:solidFill>
                          <a:latin typeface="Courier New"/>
                          <a:cs typeface="Courier New"/>
                        </a:rPr>
                        <a:t>{1, 2, 3}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>
                          <a:solidFill>
                            <a:srgbClr val="0077B6"/>
                          </a:solidFill>
                          <a:latin typeface="Courier New"/>
                          <a:cs typeface="Courier New"/>
                        </a:rPr>
                        <a:t>dict</a:t>
                      </a:r>
                    </a:p>
                  </a:txBody>
                  <a:tcPr marL="64008" marR="64008" marT="27432" marB="27432" anchor="ctr">
                    <a:solidFill>
                      <a:srgbClr val="E3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0D1B2A"/>
                          </a:solidFill>
                        </a:rPr>
                        <a:t>Key-value pairs</a:t>
                      </a:r>
                    </a:p>
                  </a:txBody>
                  <a:tcPr marL="64008" marR="64008" marT="27432" marB="27432" anchor="ctr">
                    <a:solidFill>
                      <a:srgbClr val="E3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>
                          <a:solidFill>
                            <a:srgbClr val="1B7A6E"/>
                          </a:solidFill>
                          <a:latin typeface="Courier New"/>
                          <a:cs typeface="Courier New"/>
                        </a:rPr>
                        <a:t>{"name": "John"}</a:t>
                      </a:r>
                    </a:p>
                  </a:txBody>
                  <a:tcPr marL="64008" marR="64008" marT="27432" marB="27432" anchor="ctr">
                    <a:solidFill>
                      <a:srgbClr val="E3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Example Card"/>
          <p:cNvSpPr/>
          <p:nvPr/>
        </p:nvSpPr>
        <p:spPr>
          <a:xfrm>
            <a:off x="4994240" y="1140000"/>
            <a:ext cx="3784000" cy="3800000"/>
          </a:xfrm>
          <a:prstGeom prst="roundRect">
            <a:avLst>
              <a:gd name="adj" fmla="val 3000"/>
            </a:avLst>
          </a:prstGeom>
          <a:solidFill>
            <a:srgbClr val="0D1B2A"/>
          </a:solidFill>
          <a:ln w="19050">
            <a:solidFill>
              <a:srgbClr val="0077B6"/>
            </a:solidFill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 wrap="square" lIns="160020" tIns="137160" rIns="91440" bIns="137160" rtlCol="0" anchor="t"/>
          <a:lstStyle/>
          <a:p>
            <a:pPr marL="0" indent="0" algn="l">
              <a:buNone/>
            </a:pPr>
            <a:r>
              <a:rPr lang="en-US" sz="1700" b="1">
                <a:solidFill>
                  <a:srgbClr val="56CFE1"/>
                </a:solidFill>
              </a:rPr>
              <a:t>Example</a:t>
            </a:r>
          </a:p>
          <a:p>
            <a:pPr marL="0" indent="0" algn="l">
              <a:buNone/>
            </a:pPr>
            <a:endParaRPr lang="en-US" sz="700"/>
          </a:p>
          <a:p>
            <a:r>
              <a:rPr lang="en-US" sz="1300" b="1" dirty="0">
                <a:solidFill>
                  <a:srgbClr val="FFFFFF"/>
                </a:solidFill>
                <a:latin typeface="Courier New"/>
                <a:cs typeface="Courier New"/>
              </a:rPr>
              <a:t>fruits = ["Apple","Mango"]</a:t>
            </a:r>
            <a:endParaRPr lang="en-US" sz="13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pPr marL="0" indent="0" algn="l">
              <a:buNone/>
            </a:pPr>
            <a:r>
              <a:rPr lang="en-US" sz="1300" b="1">
                <a:solidFill>
                  <a:srgbClr val="FFFFFF"/>
                </a:solidFill>
                <a:latin typeface="Courier New"/>
                <a:cs typeface="Courier New"/>
              </a:rPr>
              <a:t>        point = (10, 20)</a:t>
            </a:r>
          </a:p>
          <a:p>
            <a:pPr marL="0" indent="0" algn="l">
              <a:buNone/>
            </a:pPr>
            <a:r>
              <a:rPr lang="en-US" sz="1300" b="1">
                <a:solidFill>
                  <a:srgbClr val="FFFFFF"/>
                </a:solidFill>
                <a:latin typeface="Courier New"/>
                <a:cs typeface="Courier New"/>
              </a:rPr>
              <a:t>numbers = {1, 2, 3}</a:t>
            </a:r>
          </a:p>
          <a:p>
            <a:r>
              <a:rPr lang="en-US" sz="1300" b="1">
                <a:solidFill>
                  <a:srgbClr val="FFFFFF"/>
                </a:solidFill>
                <a:latin typeface="Courier New"/>
                <a:cs typeface="Courier New"/>
              </a:rPr>
              <a:t>student = </a:t>
            </a:r>
          </a:p>
          <a:p>
            <a:pPr marL="0" indent="0" algn="l">
              <a:buNone/>
            </a:pPr>
            <a:r>
              <a:rPr lang="en-US" sz="1300" b="1">
                <a:solidFill>
                  <a:srgbClr val="FFFFFF"/>
                </a:solidFill>
                <a:latin typeface="Courier New"/>
                <a:cs typeface="Courier New"/>
              </a:rPr>
              <a:t>{</a:t>
            </a:r>
            <a:endParaRPr lang="en-US"/>
          </a:p>
          <a:p>
            <a:r>
              <a:rPr lang="en-US" sz="1300" b="1" dirty="0">
                <a:solidFill>
                  <a:srgbClr val="FFFFFF"/>
                </a:solidFill>
                <a:latin typeface="Courier New"/>
                <a:cs typeface="Courier New"/>
              </a:rPr>
              <a:t>   </a:t>
            </a:r>
            <a:r>
              <a:rPr lang="en-US" sz="1300" b="1">
                <a:solidFill>
                  <a:srgbClr val="FFFFFF"/>
                </a:solidFill>
                <a:latin typeface="Courier New"/>
                <a:cs typeface="Courier New"/>
              </a:rPr>
              <a:t>"name": "John",</a:t>
            </a:r>
          </a:p>
          <a:p>
            <a:r>
              <a:rPr lang="en-US" sz="1300" b="1" dirty="0">
                <a:solidFill>
                  <a:srgbClr val="FFFFFF"/>
                </a:solidFill>
                <a:latin typeface="Courier New"/>
                <a:cs typeface="Courier New"/>
              </a:rPr>
              <a:t>   </a:t>
            </a:r>
            <a:r>
              <a:rPr lang="en-US" sz="1300" b="1">
                <a:solidFill>
                  <a:srgbClr val="FFFFFF"/>
                </a:solidFill>
                <a:latin typeface="Courier New"/>
                <a:cs typeface="Courier New"/>
              </a:rPr>
              <a:t>"age": 20</a:t>
            </a:r>
          </a:p>
          <a:p>
            <a:r>
              <a:rPr lang="en-US" sz="1300" b="1">
                <a:solidFill>
                  <a:srgbClr val="FFFFFF"/>
                </a:solidFill>
                <a:latin typeface="Courier New"/>
                <a:cs typeface="Courier New"/>
              </a:rPr>
              <a:t>}</a:t>
            </a: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hat is a Variable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/>
          <p:cNvSpPr/>
          <p:nvPr/>
        </p:nvSpPr>
        <p:spPr>
          <a:xfrm>
            <a:off x="0" y="0"/>
            <a:ext cx="9144000" cy="1000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itle"/>
          <p:cNvSpPr/>
          <p:nvPr/>
        </p:nvSpPr>
        <p:spPr>
          <a:xfrm>
            <a:off x="365760" y="0"/>
            <a:ext cx="841248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>
                <a:solidFill>
                  <a:srgbClr val="FFFFFF"/>
                </a:solidFill>
              </a:rPr>
              <a:t>What is a Variable?</a:t>
            </a:r>
            <a:endParaRPr lang="en-US" sz="3600" b="1"/>
          </a:p>
        </p:txBody>
      </p:sp>
      <p:sp>
        <p:nvSpPr>
          <p:cNvPr id="4" name="Definition"/>
          <p:cNvSpPr/>
          <p:nvPr/>
        </p:nvSpPr>
        <p:spPr>
          <a:xfrm>
            <a:off x="365760" y="1140000"/>
            <a:ext cx="8412480" cy="8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0D1B2A"/>
                </a:solidFill>
              </a:rPr>
              <a:t>A variable is a name that refers to an object in memory.</a:t>
            </a:r>
            <a:endParaRPr lang="en-US" sz="2400" b="1"/>
          </a:p>
        </p:txBody>
      </p:sp>
      <p:sp>
        <p:nvSpPr>
          <p:cNvPr id="5" name="Wrong Card"/>
          <p:cNvSpPr/>
          <p:nvPr/>
        </p:nvSpPr>
        <p:spPr>
          <a:xfrm>
            <a:off x="365760" y="2080000"/>
            <a:ext cx="4069080" cy="166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5383B"/>
            </a:solidFill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 wrap="square" lIns="137160" tIns="91440" rIns="137160" bIns="91440" rtlCol="0" anchor="ctr"/>
          <a:lstStyle/>
          <a:p>
            <a:pPr marL="0" indent="0" algn="l">
              <a:buNone/>
            </a:pPr>
            <a:r>
              <a:rPr lang="en-US" sz="1800" b="1">
                <a:solidFill>
                  <a:srgbClr val="C1121F"/>
                </a:solidFill>
              </a:rPr>
              <a:t>This does NOT mean:</a:t>
            </a:r>
          </a:p>
          <a:p>
            <a:pPr marL="0" indent="0" algn="l">
              <a:buNone/>
            </a:pPr>
            <a:r>
              <a:rPr lang="en-US" sz="1800" i="1">
                <a:solidFill>
                  <a:srgbClr val="495057"/>
                </a:solidFill>
              </a:rPr>
              <a:t>“Create a box called x and put 10 inside.”</a:t>
            </a:r>
          </a:p>
        </p:txBody>
      </p:sp>
      <p:sp>
        <p:nvSpPr>
          <p:cNvPr id="6" name="Right Card"/>
          <p:cNvSpPr/>
          <p:nvPr/>
        </p:nvSpPr>
        <p:spPr>
          <a:xfrm>
            <a:off x="4709160" y="2080000"/>
            <a:ext cx="4069080" cy="166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2A9D8F"/>
            </a:solidFill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 wrap="square" lIns="137160" tIns="91440" rIns="137160" bIns="91440" rtlCol="0" anchor="ctr"/>
          <a:lstStyle/>
          <a:p>
            <a:pPr marL="0" indent="0" algn="l">
              <a:buNone/>
            </a:pPr>
            <a:r>
              <a:rPr lang="en-US" sz="1800" b="1">
                <a:solidFill>
                  <a:srgbClr val="1B7A6E"/>
                </a:solidFill>
              </a:rPr>
              <a:t>Python actually does:</a:t>
            </a:r>
          </a:p>
          <a:p>
            <a:pPr marL="0" indent="0" algn="l">
              <a:buNone/>
            </a:pPr>
            <a:r>
              <a:rPr lang="en-US" sz="1600">
                <a:solidFill>
                  <a:srgbClr val="0D1B2A"/>
                </a:solidFill>
              </a:rPr>
              <a:t>1. Create an integer object 10.</a:t>
            </a:r>
          </a:p>
          <a:p>
            <a:pPr marL="0" indent="0" algn="l">
              <a:buNone/>
            </a:pPr>
            <a:r>
              <a:rPr lang="en-US" sz="1600">
                <a:solidFill>
                  <a:srgbClr val="0D1B2A"/>
                </a:solidFill>
              </a:rPr>
              <a:t>2. Create the name x.</a:t>
            </a:r>
          </a:p>
          <a:p>
            <a:pPr marL="0" indent="0" algn="l">
              <a:buNone/>
            </a:pPr>
            <a:r>
              <a:rPr lang="en-US" sz="1600">
                <a:solidFill>
                  <a:srgbClr val="0D1B2A"/>
                </a:solidFill>
              </a:rPr>
              <a:t>3. Make x point to the object 10.</a:t>
            </a:r>
          </a:p>
        </p:txBody>
      </p:sp>
      <p:sp>
        <p:nvSpPr>
          <p:cNvPr id="7" name="Diagram Bar"/>
          <p:cNvSpPr/>
          <p:nvPr/>
        </p:nvSpPr>
        <p:spPr>
          <a:xfrm>
            <a:off x="365760" y="3880000"/>
            <a:ext cx="8412480" cy="1080000"/>
          </a:xfrm>
          <a:prstGeom prst="roundRect">
            <a:avLst>
              <a:gd name="adj" fmla="val 8000"/>
            </a:avLst>
          </a:prstGeom>
          <a:solidFill>
            <a:srgbClr val="0D1B2A"/>
          </a:solidFill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4000" b="1">
                <a:solidFill>
                  <a:srgbClr val="00B4D8"/>
                </a:solidFill>
                <a:latin typeface="Courier New"/>
                <a:cs typeface="Courier New"/>
              </a:rPr>
              <a:t>x = 10</a:t>
            </a:r>
            <a:r>
              <a:rPr lang="en-US" sz="4000" b="1">
                <a:solidFill>
                  <a:srgbClr val="FFFFFF"/>
                </a:solidFill>
                <a:latin typeface="Courier New"/>
                <a:cs typeface="Courier New"/>
              </a:rPr>
              <a:t>     x  →  10</a:t>
            </a:r>
            <a:endParaRPr lang="en-US" sz="4000" b="1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verything is an Object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/>
          <p:cNvSpPr/>
          <p:nvPr/>
        </p:nvSpPr>
        <p:spPr>
          <a:xfrm>
            <a:off x="0" y="0"/>
            <a:ext cx="9144000" cy="1000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itle"/>
          <p:cNvSpPr/>
          <p:nvPr/>
        </p:nvSpPr>
        <p:spPr>
          <a:xfrm>
            <a:off x="365760" y="0"/>
            <a:ext cx="841248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FFFFFF"/>
                </a:solidFill>
              </a:rPr>
              <a:t>Everything in Python is an Object</a:t>
            </a:r>
            <a:endParaRPr lang="en-US" sz="3000" b="1"/>
          </a:p>
        </p:txBody>
      </p:sp>
      <p:sp>
        <p:nvSpPr>
          <p:cNvPr id="4" name="Lead"/>
          <p:cNvSpPr/>
          <p:nvPr/>
        </p:nvSpPr>
        <p:spPr>
          <a:xfrm>
            <a:off x="365760" y="1100000"/>
            <a:ext cx="841248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0D1B2A"/>
                </a:solidFill>
              </a:rPr>
              <a:t>In Python, these are all objects:</a:t>
            </a:r>
            <a:endParaRPr lang="en-US" sz="2000" b="1"/>
          </a:p>
        </p:txBody>
      </p:sp>
      <p:sp>
        <p:nvSpPr>
          <p:cNvPr id="5" name="Pill Numbers"/>
          <p:cNvSpPr/>
          <p:nvPr/>
        </p:nvSpPr>
        <p:spPr>
          <a:xfrm>
            <a:off x="365760" y="1800000"/>
            <a:ext cx="1572768" cy="56000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/>
        </p:spPr>
        <p:txBody>
          <a:bodyPr wrap="square" lIns="45720" tIns="9144" rIns="45720" bIns="9144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Numbers</a:t>
            </a:r>
          </a:p>
        </p:txBody>
      </p:sp>
      <p:sp>
        <p:nvSpPr>
          <p:cNvPr id="6" name="Pill Strings"/>
          <p:cNvSpPr/>
          <p:nvPr/>
        </p:nvSpPr>
        <p:spPr>
          <a:xfrm>
            <a:off x="2075688" y="1800000"/>
            <a:ext cx="1572768" cy="56000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/>
        </p:spPr>
        <p:txBody>
          <a:bodyPr wrap="square" lIns="45720" tIns="9144" rIns="45720" bIns="9144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Strings</a:t>
            </a:r>
          </a:p>
        </p:txBody>
      </p:sp>
      <p:sp>
        <p:nvSpPr>
          <p:cNvPr id="7" name="Pill Lists"/>
          <p:cNvSpPr/>
          <p:nvPr/>
        </p:nvSpPr>
        <p:spPr>
          <a:xfrm>
            <a:off x="3785616" y="1800000"/>
            <a:ext cx="1572768" cy="56000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/>
        </p:spPr>
        <p:txBody>
          <a:bodyPr wrap="square" lIns="45720" tIns="9144" rIns="45720" bIns="9144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Lists</a:t>
            </a:r>
          </a:p>
        </p:txBody>
      </p:sp>
      <p:sp>
        <p:nvSpPr>
          <p:cNvPr id="8" name="Pill Functions"/>
          <p:cNvSpPr/>
          <p:nvPr/>
        </p:nvSpPr>
        <p:spPr>
          <a:xfrm>
            <a:off x="5495544" y="1800000"/>
            <a:ext cx="1572768" cy="56000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/>
        </p:spPr>
        <p:txBody>
          <a:bodyPr wrap="square" lIns="45720" tIns="9144" rIns="45720" bIns="9144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Functions</a:t>
            </a:r>
          </a:p>
        </p:txBody>
      </p:sp>
      <p:sp>
        <p:nvSpPr>
          <p:cNvPr id="9" name="Pill Classes"/>
          <p:cNvSpPr/>
          <p:nvPr/>
        </p:nvSpPr>
        <p:spPr>
          <a:xfrm>
            <a:off x="7205472" y="1800000"/>
            <a:ext cx="1572768" cy="56000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/>
        </p:spPr>
        <p:txBody>
          <a:bodyPr wrap="square" lIns="45720" tIns="9144" rIns="45720" bIns="9144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Classes</a:t>
            </a:r>
          </a:p>
        </p:txBody>
      </p:sp>
      <p:sp>
        <p:nvSpPr>
          <p:cNvPr id="10" name="Code Bar"/>
          <p:cNvSpPr/>
          <p:nvPr/>
        </p:nvSpPr>
        <p:spPr>
          <a:xfrm>
            <a:off x="365760" y="2620000"/>
            <a:ext cx="8412480" cy="1640000"/>
          </a:xfrm>
          <a:prstGeom prst="roundRect">
            <a:avLst>
              <a:gd name="adj" fmla="val 6000"/>
            </a:avLst>
          </a:prstGeom>
          <a:solidFill>
            <a:srgbClr val="0D1B2A"/>
          </a:solidFill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00B4D8"/>
                </a:solidFill>
                <a:latin typeface="Courier New"/>
                <a:cs typeface="Courier New"/>
              </a:rPr>
              <a:t>a = 5</a:t>
            </a:r>
          </a:p>
          <a:p>
            <a:pPr marL="0" indent="0" algn="l">
              <a:buNone/>
            </a:pPr>
            <a:r>
              <a:rPr lang="en-US" sz="2200" b="1">
                <a:solidFill>
                  <a:srgbClr val="00B4D8"/>
                </a:solidFill>
                <a:latin typeface="Courier New"/>
                <a:cs typeface="Courier New"/>
              </a:rPr>
              <a:t>b = "hello"</a:t>
            </a:r>
          </a:p>
          <a:p>
            <a:pPr marL="0" indent="0" algn="l">
              <a:buNone/>
            </a:pPr>
            <a:r>
              <a:rPr lang="en-US" sz="2200" b="1">
                <a:solidFill>
                  <a:srgbClr val="00B4D8"/>
                </a:solidFill>
                <a:latin typeface="Courier New"/>
                <a:cs typeface="Courier New"/>
              </a:rPr>
              <a:t>c = [1, 2, 3]</a:t>
            </a:r>
          </a:p>
        </p:txBody>
      </p:sp>
      <p:sp>
        <p:nvSpPr>
          <p:cNvPr id="11" name="Closing"/>
          <p:cNvSpPr/>
          <p:nvPr/>
        </p:nvSpPr>
        <p:spPr>
          <a:xfrm>
            <a:off x="365760" y="4360000"/>
            <a:ext cx="8412480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1B7A6E"/>
                </a:solidFill>
              </a:rPr>
              <a:t>Each value exists somewhere in memory as an object.</a:t>
            </a:r>
            <a:endParaRPr lang="en-US" sz="2000" b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Variable Assignment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/>
          <p:cNvSpPr/>
          <p:nvPr/>
        </p:nvSpPr>
        <p:spPr>
          <a:xfrm>
            <a:off x="0" y="0"/>
            <a:ext cx="9144000" cy="1000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itle"/>
          <p:cNvSpPr/>
          <p:nvPr/>
        </p:nvSpPr>
        <p:spPr>
          <a:xfrm>
            <a:off x="365760" y="0"/>
            <a:ext cx="841248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FFFFFF"/>
                </a:solidFill>
              </a:rPr>
              <a:t>Variable Assignment</a:t>
            </a:r>
            <a:endParaRPr lang="en-US" sz="3400" b="1"/>
          </a:p>
        </p:txBody>
      </p:sp>
      <p:sp>
        <p:nvSpPr>
          <p:cNvPr id="4" name="Binding Card"/>
          <p:cNvSpPr/>
          <p:nvPr/>
        </p:nvSpPr>
        <p:spPr>
          <a:xfrm>
            <a:off x="365760" y="1140000"/>
            <a:ext cx="4069080" cy="242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2A9D8F"/>
            </a:solidFill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 wrap="square" lIns="182880" tIns="137160" rIns="182880" bIns="137160" rtlCol="0" anchor="t"/>
          <a:lstStyle/>
          <a:p>
            <a:pPr marL="0" indent="0" algn="l">
              <a:buNone/>
            </a:pPr>
            <a:r>
              <a:rPr lang="en-US" sz="2000" b="1">
                <a:solidFill>
                  <a:srgbClr val="1B7A6E"/>
                </a:solidFill>
              </a:rPr>
              <a:t>Binding</a:t>
            </a:r>
          </a:p>
          <a:p>
            <a:pPr marL="0" indent="0" algn="l">
              <a:buNone/>
            </a:pPr>
            <a:r>
              <a:rPr lang="en-US" sz="2800" b="1">
                <a:solidFill>
                  <a:srgbClr val="0077B6"/>
                </a:solidFill>
                <a:latin typeface="Courier New"/>
                <a:cs typeface="Courier New"/>
              </a:rPr>
              <a:t>x = 10</a:t>
            </a:r>
          </a:p>
          <a:p>
            <a:pPr marL="0" indent="0" algn="l">
              <a:buNone/>
            </a:pPr>
            <a:r>
              <a:rPr lang="en-US" sz="1700">
                <a:solidFill>
                  <a:srgbClr val="0D1B2A"/>
                </a:solidFill>
              </a:rPr>
              <a:t>This is called binding.</a:t>
            </a:r>
          </a:p>
          <a:p>
            <a:pPr marL="0" indent="0" algn="l">
              <a:buNone/>
            </a:pPr>
            <a:r>
              <a:rPr lang="en-US" sz="1700">
                <a:solidFill>
                  <a:srgbClr val="0D1B2A"/>
                </a:solidFill>
              </a:rPr>
              <a:t>The name x becomes bound to the integer object 10.</a:t>
            </a:r>
          </a:p>
        </p:txBody>
      </p:sp>
      <p:sp>
        <p:nvSpPr>
          <p:cNvPr id="5" name="Reassignment Card"/>
          <p:cNvSpPr/>
          <p:nvPr/>
        </p:nvSpPr>
        <p:spPr>
          <a:xfrm>
            <a:off x="4709160" y="1140000"/>
            <a:ext cx="4069080" cy="242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0077B6"/>
            </a:solidFill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 wrap="square" lIns="182880" tIns="137160" rIns="182880" bIns="137160" rtlCol="0" anchor="t"/>
          <a:lstStyle/>
          <a:p>
            <a:pPr marL="0" indent="0" algn="l">
              <a:buNone/>
            </a:pPr>
            <a:r>
              <a:rPr lang="en-US" sz="2000" b="1">
                <a:solidFill>
                  <a:srgbClr val="0077B6"/>
                </a:solidFill>
              </a:rPr>
              <a:t>Reassignment</a:t>
            </a:r>
          </a:p>
          <a:p>
            <a:pPr marL="0" indent="0" algn="l">
              <a:buNone/>
            </a:pPr>
            <a:r>
              <a:rPr lang="en-US" sz="2400" b="1">
                <a:solidFill>
                  <a:srgbClr val="0077B6"/>
                </a:solidFill>
                <a:latin typeface="Courier New"/>
                <a:cs typeface="Courier New"/>
              </a:rPr>
              <a:t>x = 10</a:t>
            </a:r>
          </a:p>
          <a:p>
            <a:pPr marL="0" indent="0" algn="l">
              <a:buNone/>
            </a:pPr>
            <a:r>
              <a:rPr lang="en-US" sz="2400" b="1">
                <a:solidFill>
                  <a:srgbClr val="0077B6"/>
                </a:solidFill>
                <a:latin typeface="Courier New"/>
                <a:cs typeface="Courier New"/>
              </a:rPr>
              <a:t>x = 20</a:t>
            </a:r>
          </a:p>
          <a:p>
            <a:pPr marL="0" indent="0" algn="l">
              <a:buNone/>
            </a:pPr>
            <a:r>
              <a:rPr lang="en-US" sz="1800" b="1">
                <a:solidFill>
                  <a:srgbClr val="0D1B2A"/>
                </a:solidFill>
                <a:latin typeface="Courier New"/>
                <a:cs typeface="Courier New"/>
              </a:rPr>
              <a:t>x → 10   becomes   x → 20</a:t>
            </a:r>
          </a:p>
        </p:txBody>
      </p:sp>
      <p:sp>
        <p:nvSpPr>
          <p:cNvPr id="6" name="GC Note"/>
          <p:cNvSpPr/>
          <p:nvPr/>
        </p:nvSpPr>
        <p:spPr>
          <a:xfrm>
            <a:off x="365760" y="3700000"/>
            <a:ext cx="8412480" cy="1160000"/>
          </a:xfrm>
          <a:prstGeom prst="roundRect">
            <a:avLst>
              <a:gd name="adj" fmla="val 8000"/>
            </a:avLst>
          </a:prstGeom>
          <a:solidFill>
            <a:srgbClr val="0D1B2A"/>
          </a:solidFill>
          <a:ln/>
        </p:spPr>
        <p:txBody>
          <a:bodyPr wrap="square" lIns="274320" tIns="91440" rIns="274320" bIns="91440" rtlCol="0" anchor="ctr"/>
          <a:lstStyle/>
          <a:p>
            <a:pPr marL="0" indent="0" algn="ctr">
              <a:buNone/>
            </a:pPr>
            <a:r>
              <a:rPr lang="en-US" sz="1900" b="1">
                <a:solidFill>
                  <a:srgbClr val="FFFFFF"/>
                </a:solidFill>
              </a:rPr>
              <a:t>The old object may eventually be removed by garbage collection if nothing references it.</a:t>
            </a:r>
            <a:endParaRPr lang="en-US" sz="1900" b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Names and Objects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/>
          <p:cNvSpPr/>
          <p:nvPr/>
        </p:nvSpPr>
        <p:spPr>
          <a:xfrm>
            <a:off x="0" y="0"/>
            <a:ext cx="9144000" cy="1000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itle"/>
          <p:cNvSpPr/>
          <p:nvPr/>
        </p:nvSpPr>
        <p:spPr>
          <a:xfrm>
            <a:off x="365760" y="0"/>
            <a:ext cx="841248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FFFFFF"/>
                </a:solidFill>
              </a:rPr>
              <a:t>Names and Objects</a:t>
            </a:r>
            <a:endParaRPr lang="en-US" sz="3400" b="1"/>
          </a:p>
        </p:txBody>
      </p:sp>
      <p:sp>
        <p:nvSpPr>
          <p:cNvPr id="4" name="Memory Card"/>
          <p:cNvSpPr/>
          <p:nvPr/>
        </p:nvSpPr>
        <p:spPr>
          <a:xfrm>
            <a:off x="365760" y="1140000"/>
            <a:ext cx="4069080" cy="252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2A9D8F"/>
            </a:solidFill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 wrap="square" lIns="182880" tIns="137160" rIns="182880" bIns="137160" rtlCol="0" anchor="t"/>
          <a:lstStyle/>
          <a:p>
            <a:pPr marL="0" indent="0" algn="l">
              <a:buNone/>
            </a:pPr>
            <a:r>
              <a:rPr lang="en-US" sz="2000" b="1">
                <a:solidFill>
                  <a:srgbClr val="1B7A6E"/>
                </a:solidFill>
              </a:rPr>
              <a:t>Memory</a:t>
            </a:r>
          </a:p>
          <a:p>
            <a:pPr marL="0" indent="0" algn="l">
              <a:buNone/>
            </a:pPr>
            <a:r>
              <a:rPr lang="en-US" sz="2200" b="1">
                <a:solidFill>
                  <a:srgbClr val="0077B6"/>
                </a:solidFill>
                <a:latin typeface="Courier New"/>
                <a:cs typeface="Courier New"/>
              </a:rPr>
              <a:t>a = 100</a:t>
            </a:r>
          </a:p>
          <a:p>
            <a:pPr marL="0" indent="0" algn="l">
              <a:buNone/>
            </a:pPr>
            <a:r>
              <a:rPr lang="en-US" sz="2200" b="1">
                <a:solidFill>
                  <a:srgbClr val="0077B6"/>
                </a:solidFill>
                <a:latin typeface="Courier New"/>
                <a:cs typeface="Courier New"/>
              </a:rPr>
              <a:t>b = a</a:t>
            </a:r>
          </a:p>
          <a:p>
            <a:pPr marL="0" indent="0" algn="l">
              <a:buNone/>
            </a:pPr>
            <a:r>
              <a:rPr lang="en-US" sz="2400" b="1">
                <a:solidFill>
                  <a:srgbClr val="0D1B2A"/>
                </a:solidFill>
                <a:latin typeface="Courier New"/>
                <a:cs typeface="Courier New"/>
              </a:rPr>
              <a:t>a → 100 ← b</a:t>
            </a:r>
          </a:p>
          <a:p>
            <a:pPr marL="0" indent="0" algn="l">
              <a:buNone/>
            </a:pPr>
            <a:r>
              <a:rPr lang="en-US" sz="1600">
                <a:solidFill>
                  <a:srgbClr val="0D1B2A"/>
                </a:solidFill>
              </a:rPr>
              <a:t>Both variables point to the same object.</a:t>
            </a:r>
          </a:p>
        </p:txBody>
      </p:sp>
      <p:sp>
        <p:nvSpPr>
          <p:cNvPr id="5" name="Identity Card"/>
          <p:cNvSpPr/>
          <p:nvPr/>
        </p:nvSpPr>
        <p:spPr>
          <a:xfrm>
            <a:off x="4709160" y="1140000"/>
            <a:ext cx="4069080" cy="252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0077B6"/>
            </a:solidFill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 wrap="square" lIns="182880" tIns="137160" rIns="182880" bIns="137160" rtlCol="0" anchor="t"/>
          <a:lstStyle/>
          <a:p>
            <a:pPr marL="0" indent="0" algn="l">
              <a:buNone/>
            </a:pPr>
            <a:r>
              <a:rPr lang="en-US" sz="2000" b="1">
                <a:solidFill>
                  <a:srgbClr val="0077B6"/>
                </a:solidFill>
              </a:rPr>
              <a:t>Checking Identity</a:t>
            </a:r>
          </a:p>
          <a:p>
            <a:pPr marL="0" indent="0" algn="l">
              <a:buNone/>
            </a:pPr>
            <a:r>
              <a:rPr lang="en-US" sz="2000" b="1">
                <a:solidFill>
                  <a:srgbClr val="0077B6"/>
                </a:solidFill>
                <a:latin typeface="Courier New"/>
                <a:cs typeface="Courier New"/>
              </a:rPr>
              <a:t>a = 100</a:t>
            </a:r>
          </a:p>
          <a:p>
            <a:pPr marL="0" indent="0" algn="l">
              <a:buNone/>
            </a:pPr>
            <a:r>
              <a:rPr lang="en-US" sz="2000" b="1">
                <a:solidFill>
                  <a:srgbClr val="0077B6"/>
                </a:solidFill>
                <a:latin typeface="Courier New"/>
                <a:cs typeface="Courier New"/>
              </a:rPr>
              <a:t>b = a</a:t>
            </a:r>
          </a:p>
          <a:p>
            <a:pPr marL="0" indent="0" algn="l">
              <a:buNone/>
            </a:pPr>
            <a:r>
              <a:rPr lang="en-US" sz="2000" b="1">
                <a:solidFill>
                  <a:srgbClr val="0077B6"/>
                </a:solidFill>
                <a:latin typeface="Courier New"/>
                <a:cs typeface="Courier New"/>
              </a:rPr>
              <a:t>print(a is b)</a:t>
            </a:r>
          </a:p>
          <a:p>
            <a:pPr marL="0" indent="0" algn="l">
              <a:buNone/>
            </a:pPr>
            <a:r>
              <a:rPr lang="en-US" sz="2000" b="1">
                <a:solidFill>
                  <a:srgbClr val="0D1B2A"/>
                </a:solidFill>
              </a:rPr>
              <a:t>Output:  </a:t>
            </a:r>
            <a:r>
              <a:rPr lang="en-US" sz="2000" b="1">
                <a:solidFill>
                  <a:srgbClr val="1B7A6E"/>
                </a:solidFill>
                <a:latin typeface="Courier New"/>
                <a:cs typeface="Courier New"/>
              </a:rPr>
              <a:t>True</a:t>
            </a:r>
          </a:p>
        </p:txBody>
      </p:sp>
      <p:sp>
        <p:nvSpPr>
          <p:cNvPr id="6" name="Takeaway"/>
          <p:cNvSpPr/>
          <p:nvPr/>
        </p:nvSpPr>
        <p:spPr>
          <a:xfrm>
            <a:off x="365760" y="3760000"/>
            <a:ext cx="8412480" cy="1100000"/>
          </a:xfrm>
          <a:prstGeom prst="roundRect">
            <a:avLst>
              <a:gd name="adj" fmla="val 8000"/>
            </a:avLst>
          </a:prstGeom>
          <a:solidFill>
            <a:srgbClr val="0D1B2A"/>
          </a:solidFill>
          <a:ln/>
        </p:spPr>
        <p:txBody>
          <a:bodyPr wrap="square" lIns="274320" tIns="91440" rIns="274320" bIns="9144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00B4D8"/>
                </a:solidFill>
                <a:latin typeface="Courier New"/>
                <a:cs typeface="Courier New"/>
              </a:rPr>
              <a:t>is</a:t>
            </a:r>
            <a:r>
              <a:rPr lang="en-US" sz="2000" b="1">
                <a:solidFill>
                  <a:srgbClr val="FFFFFF"/>
                </a:solidFill>
              </a:rPr>
              <a:t> checks whether two variables refer to the same object.</a:t>
            </a:r>
            <a:endParaRPr lang="en-US" sz="2000" b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Identity and Dynamic Typing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/>
          <p:cNvSpPr/>
          <p:nvPr/>
        </p:nvSpPr>
        <p:spPr>
          <a:xfrm>
            <a:off x="0" y="0"/>
            <a:ext cx="9144000" cy="1000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itle"/>
          <p:cNvSpPr/>
          <p:nvPr/>
        </p:nvSpPr>
        <p:spPr>
          <a:xfrm>
            <a:off x="365760" y="0"/>
            <a:ext cx="841248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>
                <a:solidFill>
                  <a:srgbClr val="FFFFFF"/>
                </a:solidFill>
              </a:rPr>
              <a:t>Object Identity &amp; Dynamic Typing</a:t>
            </a:r>
            <a:endParaRPr lang="en-US" sz="2800" b="1"/>
          </a:p>
        </p:txBody>
      </p:sp>
      <p:sp>
        <p:nvSpPr>
          <p:cNvPr id="4" name="Id Card"/>
          <p:cNvSpPr/>
          <p:nvPr/>
        </p:nvSpPr>
        <p:spPr>
          <a:xfrm>
            <a:off x="365760" y="1140000"/>
            <a:ext cx="4069080" cy="38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2A9D8F"/>
            </a:solidFill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 wrap="square" lIns="182880" tIns="137160" rIns="182880" bIns="137160" rtlCol="0" anchor="t"/>
          <a:lstStyle/>
          <a:p>
            <a:pPr marL="0" indent="0" algn="l">
              <a:buNone/>
            </a:pPr>
            <a:r>
              <a:rPr lang="en-US" sz="2200" b="1">
                <a:solidFill>
                  <a:srgbClr val="1B7A6E"/>
                </a:solidFill>
              </a:rPr>
              <a:t>id() Function</a:t>
            </a:r>
          </a:p>
          <a:p>
            <a:endParaRPr lang="en-US" sz="1700" dirty="0">
              <a:solidFill>
                <a:srgbClr val="0D1B2A"/>
              </a:solidFill>
            </a:endParaRPr>
          </a:p>
          <a:p>
            <a:pPr marL="0" indent="0" algn="l">
              <a:buNone/>
            </a:pPr>
            <a:r>
              <a:rPr lang="en-US" sz="1700">
                <a:solidFill>
                  <a:srgbClr val="0D1B2A"/>
                </a:solidFill>
              </a:rPr>
              <a:t>Every object has a unique identity.</a:t>
            </a:r>
            <a:endParaRPr lang="en-US"/>
          </a:p>
          <a:p>
            <a:endParaRPr lang="en-US" sz="2000" b="1" dirty="0">
              <a:solidFill>
                <a:srgbClr val="0077B6"/>
              </a:solidFill>
              <a:latin typeface="Courier New"/>
              <a:cs typeface="Courier New"/>
            </a:endParaRPr>
          </a:p>
          <a:p>
            <a:pPr marL="0" indent="0" algn="l">
              <a:buNone/>
            </a:pPr>
            <a:r>
              <a:rPr lang="en-US" sz="2000" b="1">
                <a:solidFill>
                  <a:srgbClr val="0077B6"/>
                </a:solidFill>
                <a:latin typeface="Courier New"/>
                <a:cs typeface="Courier New"/>
              </a:rPr>
              <a:t>x = 10</a:t>
            </a:r>
            <a:endParaRPr lang="en-US"/>
          </a:p>
          <a:p>
            <a:r>
              <a:rPr lang="en-US" sz="2000" b="1">
                <a:solidFill>
                  <a:srgbClr val="0077B6"/>
                </a:solidFill>
                <a:latin typeface="Courier New"/>
                <a:cs typeface="Courier New"/>
              </a:rPr>
              <a:t>print(id(x))</a:t>
            </a:r>
          </a:p>
          <a:p>
            <a:pPr marL="0" indent="0" algn="l">
              <a:buNone/>
            </a:pPr>
            <a:endParaRPr lang="en-US" sz="1600" b="1" dirty="0">
              <a:solidFill>
                <a:srgbClr val="495057"/>
              </a:solidFill>
              <a:latin typeface="Calibri"/>
              <a:ea typeface="Calibri"/>
              <a:cs typeface="Calibri"/>
            </a:endParaRPr>
          </a:p>
          <a:p>
            <a:pPr marL="0" indent="0" algn="l">
              <a:buNone/>
            </a:pPr>
            <a:r>
              <a:rPr lang="en-US" sz="1600" b="1">
                <a:solidFill>
                  <a:srgbClr val="495057"/>
                </a:solidFill>
              </a:rPr>
              <a:t>Example:</a:t>
            </a:r>
            <a:endParaRPr lang="en-US"/>
          </a:p>
          <a:p>
            <a:pPr marL="0" indent="0" algn="l">
              <a:buNone/>
            </a:pPr>
            <a:r>
              <a:rPr lang="en-US" sz="2000" b="1">
                <a:solidFill>
                  <a:srgbClr val="1B7A6E"/>
                </a:solidFill>
                <a:latin typeface="Courier New"/>
                <a:cs typeface="Courier New"/>
              </a:rPr>
              <a:t>140736811430216</a:t>
            </a:r>
          </a:p>
          <a:p>
            <a:endParaRPr lang="en-US" sz="1600" dirty="0">
              <a:solidFill>
                <a:srgbClr val="0D1B2A"/>
              </a:solidFill>
            </a:endParaRPr>
          </a:p>
          <a:p>
            <a:pPr marL="0" indent="0" algn="l">
              <a:buNone/>
            </a:pPr>
            <a:r>
              <a:rPr lang="en-US" sz="1600" dirty="0">
                <a:solidFill>
                  <a:srgbClr val="0D1B2A"/>
                </a:solidFill>
              </a:rPr>
              <a:t>Usually the object's memory address in </a:t>
            </a:r>
            <a:r>
              <a:rPr lang="en-US" sz="1600" dirty="0" err="1">
                <a:solidFill>
                  <a:srgbClr val="0D1B2A"/>
                </a:solidFill>
              </a:rPr>
              <a:t>CPython</a:t>
            </a:r>
            <a:r>
              <a:rPr lang="en-US" sz="1600" dirty="0">
                <a:solidFill>
                  <a:srgbClr val="0D1B2A"/>
                </a:solidFill>
              </a:rPr>
              <a:t>.</a:t>
            </a:r>
            <a:endParaRPr lang="en-US" sz="1600">
              <a:solidFill>
                <a:srgbClr val="0D1B2A"/>
              </a:solidFill>
              <a:ea typeface="Calibri"/>
              <a:cs typeface="Calibri"/>
            </a:endParaRPr>
          </a:p>
        </p:txBody>
      </p:sp>
      <p:sp>
        <p:nvSpPr>
          <p:cNvPr id="5" name="Typing Card"/>
          <p:cNvSpPr/>
          <p:nvPr/>
        </p:nvSpPr>
        <p:spPr>
          <a:xfrm>
            <a:off x="4709160" y="1140000"/>
            <a:ext cx="4069080" cy="38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0077B6"/>
            </a:solidFill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 wrap="square" lIns="182880" tIns="137160" rIns="182880" bIns="137160" rtlCol="0" anchor="t"/>
          <a:lstStyle/>
          <a:p>
            <a:pPr marL="0" indent="0" algn="l">
              <a:buNone/>
            </a:pPr>
            <a:r>
              <a:rPr lang="en-US" sz="2200" b="1">
                <a:solidFill>
                  <a:srgbClr val="0077B6"/>
                </a:solidFill>
              </a:rPr>
              <a:t>Dynamic Typing</a:t>
            </a:r>
          </a:p>
          <a:p>
            <a:endParaRPr lang="en-US" sz="1700" dirty="0">
              <a:solidFill>
                <a:srgbClr val="0D1B2A"/>
              </a:solidFill>
            </a:endParaRPr>
          </a:p>
          <a:p>
            <a:pPr marL="0" indent="0" algn="l">
              <a:buNone/>
            </a:pPr>
            <a:r>
              <a:rPr lang="en-US" sz="1700">
                <a:solidFill>
                  <a:srgbClr val="0D1B2A"/>
                </a:solidFill>
              </a:rPr>
              <a:t>Python is dynamically typed.</a:t>
            </a:r>
            <a:endParaRPr lang="en-US"/>
          </a:p>
          <a:p>
            <a:endParaRPr lang="en-US" sz="2000" b="1" dirty="0">
              <a:solidFill>
                <a:srgbClr val="0077B6"/>
              </a:solidFill>
              <a:latin typeface="Courier New"/>
              <a:cs typeface="Courier New"/>
            </a:endParaRPr>
          </a:p>
          <a:p>
            <a:pPr marL="0" indent="0" algn="l">
              <a:buNone/>
            </a:pPr>
            <a:r>
              <a:rPr lang="en-US" sz="2000" b="1">
                <a:solidFill>
                  <a:srgbClr val="0077B6"/>
                </a:solidFill>
                <a:latin typeface="Courier New"/>
                <a:cs typeface="Courier New"/>
              </a:rPr>
              <a:t>x = 10</a:t>
            </a:r>
            <a:endParaRPr lang="en-US"/>
          </a:p>
          <a:p>
            <a:pPr marL="0" indent="0" algn="l">
              <a:buNone/>
            </a:pPr>
            <a:r>
              <a:rPr lang="en-US" sz="2000" b="1">
                <a:solidFill>
                  <a:srgbClr val="0077B6"/>
                </a:solidFill>
                <a:latin typeface="Courier New"/>
                <a:cs typeface="Courier New"/>
              </a:rPr>
              <a:t>x = "hello"</a:t>
            </a:r>
          </a:p>
          <a:p>
            <a:r>
              <a:rPr lang="en-US" sz="2000" b="1">
                <a:solidFill>
                  <a:srgbClr val="0077B6"/>
                </a:solidFill>
                <a:latin typeface="Courier New"/>
                <a:cs typeface="Courier New"/>
              </a:rPr>
              <a:t>x = [1, 2]</a:t>
            </a:r>
          </a:p>
          <a:p>
            <a:pPr marL="0" indent="0" algn="l">
              <a:buNone/>
            </a:pPr>
            <a:endParaRPr lang="en-US" sz="1700" dirty="0">
              <a:solidFill>
                <a:srgbClr val="0D1B2A"/>
              </a:solidFill>
              <a:latin typeface="Calibri"/>
              <a:ea typeface="Calibri"/>
              <a:cs typeface="Calibri"/>
            </a:endParaRPr>
          </a:p>
          <a:p>
            <a:pPr marL="0" indent="0" algn="l">
              <a:buNone/>
            </a:pPr>
            <a:r>
              <a:rPr lang="en-US" sz="1700">
                <a:solidFill>
                  <a:srgbClr val="0D1B2A"/>
                </a:solidFill>
              </a:rPr>
              <a:t>The variable has no fixed type – the object carries the type.</a:t>
            </a:r>
            <a:endParaRPr lang="en-US"/>
          </a:p>
          <a:p>
            <a:pPr marL="0" indent="0" algn="l">
              <a:buNone/>
            </a:pPr>
            <a:r>
              <a:rPr lang="en-US" sz="2000" b="1">
                <a:solidFill>
                  <a:srgbClr val="1B7A6E"/>
                </a:solidFill>
                <a:latin typeface="Courier New"/>
                <a:cs typeface="Courier New"/>
              </a:rPr>
              <a:t>type(x)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yping, Naming and Assignment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/>
          <p:cNvSpPr/>
          <p:nvPr/>
        </p:nvSpPr>
        <p:spPr>
          <a:xfrm>
            <a:off x="0" y="0"/>
            <a:ext cx="9144000" cy="1000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itle"/>
          <p:cNvSpPr/>
          <p:nvPr/>
        </p:nvSpPr>
        <p:spPr>
          <a:xfrm>
            <a:off x="365760" y="0"/>
            <a:ext cx="841248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>
                <a:solidFill>
                  <a:srgbClr val="FFFFFF"/>
                </a:solidFill>
              </a:rPr>
              <a:t>Typing, Naming &amp; Assignment</a:t>
            </a:r>
            <a:endParaRPr lang="en-US" sz="2800" b="1"/>
          </a:p>
        </p:txBody>
      </p:sp>
      <p:sp>
        <p:nvSpPr>
          <p:cNvPr id="4" name="Strong Typing Card"/>
          <p:cNvSpPr/>
          <p:nvPr/>
        </p:nvSpPr>
        <p:spPr>
          <a:xfrm>
            <a:off x="365760" y="1100000"/>
            <a:ext cx="4069080" cy="19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2A9D8F"/>
            </a:solidFill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 wrap="square" lIns="137160" tIns="82296" rIns="137160" bIns="68580" rtlCol="0" anchor="t"/>
          <a:lstStyle/>
          <a:p>
            <a:pPr marL="0" indent="0" algn="l">
              <a:buNone/>
            </a:pPr>
            <a:r>
              <a:rPr lang="en-US" sz="1500" b="1">
                <a:solidFill>
                  <a:srgbClr val="1B7A6E"/>
                </a:solidFill>
              </a:rPr>
              <a:t>Strong Typing</a:t>
            </a:r>
          </a:p>
          <a:p>
            <a:endParaRPr lang="en-US" sz="1200" dirty="0">
              <a:solidFill>
                <a:srgbClr val="0D1B2A"/>
              </a:solidFill>
            </a:endParaRPr>
          </a:p>
          <a:p>
            <a:pPr marL="0" indent="0" algn="l">
              <a:buNone/>
            </a:pPr>
            <a:r>
              <a:rPr lang="en-US" sz="1200">
                <a:solidFill>
                  <a:srgbClr val="0D1B2A"/>
                </a:solidFill>
              </a:rPr>
              <a:t>Python is strongly typed.</a:t>
            </a:r>
            <a:endParaRPr lang="en-US"/>
          </a:p>
          <a:p>
            <a:endParaRPr lang="en-US" sz="1300" b="1" dirty="0">
              <a:solidFill>
                <a:srgbClr val="0077B6"/>
              </a:solidFill>
              <a:latin typeface="Courier New"/>
              <a:cs typeface="Courier New"/>
            </a:endParaRPr>
          </a:p>
          <a:p>
            <a:r>
              <a:rPr lang="en-US" sz="1300" b="1" dirty="0">
                <a:solidFill>
                  <a:srgbClr val="0077B6"/>
                </a:solidFill>
                <a:latin typeface="Courier New"/>
                <a:cs typeface="Courier New"/>
              </a:rPr>
              <a:t>"5" + 5</a:t>
            </a:r>
            <a:r>
              <a:rPr lang="en-US" sz="1200" dirty="0">
                <a:solidFill>
                  <a:srgbClr val="495057"/>
                </a:solidFill>
              </a:rPr>
              <a:t>  produces  </a:t>
            </a:r>
            <a:r>
              <a:rPr lang="en-US" sz="1300" b="1" dirty="0" err="1">
                <a:solidFill>
                  <a:srgbClr val="C1121F"/>
                </a:solidFill>
                <a:latin typeface="Courier New"/>
                <a:cs typeface="Courier New"/>
              </a:rPr>
              <a:t>TypeError</a:t>
            </a:r>
            <a:endParaRPr lang="en-US" sz="1300" b="1" dirty="0">
              <a:solidFill>
                <a:srgbClr val="C1121F"/>
              </a:solidFill>
              <a:latin typeface="Courier New"/>
              <a:cs typeface="Courier New"/>
            </a:endParaRPr>
          </a:p>
          <a:p>
            <a:pPr marL="0" indent="0" algn="l">
              <a:buNone/>
            </a:pPr>
            <a:endParaRPr lang="en-US" sz="1150" dirty="0">
              <a:solidFill>
                <a:srgbClr val="0D1B2A"/>
              </a:solidFill>
              <a:latin typeface="Calibri"/>
              <a:ea typeface="Calibri"/>
              <a:cs typeface="Calibri"/>
            </a:endParaRPr>
          </a:p>
          <a:p>
            <a:pPr marL="0" indent="0" algn="l">
              <a:buNone/>
            </a:pPr>
            <a:r>
              <a:rPr lang="en-US" sz="1150">
                <a:solidFill>
                  <a:srgbClr val="0D1B2A"/>
                </a:solidFill>
              </a:rPr>
              <a:t>Python does not automatically convert incompatible types.</a:t>
            </a:r>
            <a:endParaRPr lang="en-US"/>
          </a:p>
        </p:txBody>
      </p:sp>
      <p:sp>
        <p:nvSpPr>
          <p:cNvPr id="5" name="Naming Rules Card"/>
          <p:cNvSpPr/>
          <p:nvPr/>
        </p:nvSpPr>
        <p:spPr>
          <a:xfrm>
            <a:off x="4709160" y="1100000"/>
            <a:ext cx="4069080" cy="19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0077B6"/>
            </a:solidFill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 wrap="square" lIns="137160" tIns="82296" rIns="137160" bIns="68580" rtlCol="0" anchor="t"/>
          <a:lstStyle/>
          <a:p>
            <a:pPr marL="0" indent="0" algn="l">
              <a:buNone/>
            </a:pPr>
            <a:r>
              <a:rPr lang="en-US" sz="1500" b="1">
                <a:solidFill>
                  <a:srgbClr val="0077B6"/>
                </a:solidFill>
              </a:rPr>
              <a:t>Variable Naming Rules</a:t>
            </a:r>
          </a:p>
          <a:p>
            <a:r>
              <a:rPr lang="en-US" sz="1200" b="1">
                <a:solidFill>
                  <a:srgbClr val="1B7A6E"/>
                </a:solidFill>
              </a:rPr>
              <a:t>Valid: </a:t>
            </a:r>
            <a:endParaRPr lang="en-US">
              <a:solidFill>
                <a:srgbClr val="000000"/>
              </a:solidFill>
            </a:endParaRPr>
          </a:p>
          <a:p>
            <a:r>
              <a:rPr lang="en-US" sz="1200" b="1" dirty="0">
                <a:solidFill>
                  <a:srgbClr val="1B7A6E"/>
                </a:solidFill>
              </a:rPr>
              <a:t> </a:t>
            </a:r>
            <a:r>
              <a:rPr lang="en-US" sz="1200" b="1">
                <a:solidFill>
                  <a:srgbClr val="0077B6"/>
                </a:solidFill>
                <a:latin typeface="Courier New"/>
                <a:cs typeface="Courier New"/>
              </a:rPr>
              <a:t>name = "John"   </a:t>
            </a:r>
            <a:endParaRPr lang="en-US">
              <a:solidFill>
                <a:srgbClr val="000000"/>
              </a:solidFill>
              <a:latin typeface="Calibri" panose="020F0502020204030204"/>
              <a:ea typeface="Calibri"/>
              <a:cs typeface="Calibri"/>
            </a:endParaRPr>
          </a:p>
          <a:p>
            <a:r>
              <a:rPr lang="en-US" sz="1200" b="1">
                <a:solidFill>
                  <a:srgbClr val="0077B6"/>
                </a:solidFill>
                <a:latin typeface="Courier New"/>
                <a:cs typeface="Courier New"/>
              </a:rPr>
              <a:t>age2 = 20   </a:t>
            </a:r>
            <a:endParaRPr lang="en-US">
              <a:solidFill>
                <a:srgbClr val="000000"/>
              </a:solidFill>
              <a:latin typeface="Calibri" panose="020F0502020204030204"/>
              <a:ea typeface="Calibri"/>
              <a:cs typeface="Calibri"/>
            </a:endParaRPr>
          </a:p>
          <a:p>
            <a:r>
              <a:rPr lang="en-US" sz="1200" b="1">
                <a:solidFill>
                  <a:srgbClr val="0077B6"/>
                </a:solidFill>
                <a:latin typeface="Courier New"/>
                <a:cs typeface="Courier New"/>
              </a:rPr>
              <a:t>_student = "A"</a:t>
            </a:r>
            <a:endParaRPr lang="en-US">
              <a:ea typeface="Calibri"/>
              <a:cs typeface="Calibri"/>
            </a:endParaRPr>
          </a:p>
          <a:p>
            <a:r>
              <a:rPr lang="en-US" sz="1200" b="1">
                <a:solidFill>
                  <a:srgbClr val="C1121F"/>
                </a:solidFill>
              </a:rPr>
              <a:t>Invalid: </a:t>
            </a:r>
          </a:p>
          <a:p>
            <a:r>
              <a:rPr lang="en-US" sz="1200" b="1" dirty="0">
                <a:solidFill>
                  <a:srgbClr val="C1121F"/>
                </a:solidFill>
              </a:rPr>
              <a:t> </a:t>
            </a:r>
            <a:r>
              <a:rPr lang="en-US" sz="1200" b="1">
                <a:solidFill>
                  <a:srgbClr val="495057"/>
                </a:solidFill>
                <a:latin typeface="Courier New"/>
                <a:cs typeface="Courier New"/>
              </a:rPr>
              <a:t>2age = 20   </a:t>
            </a:r>
            <a:endParaRPr lang="en-US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r>
              <a:rPr lang="en-US" sz="1200" b="1">
                <a:solidFill>
                  <a:srgbClr val="495057"/>
                </a:solidFill>
                <a:latin typeface="Courier New"/>
                <a:cs typeface="Courier New"/>
              </a:rPr>
              <a:t>my-name = 10  </a:t>
            </a:r>
            <a:endParaRPr lang="en-US">
              <a:solidFill>
                <a:srgbClr val="000000"/>
              </a:solidFill>
              <a:latin typeface="Calibri" panose="020F0502020204030204"/>
              <a:ea typeface="Calibri"/>
              <a:cs typeface="Calibri"/>
            </a:endParaRPr>
          </a:p>
          <a:p>
            <a:r>
              <a:rPr lang="en-US" sz="1200" b="1">
                <a:solidFill>
                  <a:srgbClr val="495057"/>
                </a:solidFill>
                <a:latin typeface="Courier New"/>
                <a:cs typeface="Courier New"/>
              </a:rPr>
              <a:t> class = 5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6" name="Keywords Card"/>
          <p:cNvSpPr/>
          <p:nvPr/>
        </p:nvSpPr>
        <p:spPr>
          <a:xfrm>
            <a:off x="365760" y="3120000"/>
            <a:ext cx="4069080" cy="19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0077B6"/>
            </a:solidFill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 wrap="square" lIns="137160" tIns="82296" rIns="137160" bIns="68580" rtlCol="0" anchor="t"/>
          <a:lstStyle/>
          <a:p>
            <a:pPr marL="0" indent="0" algn="l">
              <a:buNone/>
            </a:pPr>
            <a:r>
              <a:rPr lang="en-US" sz="1500" b="1">
                <a:solidFill>
                  <a:srgbClr val="1B7A6E"/>
                </a:solidFill>
              </a:rPr>
              <a:t>Keywords Cannot Be Variables</a:t>
            </a:r>
          </a:p>
          <a:p>
            <a:endParaRPr lang="en-US" sz="1300" b="1" dirty="0">
              <a:solidFill>
                <a:srgbClr val="0077B6"/>
              </a:solidFill>
              <a:latin typeface="Courier New"/>
              <a:cs typeface="Courier New"/>
            </a:endParaRPr>
          </a:p>
          <a:p>
            <a:pPr marL="0" indent="0" algn="l">
              <a:buNone/>
            </a:pPr>
            <a:r>
              <a:rPr lang="en-US" sz="1300" b="1">
                <a:solidFill>
                  <a:srgbClr val="0077B6"/>
                </a:solidFill>
                <a:latin typeface="Courier New"/>
                <a:cs typeface="Courier New"/>
              </a:rPr>
              <a:t>if = 10</a:t>
            </a:r>
            <a:r>
              <a:rPr lang="en-US" sz="1200" b="1">
                <a:solidFill>
                  <a:srgbClr val="C1121F"/>
                </a:solidFill>
              </a:rPr>
              <a:t>   → Error</a:t>
            </a:r>
            <a:endParaRPr lang="en-US"/>
          </a:p>
          <a:p>
            <a:endParaRPr lang="en-US" sz="1150" b="1" dirty="0">
              <a:solidFill>
                <a:srgbClr val="495057"/>
              </a:solidFill>
            </a:endParaRPr>
          </a:p>
          <a:p>
            <a:pPr marL="0" indent="0" algn="l">
              <a:buNone/>
            </a:pPr>
            <a:r>
              <a:rPr lang="en-US" sz="1150" b="1">
                <a:solidFill>
                  <a:srgbClr val="495057"/>
                </a:solidFill>
              </a:rPr>
              <a:t>Keywords include:</a:t>
            </a:r>
            <a:endParaRPr lang="en-US"/>
          </a:p>
          <a:p>
            <a:pPr marL="0" indent="0" algn="l">
              <a:buNone/>
            </a:pPr>
            <a:r>
              <a:rPr lang="en-US" sz="1200" b="1">
                <a:solidFill>
                  <a:srgbClr val="0D1B2A"/>
                </a:solidFill>
                <a:latin typeface="Courier New"/>
                <a:cs typeface="Courier New"/>
              </a:rPr>
              <a:t>if   else   while   for   class   def   return   import</a:t>
            </a:r>
          </a:p>
        </p:txBody>
      </p:sp>
      <p:sp>
        <p:nvSpPr>
          <p:cNvPr id="7" name="Multiple Assignment Card"/>
          <p:cNvSpPr/>
          <p:nvPr/>
        </p:nvSpPr>
        <p:spPr>
          <a:xfrm>
            <a:off x="4709160" y="3120000"/>
            <a:ext cx="4069080" cy="19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2A9D8F"/>
            </a:solidFill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 wrap="square" lIns="137160" tIns="82296" rIns="137160" bIns="68580" rtlCol="0" anchor="t"/>
          <a:lstStyle/>
          <a:p>
            <a:pPr marL="0" indent="0" algn="l">
              <a:buNone/>
            </a:pPr>
            <a:r>
              <a:rPr lang="en-US" sz="1500" b="1">
                <a:solidFill>
                  <a:srgbClr val="1B7A6E"/>
                </a:solidFill>
              </a:rPr>
              <a:t>Multiple Assignment</a:t>
            </a:r>
          </a:p>
          <a:p>
            <a:pPr marL="0" indent="0" algn="l">
              <a:buNone/>
            </a:pPr>
            <a:r>
              <a:rPr lang="en-US" sz="1300" b="1">
                <a:solidFill>
                  <a:srgbClr val="0077B6"/>
                </a:solidFill>
                <a:latin typeface="Courier New"/>
                <a:cs typeface="Courier New"/>
              </a:rPr>
              <a:t>a, b, c = 1, 2, 3</a:t>
            </a:r>
          </a:p>
          <a:p>
            <a:endParaRPr lang="en-US" sz="1150" dirty="0">
              <a:solidFill>
                <a:srgbClr val="0D1B2A"/>
              </a:solidFill>
            </a:endParaRPr>
          </a:p>
          <a:p>
            <a:pPr marL="0" indent="0" algn="l">
              <a:buNone/>
            </a:pPr>
            <a:r>
              <a:rPr lang="en-US" sz="1150">
                <a:solidFill>
                  <a:srgbClr val="0D1B2A"/>
                </a:solidFill>
              </a:rPr>
              <a:t>Python performs tuple packing and unpacking.</a:t>
            </a:r>
            <a:endParaRPr lang="en-US"/>
          </a:p>
          <a:p>
            <a:pPr marL="0" indent="0" algn="l">
              <a:buNone/>
            </a:pPr>
            <a:r>
              <a:rPr lang="en-US" sz="1200" b="1">
                <a:solidFill>
                  <a:srgbClr val="0077B6"/>
                </a:solidFill>
                <a:latin typeface="Courier New"/>
                <a:cs typeface="Courier New"/>
              </a:rPr>
              <a:t>values = (1, 2, 3)</a:t>
            </a:r>
          </a:p>
          <a:p>
            <a:r>
              <a:rPr lang="en-US" sz="1200" b="1">
                <a:solidFill>
                  <a:srgbClr val="0077B6"/>
                </a:solidFill>
                <a:latin typeface="Courier New"/>
                <a:cs typeface="Courier New"/>
              </a:rPr>
              <a:t>a = values[0] </a:t>
            </a:r>
            <a:endParaRPr lang="en-US">
              <a:solidFill>
                <a:srgbClr val="000000"/>
              </a:solidFill>
              <a:latin typeface="Calibri" panose="020F0502020204030204"/>
              <a:ea typeface="Calibri"/>
              <a:cs typeface="Calibri"/>
            </a:endParaRPr>
          </a:p>
          <a:p>
            <a:r>
              <a:rPr lang="en-US" sz="1200" b="1">
                <a:solidFill>
                  <a:srgbClr val="0077B6"/>
                </a:solidFill>
                <a:latin typeface="Courier New"/>
                <a:cs typeface="Courier New"/>
              </a:rPr>
              <a:t>b = values[1] </a:t>
            </a:r>
            <a:endParaRPr lang="en-US">
              <a:solidFill>
                <a:srgbClr val="000000"/>
              </a:solidFill>
              <a:latin typeface="Calibri" panose="020F0502020204030204"/>
              <a:ea typeface="Calibri"/>
              <a:cs typeface="Calibri"/>
            </a:endParaRPr>
          </a:p>
          <a:p>
            <a:r>
              <a:rPr lang="en-US" sz="1200" b="1">
                <a:solidFill>
                  <a:srgbClr val="0077B6"/>
                </a:solidFill>
                <a:latin typeface="Courier New"/>
                <a:cs typeface="Courier New"/>
              </a:rPr>
              <a:t>c = values[2]</a:t>
            </a:r>
            <a:endParaRPr lang="en-US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wapping, Aliasing, Mutability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/>
          <p:cNvSpPr/>
          <p:nvPr/>
        </p:nvSpPr>
        <p:spPr>
          <a:xfrm>
            <a:off x="0" y="0"/>
            <a:ext cx="9144000" cy="1000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itle"/>
          <p:cNvSpPr/>
          <p:nvPr/>
        </p:nvSpPr>
        <p:spPr>
          <a:xfrm>
            <a:off x="365760" y="0"/>
            <a:ext cx="841248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>
                <a:solidFill>
                  <a:srgbClr val="FFFFFF"/>
                </a:solidFill>
              </a:rPr>
              <a:t>Swapping, Aliasing &amp; Mutability</a:t>
            </a:r>
            <a:endParaRPr lang="en-US" sz="2800" b="1"/>
          </a:p>
        </p:txBody>
      </p:sp>
      <p:sp>
        <p:nvSpPr>
          <p:cNvPr id="4" name="Swapping Card"/>
          <p:cNvSpPr/>
          <p:nvPr/>
        </p:nvSpPr>
        <p:spPr>
          <a:xfrm>
            <a:off x="365760" y="1100000"/>
            <a:ext cx="4069080" cy="19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2A9D8F"/>
            </a:solidFill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 wrap="square" lIns="137160" tIns="82296" rIns="137160" bIns="68580" rtlCol="0" anchor="t"/>
          <a:lstStyle/>
          <a:p>
            <a:pPr marL="0" indent="0" algn="l">
              <a:buNone/>
            </a:pPr>
            <a:r>
              <a:rPr lang="en-US" sz="1500" b="1">
                <a:solidFill>
                  <a:srgbClr val="1B7A6E"/>
                </a:solidFill>
              </a:rPr>
              <a:t>Swapping Variables</a:t>
            </a:r>
          </a:p>
          <a:p>
            <a:endParaRPr lang="en-US" sz="1200" b="1" dirty="0">
              <a:solidFill>
                <a:srgbClr val="0077B6"/>
              </a:solidFill>
              <a:latin typeface="Courier New"/>
              <a:cs typeface="Courier New"/>
            </a:endParaRPr>
          </a:p>
          <a:p>
            <a:r>
              <a:rPr lang="en-US" sz="1200" b="1">
                <a:solidFill>
                  <a:srgbClr val="0077B6"/>
                </a:solidFill>
                <a:latin typeface="Courier New"/>
                <a:cs typeface="Courier New"/>
              </a:rPr>
              <a:t>a = 10 </a:t>
            </a:r>
            <a:endParaRPr lang="en-US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r>
              <a:rPr lang="en-US" sz="1200" b="1">
                <a:solidFill>
                  <a:srgbClr val="0077B6"/>
                </a:solidFill>
                <a:latin typeface="Courier New"/>
                <a:cs typeface="Courier New"/>
              </a:rPr>
              <a:t>b = 20</a:t>
            </a:r>
            <a:endParaRPr lang="en-US">
              <a:ea typeface="Calibri"/>
              <a:cs typeface="Calibri"/>
            </a:endParaRPr>
          </a:p>
          <a:p>
            <a:r>
              <a:rPr lang="en-US" sz="1300" b="1">
                <a:solidFill>
                  <a:srgbClr val="C1121F"/>
                </a:solidFill>
                <a:latin typeface="Courier New"/>
                <a:cs typeface="Courier New"/>
              </a:rPr>
              <a:t>a, b = b, a</a:t>
            </a:r>
          </a:p>
          <a:p>
            <a:pPr marL="0" indent="0" algn="l">
              <a:buNone/>
            </a:pPr>
            <a:endParaRPr lang="en-US" sz="1150" b="1" dirty="0">
              <a:solidFill>
                <a:srgbClr val="495057"/>
              </a:solidFill>
              <a:latin typeface="Calibri"/>
              <a:ea typeface="Calibri"/>
              <a:cs typeface="Calibri"/>
            </a:endParaRPr>
          </a:p>
          <a:p>
            <a:pPr marL="0" indent="0" algn="l">
              <a:buNone/>
            </a:pPr>
            <a:r>
              <a:rPr lang="en-US" sz="1150" b="1">
                <a:solidFill>
                  <a:srgbClr val="495057"/>
                </a:solidFill>
              </a:rPr>
              <a:t>Internally:</a:t>
            </a:r>
            <a:endParaRPr lang="en-US"/>
          </a:p>
          <a:p>
            <a:pPr marL="0" indent="0" algn="l">
              <a:buNone/>
            </a:pPr>
            <a:r>
              <a:rPr lang="en-US" sz="1200" b="1">
                <a:solidFill>
                  <a:srgbClr val="0077B6"/>
                </a:solidFill>
                <a:latin typeface="Courier New"/>
                <a:cs typeface="Courier New"/>
              </a:rPr>
              <a:t>temp = (b, a)</a:t>
            </a:r>
          </a:p>
          <a:p>
            <a:pPr marL="0" indent="0" algn="l">
              <a:buNone/>
            </a:pPr>
            <a:r>
              <a:rPr lang="en-US" sz="1200" b="1">
                <a:solidFill>
                  <a:srgbClr val="0077B6"/>
                </a:solidFill>
                <a:latin typeface="Courier New"/>
                <a:cs typeface="Courier New"/>
              </a:rPr>
              <a:t>a = temp[0]    b = temp[1]</a:t>
            </a:r>
          </a:p>
        </p:txBody>
      </p:sp>
      <p:sp>
        <p:nvSpPr>
          <p:cNvPr id="5" name="Aliasing Card"/>
          <p:cNvSpPr/>
          <p:nvPr/>
        </p:nvSpPr>
        <p:spPr>
          <a:xfrm>
            <a:off x="4709160" y="1100000"/>
            <a:ext cx="4069080" cy="19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0077B6"/>
            </a:solidFill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 wrap="square" lIns="137160" tIns="82296" rIns="137160" bIns="68580" rtlCol="0" anchor="t"/>
          <a:lstStyle/>
          <a:p>
            <a:pPr marL="0" indent="0" algn="l">
              <a:buNone/>
            </a:pPr>
            <a:r>
              <a:rPr lang="en-US" sz="1500" b="1">
                <a:solidFill>
                  <a:srgbClr val="0077B6"/>
                </a:solidFill>
              </a:rPr>
              <a:t>Aliasing</a:t>
            </a:r>
          </a:p>
          <a:p>
            <a:endParaRPr lang="en-US" sz="1200" b="1" dirty="0">
              <a:solidFill>
                <a:srgbClr val="0077B6"/>
              </a:solidFill>
              <a:latin typeface="Courier New"/>
              <a:cs typeface="Courier New"/>
            </a:endParaRPr>
          </a:p>
          <a:p>
            <a:r>
              <a:rPr lang="en-US" sz="1200" b="1">
                <a:solidFill>
                  <a:srgbClr val="0077B6"/>
                </a:solidFill>
                <a:latin typeface="Courier New"/>
                <a:cs typeface="Courier New"/>
              </a:rPr>
              <a:t>a = [1, 2] </a:t>
            </a:r>
            <a:endParaRPr lang="en-US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r>
              <a:rPr lang="en-US" sz="1200" b="1">
                <a:solidFill>
                  <a:srgbClr val="0077B6"/>
                </a:solidFill>
                <a:latin typeface="Courier New"/>
                <a:cs typeface="Courier New"/>
              </a:rPr>
              <a:t> b = a</a:t>
            </a:r>
            <a:endParaRPr lang="en-US">
              <a:ea typeface="Calibri"/>
              <a:cs typeface="Calibri"/>
            </a:endParaRPr>
          </a:p>
          <a:p>
            <a:pPr marL="0" indent="0" algn="l">
              <a:buNone/>
            </a:pPr>
            <a:r>
              <a:rPr lang="en-US" sz="1200" b="1" dirty="0" err="1">
                <a:solidFill>
                  <a:srgbClr val="0077B6"/>
                </a:solidFill>
                <a:latin typeface="Courier New"/>
                <a:cs typeface="Courier New"/>
              </a:rPr>
              <a:t>b.append</a:t>
            </a:r>
            <a:r>
              <a:rPr lang="en-US" sz="1200" b="1" dirty="0">
                <a:solidFill>
                  <a:srgbClr val="0077B6"/>
                </a:solidFill>
                <a:latin typeface="Courier New"/>
                <a:cs typeface="Courier New"/>
              </a:rPr>
              <a:t>(3)</a:t>
            </a:r>
          </a:p>
          <a:p>
            <a:pPr marL="0" indent="0" algn="l">
              <a:buNone/>
            </a:pPr>
            <a:r>
              <a:rPr lang="en-US" sz="1200" b="1">
                <a:solidFill>
                  <a:srgbClr val="0077B6"/>
                </a:solidFill>
                <a:latin typeface="Courier New"/>
                <a:cs typeface="Courier New"/>
              </a:rPr>
              <a:t>print(a)</a:t>
            </a:r>
            <a:r>
              <a:rPr lang="en-US" sz="1150">
                <a:solidFill>
                  <a:srgbClr val="495057"/>
                </a:solidFill>
              </a:rPr>
              <a:t>  →  </a:t>
            </a:r>
            <a:r>
              <a:rPr lang="en-US" sz="1300" b="1">
                <a:solidFill>
                  <a:srgbClr val="1B7A6E"/>
                </a:solidFill>
                <a:latin typeface="Courier New"/>
                <a:cs typeface="Courier New"/>
              </a:rPr>
              <a:t>[1, 2, 3]</a:t>
            </a:r>
          </a:p>
          <a:p>
            <a:endParaRPr lang="en-US" sz="1150" dirty="0">
              <a:solidFill>
                <a:srgbClr val="0D1B2A"/>
              </a:solidFill>
            </a:endParaRPr>
          </a:p>
          <a:p>
            <a:pPr marL="0" indent="0" algn="l">
              <a:buNone/>
            </a:pPr>
            <a:r>
              <a:rPr lang="en-US" sz="1150">
                <a:solidFill>
                  <a:srgbClr val="0D1B2A"/>
                </a:solidFill>
              </a:rPr>
              <a:t>Both variables point to the same list.</a:t>
            </a:r>
            <a:endParaRPr lang="en-US"/>
          </a:p>
        </p:txBody>
      </p:sp>
      <p:sp>
        <p:nvSpPr>
          <p:cNvPr id="6" name="Immutable Card"/>
          <p:cNvSpPr/>
          <p:nvPr/>
        </p:nvSpPr>
        <p:spPr>
          <a:xfrm>
            <a:off x="365760" y="3120000"/>
            <a:ext cx="4069080" cy="19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0077B6"/>
            </a:solidFill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 wrap="square" lIns="137160" tIns="82296" rIns="137160" bIns="68580" rtlCol="0" anchor="t"/>
          <a:lstStyle/>
          <a:p>
            <a:pPr marL="0" indent="0" algn="l">
              <a:buNone/>
            </a:pPr>
            <a:r>
              <a:rPr lang="en-US" sz="1500" b="1">
                <a:solidFill>
                  <a:srgbClr val="1B7A6E"/>
                </a:solidFill>
              </a:rPr>
              <a:t>Immutable Objects</a:t>
            </a:r>
            <a:r>
              <a:rPr lang="en-US" sz="1150" dirty="0">
                <a:solidFill>
                  <a:srgbClr val="0D1B2A"/>
                </a:solidFill>
              </a:rPr>
              <a:t>  – cannot change after creation.</a:t>
            </a:r>
          </a:p>
          <a:p>
            <a:endParaRPr lang="en-US" sz="1150" b="1" dirty="0">
              <a:solidFill>
                <a:srgbClr val="495057"/>
              </a:solidFill>
            </a:endParaRPr>
          </a:p>
          <a:p>
            <a:pPr marL="0" indent="0" algn="l">
              <a:buNone/>
            </a:pPr>
            <a:r>
              <a:rPr lang="en-US" sz="1150" b="1" dirty="0">
                <a:solidFill>
                  <a:srgbClr val="495057"/>
                </a:solidFill>
              </a:rPr>
              <a:t>Examples:  </a:t>
            </a:r>
            <a:r>
              <a:rPr lang="en-US" sz="1150" b="1">
                <a:solidFill>
                  <a:srgbClr val="0077B6"/>
                </a:solidFill>
                <a:latin typeface="Courier New"/>
                <a:cs typeface="Courier New"/>
              </a:rPr>
              <a:t>int, float, bool, str, tuple</a:t>
            </a:r>
          </a:p>
          <a:p>
            <a:r>
              <a:rPr lang="en-US" sz="1200" b="1">
                <a:solidFill>
                  <a:srgbClr val="0077B6"/>
                </a:solidFill>
                <a:latin typeface="Courier New"/>
                <a:cs typeface="Courier New"/>
              </a:rPr>
              <a:t>x = 10  </a:t>
            </a:r>
          </a:p>
          <a:p>
            <a:r>
              <a:rPr lang="en-US" sz="1200" b="1">
                <a:solidFill>
                  <a:srgbClr val="0077B6"/>
                </a:solidFill>
                <a:latin typeface="Courier New"/>
                <a:cs typeface="Courier New"/>
              </a:rPr>
              <a:t>x += 1</a:t>
            </a:r>
            <a:r>
              <a:rPr lang="en-US" sz="1150">
                <a:solidFill>
                  <a:srgbClr val="0D1B2A"/>
                </a:solidFill>
              </a:rPr>
              <a:t>  → new object</a:t>
            </a:r>
            <a:endParaRPr lang="en-US"/>
          </a:p>
          <a:p>
            <a:endParaRPr lang="en-US" sz="1100" dirty="0">
              <a:solidFill>
                <a:srgbClr val="495057"/>
              </a:solidFill>
            </a:endParaRPr>
          </a:p>
          <a:p>
            <a:pPr marL="0" indent="0" algn="l">
              <a:buNone/>
            </a:pPr>
            <a:r>
              <a:rPr lang="en-US" sz="1100">
                <a:solidFill>
                  <a:srgbClr val="495057"/>
                </a:solidFill>
              </a:rPr>
              <a:t>10 object destroyed (if unused), 11 object created.</a:t>
            </a:r>
            <a:endParaRPr lang="en-US"/>
          </a:p>
        </p:txBody>
      </p:sp>
      <p:sp>
        <p:nvSpPr>
          <p:cNvPr id="7" name="Mutable Card"/>
          <p:cNvSpPr/>
          <p:nvPr/>
        </p:nvSpPr>
        <p:spPr>
          <a:xfrm>
            <a:off x="4709160" y="3120000"/>
            <a:ext cx="4069080" cy="19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2A9D8F"/>
            </a:solidFill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 wrap="square" lIns="137160" tIns="82296" rIns="137160" bIns="68580" rtlCol="0" anchor="t"/>
          <a:lstStyle/>
          <a:p>
            <a:pPr marL="0" indent="0" algn="l">
              <a:buNone/>
            </a:pPr>
            <a:r>
              <a:rPr lang="en-US" sz="1500" b="1">
                <a:solidFill>
                  <a:srgbClr val="1B7A6E"/>
                </a:solidFill>
              </a:rPr>
              <a:t>Mutable Objects</a:t>
            </a:r>
            <a:r>
              <a:rPr lang="en-US" sz="1150" dirty="0">
                <a:solidFill>
                  <a:srgbClr val="0D1B2A"/>
                </a:solidFill>
              </a:rPr>
              <a:t>  – can change after creation.</a:t>
            </a:r>
          </a:p>
          <a:p>
            <a:endParaRPr lang="en-US" sz="1150" b="1" dirty="0">
              <a:solidFill>
                <a:srgbClr val="495057"/>
              </a:solidFill>
            </a:endParaRPr>
          </a:p>
          <a:p>
            <a:pPr marL="0" indent="0" algn="l">
              <a:buNone/>
            </a:pPr>
            <a:r>
              <a:rPr lang="en-US" sz="1150" b="1" dirty="0">
                <a:solidFill>
                  <a:srgbClr val="495057"/>
                </a:solidFill>
              </a:rPr>
              <a:t>Examples:  </a:t>
            </a:r>
            <a:r>
              <a:rPr lang="en-US" sz="1150" b="1" dirty="0">
                <a:solidFill>
                  <a:srgbClr val="0077B6"/>
                </a:solidFill>
                <a:latin typeface="Courier New"/>
                <a:cs typeface="Courier New"/>
              </a:rPr>
              <a:t>list, </a:t>
            </a:r>
            <a:r>
              <a:rPr lang="en-US" sz="1150" b="1" dirty="0" err="1">
                <a:solidFill>
                  <a:srgbClr val="0077B6"/>
                </a:solidFill>
                <a:latin typeface="Courier New"/>
                <a:cs typeface="Courier New"/>
              </a:rPr>
              <a:t>dict</a:t>
            </a:r>
            <a:r>
              <a:rPr lang="en-US" sz="1150" b="1" dirty="0">
                <a:solidFill>
                  <a:srgbClr val="0077B6"/>
                </a:solidFill>
                <a:latin typeface="Courier New"/>
                <a:cs typeface="Courier New"/>
              </a:rPr>
              <a:t>, set</a:t>
            </a:r>
          </a:p>
          <a:p>
            <a:endParaRPr lang="en-US" sz="1200" b="1" dirty="0">
              <a:solidFill>
                <a:srgbClr val="0077B6"/>
              </a:solidFill>
              <a:latin typeface="Courier New"/>
              <a:cs typeface="Courier New"/>
            </a:endParaRPr>
          </a:p>
          <a:p>
            <a:pPr marL="0" indent="0" algn="l">
              <a:buNone/>
            </a:pPr>
            <a:r>
              <a:rPr lang="en-US" sz="1200" b="1">
                <a:solidFill>
                  <a:srgbClr val="0077B6"/>
                </a:solidFill>
                <a:latin typeface="Courier New"/>
                <a:cs typeface="Courier New"/>
              </a:rPr>
              <a:t>numbers = [1, 2]</a:t>
            </a:r>
            <a:endParaRPr lang="en-US"/>
          </a:p>
          <a:p>
            <a:pPr marL="0" indent="0" algn="l">
              <a:buNone/>
            </a:pPr>
            <a:r>
              <a:rPr lang="en-US" sz="1200" b="1" dirty="0" err="1">
                <a:solidFill>
                  <a:srgbClr val="0077B6"/>
                </a:solidFill>
                <a:latin typeface="Courier New"/>
                <a:cs typeface="Courier New"/>
              </a:rPr>
              <a:t>numbers.append</a:t>
            </a:r>
            <a:r>
              <a:rPr lang="en-US" sz="1200" b="1" dirty="0">
                <a:solidFill>
                  <a:srgbClr val="0077B6"/>
                </a:solidFill>
                <a:latin typeface="Courier New"/>
                <a:cs typeface="Courier New"/>
              </a:rPr>
              <a:t>(3)</a:t>
            </a:r>
          </a:p>
          <a:p>
            <a:endParaRPr lang="en-US" sz="1150" dirty="0">
              <a:solidFill>
                <a:srgbClr val="0D1B2A"/>
              </a:solidFill>
            </a:endParaRPr>
          </a:p>
          <a:p>
            <a:pPr marL="0" indent="0" algn="l">
              <a:buNone/>
            </a:pPr>
            <a:r>
              <a:rPr lang="en-US" sz="1150">
                <a:solidFill>
                  <a:srgbClr val="0D1B2A"/>
                </a:solidFill>
              </a:rPr>
              <a:t>The same list object changes.</a:t>
            </a:r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Input, Output &amp; f-Strings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D1B2A"/>
                </a:solidFill>
              </a:rPr>
              <a:t>Python communicates with the user through print() for output and input() for input. f-strings make formatting easy.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4526280"/>
            <a:ext cx="8412480" cy="457200"/>
          </a:xfrm>
          <a:prstGeom prst="roundRect">
            <a:avLst>
              <a:gd name="adj" fmla="val 16000"/>
            </a:avLst>
          </a:prstGeom>
          <a:solidFill>
            <a:srgbClr val="00B4D8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77B6"/>
                </a:solidFill>
              </a:rPr>
              <a:t>💡 input() always gives a STRING — use int() or float() to convert numbers!</a:t>
            </a:r>
            <a:endParaRPr lang="en-US" sz="1200" dirty="0"/>
          </a:p>
        </p:txBody>
      </p:sp>
      <p:pic>
        <p:nvPicPr>
          <p:cNvPr id="9" name="Picture 8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A694AEBE-0AD8-259F-390F-7052364836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1274" y="1404256"/>
            <a:ext cx="3961451" cy="304255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int Function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/>
          <p:cNvSpPr/>
          <p:nvPr/>
        </p:nvSpPr>
        <p:spPr>
          <a:xfrm>
            <a:off x="0" y="0"/>
            <a:ext cx="9144000" cy="1000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itle"/>
          <p:cNvSpPr/>
          <p:nvPr/>
        </p:nvSpPr>
        <p:spPr>
          <a:xfrm>
            <a:off x="365760" y="0"/>
            <a:ext cx="841248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>
                <a:solidFill>
                  <a:srgbClr val="FFFFFF"/>
                </a:solidFill>
                <a:latin typeface="Courier New"/>
                <a:cs typeface="Courier New"/>
              </a:rPr>
              <a:t>print()</a:t>
            </a:r>
            <a:r>
              <a:rPr lang="en-US" sz="2800" b="1">
                <a:solidFill>
                  <a:srgbClr val="FFFFFF"/>
                </a:solidFill>
              </a:rPr>
              <a:t> Function</a:t>
            </a:r>
            <a:endParaRPr lang="en-US" sz="2800" b="1"/>
          </a:p>
        </p:txBody>
      </p:sp>
      <p:sp>
        <p:nvSpPr>
          <p:cNvPr id="4" name="What Is Card"/>
          <p:cNvSpPr/>
          <p:nvPr/>
        </p:nvSpPr>
        <p:spPr>
          <a:xfrm>
            <a:off x="365760" y="1140000"/>
            <a:ext cx="4069080" cy="38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2A9D8F"/>
            </a:solidFill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 wrap="square" lIns="182880" tIns="137160" rIns="182880" bIns="137160" rtlCol="0" anchor="t"/>
          <a:lstStyle/>
          <a:p>
            <a:pPr marL="0" indent="0" algn="l">
              <a:buNone/>
            </a:pPr>
            <a:r>
              <a:rPr lang="en-US" sz="1900" b="1">
                <a:solidFill>
                  <a:srgbClr val="1B7A6E"/>
                </a:solidFill>
              </a:rPr>
              <a:t>1. What is print()?</a:t>
            </a:r>
          </a:p>
          <a:p>
            <a:pPr marL="0" indent="0" algn="l">
              <a:buNone/>
            </a:pPr>
            <a:r>
              <a:rPr lang="en-US" sz="1400">
                <a:solidFill>
                  <a:srgbClr val="0D1B2A"/>
                </a:solidFill>
              </a:rPr>
              <a:t>print() is a built-in Python function used to display output on the screen.</a:t>
            </a:r>
          </a:p>
          <a:p>
            <a:pPr marL="0" indent="0" algn="l">
              <a:buNone/>
            </a:pPr>
            <a:endParaRPr lang="en-US" sz="800"/>
          </a:p>
          <a:p>
            <a:pPr marL="0" indent="0" algn="l">
              <a:buNone/>
            </a:pPr>
            <a:r>
              <a:rPr lang="en-US" sz="1500" b="1">
                <a:solidFill>
                  <a:srgbClr val="0077B6"/>
                </a:solidFill>
                <a:latin typeface="Courier New"/>
                <a:cs typeface="Courier New"/>
              </a:rPr>
              <a:t>print("Hello World")</a:t>
            </a:r>
          </a:p>
          <a:p>
            <a:pPr marL="0" indent="0" algn="l">
              <a:buNone/>
            </a:pPr>
            <a:endParaRPr lang="en-US" sz="600"/>
          </a:p>
          <a:p>
            <a:pPr marL="0" indent="0" algn="l">
              <a:buNone/>
            </a:pPr>
            <a:r>
              <a:rPr lang="en-US" sz="1300" b="1">
                <a:solidFill>
                  <a:srgbClr val="495057"/>
                </a:solidFill>
              </a:rPr>
              <a:t>Output:</a:t>
            </a:r>
          </a:p>
          <a:p>
            <a:pPr marL="0" indent="0" algn="l">
              <a:buNone/>
            </a:pPr>
            <a:r>
              <a:rPr lang="en-US" sz="1500" b="1">
                <a:solidFill>
                  <a:srgbClr val="1B7A6E"/>
                </a:solidFill>
                <a:latin typeface="Courier New"/>
                <a:cs typeface="Courier New"/>
              </a:rPr>
              <a:t>Hello World</a:t>
            </a:r>
          </a:p>
        </p:txBody>
      </p:sp>
      <p:sp>
        <p:nvSpPr>
          <p:cNvPr id="5" name="Syntax Card"/>
          <p:cNvSpPr/>
          <p:nvPr/>
        </p:nvSpPr>
        <p:spPr>
          <a:xfrm>
            <a:off x="4709160" y="1140000"/>
            <a:ext cx="4069080" cy="38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0077B6"/>
            </a:solidFill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 wrap="square" lIns="182880" tIns="137160" rIns="182880" bIns="137160" rtlCol="0" anchor="t"/>
          <a:lstStyle/>
          <a:p>
            <a:pPr marL="0" indent="0" algn="l">
              <a:buNone/>
            </a:pPr>
            <a:r>
              <a:rPr lang="en-US" sz="1900" b="1">
                <a:solidFill>
                  <a:srgbClr val="0077B6"/>
                </a:solidFill>
              </a:rPr>
              <a:t>2. Syntax</a:t>
            </a:r>
          </a:p>
          <a:p>
            <a:pPr marL="0" indent="0" algn="l">
              <a:buNone/>
            </a:pPr>
            <a:r>
              <a:rPr lang="en-US" sz="1300" b="1">
                <a:solidFill>
                  <a:srgbClr val="0077B6"/>
                </a:solidFill>
                <a:latin typeface="Courier New"/>
                <a:cs typeface="Courier New"/>
              </a:rPr>
              <a:t>print(*objects, sep=' ', end='\n')</a:t>
            </a:r>
          </a:p>
          <a:p>
            <a:pPr marL="0" indent="0" algn="l">
              <a:buNone/>
            </a:pPr>
            <a:r>
              <a:rPr lang="en-US" sz="1300" b="1">
                <a:solidFill>
                  <a:srgbClr val="495057"/>
                </a:solidFill>
              </a:rPr>
              <a:t>Parameters:</a:t>
            </a:r>
          </a:p>
        </p:txBody>
      </p:sp>
      <p:graphicFrame>
        <p:nvGraphicFramePr>
          <p:cNvPr id="6" name="Parameters Table"/>
          <p:cNvGraphicFramePr>
            <a:graphicFrameLocks noGrp="1"/>
          </p:cNvGraphicFramePr>
          <p:nvPr/>
        </p:nvGraphicFramePr>
        <p:xfrm>
          <a:off x="4892040" y="2620000"/>
          <a:ext cx="3703320" cy="1820000"/>
        </p:xfrm>
        <a:graphic>
          <a:graphicData uri="http://schemas.openxmlformats.org/drawingml/2006/table">
            <a:tbl>
              <a:tblPr firstRow="1"/>
              <a:tblGrid>
                <a:gridCol w="1303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 marL="64008" marR="64008" marT="27432" marB="27432" anchor="ctr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</a:rPr>
                        <a:t>Purpose</a:t>
                      </a:r>
                    </a:p>
                  </a:txBody>
                  <a:tcPr marL="64008" marR="64008" marT="27432" marB="27432" anchor="ctr"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>
                          <a:solidFill>
                            <a:srgbClr val="0077B6"/>
                          </a:solidFill>
                          <a:latin typeface="Courier New"/>
                          <a:cs typeface="Courier New"/>
                        </a:rPr>
                        <a:t>*objects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0D1B2A"/>
                          </a:solidFill>
                        </a:rPr>
                        <a:t>Values to print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>
                          <a:solidFill>
                            <a:srgbClr val="0077B6"/>
                          </a:solidFill>
                          <a:latin typeface="Courier New"/>
                          <a:cs typeface="Courier New"/>
                        </a:rPr>
                        <a:t>sep</a:t>
                      </a:r>
                    </a:p>
                  </a:txBody>
                  <a:tcPr marL="64008" marR="64008" marT="27432" marB="27432" anchor="ctr">
                    <a:solidFill>
                      <a:srgbClr val="E3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0D1B2A"/>
                          </a:solidFill>
                        </a:rPr>
                        <a:t>Separator between values</a:t>
                      </a:r>
                    </a:p>
                  </a:txBody>
                  <a:tcPr marL="64008" marR="64008" marT="27432" marB="27432" anchor="ctr">
                    <a:solidFill>
                      <a:srgbClr val="E3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>
                          <a:solidFill>
                            <a:srgbClr val="0077B6"/>
                          </a:solidFill>
                          <a:latin typeface="Courier New"/>
                          <a:cs typeface="Courier New"/>
                        </a:rPr>
                        <a:t>end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0D1B2A"/>
                          </a:solidFill>
                        </a:rPr>
                        <a:t>What to print at the end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int Examples sep end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/>
          <p:cNvSpPr/>
          <p:nvPr/>
        </p:nvSpPr>
        <p:spPr>
          <a:xfrm>
            <a:off x="0" y="0"/>
            <a:ext cx="9144000" cy="1000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itle"/>
          <p:cNvSpPr/>
          <p:nvPr/>
        </p:nvSpPr>
        <p:spPr>
          <a:xfrm>
            <a:off x="365760" y="0"/>
            <a:ext cx="841248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>
                <a:solidFill>
                  <a:srgbClr val="FFFFFF"/>
                </a:solidFill>
                <a:latin typeface="Courier New"/>
                <a:cs typeface="Courier New"/>
              </a:rPr>
              <a:t>print()</a:t>
            </a:r>
            <a:r>
              <a:rPr lang="en-US" sz="2800" b="1">
                <a:solidFill>
                  <a:srgbClr val="FFFFFF"/>
                </a:solidFill>
              </a:rPr>
              <a:t> – Values, sep &amp; end</a:t>
            </a:r>
            <a:endParaRPr lang="en-US" sz="2800" b="1"/>
          </a:p>
        </p:txBody>
      </p:sp>
      <p:sp>
        <p:nvSpPr>
          <p:cNvPr id="4" name="Printing Strings"/>
          <p:cNvSpPr/>
          <p:nvPr/>
        </p:nvSpPr>
        <p:spPr>
          <a:xfrm>
            <a:off x="365760" y="1080000"/>
            <a:ext cx="2670000" cy="17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2A9D8F"/>
            </a:solidFill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 wrap="square" lIns="118872" tIns="82296" rIns="100584" bIns="54864" rtlCol="0" anchor="t"/>
          <a:lstStyle/>
          <a:p>
            <a:pPr marL="0" indent="0" algn="l">
              <a:buNone/>
            </a:pPr>
            <a:r>
              <a:rPr lang="en-US" b="1">
                <a:solidFill>
                  <a:srgbClr val="1B7A6E"/>
                </a:solidFill>
              </a:rPr>
              <a:t>Printing Strings</a:t>
            </a:r>
            <a:endParaRPr lang="en-US" b="1">
              <a:solidFill>
                <a:srgbClr val="1B7A6E"/>
              </a:solidFill>
              <a:ea typeface="Calibri"/>
              <a:cs typeface="Calibri"/>
            </a:endParaRPr>
          </a:p>
          <a:p>
            <a:pPr marL="0" indent="0" algn="l">
              <a:buNone/>
            </a:pPr>
            <a:r>
              <a:rPr lang="en-US" sz="1200" b="1">
                <a:solidFill>
                  <a:srgbClr val="0077B6"/>
                </a:solidFill>
                <a:latin typeface="Courier New"/>
                <a:cs typeface="Courier New"/>
              </a:rPr>
              <a:t>print("Python")</a:t>
            </a:r>
            <a:r>
              <a:rPr lang="en-US" sz="1200">
                <a:solidFill>
                  <a:srgbClr val="495057"/>
                </a:solidFill>
              </a:rPr>
              <a:t>  →  </a:t>
            </a:r>
            <a:r>
              <a:rPr lang="en-US" sz="1400" b="1">
                <a:solidFill>
                  <a:srgbClr val="1B7A6E"/>
                </a:solidFill>
                <a:latin typeface="Courier New"/>
                <a:cs typeface="Courier New"/>
              </a:rPr>
              <a:t>Python</a:t>
            </a:r>
          </a:p>
        </p:txBody>
      </p:sp>
      <p:sp>
        <p:nvSpPr>
          <p:cNvPr id="5" name="Printing Numbers"/>
          <p:cNvSpPr/>
          <p:nvPr/>
        </p:nvSpPr>
        <p:spPr>
          <a:xfrm>
            <a:off x="3235760" y="1080000"/>
            <a:ext cx="2670000" cy="17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0077B6"/>
            </a:solidFill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 wrap="square" lIns="118872" tIns="82296" rIns="100584" bIns="54864" rtlCol="0" anchor="t"/>
          <a:lstStyle/>
          <a:p>
            <a:pPr marL="0" indent="0" algn="l">
              <a:buNone/>
            </a:pPr>
            <a:r>
              <a:rPr lang="en-US" b="1">
                <a:solidFill>
                  <a:srgbClr val="0077B6"/>
                </a:solidFill>
              </a:rPr>
              <a:t>Printing Numbers</a:t>
            </a:r>
            <a:endParaRPr lang="en-US" b="1">
              <a:solidFill>
                <a:srgbClr val="0077B6"/>
              </a:solidFill>
              <a:ea typeface="Calibri"/>
              <a:cs typeface="Calibri"/>
            </a:endParaRPr>
          </a:p>
          <a:p>
            <a:endParaRPr lang="en-US" sz="1400" b="1" dirty="0">
              <a:solidFill>
                <a:srgbClr val="0077B6"/>
              </a:solidFill>
              <a:latin typeface="Courier New"/>
              <a:cs typeface="Courier New"/>
            </a:endParaRPr>
          </a:p>
          <a:p>
            <a:pPr marL="0" indent="0" algn="l">
              <a:buNone/>
            </a:pPr>
            <a:r>
              <a:rPr lang="en-US" sz="1400" b="1">
                <a:solidFill>
                  <a:srgbClr val="0077B6"/>
                </a:solidFill>
                <a:latin typeface="Courier New"/>
                <a:cs typeface="Courier New"/>
              </a:rPr>
              <a:t>print(100)</a:t>
            </a:r>
            <a:r>
              <a:rPr lang="en-US" sz="1400">
                <a:solidFill>
                  <a:srgbClr val="495057"/>
                </a:solidFill>
              </a:rPr>
              <a:t>  →  </a:t>
            </a:r>
            <a:r>
              <a:rPr lang="en-US" sz="1600" b="1">
                <a:solidFill>
                  <a:srgbClr val="1B7A6E"/>
                </a:solidFill>
                <a:latin typeface="Courier New"/>
                <a:cs typeface="Courier New"/>
              </a:rPr>
              <a:t>100</a:t>
            </a:r>
            <a:endParaRPr lang="en-US"/>
          </a:p>
          <a:p>
            <a:pPr marL="0" indent="0" algn="l">
              <a:buNone/>
            </a:pPr>
            <a:r>
              <a:rPr lang="en-US" sz="1400" b="1">
                <a:solidFill>
                  <a:srgbClr val="0077B6"/>
                </a:solidFill>
                <a:latin typeface="Courier New"/>
                <a:cs typeface="Courier New"/>
              </a:rPr>
              <a:t>print(3.14)</a:t>
            </a:r>
            <a:r>
              <a:rPr lang="en-US" sz="1400">
                <a:solidFill>
                  <a:srgbClr val="495057"/>
                </a:solidFill>
              </a:rPr>
              <a:t>  →  </a:t>
            </a:r>
            <a:r>
              <a:rPr lang="en-US" sz="1600" b="1">
                <a:solidFill>
                  <a:srgbClr val="1B7A6E"/>
                </a:solidFill>
                <a:latin typeface="Courier New"/>
                <a:cs typeface="Courier New"/>
              </a:rPr>
              <a:t>3.14</a:t>
            </a:r>
          </a:p>
        </p:txBody>
      </p:sp>
      <p:sp>
        <p:nvSpPr>
          <p:cNvPr id="6" name="Printing Multiple"/>
          <p:cNvSpPr/>
          <p:nvPr/>
        </p:nvSpPr>
        <p:spPr>
          <a:xfrm>
            <a:off x="6105760" y="1080000"/>
            <a:ext cx="2670000" cy="17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2A9D8F"/>
            </a:solidFill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 wrap="square" lIns="118872" tIns="82296" rIns="100584" bIns="54864" rtlCol="0" anchor="t"/>
          <a:lstStyle/>
          <a:p>
            <a:pPr marL="0" indent="0" algn="l">
              <a:buNone/>
            </a:pPr>
            <a:r>
              <a:rPr lang="en-US" b="1">
                <a:solidFill>
                  <a:srgbClr val="1B7A6E"/>
                </a:solidFill>
              </a:rPr>
              <a:t>Printing Multiple Values</a:t>
            </a:r>
          </a:p>
          <a:p>
            <a:pPr marL="0" indent="0" algn="l">
              <a:buNone/>
            </a:pPr>
            <a:r>
              <a:rPr lang="en-US" sz="1100" b="1">
                <a:solidFill>
                  <a:srgbClr val="0077B6"/>
                </a:solidFill>
                <a:latin typeface="Courier New"/>
                <a:cs typeface="Courier New"/>
              </a:rPr>
              <a:t>name = "John"</a:t>
            </a:r>
          </a:p>
          <a:p>
            <a:pPr marL="0" indent="0" algn="l">
              <a:buNone/>
            </a:pPr>
            <a:r>
              <a:rPr lang="en-US" sz="1100" b="1">
                <a:solidFill>
                  <a:srgbClr val="0077B6"/>
                </a:solidFill>
                <a:latin typeface="Courier New"/>
                <a:cs typeface="Courier New"/>
              </a:rPr>
              <a:t>age = 25</a:t>
            </a:r>
          </a:p>
          <a:p>
            <a:pPr marL="0" indent="0" algn="l">
              <a:buNone/>
            </a:pPr>
            <a:r>
              <a:rPr lang="en-US" sz="1100" b="1">
                <a:solidFill>
                  <a:srgbClr val="0077B6"/>
                </a:solidFill>
                <a:latin typeface="Courier New"/>
                <a:cs typeface="Courier New"/>
              </a:rPr>
              <a:t>print(name, age)</a:t>
            </a:r>
            <a:r>
              <a:rPr lang="en-US" sz="1100">
                <a:solidFill>
                  <a:srgbClr val="495057"/>
                </a:solidFill>
              </a:rPr>
              <a:t>  →  </a:t>
            </a:r>
            <a:r>
              <a:rPr lang="en-US" sz="1400" b="1">
                <a:solidFill>
                  <a:srgbClr val="1B7A6E"/>
                </a:solidFill>
                <a:latin typeface="Courier New"/>
                <a:cs typeface="Courier New"/>
              </a:rPr>
              <a:t>John 25</a:t>
            </a:r>
          </a:p>
          <a:p>
            <a:endParaRPr lang="en-US" sz="900" dirty="0">
              <a:solidFill>
                <a:srgbClr val="0D1B2A"/>
              </a:solidFill>
            </a:endParaRPr>
          </a:p>
          <a:p>
            <a:pPr marL="0" indent="0" algn="l">
              <a:buNone/>
            </a:pPr>
            <a:r>
              <a:rPr lang="en-US" sz="1000">
                <a:solidFill>
                  <a:srgbClr val="0D1B2A"/>
                </a:solidFill>
              </a:rPr>
              <a:t>Default: a space separates values.</a:t>
            </a:r>
            <a:endParaRPr lang="en-US" sz="1000">
              <a:ea typeface="Calibri"/>
              <a:cs typeface="Calibri"/>
            </a:endParaRPr>
          </a:p>
        </p:txBody>
      </p:sp>
      <p:sp>
        <p:nvSpPr>
          <p:cNvPr id="7" name="sep Parameter"/>
          <p:cNvSpPr/>
          <p:nvPr/>
        </p:nvSpPr>
        <p:spPr>
          <a:xfrm>
            <a:off x="365760" y="2900000"/>
            <a:ext cx="4092000" cy="208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0077B6"/>
            </a:solidFill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 wrap="square" lIns="118872" tIns="82296" rIns="100584" bIns="54864" rtlCol="0" anchor="t"/>
          <a:lstStyle/>
          <a:p>
            <a:pPr marL="0" indent="0" algn="l">
              <a:buNone/>
            </a:pPr>
            <a:r>
              <a:rPr lang="en-US" b="1" dirty="0">
                <a:solidFill>
                  <a:srgbClr val="0077B6"/>
                </a:solidFill>
              </a:rPr>
              <a:t>The </a:t>
            </a:r>
            <a:r>
              <a:rPr lang="en-US" b="1" dirty="0" err="1">
                <a:solidFill>
                  <a:srgbClr val="0077B6"/>
                </a:solidFill>
              </a:rPr>
              <a:t>sep</a:t>
            </a:r>
            <a:r>
              <a:rPr lang="en-US" b="1" dirty="0">
                <a:solidFill>
                  <a:srgbClr val="0077B6"/>
                </a:solidFill>
              </a:rPr>
              <a:t> Parameter</a:t>
            </a:r>
            <a:endParaRPr lang="en-US" sz="2400" b="1">
              <a:solidFill>
                <a:srgbClr val="0077B6"/>
              </a:solidFill>
              <a:ea typeface="Calibri"/>
              <a:cs typeface="Calibri"/>
            </a:endParaRPr>
          </a:p>
          <a:p>
            <a:endParaRPr lang="en-US" sz="1200" b="1" dirty="0">
              <a:solidFill>
                <a:srgbClr val="0077B6"/>
              </a:solidFill>
              <a:latin typeface="Courier New"/>
              <a:cs typeface="Courier New"/>
            </a:endParaRPr>
          </a:p>
          <a:p>
            <a:pPr marL="0" indent="0" algn="l">
              <a:buNone/>
            </a:pPr>
            <a:r>
              <a:rPr lang="en-US" sz="1200" b="1">
                <a:solidFill>
                  <a:srgbClr val="0077B6"/>
                </a:solidFill>
                <a:latin typeface="Courier New"/>
                <a:cs typeface="Courier New"/>
              </a:rPr>
              <a:t>print("A", "B", "C")</a:t>
            </a:r>
            <a:r>
              <a:rPr lang="en-US" sz="1200">
                <a:solidFill>
                  <a:srgbClr val="495057"/>
                </a:solidFill>
              </a:rPr>
              <a:t>  →  </a:t>
            </a:r>
            <a:r>
              <a:rPr lang="en-US" sz="1400" b="1">
                <a:solidFill>
                  <a:srgbClr val="1B7A6E"/>
                </a:solidFill>
                <a:latin typeface="Courier New"/>
                <a:cs typeface="Courier New"/>
              </a:rPr>
              <a:t>A B C</a:t>
            </a:r>
          </a:p>
          <a:p>
            <a:pPr marL="0" indent="0" algn="l">
              <a:buNone/>
            </a:pPr>
            <a:r>
              <a:rPr lang="en-US" sz="1200" b="1" dirty="0">
                <a:solidFill>
                  <a:srgbClr val="0077B6"/>
                </a:solidFill>
                <a:latin typeface="Courier New"/>
                <a:cs typeface="Courier New"/>
              </a:rPr>
              <a:t>print("A", "B", "C", </a:t>
            </a:r>
            <a:r>
              <a:rPr lang="en-US" sz="1200" b="1" dirty="0" err="1">
                <a:solidFill>
                  <a:srgbClr val="0077B6"/>
                </a:solidFill>
                <a:latin typeface="Courier New"/>
                <a:cs typeface="Courier New"/>
              </a:rPr>
              <a:t>sep</a:t>
            </a:r>
            <a:r>
              <a:rPr lang="en-US" sz="1200" b="1" dirty="0">
                <a:solidFill>
                  <a:srgbClr val="0077B6"/>
                </a:solidFill>
                <a:latin typeface="Courier New"/>
                <a:cs typeface="Courier New"/>
              </a:rPr>
              <a:t>="-")</a:t>
            </a:r>
            <a:r>
              <a:rPr lang="en-US" sz="1200" dirty="0">
                <a:solidFill>
                  <a:srgbClr val="495057"/>
                </a:solidFill>
              </a:rPr>
              <a:t>  →  </a:t>
            </a:r>
            <a:r>
              <a:rPr lang="en-US" sz="1400" b="1" dirty="0">
                <a:solidFill>
                  <a:srgbClr val="1B7A6E"/>
                </a:solidFill>
                <a:latin typeface="Courier New"/>
                <a:cs typeface="Courier New"/>
              </a:rPr>
              <a:t>A-B-C</a:t>
            </a:r>
          </a:p>
          <a:p>
            <a:pPr marL="0" indent="0" algn="l">
              <a:buNone/>
            </a:pPr>
            <a:r>
              <a:rPr lang="en-US" sz="1200" b="1" dirty="0">
                <a:solidFill>
                  <a:srgbClr val="0077B6"/>
                </a:solidFill>
                <a:latin typeface="Courier New"/>
                <a:cs typeface="Courier New"/>
              </a:rPr>
              <a:t>print(1, 2, 3, </a:t>
            </a:r>
            <a:r>
              <a:rPr lang="en-US" sz="1200" b="1" dirty="0" err="1">
                <a:solidFill>
                  <a:srgbClr val="0077B6"/>
                </a:solidFill>
                <a:latin typeface="Courier New"/>
                <a:cs typeface="Courier New"/>
              </a:rPr>
              <a:t>sep</a:t>
            </a:r>
            <a:r>
              <a:rPr lang="en-US" sz="1200" b="1" dirty="0">
                <a:solidFill>
                  <a:srgbClr val="0077B6"/>
                </a:solidFill>
                <a:latin typeface="Courier New"/>
                <a:cs typeface="Courier New"/>
              </a:rPr>
              <a:t>=", ")</a:t>
            </a:r>
            <a:r>
              <a:rPr lang="en-US" sz="1200" dirty="0">
                <a:solidFill>
                  <a:srgbClr val="495057"/>
                </a:solidFill>
              </a:rPr>
              <a:t>  →  </a:t>
            </a:r>
            <a:r>
              <a:rPr lang="en-US" sz="1400" b="1" dirty="0">
                <a:solidFill>
                  <a:srgbClr val="1B7A6E"/>
                </a:solidFill>
                <a:latin typeface="Courier New"/>
                <a:cs typeface="Courier New"/>
              </a:rPr>
              <a:t>1, 2, 3</a:t>
            </a:r>
          </a:p>
        </p:txBody>
      </p:sp>
      <p:sp>
        <p:nvSpPr>
          <p:cNvPr id="8" name="end Parameter"/>
          <p:cNvSpPr/>
          <p:nvPr/>
        </p:nvSpPr>
        <p:spPr>
          <a:xfrm>
            <a:off x="4686240" y="2900000"/>
            <a:ext cx="4092000" cy="208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2A9D8F"/>
            </a:solidFill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 wrap="square" lIns="118872" tIns="82296" rIns="100584" bIns="54864" rtlCol="0" anchor="t"/>
          <a:lstStyle/>
          <a:p>
            <a:pPr marL="0" indent="0" algn="l">
              <a:buNone/>
            </a:pPr>
            <a:r>
              <a:rPr lang="en-US" b="1">
                <a:solidFill>
                  <a:srgbClr val="1B7A6E"/>
                </a:solidFill>
              </a:rPr>
              <a:t>The end Parameter</a:t>
            </a:r>
          </a:p>
          <a:p>
            <a:endParaRPr lang="en-US" sz="1050" b="1" dirty="0">
              <a:solidFill>
                <a:srgbClr val="0077B6"/>
              </a:solidFill>
              <a:latin typeface="Courier New"/>
              <a:cs typeface="Courier New"/>
            </a:endParaRPr>
          </a:p>
          <a:p>
            <a:pPr marL="0" indent="0" algn="l">
              <a:buNone/>
            </a:pPr>
            <a:r>
              <a:rPr lang="en-US" sz="1400" b="1">
                <a:solidFill>
                  <a:srgbClr val="0077B6"/>
                </a:solidFill>
                <a:latin typeface="Courier New"/>
                <a:cs typeface="Courier New"/>
              </a:rPr>
              <a:t>print("Hello")</a:t>
            </a:r>
            <a:endParaRPr lang="en-US" sz="1400">
              <a:ea typeface="Calibri"/>
              <a:cs typeface="Calibri"/>
            </a:endParaRPr>
          </a:p>
          <a:p>
            <a:pPr marL="0" indent="0" algn="l">
              <a:buNone/>
            </a:pPr>
            <a:r>
              <a:rPr lang="en-US" sz="1400" b="1">
                <a:solidFill>
                  <a:srgbClr val="0077B6"/>
                </a:solidFill>
                <a:latin typeface="Courier New"/>
                <a:cs typeface="Courier New"/>
              </a:rPr>
              <a:t>print("World")</a:t>
            </a:r>
            <a:r>
              <a:rPr lang="en-US" sz="1400">
                <a:solidFill>
                  <a:srgbClr val="495057"/>
                </a:solidFill>
              </a:rPr>
              <a:t>  →  </a:t>
            </a:r>
            <a:r>
              <a:rPr lang="en-US" sz="1600" b="1">
                <a:solidFill>
                  <a:srgbClr val="1B7A6E"/>
                </a:solidFill>
                <a:latin typeface="Courier New"/>
                <a:cs typeface="Courier New"/>
              </a:rPr>
              <a:t>Hello</a:t>
            </a:r>
            <a:br>
              <a:rPr lang="en-US" sz="2800" dirty="0"/>
            </a:br>
            <a:r>
              <a:rPr lang="en-US" sz="1600" b="1">
                <a:solidFill>
                  <a:srgbClr val="1B7A6E"/>
                </a:solidFill>
                <a:latin typeface="Courier New"/>
                <a:cs typeface="Courier New"/>
              </a:rPr>
              <a:t>World</a:t>
            </a:r>
          </a:p>
          <a:p>
            <a:pPr marL="0" indent="0" algn="l">
              <a:buNone/>
            </a:pPr>
            <a:r>
              <a:rPr lang="en-US" sz="1100">
                <a:solidFill>
                  <a:srgbClr val="0D1B2A"/>
                </a:solidFill>
              </a:rPr>
              <a:t>Default: end="\n" adds a newline.</a:t>
            </a:r>
            <a:endParaRPr lang="en-US" sz="1100">
              <a:solidFill>
                <a:srgbClr val="0D1B2A"/>
              </a:solidFill>
              <a:ea typeface="Calibri"/>
              <a:cs typeface="Calibri"/>
            </a:endParaRPr>
          </a:p>
          <a:p>
            <a:pPr marL="0" indent="0" algn="l">
              <a:buNone/>
            </a:pPr>
            <a:r>
              <a:rPr lang="en-US" sz="1400" b="1">
                <a:solidFill>
                  <a:srgbClr val="0077B6"/>
                </a:solidFill>
                <a:latin typeface="Courier New"/>
                <a:cs typeface="Courier New"/>
              </a:rPr>
              <a:t>print("Hello", end=" ")</a:t>
            </a:r>
          </a:p>
          <a:p>
            <a:pPr marL="0" indent="0" algn="l">
              <a:buNone/>
            </a:pPr>
            <a:r>
              <a:rPr lang="en-US" sz="1400" b="1">
                <a:solidFill>
                  <a:srgbClr val="0077B6"/>
                </a:solidFill>
                <a:latin typeface="Courier New"/>
                <a:cs typeface="Courier New"/>
              </a:rPr>
              <a:t>print("World")</a:t>
            </a:r>
            <a:r>
              <a:rPr lang="en-US" sz="1400">
                <a:solidFill>
                  <a:srgbClr val="495057"/>
                </a:solidFill>
              </a:rPr>
              <a:t>  →  </a:t>
            </a:r>
            <a:r>
              <a:rPr lang="en-US" sz="1600" b="1">
                <a:solidFill>
                  <a:srgbClr val="1B7A6E"/>
                </a:solidFill>
                <a:latin typeface="Courier New"/>
                <a:cs typeface="Courier New"/>
              </a:rPr>
              <a:t>Hello World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-Strings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/>
          <p:cNvSpPr/>
          <p:nvPr/>
        </p:nvSpPr>
        <p:spPr>
          <a:xfrm>
            <a:off x="0" y="0"/>
            <a:ext cx="9144000" cy="1000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itle"/>
          <p:cNvSpPr/>
          <p:nvPr/>
        </p:nvSpPr>
        <p:spPr>
          <a:xfrm>
            <a:off x="365760" y="0"/>
            <a:ext cx="841248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>
                <a:solidFill>
                  <a:srgbClr val="FFFFFF"/>
                </a:solidFill>
              </a:rPr>
              <a:t>f-Strings &amp; Formatting</a:t>
            </a:r>
            <a:endParaRPr lang="en-US" sz="2800" b="1"/>
          </a:p>
        </p:txBody>
      </p:sp>
      <p:sp>
        <p:nvSpPr>
          <p:cNvPr id="4" name="fStrings Card"/>
          <p:cNvSpPr/>
          <p:nvPr/>
        </p:nvSpPr>
        <p:spPr>
          <a:xfrm>
            <a:off x="365760" y="1100000"/>
            <a:ext cx="4069080" cy="19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2A9D8F"/>
            </a:solidFill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 wrap="square" lIns="137160" tIns="82296" rIns="137160" bIns="54864" rtlCol="0" anchor="t"/>
          <a:lstStyle/>
          <a:p>
            <a:pPr marL="0" indent="0" algn="l">
              <a:buNone/>
            </a:pPr>
            <a:r>
              <a:rPr lang="en-US" b="1" dirty="0">
                <a:solidFill>
                  <a:srgbClr val="1B7A6E"/>
                </a:solidFill>
              </a:rPr>
              <a:t>f-Strings (Modern </a:t>
            </a:r>
            <a:r>
              <a:rPr lang="en-US" b="1" dirty="0" err="1">
                <a:solidFill>
                  <a:srgbClr val="1B7A6E"/>
                </a:solidFill>
              </a:rPr>
              <a:t>printf</a:t>
            </a:r>
            <a:r>
              <a:rPr lang="en-US" b="1" dirty="0">
                <a:solidFill>
                  <a:srgbClr val="1B7A6E"/>
                </a:solidFill>
              </a:rPr>
              <a:t>)</a:t>
            </a:r>
            <a:endParaRPr lang="en-US" sz="1600" b="1">
              <a:solidFill>
                <a:srgbClr val="1B7A6E"/>
              </a:solidFill>
              <a:ea typeface="Calibri"/>
              <a:cs typeface="Calibri"/>
            </a:endParaRPr>
          </a:p>
          <a:p>
            <a:endParaRPr lang="en-US" sz="1100" b="1" dirty="0">
              <a:solidFill>
                <a:srgbClr val="0077B6"/>
              </a:solidFill>
              <a:latin typeface="Courier New"/>
              <a:cs typeface="Courier New"/>
            </a:endParaRPr>
          </a:p>
          <a:p>
            <a:r>
              <a:rPr lang="en-US" sz="1100" b="1">
                <a:solidFill>
                  <a:srgbClr val="0077B6"/>
                </a:solidFill>
                <a:latin typeface="Courier New"/>
                <a:cs typeface="Courier New"/>
              </a:rPr>
              <a:t>name = "John"    </a:t>
            </a:r>
            <a:endParaRPr lang="en-US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indent="0" algn="l">
              <a:buNone/>
            </a:pPr>
            <a:r>
              <a:rPr lang="en-US" sz="1100" b="1">
                <a:solidFill>
                  <a:srgbClr val="0077B6"/>
                </a:solidFill>
                <a:latin typeface="Courier New"/>
                <a:cs typeface="Courier New"/>
              </a:rPr>
              <a:t>age = 25</a:t>
            </a:r>
            <a:endParaRPr lang="en-US">
              <a:ea typeface="Calibri"/>
              <a:cs typeface="Calibri"/>
            </a:endParaRPr>
          </a:p>
          <a:p>
            <a:pPr marL="0" indent="0" algn="l">
              <a:buNone/>
            </a:pPr>
            <a:r>
              <a:rPr lang="en-US" sz="1100" b="1" dirty="0">
                <a:solidFill>
                  <a:srgbClr val="0077B6"/>
                </a:solidFill>
                <a:latin typeface="Courier New"/>
                <a:cs typeface="Courier New"/>
              </a:rPr>
              <a:t>print(</a:t>
            </a:r>
            <a:r>
              <a:rPr lang="en-US" sz="1100" b="1" dirty="0" err="1">
                <a:solidFill>
                  <a:srgbClr val="0077B6"/>
                </a:solidFill>
                <a:latin typeface="Courier New"/>
                <a:cs typeface="Courier New"/>
              </a:rPr>
              <a:t>f"My</a:t>
            </a:r>
            <a:r>
              <a:rPr lang="en-US" sz="1100" b="1" dirty="0">
                <a:solidFill>
                  <a:srgbClr val="0077B6"/>
                </a:solidFill>
                <a:latin typeface="Courier New"/>
                <a:cs typeface="Courier New"/>
              </a:rPr>
              <a:t> name is {name}")</a:t>
            </a:r>
          </a:p>
          <a:p>
            <a:pPr marL="0" indent="0" algn="l">
              <a:buNone/>
            </a:pPr>
            <a:r>
              <a:rPr lang="en-US" sz="1100" b="1" dirty="0">
                <a:solidFill>
                  <a:srgbClr val="0077B6"/>
                </a:solidFill>
                <a:latin typeface="Courier New"/>
                <a:cs typeface="Courier New"/>
              </a:rPr>
              <a:t>print(</a:t>
            </a:r>
            <a:r>
              <a:rPr lang="en-US" sz="1100" b="1" dirty="0" err="1">
                <a:solidFill>
                  <a:srgbClr val="0077B6"/>
                </a:solidFill>
                <a:latin typeface="Courier New"/>
                <a:cs typeface="Courier New"/>
              </a:rPr>
              <a:t>f"Age</a:t>
            </a:r>
            <a:r>
              <a:rPr lang="en-US" sz="1100" b="1" dirty="0">
                <a:solidFill>
                  <a:srgbClr val="0077B6"/>
                </a:solidFill>
                <a:latin typeface="Courier New"/>
                <a:cs typeface="Courier New"/>
              </a:rPr>
              <a:t> is {age}")</a:t>
            </a:r>
          </a:p>
          <a:p>
            <a:endParaRPr lang="en-US" sz="1050" b="1" dirty="0">
              <a:solidFill>
                <a:srgbClr val="495057"/>
              </a:solidFill>
            </a:endParaRPr>
          </a:p>
          <a:p>
            <a:r>
              <a:rPr lang="en-US" sz="1050" b="1">
                <a:solidFill>
                  <a:srgbClr val="495057"/>
                </a:solidFill>
              </a:rPr>
              <a:t>Output:  </a:t>
            </a:r>
            <a:endParaRPr lang="en-US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indent="0" algn="l">
              <a:buNone/>
            </a:pPr>
            <a:r>
              <a:rPr lang="en-US" sz="1150" b="1">
                <a:solidFill>
                  <a:srgbClr val="1B7A6E"/>
                </a:solidFill>
                <a:latin typeface="Courier New"/>
                <a:cs typeface="Courier New"/>
              </a:rPr>
              <a:t>My name is John</a:t>
            </a:r>
            <a:br>
              <a:rPr lang="en-US" dirty="0"/>
            </a:br>
            <a:r>
              <a:rPr lang="en-US" sz="1150" b="1">
                <a:solidFill>
                  <a:srgbClr val="1B7A6E"/>
                </a:solidFill>
                <a:latin typeface="Courier New"/>
                <a:cs typeface="Courier New"/>
              </a:rPr>
              <a:t>Age is 25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5" name="Expressions Card"/>
          <p:cNvSpPr/>
          <p:nvPr/>
        </p:nvSpPr>
        <p:spPr>
          <a:xfrm>
            <a:off x="4709160" y="1100000"/>
            <a:ext cx="4069080" cy="19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0077B6"/>
            </a:solidFill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 wrap="square" lIns="137160" tIns="82296" rIns="137160" bIns="54864" rtlCol="0" anchor="t"/>
          <a:lstStyle/>
          <a:p>
            <a:pPr marL="0" indent="0" algn="l">
              <a:buNone/>
            </a:pPr>
            <a:r>
              <a:rPr lang="en-US" b="1">
                <a:solidFill>
                  <a:srgbClr val="0077B6"/>
                </a:solidFill>
              </a:rPr>
              <a:t>Expressions Inside f-Strings</a:t>
            </a:r>
          </a:p>
          <a:p>
            <a:endParaRPr lang="en-US" sz="1200" b="1" dirty="0">
              <a:solidFill>
                <a:srgbClr val="0077B6"/>
              </a:solidFill>
              <a:latin typeface="Courier New"/>
              <a:cs typeface="Courier New"/>
            </a:endParaRPr>
          </a:p>
          <a:p>
            <a:pPr marL="0" indent="0" algn="l">
              <a:buNone/>
            </a:pPr>
            <a:r>
              <a:rPr lang="en-US" sz="1200" b="1">
                <a:solidFill>
                  <a:srgbClr val="0077B6"/>
                </a:solidFill>
                <a:latin typeface="Courier New"/>
                <a:cs typeface="Courier New"/>
              </a:rPr>
              <a:t>a = 10    b = 20</a:t>
            </a:r>
            <a:endParaRPr lang="en-US"/>
          </a:p>
          <a:p>
            <a:r>
              <a:rPr lang="en-US" sz="1200" b="1" dirty="0">
                <a:solidFill>
                  <a:srgbClr val="0077B6"/>
                </a:solidFill>
                <a:latin typeface="Courier New"/>
                <a:cs typeface="Courier New"/>
              </a:rPr>
              <a:t>print(</a:t>
            </a:r>
            <a:r>
              <a:rPr lang="en-US" sz="1200" b="1" dirty="0" err="1">
                <a:solidFill>
                  <a:srgbClr val="0077B6"/>
                </a:solidFill>
                <a:latin typeface="Courier New"/>
                <a:cs typeface="Courier New"/>
              </a:rPr>
              <a:t>f"Sum</a:t>
            </a:r>
            <a:r>
              <a:rPr lang="en-US" sz="1200" b="1" dirty="0">
                <a:solidFill>
                  <a:srgbClr val="0077B6"/>
                </a:solidFill>
                <a:latin typeface="Courier New"/>
                <a:cs typeface="Courier New"/>
              </a:rPr>
              <a:t> = {</a:t>
            </a:r>
            <a:r>
              <a:rPr lang="en-US" sz="1200" b="1" dirty="0" err="1">
                <a:solidFill>
                  <a:srgbClr val="0077B6"/>
                </a:solidFill>
                <a:latin typeface="Courier New"/>
                <a:cs typeface="Courier New"/>
              </a:rPr>
              <a:t>a+b</a:t>
            </a:r>
            <a:r>
              <a:rPr lang="en-US" sz="1200" b="1" dirty="0">
                <a:solidFill>
                  <a:srgbClr val="0077B6"/>
                </a:solidFill>
                <a:latin typeface="Courier New"/>
                <a:cs typeface="Courier New"/>
              </a:rPr>
              <a:t>}")</a:t>
            </a:r>
          </a:p>
          <a:p>
            <a:pPr marL="0" indent="0" algn="l">
              <a:buNone/>
            </a:pPr>
            <a:endParaRPr lang="en-US" sz="1100" b="1" dirty="0">
              <a:solidFill>
                <a:srgbClr val="495057"/>
              </a:solidFill>
              <a:latin typeface="Calibri"/>
              <a:ea typeface="Calibri"/>
              <a:cs typeface="Calibri"/>
            </a:endParaRPr>
          </a:p>
          <a:p>
            <a:pPr marL="0" indent="0" algn="l">
              <a:buNone/>
            </a:pPr>
            <a:r>
              <a:rPr lang="en-US" sz="1100" b="1">
                <a:solidFill>
                  <a:srgbClr val="495057"/>
                </a:solidFill>
              </a:rPr>
              <a:t>Output:  </a:t>
            </a:r>
            <a:r>
              <a:rPr lang="en-US" sz="1300" b="1">
                <a:solidFill>
                  <a:srgbClr val="1B7A6E"/>
                </a:solidFill>
                <a:latin typeface="Courier New"/>
                <a:cs typeface="Courier New"/>
              </a:rPr>
              <a:t>Sum = 30</a:t>
            </a:r>
            <a:endParaRPr lang="en-US"/>
          </a:p>
        </p:txBody>
      </p:sp>
      <p:sp>
        <p:nvSpPr>
          <p:cNvPr id="6" name="Decimal Card"/>
          <p:cNvSpPr/>
          <p:nvPr/>
        </p:nvSpPr>
        <p:spPr>
          <a:xfrm>
            <a:off x="365760" y="3120000"/>
            <a:ext cx="4069080" cy="19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0077B6"/>
            </a:solidFill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 wrap="square" lIns="137160" tIns="82296" rIns="137160" bIns="54864" rtlCol="0" anchor="t"/>
          <a:lstStyle/>
          <a:p>
            <a:pPr marL="0" indent="0" algn="l">
              <a:buNone/>
            </a:pPr>
            <a:r>
              <a:rPr lang="en-US" b="1">
                <a:solidFill>
                  <a:srgbClr val="1B7A6E"/>
                </a:solidFill>
              </a:rPr>
              <a:t>Decimal Formatting</a:t>
            </a:r>
            <a:endParaRPr lang="en-US" b="1">
              <a:solidFill>
                <a:srgbClr val="1B7A6E"/>
              </a:solidFill>
              <a:ea typeface="Calibri"/>
              <a:cs typeface="Calibri"/>
            </a:endParaRPr>
          </a:p>
          <a:p>
            <a:endParaRPr lang="en-US" sz="1200" b="1" dirty="0">
              <a:solidFill>
                <a:srgbClr val="0077B6"/>
              </a:solidFill>
              <a:latin typeface="Courier New"/>
              <a:cs typeface="Courier New"/>
            </a:endParaRPr>
          </a:p>
          <a:p>
            <a:pPr marL="0" indent="0" algn="l">
              <a:buNone/>
            </a:pPr>
            <a:r>
              <a:rPr lang="en-US" sz="1200" b="1">
                <a:solidFill>
                  <a:srgbClr val="0077B6"/>
                </a:solidFill>
                <a:latin typeface="Courier New"/>
                <a:cs typeface="Courier New"/>
              </a:rPr>
              <a:t>pi = 3.14159265</a:t>
            </a:r>
            <a:endParaRPr lang="en-US"/>
          </a:p>
          <a:p>
            <a:pPr marL="0" indent="0" algn="l">
              <a:buNone/>
            </a:pPr>
            <a:r>
              <a:rPr lang="en-US" sz="1200" b="1">
                <a:solidFill>
                  <a:srgbClr val="0077B6"/>
                </a:solidFill>
                <a:latin typeface="Courier New"/>
                <a:cs typeface="Courier New"/>
              </a:rPr>
              <a:t>print(f"{pi:.2f}")</a:t>
            </a:r>
            <a:r>
              <a:rPr lang="en-US" sz="1150">
                <a:solidFill>
                  <a:srgbClr val="495057"/>
                </a:solidFill>
              </a:rPr>
              <a:t>  →  </a:t>
            </a:r>
            <a:r>
              <a:rPr lang="en-US" sz="1300" b="1">
                <a:solidFill>
                  <a:srgbClr val="1B7A6E"/>
                </a:solidFill>
                <a:latin typeface="Courier New"/>
                <a:cs typeface="Courier New"/>
              </a:rPr>
              <a:t>3.14</a:t>
            </a:r>
          </a:p>
          <a:p>
            <a:endParaRPr lang="en-US" sz="1000" dirty="0">
              <a:solidFill>
                <a:srgbClr val="0D1B2A"/>
              </a:solidFill>
            </a:endParaRPr>
          </a:p>
          <a:p>
            <a:pPr marL="0" indent="0" algn="l">
              <a:buNone/>
            </a:pPr>
            <a:r>
              <a:rPr lang="en-US" sz="1100">
                <a:solidFill>
                  <a:srgbClr val="0D1B2A"/>
                </a:solidFill>
              </a:rPr>
              <a:t>.2f keeps two decimal places.</a:t>
            </a:r>
            <a:endParaRPr lang="en-US" sz="1100"/>
          </a:p>
        </p:txBody>
      </p:sp>
      <p:sp>
        <p:nvSpPr>
          <p:cNvPr id="7" name="Width Card"/>
          <p:cNvSpPr/>
          <p:nvPr/>
        </p:nvSpPr>
        <p:spPr>
          <a:xfrm>
            <a:off x="4709160" y="3120000"/>
            <a:ext cx="4069080" cy="19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2A9D8F"/>
            </a:solidFill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 wrap="square" lIns="137160" tIns="82296" rIns="137160" bIns="54864" rtlCol="0" anchor="t"/>
          <a:lstStyle/>
          <a:p>
            <a:pPr marL="0" indent="0" algn="l">
              <a:buNone/>
            </a:pPr>
            <a:r>
              <a:rPr lang="en-US" b="1">
                <a:solidFill>
                  <a:srgbClr val="1B7A6E"/>
                </a:solidFill>
              </a:rPr>
              <a:t>Width Formatting</a:t>
            </a:r>
          </a:p>
          <a:p>
            <a:endParaRPr lang="en-US" sz="1200" b="1" dirty="0">
              <a:solidFill>
                <a:srgbClr val="0077B6"/>
              </a:solidFill>
              <a:latin typeface="Courier New"/>
              <a:cs typeface="Courier New"/>
            </a:endParaRPr>
          </a:p>
          <a:p>
            <a:r>
              <a:rPr lang="en-US" sz="1200" b="1">
                <a:solidFill>
                  <a:srgbClr val="0077B6"/>
                </a:solidFill>
                <a:latin typeface="Courier New"/>
                <a:ea typeface="+mn-lt"/>
                <a:cs typeface="Courier New"/>
              </a:rPr>
              <a:t>text = "cat" </a:t>
            </a:r>
            <a:endParaRPr lang="en-US">
              <a:solidFill>
                <a:srgbClr val="000000"/>
              </a:solidFill>
              <a:latin typeface="Calibri" panose="020F0502020204030204"/>
              <a:ea typeface="+mn-lt"/>
              <a:cs typeface="Calibri" panose="020F0502020204030204"/>
            </a:endParaRPr>
          </a:p>
          <a:p>
            <a:r>
              <a:rPr lang="en-US" sz="1200" b="1">
                <a:solidFill>
                  <a:srgbClr val="0077B6"/>
                </a:solidFill>
                <a:latin typeface="Courier New"/>
                <a:ea typeface="+mn-lt"/>
                <a:cs typeface="Courier New"/>
              </a:rPr>
              <a:t>num = 42 </a:t>
            </a:r>
            <a:endParaRPr lang="en-US">
              <a:solidFill>
                <a:srgbClr val="000000"/>
              </a:solidFill>
              <a:latin typeface="Calibri" panose="020F0502020204030204"/>
              <a:ea typeface="+mn-lt"/>
              <a:cs typeface="Calibri"/>
            </a:endParaRPr>
          </a:p>
          <a:p>
            <a:endParaRPr lang="en-US" sz="1200" b="1" dirty="0">
              <a:solidFill>
                <a:srgbClr val="0077B6"/>
              </a:solidFill>
              <a:latin typeface="Courier New"/>
              <a:ea typeface="+mn-lt"/>
              <a:cs typeface="Courier New"/>
            </a:endParaRPr>
          </a:p>
          <a:p>
            <a:r>
              <a:rPr lang="en-US" sz="1200" b="1">
                <a:solidFill>
                  <a:srgbClr val="0077B6"/>
                </a:solidFill>
                <a:latin typeface="Courier New"/>
                <a:ea typeface="+mn-lt"/>
                <a:cs typeface="Courier New"/>
              </a:rPr>
              <a:t>print(f"|{text:10}|") # Output: |cat | print(f"|{num:10}|") # Output: | 42|</a:t>
            </a:r>
            <a:endParaRPr lang="en-US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Operators in Python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143000"/>
            <a:ext cx="3840480" cy="3657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B4D8"/>
                </a:solidFill>
              </a:rPr>
              <a:t>Arithmetic Operators
</a:t>
            </a:r>
            <a:endParaRPr lang="en-US" sz="1400" dirty="0"/>
          </a:p>
          <a:p>
            <a:r>
              <a:rPr lang="en-US" sz="1300">
                <a:solidFill>
                  <a:srgbClr val="0D1B2A"/>
                </a:solidFill>
                <a:latin typeface="Courier New"/>
                <a:ea typeface="Courier New" pitchFamily="34" charset="-122"/>
                <a:cs typeface="Courier New"/>
              </a:rPr>
              <a:t>+    Addition         5+3 = 8</a:t>
            </a:r>
            <a:r>
              <a:rPr lang="en-US" sz="1300" dirty="0">
                <a:solidFill>
                  <a:srgbClr val="0D1B2A"/>
                </a:solidFill>
                <a:latin typeface="Courier New"/>
                <a:ea typeface="Courier New" pitchFamily="34" charset="-122"/>
                <a:cs typeface="Courier New"/>
              </a:rPr>
              <a:t>
</a:t>
            </a:r>
            <a:r>
              <a:rPr lang="en-US" sz="1300">
                <a:solidFill>
                  <a:srgbClr val="0D1B2A"/>
                </a:solidFill>
                <a:latin typeface="Courier New"/>
                <a:ea typeface="Courier New" pitchFamily="34" charset="-122"/>
                <a:cs typeface="Courier New"/>
              </a:rPr>
              <a:t>-    Subtraction      5-3 = 2</a:t>
            </a:r>
            <a:r>
              <a:rPr lang="en-US" sz="1300" dirty="0">
                <a:solidFill>
                  <a:srgbClr val="0D1B2A"/>
                </a:solidFill>
                <a:latin typeface="Courier New"/>
                <a:ea typeface="Courier New" pitchFamily="34" charset="-122"/>
                <a:cs typeface="Courier New"/>
              </a:rPr>
              <a:t>
</a:t>
            </a:r>
            <a:r>
              <a:rPr lang="en-US" sz="1300">
                <a:solidFill>
                  <a:srgbClr val="0D1B2A"/>
                </a:solidFill>
                <a:latin typeface="Courier New"/>
                <a:ea typeface="Courier New" pitchFamily="34" charset="-122"/>
                <a:cs typeface="Courier New"/>
              </a:rPr>
              <a:t>*    Multiplication   5*3 = 15</a:t>
            </a:r>
            <a:r>
              <a:rPr lang="en-US" sz="1300" dirty="0">
                <a:solidFill>
                  <a:srgbClr val="0D1B2A"/>
                </a:solidFill>
                <a:latin typeface="Courier New"/>
                <a:ea typeface="Courier New" pitchFamily="34" charset="-122"/>
                <a:cs typeface="Courier New"/>
              </a:rPr>
              <a:t>
</a:t>
            </a:r>
            <a:r>
              <a:rPr lang="en-US" sz="1300">
                <a:solidFill>
                  <a:srgbClr val="0D1B2A"/>
                </a:solidFill>
                <a:latin typeface="Courier New"/>
                <a:ea typeface="Courier New" pitchFamily="34" charset="-122"/>
                <a:cs typeface="Courier New"/>
              </a:rPr>
              <a:t>/    Division         7/2 = 3.5</a:t>
            </a:r>
            <a:r>
              <a:rPr lang="en-US" sz="1300" dirty="0">
                <a:solidFill>
                  <a:srgbClr val="0D1B2A"/>
                </a:solidFill>
                <a:latin typeface="Courier New"/>
                <a:ea typeface="Courier New" pitchFamily="34" charset="-122"/>
                <a:cs typeface="Courier New"/>
              </a:rPr>
              <a:t>
</a:t>
            </a:r>
            <a:r>
              <a:rPr lang="en-US" sz="1300">
                <a:solidFill>
                  <a:srgbClr val="0D1B2A"/>
                </a:solidFill>
                <a:latin typeface="Courier New"/>
                <a:ea typeface="Courier New" pitchFamily="34" charset="-122"/>
                <a:cs typeface="Courier New"/>
              </a:rPr>
              <a:t>//   Floor Div        7//2 = 3</a:t>
            </a:r>
            <a:r>
              <a:rPr lang="en-US" sz="1300" dirty="0">
                <a:solidFill>
                  <a:srgbClr val="0D1B2A"/>
                </a:solidFill>
                <a:latin typeface="Courier New"/>
                <a:ea typeface="Courier New" pitchFamily="34" charset="-122"/>
                <a:cs typeface="Courier New"/>
              </a:rPr>
              <a:t>
</a:t>
            </a:r>
            <a:r>
              <a:rPr lang="en-US" sz="1300">
                <a:solidFill>
                  <a:srgbClr val="0D1B2A"/>
                </a:solidFill>
                <a:latin typeface="Courier New"/>
                <a:ea typeface="Courier New" pitchFamily="34" charset="-122"/>
                <a:cs typeface="Courier New"/>
              </a:rPr>
              <a:t>%    Modulo           7%2 = 1</a:t>
            </a:r>
            <a:r>
              <a:rPr lang="en-US" sz="1300" dirty="0">
                <a:solidFill>
                  <a:srgbClr val="0D1B2A"/>
                </a:solidFill>
                <a:latin typeface="Courier New"/>
                <a:ea typeface="Courier New" pitchFamily="34" charset="-122"/>
                <a:cs typeface="Courier New"/>
              </a:rPr>
              <a:t>
</a:t>
            </a:r>
            <a:r>
              <a:rPr lang="en-US" sz="1300">
                <a:solidFill>
                  <a:srgbClr val="0D1B2A"/>
                </a:solidFill>
                <a:latin typeface="Courier New"/>
                <a:ea typeface="Courier New" pitchFamily="34" charset="-122"/>
                <a:cs typeface="Courier New"/>
              </a:rPr>
              <a:t>**   Power            2**3 = 8</a:t>
            </a:r>
            <a:r>
              <a:rPr lang="en-US" sz="1300" dirty="0">
                <a:solidFill>
                  <a:srgbClr val="0D1B2A"/>
                </a:solidFill>
                <a:latin typeface="Courier New"/>
                <a:ea typeface="Courier New" pitchFamily="34" charset="-122"/>
                <a:cs typeface="Courier New"/>
              </a:rPr>
              <a:t>
</a:t>
            </a:r>
            <a:endParaRPr lang="en-US" sz="1400">
              <a:latin typeface="Courier New"/>
              <a:ea typeface="Calibri"/>
              <a:cs typeface="Calibri"/>
            </a:endParaRPr>
          </a:p>
          <a:p>
            <a:pPr marL="0" indent="0" algn="l">
              <a:buNone/>
            </a:pPr>
            <a:r>
              <a:rPr lang="en-US" sz="1500" b="1" dirty="0">
                <a:solidFill>
                  <a:srgbClr val="00B4D8"/>
                </a:solidFill>
              </a:rPr>
              <a:t>Comparison Operators
</a:t>
            </a:r>
            <a:endParaRPr lang="en-US" sz="14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  !=  &gt;  &lt;  &gt;=  &lt;=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09160" y="1005840"/>
            <a:ext cx="4114800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0" y="1143000"/>
            <a:ext cx="3840480" cy="3657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B4D8"/>
                </a:solidFill>
              </a:rPr>
              <a:t>Logical Operators
</a:t>
            </a:r>
            <a:endParaRPr lang="en-US" sz="1400" dirty="0"/>
          </a:p>
          <a:p>
            <a:r>
              <a:rPr lang="en-US" sz="1300">
                <a:solidFill>
                  <a:srgbClr val="0D1B2A"/>
                </a:solidFill>
                <a:latin typeface="Courier New"/>
                <a:ea typeface="Courier New" pitchFamily="34" charset="-122"/>
                <a:cs typeface="Courier New"/>
              </a:rPr>
              <a:t>and  →  both must be True</a:t>
            </a:r>
            <a:r>
              <a:rPr lang="en-US" sz="1300" dirty="0">
                <a:solidFill>
                  <a:srgbClr val="0D1B2A"/>
                </a:solidFill>
                <a:latin typeface="Courier New"/>
                <a:ea typeface="Courier New" pitchFamily="34" charset="-122"/>
                <a:cs typeface="Courier New"/>
              </a:rPr>
              <a:t>
</a:t>
            </a:r>
            <a:r>
              <a:rPr lang="en-US" sz="1300">
                <a:solidFill>
                  <a:srgbClr val="0D1B2A"/>
                </a:solidFill>
                <a:latin typeface="Courier New"/>
                <a:ea typeface="Courier New" pitchFamily="34" charset="-122"/>
                <a:cs typeface="Courier New"/>
              </a:rPr>
              <a:t>or   →  at least one True</a:t>
            </a:r>
            <a:r>
              <a:rPr lang="en-US" sz="1300" dirty="0">
                <a:solidFill>
                  <a:srgbClr val="0D1B2A"/>
                </a:solidFill>
                <a:latin typeface="Courier New"/>
                <a:ea typeface="Courier New" pitchFamily="34" charset="-122"/>
                <a:cs typeface="Courier New"/>
              </a:rPr>
              <a:t>
</a:t>
            </a:r>
            <a:r>
              <a:rPr lang="en-US" sz="1300">
                <a:solidFill>
                  <a:srgbClr val="0D1B2A"/>
                </a:solidFill>
                <a:latin typeface="Courier New"/>
                <a:ea typeface="Courier New" pitchFamily="34" charset="-122"/>
                <a:cs typeface="Courier New"/>
              </a:rPr>
              <a:t>not  →  flips True/False</a:t>
            </a:r>
            <a:r>
              <a:rPr lang="en-US" sz="1300" dirty="0">
                <a:solidFill>
                  <a:srgbClr val="0D1B2A"/>
                </a:solidFill>
                <a:latin typeface="Courier New"/>
                <a:ea typeface="Courier New" pitchFamily="34" charset="-122"/>
                <a:cs typeface="Courier New"/>
              </a:rPr>
              <a:t>
</a:t>
            </a:r>
          </a:p>
          <a:p>
            <a:pPr marL="0" indent="0" algn="l">
              <a:buNone/>
            </a:pPr>
            <a:r>
              <a:rPr lang="en-US" sz="1500" b="1">
                <a:solidFill>
                  <a:srgbClr val="00B4D8"/>
                </a:solidFill>
              </a:rPr>
              <a:t>Assignment Operators</a:t>
            </a:r>
            <a:r>
              <a:rPr lang="en-US" sz="1500" b="1" dirty="0">
                <a:solidFill>
                  <a:srgbClr val="00B4D8"/>
                </a:solidFill>
              </a:rPr>
              <a:t>
</a:t>
            </a:r>
            <a:r>
              <a:rPr lang="en-US" sz="1300">
                <a:solidFill>
                  <a:srgbClr val="0D1B2A"/>
                </a:solidFill>
                <a:latin typeface="Courier New"/>
                <a:ea typeface="Courier New" pitchFamily="34" charset="-122"/>
                <a:cs typeface="Courier New"/>
              </a:rPr>
              <a:t>x = 5</a:t>
            </a:r>
            <a:r>
              <a:rPr lang="en-US" sz="1300" dirty="0">
                <a:solidFill>
                  <a:srgbClr val="0D1B2A"/>
                </a:solidFill>
                <a:latin typeface="Courier New"/>
                <a:ea typeface="Courier New" pitchFamily="34" charset="-122"/>
                <a:cs typeface="Courier New"/>
              </a:rPr>
              <a:t>
</a:t>
            </a:r>
            <a:r>
              <a:rPr lang="en-US" sz="1300">
                <a:solidFill>
                  <a:srgbClr val="0D1B2A"/>
                </a:solidFill>
                <a:latin typeface="Courier New"/>
                <a:ea typeface="Courier New" pitchFamily="34" charset="-122"/>
                <a:cs typeface="Courier New"/>
              </a:rPr>
              <a:t>x += 3   # x = x + 3</a:t>
            </a:r>
            <a:r>
              <a:rPr lang="en-US" sz="1300" dirty="0">
                <a:solidFill>
                  <a:srgbClr val="0D1B2A"/>
                </a:solidFill>
                <a:latin typeface="Courier New"/>
                <a:ea typeface="Courier New" pitchFamily="34" charset="-122"/>
                <a:cs typeface="Courier New"/>
              </a:rPr>
              <a:t>
</a:t>
            </a:r>
            <a:r>
              <a:rPr lang="en-US" sz="1300">
                <a:solidFill>
                  <a:srgbClr val="0D1B2A"/>
                </a:solidFill>
                <a:latin typeface="Courier New"/>
                <a:ea typeface="Courier New" pitchFamily="34" charset="-122"/>
                <a:cs typeface="Courier New"/>
              </a:rPr>
              <a:t>x -= 2   # x = x - 2</a:t>
            </a:r>
            <a:r>
              <a:rPr lang="en-US" sz="1300" dirty="0">
                <a:solidFill>
                  <a:srgbClr val="0D1B2A"/>
                </a:solidFill>
                <a:latin typeface="Courier New"/>
                <a:ea typeface="Courier New" pitchFamily="34" charset="-122"/>
                <a:cs typeface="Courier New"/>
              </a:rPr>
              <a:t>
</a:t>
            </a:r>
            <a:r>
              <a:rPr lang="en-US" sz="1300">
                <a:solidFill>
                  <a:srgbClr val="0D1B2A"/>
                </a:solidFill>
                <a:latin typeface="Courier New"/>
                <a:ea typeface="Courier New" pitchFamily="34" charset="-122"/>
                <a:cs typeface="Courier New"/>
              </a:rPr>
              <a:t>x *= 4   # x = x * 4</a:t>
            </a:r>
            <a:r>
              <a:rPr lang="en-US" sz="1300" dirty="0">
                <a:solidFill>
                  <a:srgbClr val="0D1B2A"/>
                </a:solidFill>
                <a:latin typeface="Courier New"/>
                <a:ea typeface="Courier New" pitchFamily="34" charset="-122"/>
                <a:cs typeface="Courier New"/>
              </a:rPr>
              <a:t>
</a:t>
            </a:r>
            <a:endParaRPr lang="en-US" sz="1300" dirty="0">
              <a:solidFill>
                <a:srgbClr val="0D1B2A"/>
              </a:solidFill>
              <a:latin typeface="Courier New"/>
              <a:ea typeface="Calibri"/>
              <a:cs typeface="Courier New"/>
            </a:endParaRPr>
          </a:p>
          <a:p>
            <a:pPr marL="0" indent="0" algn="l">
              <a:buNone/>
            </a:pPr>
            <a:r>
              <a:rPr lang="en-US" sz="1500" b="1" dirty="0">
                <a:solidFill>
                  <a:srgbClr val="00B4D8"/>
                </a:solidFill>
              </a:rPr>
              <a:t>Type Conversion
</a:t>
            </a:r>
            <a:endParaRPr lang="en-US" sz="14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int('5') · float('3.2') · str(10)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Day 1 Practical — Calculator Program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D1B2A"/>
                </a:solidFill>
              </a:rPr>
              <a:t>Mini project: Build a calculator that takes two numbers and an operator as input, performs the operation, and prints the result.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4526280"/>
            <a:ext cx="8412480" cy="457200"/>
          </a:xfrm>
          <a:prstGeom prst="roundRect">
            <a:avLst>
              <a:gd name="adj" fmla="val 16000"/>
            </a:avLst>
          </a:prstGeom>
          <a:solidFill>
            <a:srgbClr val="00B4D8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77B6"/>
                </a:solidFill>
              </a:rPr>
              <a:t>💡 Tomorrow we use if-else to make the calculator handle ALL operators automatically!</a:t>
            </a:r>
            <a:endParaRPr lang="en-US" sz="1200" dirty="0"/>
          </a:p>
        </p:txBody>
      </p:sp>
      <p:pic>
        <p:nvPicPr>
          <p:cNvPr id="10" name="Picture 9" descr="A computer screen shot of a program&#10;&#10;AI-generated content may be incorrect.">
            <a:extLst>
              <a:ext uri="{FF2B5EF4-FFF2-40B4-BE49-F238E27FC236}">
                <a16:creationId xmlns:a16="http://schemas.microsoft.com/office/drawing/2014/main" id="{2F31C65E-97FE-DE11-B02B-9433220997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8005" y="1496785"/>
            <a:ext cx="4253433" cy="292281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B4D8"/>
                </a:solidFill>
              </a:rPr>
              <a:t>🧠 Practice Questions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65760" y="6400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Day 1 — Practice Questions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110343"/>
            <a:ext cx="8229600" cy="373597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FFD166"/>
                </a:solidFill>
              </a:rPr>
              <a:t>Q1.  </a:t>
            </a:r>
            <a:r>
              <a:rPr lang="en-US" sz="1400" dirty="0">
                <a:solidFill>
                  <a:srgbClr val="FFFFFF"/>
                </a:solidFill>
              </a:rPr>
              <a:t>Write a program that asks for your name and age, then prints: 'Hello [name], you will turn [age+1] next year!'</a:t>
            </a:r>
            <a:endParaRPr lang="en-US" sz="1400">
              <a:ea typeface="Calibri"/>
              <a:cs typeface="Calibri"/>
            </a:endParaRPr>
          </a:p>
          <a:p>
            <a:pPr marL="0" indent="0" algn="l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FFD166"/>
                </a:solidFill>
              </a:rPr>
              <a:t>Q2.  </a:t>
            </a:r>
            <a:r>
              <a:rPr lang="en-US" sz="1400">
                <a:solidFill>
                  <a:srgbClr val="FFFFFF"/>
                </a:solidFill>
              </a:rPr>
              <a:t>What is the output of: print(type(3.14))  and  print(type(True))?</a:t>
            </a:r>
            <a:endParaRPr lang="en-US" sz="1400">
              <a:ea typeface="Calibri"/>
              <a:cs typeface="Calibri"/>
            </a:endParaRPr>
          </a:p>
          <a:p>
            <a:pPr>
              <a:spcAft>
                <a:spcPts val="1200"/>
              </a:spcAft>
            </a:pPr>
            <a:r>
              <a:rPr lang="en-US" sz="1500" b="1">
                <a:solidFill>
                  <a:srgbClr val="FFD166"/>
                </a:solidFill>
                <a:ea typeface="Calibri"/>
                <a:cs typeface="Calibri"/>
              </a:rPr>
              <a:t>Q3.</a:t>
            </a:r>
            <a:r>
              <a:rPr lang="en-US" sz="1500" b="1" dirty="0">
                <a:solidFill>
                  <a:srgbClr val="FFD166"/>
                </a:solidFill>
                <a:ea typeface="+mn-lt"/>
                <a:cs typeface="+mn-lt"/>
              </a:rPr>
              <a:t> </a:t>
            </a:r>
            <a:r>
              <a:rPr lang="en-US" sz="1400">
                <a:solidFill>
                  <a:srgbClr val="FFFFFF"/>
                </a:solidFill>
                <a:ea typeface="+mn-lt"/>
                <a:cs typeface="+mn-lt"/>
              </a:rPr>
              <a:t>Ask the user for their first name and last name, then print their full name using an f-string.</a:t>
            </a:r>
            <a:endParaRPr lang="en-US"/>
          </a:p>
          <a:p>
            <a:pPr marL="0" indent="0" algn="l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FFD166"/>
                </a:solidFill>
              </a:rPr>
              <a:t>Q4.  </a:t>
            </a:r>
            <a:r>
              <a:rPr lang="en-US" sz="1400" dirty="0">
                <a:solidFill>
                  <a:srgbClr val="FFFFFF"/>
                </a:solidFill>
              </a:rPr>
              <a:t>Convert the string '42' to an integer and multiply it by 3. Print the result.</a:t>
            </a:r>
            <a:endParaRPr lang="en-US" sz="1400">
              <a:ea typeface="Calibri"/>
              <a:cs typeface="Calibri"/>
            </a:endParaRPr>
          </a:p>
          <a:p>
            <a:pPr marL="0" indent="0" algn="l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FFD166"/>
                </a:solidFill>
              </a:rPr>
              <a:t>Q5.  </a:t>
            </a:r>
            <a:r>
              <a:rPr lang="en-US" sz="1400" dirty="0">
                <a:solidFill>
                  <a:srgbClr val="FFFFFF"/>
                </a:solidFill>
              </a:rPr>
              <a:t>Bug Hunt: name = input('name') / print('Hello + name) — Find and fix both errors.</a:t>
            </a:r>
            <a:endParaRPr lang="en-US" sz="1400" dirty="0">
              <a:solidFill>
                <a:srgbClr val="FFFFFF"/>
              </a:solidFill>
              <a:ea typeface="Calibri"/>
              <a:cs typeface="Calibri"/>
            </a:endParaRPr>
          </a:p>
          <a:p>
            <a:pPr>
              <a:spcAft>
                <a:spcPts val="1200"/>
              </a:spcAft>
            </a:pPr>
            <a:r>
              <a:rPr lang="en-US" sz="1400" b="1" dirty="0">
                <a:solidFill>
                  <a:srgbClr val="FFD166"/>
                </a:solidFill>
                <a:ea typeface="+mn-lt"/>
                <a:cs typeface="+mn-lt"/>
              </a:rPr>
              <a:t>Q6. </a:t>
            </a:r>
            <a:r>
              <a:rPr lang="en-US" sz="1400" dirty="0">
                <a:solidFill>
                  <a:srgbClr val="FFFFFF"/>
                </a:solidFill>
                <a:ea typeface="+mn-lt"/>
                <a:cs typeface="+mn-lt"/>
              </a:rPr>
              <a:t>Using one </a:t>
            </a:r>
            <a:r>
              <a:rPr lang="en-US" sz="14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print()</a:t>
            </a:r>
            <a:r>
              <a:rPr lang="en-US" sz="1400" dirty="0">
                <a:solidFill>
                  <a:srgbClr val="FFFFFF"/>
                </a:solidFill>
                <a:ea typeface="+mn-lt"/>
                <a:cs typeface="+mn-lt"/>
              </a:rPr>
              <a:t> statement with </a:t>
            </a:r>
            <a:r>
              <a:rPr lang="en-US" sz="140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sep</a:t>
            </a:r>
            <a:r>
              <a:rPr lang="en-US" sz="1400" dirty="0">
                <a:solidFill>
                  <a:srgbClr val="FFFFFF"/>
                </a:solidFill>
                <a:ea typeface="+mn-lt"/>
                <a:cs typeface="+mn-lt"/>
              </a:rPr>
              <a:t> and </a:t>
            </a:r>
            <a:r>
              <a:rPr lang="en-US" sz="14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end</a:t>
            </a:r>
            <a:r>
              <a:rPr lang="en-US" sz="1400" dirty="0">
                <a:solidFill>
                  <a:srgbClr val="FFFFFF"/>
                </a:solidFill>
                <a:ea typeface="+mn-lt"/>
                <a:cs typeface="+mn-lt"/>
              </a:rPr>
              <a:t>, print </a:t>
            </a:r>
            <a:r>
              <a:rPr lang="en-US" sz="14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</a:t>
            </a:r>
            <a:r>
              <a:rPr lang="en-US" sz="1400" dirty="0">
                <a:solidFill>
                  <a:srgbClr val="FFFFFF"/>
                </a:solidFill>
                <a:ea typeface="+mn-lt"/>
                <a:cs typeface="+mn-lt"/>
              </a:rPr>
              <a:t>, </a:t>
            </a:r>
            <a:r>
              <a:rPr lang="en-US" sz="14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20</a:t>
            </a:r>
            <a:r>
              <a:rPr lang="en-US" sz="1400" dirty="0">
                <a:solidFill>
                  <a:srgbClr val="FFFFFF"/>
                </a:solidFill>
                <a:ea typeface="+mn-lt"/>
                <a:cs typeface="+mn-lt"/>
              </a:rPr>
              <a:t>, </a:t>
            </a:r>
            <a:r>
              <a:rPr lang="en-US" sz="14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30</a:t>
            </a:r>
            <a:r>
              <a:rPr lang="en-US" sz="1400" dirty="0">
                <a:solidFill>
                  <a:srgbClr val="FFFFFF"/>
                </a:solidFill>
                <a:ea typeface="+mn-lt"/>
                <a:cs typeface="+mn-lt"/>
              </a:rPr>
              <a:t> separated by </a:t>
            </a:r>
            <a:r>
              <a:rPr lang="en-US" sz="14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" | "</a:t>
            </a:r>
            <a:r>
              <a:rPr lang="en-US" sz="1400" dirty="0">
                <a:solidFill>
                  <a:srgbClr val="FFFFFF"/>
                </a:solidFill>
                <a:ea typeface="+mn-lt"/>
                <a:cs typeface="+mn-lt"/>
              </a:rPr>
              <a:t> and ending with </a:t>
            </a:r>
            <a:r>
              <a:rPr lang="en-US" sz="14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"!!!"</a:t>
            </a:r>
            <a:r>
              <a:rPr lang="en-US" sz="1400" dirty="0">
                <a:solidFill>
                  <a:srgbClr val="FFFFFF"/>
                </a:solidFill>
                <a:ea typeface="+mn-lt"/>
                <a:cs typeface="+mn-lt"/>
              </a:rPr>
              <a:t> instead of a newline.</a:t>
            </a:r>
          </a:p>
          <a:p>
            <a:pPr>
              <a:spcAft>
                <a:spcPts val="1200"/>
              </a:spcAft>
            </a:pPr>
            <a:r>
              <a:rPr lang="en-US" sz="1500" b="1">
                <a:solidFill>
                  <a:srgbClr val="FFD166"/>
                </a:solidFill>
                <a:latin typeface="Calibri"/>
                <a:ea typeface="Calibri"/>
                <a:cs typeface="Calibri"/>
              </a:rPr>
              <a:t>Q7. </a:t>
            </a:r>
            <a:r>
              <a:rPr lang="en-US" sz="14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price = 499.5</a:t>
            </a:r>
            <a:r>
              <a:rPr lang="en-US" sz="1400" dirty="0">
                <a:solidFill>
                  <a:srgbClr val="FFFFFF"/>
                </a:solidFill>
                <a:ea typeface="+mn-lt"/>
                <a:cs typeface="+mn-lt"/>
              </a:rPr>
              <a:t>. Print it with exactly two decimal places using an f-string.</a:t>
            </a:r>
            <a:endParaRPr lang="en-US" dirty="0">
              <a:ea typeface="Calibri"/>
              <a:cs typeface="Calibri"/>
            </a:endParaRPr>
          </a:p>
          <a:p>
            <a:pPr>
              <a:spcAft>
                <a:spcPts val="1200"/>
              </a:spcAft>
            </a:pPr>
            <a:r>
              <a:rPr lang="en-US" sz="1500" b="1">
                <a:solidFill>
                  <a:srgbClr val="FFD166"/>
                </a:solidFill>
                <a:ea typeface="+mn-lt"/>
                <a:cs typeface="+mn-lt"/>
              </a:rPr>
              <a:t>Q8. </a:t>
            </a:r>
            <a:r>
              <a:rPr lang="en-US" sz="1400" dirty="0">
                <a:solidFill>
                  <a:srgbClr val="FFFFFF"/>
                </a:solidFill>
                <a:ea typeface="+mn-lt"/>
                <a:cs typeface="+mn-lt"/>
              </a:rPr>
              <a:t>Ask the user for their age and whether they have a valid ID (yes/no). Print </a:t>
            </a:r>
            <a:r>
              <a:rPr lang="en-US" sz="14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"Entry allowed"</a:t>
            </a:r>
            <a:r>
              <a:rPr lang="en-US" sz="1400" dirty="0">
                <a:solidFill>
                  <a:srgbClr val="FFFFFF"/>
                </a:solidFill>
                <a:ea typeface="+mn-lt"/>
                <a:cs typeface="+mn-lt"/>
              </a:rPr>
              <a:t> only if age ≥ 18 and they have a valid ID — using </a:t>
            </a:r>
            <a:r>
              <a:rPr lang="en-US" sz="14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and</a:t>
            </a:r>
            <a:r>
              <a:rPr lang="en-US" sz="1400" dirty="0">
                <a:solidFill>
                  <a:srgbClr val="FFFFFF"/>
                </a:solidFill>
                <a:ea typeface="+mn-lt"/>
                <a:cs typeface="+mn-lt"/>
              </a:rPr>
              <a:t> directly, no nested </a:t>
            </a:r>
            <a:r>
              <a:rPr lang="en-US" sz="14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if</a:t>
            </a:r>
            <a:r>
              <a:rPr lang="en-US" sz="1400" dirty="0">
                <a:solidFill>
                  <a:srgbClr val="FFFFFF"/>
                </a:solidFill>
                <a:ea typeface="+mn-lt"/>
                <a:cs typeface="+mn-lt"/>
              </a:rPr>
              <a:t>.</a:t>
            </a:r>
            <a:endParaRPr lang="en-US" dirty="0">
              <a:ea typeface="Calibri"/>
              <a:cs typeface="Calibri"/>
            </a:endParaRPr>
          </a:p>
          <a:p>
            <a:pPr>
              <a:spcAft>
                <a:spcPts val="1200"/>
              </a:spcAft>
            </a:pPr>
            <a:endParaRPr lang="en-US" sz="1400" dirty="0">
              <a:solidFill>
                <a:srgbClr val="FFFFFF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194560" cy="411480"/>
          </a:xfrm>
          <a:prstGeom prst="roundRect">
            <a:avLst>
              <a:gd name="adj" fmla="val 17778"/>
            </a:avLst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DAY 2 / WEEK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</a:rPr>
              <a:t>Day 2 — Thu, Jul 2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514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0B4D8"/>
                </a:solidFill>
              </a:rPr>
              <a:t>Control Statements: if-else · Loops · Number Guessing Game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0" y="3200400"/>
            <a:ext cx="2286000" cy="2286000"/>
          </a:xfrm>
          <a:prstGeom prst="ellipse">
            <a:avLst/>
          </a:prstGeom>
          <a:solidFill>
            <a:srgbClr val="00B4D8">
              <a:alpha val="1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046720" y="2560320"/>
            <a:ext cx="1097280" cy="1097280"/>
          </a:xfrm>
          <a:prstGeom prst="ellipse">
            <a:avLst/>
          </a:prstGeom>
          <a:solidFill>
            <a:srgbClr val="00B4D8">
              <a:alpha val="30000"/>
            </a:srgbClr>
          </a:solidFill>
          <a:ln/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/>
          <p:cNvSpPr/>
          <p:nvPr/>
        </p:nvSpPr>
        <p:spPr>
          <a:xfrm>
            <a:off x="0" y="0"/>
            <a:ext cx="9144000" cy="1000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itle"/>
          <p:cNvSpPr/>
          <p:nvPr/>
        </p:nvSpPr>
        <p:spPr>
          <a:xfrm>
            <a:off x="365760" y="0"/>
            <a:ext cx="841248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>
                <a:solidFill>
                  <a:srgbClr val="FFFFFF"/>
                </a:solidFill>
              </a:rPr>
              <a:t>Decision Making in Python</a:t>
            </a:r>
            <a:endParaRPr lang="en-US" sz="2800" b="1"/>
          </a:p>
        </p:txBody>
      </p:sp>
      <p:sp>
        <p:nvSpPr>
          <p:cNvPr id="4" name="Concept Card"/>
          <p:cNvSpPr/>
          <p:nvPr/>
        </p:nvSpPr>
        <p:spPr>
          <a:xfrm>
            <a:off x="365760" y="1140000"/>
            <a:ext cx="4940000" cy="38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2A9D8F"/>
            </a:solidFill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 wrap="square" lIns="182880" tIns="137160" rIns="182880" bIns="13716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7A6E"/>
                </a:solidFill>
              </a:rPr>
              <a:t>Conditional Statements (if, </a:t>
            </a:r>
            <a:r>
              <a:rPr lang="en-US" sz="1600" b="1" dirty="0" err="1">
                <a:solidFill>
                  <a:srgbClr val="1B7A6E"/>
                </a:solidFill>
              </a:rPr>
              <a:t>elif</a:t>
            </a:r>
            <a:r>
              <a:rPr lang="en-US" sz="1600" b="1" dirty="0">
                <a:solidFill>
                  <a:srgbClr val="1B7A6E"/>
                </a:solidFill>
              </a:rPr>
              <a:t>, else)</a:t>
            </a:r>
          </a:p>
          <a:p>
            <a:endParaRPr lang="en-US" sz="1300" dirty="0">
              <a:solidFill>
                <a:srgbClr val="0D1B2A"/>
              </a:solidFill>
            </a:endParaRPr>
          </a:p>
          <a:p>
            <a:pPr marL="0" indent="0" algn="l">
              <a:buNone/>
            </a:pPr>
            <a:r>
              <a:rPr lang="en-US" sz="1300">
                <a:solidFill>
                  <a:srgbClr val="0D1B2A"/>
                </a:solidFill>
              </a:rPr>
              <a:t>Conditional statements allow a program to make decisions and execute different blocks of code based on conditions.</a:t>
            </a:r>
            <a:endParaRPr lang="en-US"/>
          </a:p>
          <a:p>
            <a:pPr marL="0" indent="0" algn="l">
              <a:buNone/>
            </a:pPr>
            <a:endParaRPr lang="en-US" sz="700"/>
          </a:p>
          <a:p>
            <a:endParaRPr lang="en-US" sz="1500" b="1" dirty="0">
              <a:solidFill>
                <a:srgbClr val="0077B6"/>
              </a:solidFill>
            </a:endParaRPr>
          </a:p>
          <a:p>
            <a:r>
              <a:rPr lang="en-US" sz="1500" b="1">
                <a:solidFill>
                  <a:srgbClr val="0077B6"/>
                </a:solidFill>
              </a:rPr>
              <a:t>Why Use Conditions?</a:t>
            </a:r>
            <a:endParaRPr lang="en-US"/>
          </a:p>
          <a:p>
            <a:pPr marL="0" indent="0" algn="l">
              <a:buNone/>
            </a:pPr>
            <a:endParaRPr lang="en-US" sz="1300" dirty="0">
              <a:solidFill>
                <a:srgbClr val="1B7A6E"/>
              </a:solidFill>
              <a:ea typeface="Calibri"/>
              <a:cs typeface="Calibri"/>
            </a:endParaRPr>
          </a:p>
          <a:p>
            <a:pPr marL="0" indent="0" algn="l">
              <a:buNone/>
            </a:pPr>
            <a:r>
              <a:rPr lang="en-US" sz="1300">
                <a:solidFill>
                  <a:srgbClr val="1B7A6E"/>
                </a:solidFill>
              </a:rPr>
              <a:t>✅ </a:t>
            </a:r>
            <a:r>
              <a:rPr lang="en-US" sz="1300">
                <a:solidFill>
                  <a:srgbClr val="0D1B2A"/>
                </a:solidFill>
              </a:rPr>
              <a:t>Make decisions in programs</a:t>
            </a:r>
            <a:endParaRPr lang="en-US"/>
          </a:p>
          <a:p>
            <a:pPr marL="0" indent="0" algn="l">
              <a:buNone/>
            </a:pPr>
            <a:r>
              <a:rPr lang="en-US" sz="1300">
                <a:solidFill>
                  <a:srgbClr val="1B7A6E"/>
                </a:solidFill>
              </a:rPr>
              <a:t>✅ </a:t>
            </a:r>
            <a:r>
              <a:rPr lang="en-US" sz="1300">
                <a:solidFill>
                  <a:srgbClr val="0D1B2A"/>
                </a:solidFill>
              </a:rPr>
              <a:t>Validate user input</a:t>
            </a:r>
          </a:p>
          <a:p>
            <a:pPr marL="0" indent="0" algn="l">
              <a:buNone/>
            </a:pPr>
            <a:r>
              <a:rPr lang="en-US" sz="1300">
                <a:solidFill>
                  <a:srgbClr val="1B7A6E"/>
                </a:solidFill>
              </a:rPr>
              <a:t>✅ </a:t>
            </a:r>
            <a:r>
              <a:rPr lang="en-US" sz="1300">
                <a:solidFill>
                  <a:srgbClr val="0D1B2A"/>
                </a:solidFill>
              </a:rPr>
              <a:t>Compare values</a:t>
            </a:r>
          </a:p>
          <a:p>
            <a:pPr marL="0" indent="0" algn="l">
              <a:buNone/>
            </a:pPr>
            <a:r>
              <a:rPr lang="en-US" sz="1300">
                <a:solidFill>
                  <a:srgbClr val="1B7A6E"/>
                </a:solidFill>
              </a:rPr>
              <a:t>✅ </a:t>
            </a:r>
            <a:r>
              <a:rPr lang="en-US" sz="1300">
                <a:solidFill>
                  <a:srgbClr val="0D1B2A"/>
                </a:solidFill>
              </a:rPr>
              <a:t>Control program flow</a:t>
            </a:r>
          </a:p>
        </p:txBody>
      </p:sp>
      <p:sp>
        <p:nvSpPr>
          <p:cNvPr id="5" name="Syntax Card"/>
          <p:cNvSpPr/>
          <p:nvPr/>
        </p:nvSpPr>
        <p:spPr>
          <a:xfrm>
            <a:off x="5534240" y="1140000"/>
            <a:ext cx="3244000" cy="38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0077B6"/>
            </a:solidFill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 wrap="square" lIns="182880" tIns="137160" rIns="182880" bIns="137160" rtlCol="0" anchor="t"/>
          <a:lstStyle/>
          <a:p>
            <a:pPr marL="0" indent="0" algn="l">
              <a:buNone/>
            </a:pPr>
            <a:r>
              <a:rPr lang="en-US" sz="1600" b="1">
                <a:solidFill>
                  <a:srgbClr val="0077B6"/>
                </a:solidFill>
              </a:rPr>
              <a:t>Syntax</a:t>
            </a:r>
          </a:p>
          <a:p>
            <a:pPr marL="0" indent="0" algn="l">
              <a:buNone/>
            </a:pPr>
            <a:endParaRPr lang="en-US" sz="700"/>
          </a:p>
          <a:p>
            <a:pPr marL="0" indent="0" algn="l">
              <a:buNone/>
            </a:pPr>
            <a:r>
              <a:rPr lang="en-US" sz="1400" b="1">
                <a:solidFill>
                  <a:srgbClr val="0077B6"/>
                </a:solidFill>
                <a:latin typeface="Courier New"/>
                <a:cs typeface="Courier New"/>
              </a:rPr>
              <a:t>if condition:</a:t>
            </a:r>
          </a:p>
          <a:p>
            <a:pPr marL="0" indent="0" algn="l">
              <a:buNone/>
            </a:pPr>
            <a:r>
              <a:rPr lang="en-US" sz="1400" b="1">
                <a:solidFill>
                  <a:srgbClr val="0077B6"/>
                </a:solidFill>
                <a:latin typeface="Courier New"/>
                <a:cs typeface="Courier New"/>
              </a:rPr>
              <a:t>    statements</a:t>
            </a:r>
          </a:p>
          <a:p>
            <a:pPr marL="0" indent="0" algn="l">
              <a:buNone/>
            </a:pPr>
            <a:endParaRPr lang="en-US" sz="700"/>
          </a:p>
          <a:p>
            <a:endParaRPr lang="en-US" sz="1200" dirty="0">
              <a:solidFill>
                <a:srgbClr val="0D1B2A"/>
              </a:solidFill>
            </a:endParaRPr>
          </a:p>
          <a:p>
            <a:pPr marL="0" indent="0" algn="l">
              <a:buNone/>
            </a:pPr>
            <a:r>
              <a:rPr lang="en-US" sz="1200">
                <a:solidFill>
                  <a:srgbClr val="0D1B2A"/>
                </a:solidFill>
              </a:rPr>
              <a:t>The indented block runs only when the condition is True.</a:t>
            </a:r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/>
          <p:cNvSpPr/>
          <p:nvPr/>
        </p:nvSpPr>
        <p:spPr>
          <a:xfrm>
            <a:off x="0" y="0"/>
            <a:ext cx="9144000" cy="1000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itle"/>
          <p:cNvSpPr/>
          <p:nvPr/>
        </p:nvSpPr>
        <p:spPr>
          <a:xfrm>
            <a:off x="365760" y="0"/>
            <a:ext cx="841248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>
                <a:solidFill>
                  <a:srgbClr val="FFFFFF"/>
                </a:solidFill>
              </a:rPr>
              <a:t>The if Statement</a:t>
            </a:r>
            <a:endParaRPr lang="en-US" sz="2800" b="1"/>
          </a:p>
        </p:txBody>
      </p:sp>
      <p:sp>
        <p:nvSpPr>
          <p:cNvPr id="4" name="Code Card"/>
          <p:cNvSpPr/>
          <p:nvPr/>
        </p:nvSpPr>
        <p:spPr>
          <a:xfrm>
            <a:off x="365760" y="1140000"/>
            <a:ext cx="4940000" cy="38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2A9D8F"/>
            </a:solidFill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 wrap="square" lIns="182880" tIns="137160" rIns="182880" bIns="137160" rtlCol="0" anchor="t"/>
          <a:lstStyle/>
          <a:p>
            <a:pPr marL="0" indent="0" algn="l">
              <a:buNone/>
            </a:pPr>
            <a:r>
              <a:rPr lang="en-US" sz="1350">
                <a:solidFill>
                  <a:srgbClr val="0D1B2A"/>
                </a:solidFill>
              </a:rPr>
              <a:t>The if statement executes a block of code only when the condition is True.</a:t>
            </a:r>
          </a:p>
          <a:p>
            <a:pPr marL="0" indent="0" algn="l">
              <a:buNone/>
            </a:pPr>
            <a:endParaRPr lang="en-US" sz="700"/>
          </a:p>
          <a:p>
            <a:endParaRPr lang="en-US" sz="1400" b="1" dirty="0">
              <a:solidFill>
                <a:srgbClr val="0077B6"/>
              </a:solidFill>
              <a:latin typeface="Courier New"/>
              <a:cs typeface="Courier New"/>
            </a:endParaRPr>
          </a:p>
          <a:p>
            <a:pPr marL="0" indent="0" algn="l">
              <a:buNone/>
            </a:pPr>
            <a:r>
              <a:rPr lang="en-US" sz="1400" b="1">
                <a:solidFill>
                  <a:srgbClr val="0077B6"/>
                </a:solidFill>
                <a:latin typeface="Courier New"/>
                <a:cs typeface="Courier New"/>
              </a:rPr>
              <a:t>age = 18</a:t>
            </a:r>
            <a:endParaRPr lang="en-US"/>
          </a:p>
          <a:p>
            <a:pPr marL="0" indent="0" algn="l">
              <a:buNone/>
            </a:pPr>
            <a:endParaRPr lang="en-US" sz="400"/>
          </a:p>
          <a:p>
            <a:pPr marL="0" indent="0" algn="l">
              <a:buNone/>
            </a:pPr>
            <a:r>
              <a:rPr lang="en-US" sz="1400" b="1">
                <a:solidFill>
                  <a:srgbClr val="0077B6"/>
                </a:solidFill>
                <a:latin typeface="Courier New"/>
                <a:cs typeface="Courier New"/>
              </a:rPr>
              <a:t>if age &gt;= 18:</a:t>
            </a:r>
          </a:p>
          <a:p>
            <a:pPr marL="0" indent="0" algn="l">
              <a:buNone/>
            </a:pPr>
            <a:r>
              <a:rPr lang="en-US" sz="1400" b="1">
                <a:solidFill>
                  <a:srgbClr val="0077B6"/>
                </a:solidFill>
                <a:latin typeface="Courier New"/>
                <a:cs typeface="Courier New"/>
              </a:rPr>
              <a:t>    print("Eligible to vote")</a:t>
            </a:r>
          </a:p>
          <a:p>
            <a:pPr marL="0" indent="0" algn="l">
              <a:buNone/>
            </a:pPr>
            <a:endParaRPr lang="en-US" sz="600"/>
          </a:p>
          <a:p>
            <a:endParaRPr lang="en-US" sz="1300" b="1" dirty="0">
              <a:solidFill>
                <a:srgbClr val="495057"/>
              </a:solidFill>
            </a:endParaRPr>
          </a:p>
          <a:p>
            <a:pPr marL="0" indent="0" algn="l">
              <a:buNone/>
            </a:pPr>
            <a:r>
              <a:rPr lang="en-US" sz="1300" b="1">
                <a:solidFill>
                  <a:srgbClr val="495057"/>
                </a:solidFill>
              </a:rPr>
              <a:t>Output</a:t>
            </a:r>
            <a:endParaRPr lang="en-US"/>
          </a:p>
          <a:p>
            <a:pPr marL="0" indent="0" algn="l">
              <a:buNone/>
            </a:pPr>
            <a:r>
              <a:rPr lang="en-US" sz="1450" b="1">
                <a:solidFill>
                  <a:srgbClr val="1B7A6E"/>
                </a:solidFill>
                <a:latin typeface="Courier New"/>
                <a:cs typeface="Courier New"/>
              </a:rPr>
              <a:t>Eligible to vote</a:t>
            </a:r>
          </a:p>
        </p:txBody>
      </p:sp>
      <p:sp>
        <p:nvSpPr>
          <p:cNvPr id="5" name="Flow Card"/>
          <p:cNvSpPr/>
          <p:nvPr/>
        </p:nvSpPr>
        <p:spPr>
          <a:xfrm>
            <a:off x="5534240" y="1140000"/>
            <a:ext cx="3244000" cy="38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0077B6"/>
            </a:solidFill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 wrap="square" lIns="182880" tIns="137160" rIns="182880" bIns="137160" rtlCol="0" anchor="t"/>
          <a:lstStyle/>
          <a:p>
            <a:pPr marL="0" indent="0" algn="l">
              <a:buNone/>
            </a:pPr>
            <a:r>
              <a:rPr lang="en-US" sz="1600" b="1">
                <a:solidFill>
                  <a:srgbClr val="0077B6"/>
                </a:solidFill>
              </a:rPr>
              <a:t>Flow</a:t>
            </a:r>
          </a:p>
          <a:p>
            <a:pPr marL="0" indent="0" algn="l">
              <a:buNone/>
            </a:pPr>
            <a:endParaRPr lang="en-US" sz="700"/>
          </a:p>
          <a:p>
            <a:pPr marL="0" indent="0" algn="l">
              <a:buNone/>
            </a:pPr>
            <a:r>
              <a:rPr lang="en-US" sz="1300" b="1">
                <a:solidFill>
                  <a:srgbClr val="1B7A6E"/>
                </a:solidFill>
              </a:rPr>
              <a:t>Condition is True</a:t>
            </a:r>
            <a:r>
              <a:rPr lang="en-US" sz="1300">
                <a:solidFill>
                  <a:srgbClr val="0D1B2A"/>
                </a:solidFill>
              </a:rPr>
              <a:t> → Execute code</a:t>
            </a:r>
          </a:p>
          <a:p>
            <a:pPr marL="0" indent="0" algn="l">
              <a:buNone/>
            </a:pPr>
            <a:endParaRPr lang="en-US" sz="400"/>
          </a:p>
          <a:p>
            <a:pPr marL="0" indent="0" algn="l">
              <a:buNone/>
            </a:pPr>
            <a:r>
              <a:rPr lang="en-US" sz="1300" b="1">
                <a:solidFill>
                  <a:srgbClr val="C1121F"/>
                </a:solidFill>
              </a:rPr>
              <a:t>Condition is False</a:t>
            </a:r>
            <a:r>
              <a:rPr lang="en-US" sz="1300">
                <a:solidFill>
                  <a:srgbClr val="0D1B2A"/>
                </a:solidFill>
              </a:rPr>
              <a:t> → Skip code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/>
          <p:cNvSpPr/>
          <p:nvPr/>
        </p:nvSpPr>
        <p:spPr>
          <a:xfrm>
            <a:off x="0" y="0"/>
            <a:ext cx="9144000" cy="1000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itle"/>
          <p:cNvSpPr/>
          <p:nvPr/>
        </p:nvSpPr>
        <p:spPr>
          <a:xfrm>
            <a:off x="365760" y="0"/>
            <a:ext cx="841248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>
                <a:solidFill>
                  <a:srgbClr val="FFFFFF"/>
                </a:solidFill>
              </a:rPr>
              <a:t>The if-else Statement</a:t>
            </a:r>
            <a:endParaRPr lang="en-US" sz="2800" b="1"/>
          </a:p>
        </p:txBody>
      </p:sp>
      <p:sp>
        <p:nvSpPr>
          <p:cNvPr id="4" name="Code Card"/>
          <p:cNvSpPr/>
          <p:nvPr/>
        </p:nvSpPr>
        <p:spPr>
          <a:xfrm>
            <a:off x="365760" y="1140000"/>
            <a:ext cx="4940000" cy="38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2A9D8F"/>
            </a:solidFill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 wrap="square" lIns="182880" tIns="137160" rIns="182880" bIns="137160" rtlCol="0" anchor="t"/>
          <a:lstStyle/>
          <a:p>
            <a:pPr marL="0" indent="0" algn="l">
              <a:buNone/>
            </a:pPr>
            <a:r>
              <a:rPr lang="en-US" sz="1350">
                <a:solidFill>
                  <a:srgbClr val="0D1B2A"/>
                </a:solidFill>
              </a:rPr>
              <a:t>The else block executes when the condition is False.</a:t>
            </a:r>
          </a:p>
          <a:p>
            <a:pPr marL="0" indent="0" algn="l">
              <a:buNone/>
            </a:pPr>
            <a:endParaRPr lang="en-US" sz="700"/>
          </a:p>
          <a:p>
            <a:endParaRPr lang="en-US" sz="1400" b="1" dirty="0">
              <a:solidFill>
                <a:srgbClr val="0077B6"/>
              </a:solidFill>
              <a:latin typeface="Courier New"/>
              <a:cs typeface="Courier New"/>
            </a:endParaRPr>
          </a:p>
          <a:p>
            <a:pPr marL="0" indent="0" algn="l">
              <a:buNone/>
            </a:pPr>
            <a:r>
              <a:rPr lang="en-US" sz="1400" b="1">
                <a:solidFill>
                  <a:srgbClr val="0077B6"/>
                </a:solidFill>
                <a:latin typeface="Courier New"/>
                <a:cs typeface="Courier New"/>
              </a:rPr>
              <a:t>num = 7</a:t>
            </a:r>
            <a:endParaRPr lang="en-US"/>
          </a:p>
          <a:p>
            <a:pPr marL="0" indent="0" algn="l">
              <a:buNone/>
            </a:pPr>
            <a:endParaRPr lang="en-US" sz="400"/>
          </a:p>
          <a:p>
            <a:endParaRPr lang="en-US" sz="1400" b="1" dirty="0">
              <a:solidFill>
                <a:srgbClr val="0077B6"/>
              </a:solidFill>
              <a:latin typeface="Courier New"/>
              <a:cs typeface="Courier New"/>
            </a:endParaRPr>
          </a:p>
          <a:p>
            <a:pPr marL="0" indent="0" algn="l">
              <a:buNone/>
            </a:pPr>
            <a:r>
              <a:rPr lang="en-US" sz="1400" b="1">
                <a:solidFill>
                  <a:srgbClr val="0077B6"/>
                </a:solidFill>
                <a:latin typeface="Courier New"/>
                <a:cs typeface="Courier New"/>
              </a:rPr>
              <a:t>if num % 2 == 0:</a:t>
            </a:r>
            <a:endParaRPr lang="en-US"/>
          </a:p>
          <a:p>
            <a:pPr marL="0" indent="0" algn="l">
              <a:buNone/>
            </a:pPr>
            <a:r>
              <a:rPr lang="en-US" sz="1400" b="1">
                <a:solidFill>
                  <a:srgbClr val="0077B6"/>
                </a:solidFill>
                <a:latin typeface="Courier New"/>
                <a:cs typeface="Courier New"/>
              </a:rPr>
              <a:t>    print("Even")</a:t>
            </a:r>
          </a:p>
          <a:p>
            <a:pPr marL="0" indent="0" algn="l">
              <a:buNone/>
            </a:pPr>
            <a:r>
              <a:rPr lang="en-US" sz="1400" b="1">
                <a:solidFill>
                  <a:srgbClr val="0077B6"/>
                </a:solidFill>
                <a:latin typeface="Courier New"/>
                <a:cs typeface="Courier New"/>
              </a:rPr>
              <a:t>else:</a:t>
            </a:r>
          </a:p>
          <a:p>
            <a:r>
              <a:rPr lang="en-US" sz="1400" b="1">
                <a:solidFill>
                  <a:srgbClr val="0077B6"/>
                </a:solidFill>
                <a:latin typeface="Courier New"/>
                <a:cs typeface="Courier New"/>
              </a:rPr>
              <a:t>    print("Odd")</a:t>
            </a:r>
          </a:p>
          <a:p>
            <a:pPr marL="0" indent="0" algn="l">
              <a:buNone/>
            </a:pPr>
            <a:endParaRPr lang="en-US" sz="6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indent="0" algn="l">
              <a:buNone/>
            </a:pPr>
            <a:endParaRPr lang="en-US" sz="1300" b="1" dirty="0">
              <a:solidFill>
                <a:srgbClr val="495057"/>
              </a:solidFill>
              <a:ea typeface="Calibri"/>
              <a:cs typeface="Calibri"/>
            </a:endParaRPr>
          </a:p>
          <a:p>
            <a:pPr marL="0" indent="0" algn="l">
              <a:buNone/>
            </a:pPr>
            <a:r>
              <a:rPr lang="en-US" sz="1300" b="1">
                <a:solidFill>
                  <a:srgbClr val="495057"/>
                </a:solidFill>
              </a:rPr>
              <a:t>Output</a:t>
            </a:r>
            <a:endParaRPr lang="en-US"/>
          </a:p>
          <a:p>
            <a:pPr marL="0" indent="0" algn="l">
              <a:buNone/>
            </a:pPr>
            <a:r>
              <a:rPr lang="en-US" sz="1450" b="1">
                <a:solidFill>
                  <a:srgbClr val="1B7A6E"/>
                </a:solidFill>
                <a:latin typeface="Courier New"/>
                <a:cs typeface="Courier New"/>
              </a:rPr>
              <a:t>Odd</a:t>
            </a:r>
          </a:p>
        </p:txBody>
      </p:sp>
      <p:sp>
        <p:nvSpPr>
          <p:cNvPr id="5" name="Flow Card"/>
          <p:cNvSpPr/>
          <p:nvPr/>
        </p:nvSpPr>
        <p:spPr>
          <a:xfrm>
            <a:off x="5534240" y="1140000"/>
            <a:ext cx="3244000" cy="38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0077B6"/>
            </a:solidFill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 wrap="square" lIns="182880" tIns="137160" rIns="182880" bIns="137160" rtlCol="0" anchor="t"/>
          <a:lstStyle/>
          <a:p>
            <a:pPr marL="0" indent="0" algn="l">
              <a:buNone/>
            </a:pPr>
            <a:r>
              <a:rPr lang="en-US" sz="1600" b="1">
                <a:solidFill>
                  <a:srgbClr val="0077B6"/>
                </a:solidFill>
              </a:rPr>
              <a:t>Flow</a:t>
            </a:r>
          </a:p>
          <a:p>
            <a:pPr marL="0" indent="0" algn="l">
              <a:buNone/>
            </a:pPr>
            <a:endParaRPr lang="en-US" sz="700"/>
          </a:p>
          <a:p>
            <a:pPr marL="0" indent="0" algn="l">
              <a:buNone/>
            </a:pPr>
            <a:r>
              <a:rPr lang="en-US" sz="1300" b="1">
                <a:solidFill>
                  <a:srgbClr val="1B7A6E"/>
                </a:solidFill>
              </a:rPr>
              <a:t>Condition True</a:t>
            </a:r>
            <a:r>
              <a:rPr lang="en-US" sz="1300">
                <a:solidFill>
                  <a:srgbClr val="0D1B2A"/>
                </a:solidFill>
              </a:rPr>
              <a:t> → if block</a:t>
            </a:r>
          </a:p>
          <a:p>
            <a:pPr marL="0" indent="0" algn="l">
              <a:buNone/>
            </a:pPr>
            <a:endParaRPr lang="en-US" sz="400"/>
          </a:p>
          <a:p>
            <a:pPr marL="0" indent="0" algn="l">
              <a:buNone/>
            </a:pPr>
            <a:r>
              <a:rPr lang="en-US" sz="1300" b="1">
                <a:solidFill>
                  <a:srgbClr val="C1121F"/>
                </a:solidFill>
              </a:rPr>
              <a:t>Condition False</a:t>
            </a:r>
            <a:r>
              <a:rPr lang="en-US" sz="1300">
                <a:solidFill>
                  <a:srgbClr val="0D1B2A"/>
                </a:solidFill>
              </a:rPr>
              <a:t> → else block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/>
          <p:cNvSpPr/>
          <p:nvPr/>
        </p:nvSpPr>
        <p:spPr>
          <a:xfrm>
            <a:off x="0" y="0"/>
            <a:ext cx="9144000" cy="1000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itle"/>
          <p:cNvSpPr/>
          <p:nvPr/>
        </p:nvSpPr>
        <p:spPr>
          <a:xfrm>
            <a:off x="365760" y="0"/>
            <a:ext cx="841248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>
                <a:solidFill>
                  <a:srgbClr val="FFFFFF"/>
                </a:solidFill>
              </a:rPr>
              <a:t>The if-elif-else Statement</a:t>
            </a:r>
            <a:endParaRPr lang="en-US" sz="2800" b="1"/>
          </a:p>
        </p:txBody>
      </p:sp>
      <p:sp>
        <p:nvSpPr>
          <p:cNvPr id="4" name="Code Card"/>
          <p:cNvSpPr/>
          <p:nvPr/>
        </p:nvSpPr>
        <p:spPr>
          <a:xfrm>
            <a:off x="365760" y="1140000"/>
            <a:ext cx="4940000" cy="38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2A9D8F"/>
            </a:solidFill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 wrap="square" lIns="182880" tIns="137160" rIns="182880" bIns="137160" rtlCol="0" anchor="t"/>
          <a:lstStyle/>
          <a:p>
            <a:pPr marL="0" indent="0" algn="l">
              <a:buNone/>
            </a:pPr>
            <a:r>
              <a:rPr lang="en-US" sz="1350">
                <a:solidFill>
                  <a:srgbClr val="0D1B2A"/>
                </a:solidFill>
              </a:rPr>
              <a:t>Used when multiple conditions need to be checked.</a:t>
            </a:r>
          </a:p>
          <a:p>
            <a:pPr marL="0" indent="0" algn="l">
              <a:buNone/>
            </a:pPr>
            <a:endParaRPr lang="en-US" sz="600"/>
          </a:p>
          <a:p>
            <a:endParaRPr lang="en-US" sz="1400" b="1" dirty="0">
              <a:solidFill>
                <a:srgbClr val="0077B6"/>
              </a:solidFill>
              <a:latin typeface="Courier New"/>
              <a:cs typeface="Courier New"/>
            </a:endParaRPr>
          </a:p>
          <a:p>
            <a:pPr marL="0" indent="0" algn="l">
              <a:buNone/>
            </a:pPr>
            <a:r>
              <a:rPr lang="en-US" sz="1400" b="1">
                <a:solidFill>
                  <a:srgbClr val="0077B6"/>
                </a:solidFill>
                <a:latin typeface="Courier New"/>
                <a:cs typeface="Courier New"/>
              </a:rPr>
              <a:t>marks = 85</a:t>
            </a:r>
            <a:endParaRPr lang="en-US"/>
          </a:p>
          <a:p>
            <a:pPr marL="0" indent="0" algn="l">
              <a:buNone/>
            </a:pPr>
            <a:endParaRPr lang="en-US" sz="300"/>
          </a:p>
          <a:p>
            <a:pPr marL="0" indent="0" algn="l">
              <a:buNone/>
            </a:pPr>
            <a:r>
              <a:rPr lang="en-US" sz="1400" b="1">
                <a:solidFill>
                  <a:srgbClr val="0077B6"/>
                </a:solidFill>
                <a:latin typeface="Courier New"/>
                <a:cs typeface="Courier New"/>
              </a:rPr>
              <a:t>if marks &gt;= 90:</a:t>
            </a:r>
          </a:p>
          <a:p>
            <a:pPr marL="0" indent="0" algn="l">
              <a:buNone/>
            </a:pPr>
            <a:r>
              <a:rPr lang="en-US" sz="1400" b="1">
                <a:solidFill>
                  <a:srgbClr val="0077B6"/>
                </a:solidFill>
                <a:latin typeface="Courier New"/>
                <a:cs typeface="Courier New"/>
              </a:rPr>
              <a:t>    print("Grade A+")</a:t>
            </a:r>
          </a:p>
          <a:p>
            <a:pPr marL="0" indent="0" algn="l">
              <a:buNone/>
            </a:pPr>
            <a:r>
              <a:rPr lang="en-US" sz="1400" b="1" dirty="0" err="1">
                <a:solidFill>
                  <a:srgbClr val="0077B6"/>
                </a:solidFill>
                <a:latin typeface="Courier New"/>
                <a:cs typeface="Courier New"/>
              </a:rPr>
              <a:t>elif</a:t>
            </a:r>
            <a:r>
              <a:rPr lang="en-US" sz="1400" b="1" dirty="0">
                <a:solidFill>
                  <a:srgbClr val="0077B6"/>
                </a:solidFill>
                <a:latin typeface="Courier New"/>
                <a:cs typeface="Courier New"/>
              </a:rPr>
              <a:t> marks &gt;= 75:</a:t>
            </a:r>
          </a:p>
          <a:p>
            <a:pPr marL="0" indent="0" algn="l">
              <a:buNone/>
            </a:pPr>
            <a:r>
              <a:rPr lang="en-US" sz="1400" b="1">
                <a:solidFill>
                  <a:srgbClr val="0077B6"/>
                </a:solidFill>
                <a:latin typeface="Courier New"/>
                <a:cs typeface="Courier New"/>
              </a:rPr>
              <a:t>    print("Grade A")</a:t>
            </a:r>
          </a:p>
          <a:p>
            <a:pPr marL="0" indent="0" algn="l">
              <a:buNone/>
            </a:pPr>
            <a:r>
              <a:rPr lang="en-US" sz="1400" b="1" dirty="0" err="1">
                <a:solidFill>
                  <a:srgbClr val="0077B6"/>
                </a:solidFill>
                <a:latin typeface="Courier New"/>
                <a:cs typeface="Courier New"/>
              </a:rPr>
              <a:t>elif</a:t>
            </a:r>
            <a:r>
              <a:rPr lang="en-US" sz="1400" b="1" dirty="0">
                <a:solidFill>
                  <a:srgbClr val="0077B6"/>
                </a:solidFill>
                <a:latin typeface="Courier New"/>
                <a:cs typeface="Courier New"/>
              </a:rPr>
              <a:t> marks &gt;= 60:</a:t>
            </a:r>
          </a:p>
          <a:p>
            <a:pPr marL="0" indent="0" algn="l">
              <a:buNone/>
            </a:pPr>
            <a:r>
              <a:rPr lang="en-US" sz="1400" b="1">
                <a:solidFill>
                  <a:srgbClr val="0077B6"/>
                </a:solidFill>
                <a:latin typeface="Courier New"/>
                <a:cs typeface="Courier New"/>
              </a:rPr>
              <a:t>    print("Grade B")</a:t>
            </a:r>
          </a:p>
          <a:p>
            <a:pPr marL="0" indent="0" algn="l">
              <a:buNone/>
            </a:pPr>
            <a:r>
              <a:rPr lang="en-US" sz="1400" b="1">
                <a:solidFill>
                  <a:srgbClr val="0077B6"/>
                </a:solidFill>
                <a:latin typeface="Courier New"/>
                <a:cs typeface="Courier New"/>
              </a:rPr>
              <a:t>else:</a:t>
            </a:r>
          </a:p>
          <a:p>
            <a:pPr marL="0" indent="0" algn="l">
              <a:buNone/>
            </a:pPr>
            <a:r>
              <a:rPr lang="en-US" sz="1400" b="1">
                <a:solidFill>
                  <a:srgbClr val="0077B6"/>
                </a:solidFill>
                <a:latin typeface="Courier New"/>
                <a:cs typeface="Courier New"/>
              </a:rPr>
              <a:t>    print("Fail")</a:t>
            </a:r>
          </a:p>
        </p:txBody>
      </p:sp>
      <p:sp>
        <p:nvSpPr>
          <p:cNvPr id="5" name="Output Card"/>
          <p:cNvSpPr/>
          <p:nvPr/>
        </p:nvSpPr>
        <p:spPr>
          <a:xfrm>
            <a:off x="5534240" y="1140000"/>
            <a:ext cx="3244000" cy="38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0077B6"/>
            </a:solidFill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 wrap="square" lIns="182880" tIns="137160" rIns="182880" bIns="137160" rtlCol="0" anchor="t"/>
          <a:lstStyle/>
          <a:p>
            <a:pPr marL="0" indent="0" algn="l">
              <a:buNone/>
            </a:pPr>
            <a:r>
              <a:rPr lang="en-US" sz="1600" b="1">
                <a:solidFill>
                  <a:srgbClr val="0077B6"/>
                </a:solidFill>
              </a:rPr>
              <a:t>Output</a:t>
            </a:r>
          </a:p>
          <a:p>
            <a:pPr marL="0" indent="0" algn="l">
              <a:buNone/>
            </a:pPr>
            <a:endParaRPr lang="en-US" sz="800"/>
          </a:p>
          <a:p>
            <a:pPr marL="0" indent="0" algn="l">
              <a:buNone/>
            </a:pPr>
            <a:r>
              <a:rPr lang="en-US" sz="2000" b="1">
                <a:solidFill>
                  <a:srgbClr val="1B7A6E"/>
                </a:solidFill>
                <a:latin typeface="Courier New"/>
                <a:cs typeface="Courier New"/>
              </a:rPr>
              <a:t>Grade A</a:t>
            </a:r>
          </a:p>
          <a:p>
            <a:pPr marL="0" indent="0" algn="l">
              <a:buNone/>
            </a:pPr>
            <a:endParaRPr lang="en-US" sz="700"/>
          </a:p>
          <a:p>
            <a:pPr marL="0" indent="0" algn="l">
              <a:buNone/>
            </a:pPr>
            <a:r>
              <a:rPr lang="en-US" sz="1200">
                <a:solidFill>
                  <a:srgbClr val="0D1B2A"/>
                </a:solidFill>
              </a:rPr>
              <a:t>marks = 85 fails the first test but passes marks &gt;= 75, so the second branch runs.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/>
          <p:cNvSpPr/>
          <p:nvPr/>
        </p:nvSpPr>
        <p:spPr>
          <a:xfrm>
            <a:off x="0" y="0"/>
            <a:ext cx="9144000" cy="1000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itle"/>
          <p:cNvSpPr/>
          <p:nvPr/>
        </p:nvSpPr>
        <p:spPr>
          <a:xfrm>
            <a:off x="365760" y="0"/>
            <a:ext cx="841248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>
                <a:solidFill>
                  <a:srgbClr val="FFFFFF"/>
                </a:solidFill>
              </a:rPr>
              <a:t>Nested if Statement</a:t>
            </a:r>
            <a:endParaRPr lang="en-US" sz="2800" b="1"/>
          </a:p>
        </p:txBody>
      </p:sp>
      <p:sp>
        <p:nvSpPr>
          <p:cNvPr id="4" name="Code Card"/>
          <p:cNvSpPr/>
          <p:nvPr/>
        </p:nvSpPr>
        <p:spPr>
          <a:xfrm>
            <a:off x="365760" y="1140000"/>
            <a:ext cx="4940000" cy="38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2A9D8F"/>
            </a:solidFill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 wrap="square" lIns="182880" tIns="137160" rIns="182880" bIns="137160" rtlCol="0" anchor="t"/>
          <a:lstStyle/>
          <a:p>
            <a:pPr marL="0" indent="0" algn="l">
              <a:buNone/>
            </a:pPr>
            <a:r>
              <a:rPr lang="en-US" sz="1350">
                <a:solidFill>
                  <a:srgbClr val="0D1B2A"/>
                </a:solidFill>
              </a:rPr>
              <a:t>An if statement inside another if statement.</a:t>
            </a:r>
          </a:p>
          <a:p>
            <a:pPr marL="0" indent="0" algn="l">
              <a:buNone/>
            </a:pPr>
            <a:endParaRPr lang="en-US" sz="700"/>
          </a:p>
          <a:p>
            <a:pPr marL="0" indent="0" algn="l">
              <a:buNone/>
            </a:pPr>
            <a:r>
              <a:rPr lang="en-US" sz="1400" b="1">
                <a:solidFill>
                  <a:srgbClr val="0077B6"/>
                </a:solidFill>
                <a:latin typeface="Courier New"/>
                <a:cs typeface="Courier New"/>
              </a:rPr>
              <a:t>age = 20</a:t>
            </a:r>
          </a:p>
          <a:p>
            <a:pPr marL="0" indent="0" algn="l">
              <a:buNone/>
            </a:pPr>
            <a:r>
              <a:rPr lang="en-US" sz="1400" b="1">
                <a:solidFill>
                  <a:srgbClr val="0077B6"/>
                </a:solidFill>
                <a:latin typeface="Courier New"/>
                <a:cs typeface="Courier New"/>
              </a:rPr>
              <a:t>citizen = True</a:t>
            </a:r>
          </a:p>
          <a:p>
            <a:pPr marL="0" indent="0" algn="l">
              <a:buNone/>
            </a:pPr>
            <a:endParaRPr lang="en-US" sz="400"/>
          </a:p>
          <a:p>
            <a:pPr marL="0" indent="0" algn="l">
              <a:buNone/>
            </a:pPr>
            <a:r>
              <a:rPr lang="en-US" sz="1400" b="1">
                <a:solidFill>
                  <a:srgbClr val="0077B6"/>
                </a:solidFill>
                <a:latin typeface="Courier New"/>
                <a:cs typeface="Courier New"/>
              </a:rPr>
              <a:t>if age &gt;= 18:</a:t>
            </a:r>
          </a:p>
          <a:p>
            <a:pPr marL="0" indent="0" algn="l">
              <a:buNone/>
            </a:pPr>
            <a:r>
              <a:rPr lang="en-US" sz="1400" b="1">
                <a:solidFill>
                  <a:srgbClr val="0077B6"/>
                </a:solidFill>
                <a:latin typeface="Courier New"/>
                <a:cs typeface="Courier New"/>
              </a:rPr>
              <a:t>    if citizen:</a:t>
            </a:r>
          </a:p>
          <a:p>
            <a:pPr marL="0" indent="0" algn="l">
              <a:buNone/>
            </a:pPr>
            <a:r>
              <a:rPr lang="en-US" sz="1400" b="1">
                <a:solidFill>
                  <a:srgbClr val="0077B6"/>
                </a:solidFill>
                <a:latin typeface="Courier New"/>
                <a:cs typeface="Courier New"/>
              </a:rPr>
              <a:t>        print("Eligible to vote")</a:t>
            </a:r>
          </a:p>
          <a:p>
            <a:pPr marL="0" indent="0" algn="l">
              <a:buNone/>
            </a:pPr>
            <a:endParaRPr lang="en-US" sz="600"/>
          </a:p>
          <a:p>
            <a:pPr marL="0" indent="0" algn="l">
              <a:buNone/>
            </a:pPr>
            <a:r>
              <a:rPr lang="en-US" sz="1300" b="1">
                <a:solidFill>
                  <a:srgbClr val="495057"/>
                </a:solidFill>
              </a:rPr>
              <a:t>Output</a:t>
            </a:r>
          </a:p>
          <a:p>
            <a:pPr marL="0" indent="0" algn="l">
              <a:buNone/>
            </a:pPr>
            <a:r>
              <a:rPr lang="en-US" sz="1450" b="1">
                <a:solidFill>
                  <a:srgbClr val="1B7A6E"/>
                </a:solidFill>
                <a:latin typeface="Courier New"/>
                <a:cs typeface="Courier New"/>
              </a:rPr>
              <a:t>Eligible to vote</a:t>
            </a:r>
          </a:p>
        </p:txBody>
      </p:sp>
      <p:sp>
        <p:nvSpPr>
          <p:cNvPr id="5" name="Uses Card"/>
          <p:cNvSpPr/>
          <p:nvPr/>
        </p:nvSpPr>
        <p:spPr>
          <a:xfrm>
            <a:off x="5534240" y="1140000"/>
            <a:ext cx="3244000" cy="38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0077B6"/>
            </a:solidFill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 wrap="square" lIns="182880" tIns="137160" rIns="182880" bIns="137160" rtlCol="0" anchor="t"/>
          <a:lstStyle/>
          <a:p>
            <a:pPr marL="0" indent="0" algn="l">
              <a:buNone/>
            </a:pPr>
            <a:r>
              <a:rPr lang="en-US" sz="1600" b="1">
                <a:solidFill>
                  <a:srgbClr val="0077B6"/>
                </a:solidFill>
              </a:rPr>
              <a:t>Uses</a:t>
            </a:r>
          </a:p>
          <a:p>
            <a:pPr marL="0" indent="0" algn="l">
              <a:buNone/>
            </a:pPr>
            <a:endParaRPr lang="en-US" sz="700"/>
          </a:p>
          <a:p>
            <a:pPr marL="0" indent="0" algn="l">
              <a:buNone/>
            </a:pPr>
            <a:r>
              <a:rPr lang="en-US" sz="1400" b="1">
                <a:solidFill>
                  <a:srgbClr val="1B7A6E"/>
                </a:solidFill>
              </a:rPr>
              <a:t>• </a:t>
            </a:r>
            <a:r>
              <a:rPr lang="en-US" sz="1350">
                <a:solidFill>
                  <a:srgbClr val="0D1B2A"/>
                </a:solidFill>
              </a:rPr>
              <a:t>Login systems</a:t>
            </a:r>
          </a:p>
          <a:p>
            <a:pPr marL="0" indent="0" algn="l">
              <a:buNone/>
            </a:pPr>
            <a:r>
              <a:rPr lang="en-US" sz="1400" b="1">
                <a:solidFill>
                  <a:srgbClr val="1B7A6E"/>
                </a:solidFill>
              </a:rPr>
              <a:t>• </a:t>
            </a:r>
            <a:r>
              <a:rPr lang="en-US" sz="1350">
                <a:solidFill>
                  <a:srgbClr val="0D1B2A"/>
                </a:solidFill>
              </a:rPr>
              <a:t>Permission checks</a:t>
            </a:r>
          </a:p>
          <a:p>
            <a:pPr marL="0" indent="0" algn="l">
              <a:buNone/>
            </a:pPr>
            <a:r>
              <a:rPr lang="en-US" sz="1400" b="1">
                <a:solidFill>
                  <a:srgbClr val="1B7A6E"/>
                </a:solidFill>
              </a:rPr>
              <a:t>• </a:t>
            </a:r>
            <a:r>
              <a:rPr lang="en-US" sz="1350">
                <a:solidFill>
                  <a:srgbClr val="0D1B2A"/>
                </a:solidFill>
              </a:rPr>
              <a:t>Multiple dependent conditions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/>
          <p:cNvSpPr/>
          <p:nvPr/>
        </p:nvSpPr>
        <p:spPr>
          <a:xfrm>
            <a:off x="0" y="0"/>
            <a:ext cx="9144000" cy="1000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itle"/>
          <p:cNvSpPr/>
          <p:nvPr/>
        </p:nvSpPr>
        <p:spPr>
          <a:xfrm>
            <a:off x="365760" y="0"/>
            <a:ext cx="841248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>
                <a:solidFill>
                  <a:srgbClr val="FFFFFF"/>
                </a:solidFill>
              </a:rPr>
              <a:t>Comparison &amp; Logical Operators</a:t>
            </a:r>
            <a:endParaRPr lang="en-US" sz="2800" b="1"/>
          </a:p>
        </p:txBody>
      </p:sp>
      <p:sp>
        <p:nvSpPr>
          <p:cNvPr id="4" name="Comparison Card"/>
          <p:cNvSpPr/>
          <p:nvPr/>
        </p:nvSpPr>
        <p:spPr>
          <a:xfrm>
            <a:off x="365760" y="1140000"/>
            <a:ext cx="4180000" cy="20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2A9D8F"/>
            </a:solidFill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 wrap="square" lIns="182880" tIns="100000" rIns="182880" bIns="100000" rtlCol="0" anchor="t"/>
          <a:lstStyle/>
          <a:p>
            <a:pPr marL="0" indent="0" algn="l">
              <a:buNone/>
            </a:pPr>
            <a:r>
              <a:rPr lang="en-US" sz="1500" b="1">
                <a:solidFill>
                  <a:srgbClr val="1B7A6E"/>
                </a:solidFill>
              </a:rPr>
              <a:t>Comparison Operators</a:t>
            </a:r>
          </a:p>
          <a:p>
            <a:pPr marL="0" indent="0" algn="l">
              <a:buNone/>
            </a:pPr>
            <a:r>
              <a:rPr lang="en-US" sz="1300" b="1">
                <a:solidFill>
                  <a:srgbClr val="0077B6"/>
                </a:solidFill>
                <a:latin typeface="Courier New"/>
                <a:cs typeface="Courier New"/>
              </a:rPr>
              <a:t>==  </a:t>
            </a:r>
            <a:r>
              <a:rPr lang="en-US" sz="1250">
                <a:solidFill>
                  <a:srgbClr val="0D1B2A"/>
                </a:solidFill>
              </a:rPr>
              <a:t>Equal to    </a:t>
            </a:r>
            <a:r>
              <a:rPr lang="en-US" sz="1300" b="1">
                <a:solidFill>
                  <a:srgbClr val="0077B6"/>
                </a:solidFill>
                <a:latin typeface="Courier New"/>
                <a:cs typeface="Courier New"/>
              </a:rPr>
              <a:t>!=  </a:t>
            </a:r>
            <a:r>
              <a:rPr lang="en-US" sz="1250">
                <a:solidFill>
                  <a:srgbClr val="0D1B2A"/>
                </a:solidFill>
              </a:rPr>
              <a:t>Not equal to</a:t>
            </a:r>
          </a:p>
          <a:p>
            <a:pPr marL="0" indent="0" algn="l">
              <a:buNone/>
            </a:pPr>
            <a:r>
              <a:rPr lang="en-US" sz="1300" b="1">
                <a:solidFill>
                  <a:srgbClr val="0077B6"/>
                </a:solidFill>
                <a:latin typeface="Courier New"/>
                <a:cs typeface="Courier New"/>
              </a:rPr>
              <a:t>&gt;   </a:t>
            </a:r>
            <a:r>
              <a:rPr lang="en-US" sz="1250">
                <a:solidFill>
                  <a:srgbClr val="0D1B2A"/>
                </a:solidFill>
              </a:rPr>
              <a:t>Greater than </a:t>
            </a:r>
            <a:r>
              <a:rPr lang="en-US" sz="1300" b="1">
                <a:solidFill>
                  <a:srgbClr val="0077B6"/>
                </a:solidFill>
                <a:latin typeface="Courier New"/>
                <a:cs typeface="Courier New"/>
              </a:rPr>
              <a:t>&lt;   </a:t>
            </a:r>
            <a:r>
              <a:rPr lang="en-US" sz="1250">
                <a:solidFill>
                  <a:srgbClr val="0D1B2A"/>
                </a:solidFill>
              </a:rPr>
              <a:t>Less than</a:t>
            </a:r>
          </a:p>
          <a:p>
            <a:pPr marL="0" indent="0" algn="l">
              <a:buNone/>
            </a:pPr>
            <a:r>
              <a:rPr lang="en-US" sz="1300" b="1">
                <a:solidFill>
                  <a:srgbClr val="0077B6"/>
                </a:solidFill>
                <a:latin typeface="Courier New"/>
                <a:cs typeface="Courier New"/>
              </a:rPr>
              <a:t>&gt;=  </a:t>
            </a:r>
            <a:r>
              <a:rPr lang="en-US" sz="1250">
                <a:solidFill>
                  <a:srgbClr val="0D1B2A"/>
                </a:solidFill>
              </a:rPr>
              <a:t>Greater or equal</a:t>
            </a:r>
          </a:p>
          <a:p>
            <a:pPr marL="0" indent="0" algn="l">
              <a:buNone/>
            </a:pPr>
            <a:r>
              <a:rPr lang="en-US" sz="1300" b="1">
                <a:solidFill>
                  <a:srgbClr val="0077B6"/>
                </a:solidFill>
                <a:latin typeface="Courier New"/>
                <a:cs typeface="Courier New"/>
              </a:rPr>
              <a:t>&lt;=  </a:t>
            </a:r>
            <a:r>
              <a:rPr lang="en-US" sz="1250">
                <a:solidFill>
                  <a:srgbClr val="0D1B2A"/>
                </a:solidFill>
              </a:rPr>
              <a:t>Less or equal</a:t>
            </a:r>
          </a:p>
        </p:txBody>
      </p:sp>
      <p:sp>
        <p:nvSpPr>
          <p:cNvPr id="5" name="Logical Card"/>
          <p:cNvSpPr/>
          <p:nvPr/>
        </p:nvSpPr>
        <p:spPr>
          <a:xfrm>
            <a:off x="4773760" y="1140000"/>
            <a:ext cx="4004480" cy="20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0077B6"/>
            </a:solidFill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 wrap="square" lIns="182880" tIns="100000" rIns="182880" bIns="100000" rtlCol="0" anchor="t"/>
          <a:lstStyle/>
          <a:p>
            <a:pPr marL="0" indent="0" algn="l">
              <a:buNone/>
            </a:pPr>
            <a:r>
              <a:rPr lang="en-US" sz="1500" b="1">
                <a:solidFill>
                  <a:srgbClr val="0077B6"/>
                </a:solidFill>
              </a:rPr>
              <a:t>Logical Operators</a:t>
            </a:r>
          </a:p>
          <a:p>
            <a:pPr marL="0" indent="0" algn="l">
              <a:buNone/>
            </a:pPr>
            <a:r>
              <a:rPr lang="en-US" sz="1300" b="1">
                <a:solidFill>
                  <a:srgbClr val="0077B6"/>
                </a:solidFill>
                <a:latin typeface="Courier New"/>
                <a:cs typeface="Courier New"/>
              </a:rPr>
              <a:t>and  </a:t>
            </a:r>
            <a:r>
              <a:rPr lang="en-US" sz="1250">
                <a:solidFill>
                  <a:srgbClr val="0D1B2A"/>
                </a:solidFill>
              </a:rPr>
              <a:t>Both conditions True</a:t>
            </a:r>
          </a:p>
          <a:p>
            <a:pPr marL="0" indent="0" algn="l">
              <a:buNone/>
            </a:pPr>
            <a:r>
              <a:rPr lang="en-US" sz="1300" b="1">
                <a:solidFill>
                  <a:srgbClr val="0077B6"/>
                </a:solidFill>
                <a:latin typeface="Courier New"/>
                <a:cs typeface="Courier New"/>
              </a:rPr>
              <a:t>or   </a:t>
            </a:r>
            <a:r>
              <a:rPr lang="en-US" sz="1250">
                <a:solidFill>
                  <a:srgbClr val="0D1B2A"/>
                </a:solidFill>
              </a:rPr>
              <a:t>Any one True</a:t>
            </a:r>
          </a:p>
          <a:p>
            <a:pPr marL="0" indent="0" algn="l">
              <a:buNone/>
            </a:pPr>
            <a:r>
              <a:rPr lang="en-US" sz="1300" b="1">
                <a:solidFill>
                  <a:srgbClr val="0077B6"/>
                </a:solidFill>
                <a:latin typeface="Courier New"/>
                <a:cs typeface="Courier New"/>
              </a:rPr>
              <a:t>not  </a:t>
            </a:r>
            <a:r>
              <a:rPr lang="en-US" sz="1250">
                <a:solidFill>
                  <a:srgbClr val="0D1B2A"/>
                </a:solidFill>
              </a:rPr>
              <a:t>Reverses the condition</a:t>
            </a:r>
          </a:p>
        </p:txBody>
      </p:sp>
      <p:sp>
        <p:nvSpPr>
          <p:cNvPr id="7" name="And Example Card"/>
          <p:cNvSpPr/>
          <p:nvPr/>
        </p:nvSpPr>
        <p:spPr>
          <a:xfrm>
            <a:off x="365760" y="3260000"/>
            <a:ext cx="2658000" cy="168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2A9D8F"/>
            </a:solidFill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 wrap="square" lIns="137160" tIns="91440" rIns="137160" bIns="91440" rtlCol="0" anchor="t"/>
          <a:lstStyle/>
          <a:p>
            <a:pPr marL="0" indent="0" algn="l">
              <a:buNone/>
            </a:pPr>
            <a:r>
              <a:rPr lang="en-US" sz="1400" b="1">
                <a:solidFill>
                  <a:srgbClr val="1B7A6E"/>
                </a:solidFill>
                <a:latin typeface="Courier New"/>
                <a:cs typeface="Courier New"/>
              </a:rPr>
              <a:t>and</a:t>
            </a:r>
          </a:p>
          <a:p>
            <a:endParaRPr lang="en-US" sz="1050" b="1" dirty="0">
              <a:solidFill>
                <a:srgbClr val="0077B6"/>
              </a:solidFill>
              <a:latin typeface="Courier New"/>
              <a:cs typeface="Courier New"/>
            </a:endParaRPr>
          </a:p>
          <a:p>
            <a:r>
              <a:rPr lang="en-US" sz="1050" b="1">
                <a:solidFill>
                  <a:srgbClr val="0077B6"/>
                </a:solidFill>
                <a:latin typeface="Courier New"/>
                <a:cs typeface="Courier New"/>
              </a:rPr>
              <a:t>if age&gt;=18 and citizen:</a:t>
            </a:r>
            <a:endParaRPr lang="en-US"/>
          </a:p>
          <a:p>
            <a:pPr marL="0" indent="0" algn="l">
              <a:buNone/>
            </a:pPr>
            <a:r>
              <a:rPr lang="en-US" sz="1050" b="1">
                <a:solidFill>
                  <a:srgbClr val="0077B6"/>
                </a:solidFill>
                <a:latin typeface="Courier New"/>
                <a:cs typeface="Courier New"/>
              </a:rPr>
              <a:t>    print("Eligible")</a:t>
            </a:r>
          </a:p>
          <a:p>
            <a:pPr marL="0" indent="0" algn="l">
              <a:buNone/>
            </a:pPr>
            <a:r>
              <a:rPr lang="en-US" sz="1050" b="1">
                <a:solidFill>
                  <a:srgbClr val="0077B6"/>
                </a:solidFill>
                <a:latin typeface="Courier New"/>
                <a:cs typeface="Courier New"/>
              </a:rPr>
              <a:t>else:</a:t>
            </a:r>
          </a:p>
          <a:p>
            <a:pPr marL="0" indent="0" algn="l">
              <a:buNone/>
            </a:pPr>
            <a:r>
              <a:rPr lang="en-US" sz="1050" b="1">
                <a:solidFill>
                  <a:srgbClr val="0077B6"/>
                </a:solidFill>
                <a:latin typeface="Courier New"/>
                <a:cs typeface="Courier New"/>
              </a:rPr>
              <a:t>    print("No")</a:t>
            </a:r>
          </a:p>
        </p:txBody>
      </p:sp>
      <p:sp>
        <p:nvSpPr>
          <p:cNvPr id="8" name="Or Example Card"/>
          <p:cNvSpPr/>
          <p:nvPr/>
        </p:nvSpPr>
        <p:spPr>
          <a:xfrm>
            <a:off x="3243760" y="3260000"/>
            <a:ext cx="2658000" cy="168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0077B6"/>
            </a:solidFill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 wrap="square" lIns="137160" tIns="91440" rIns="137160" bIns="91440" rtlCol="0" anchor="t"/>
          <a:lstStyle/>
          <a:p>
            <a:pPr marL="0" indent="0" algn="l">
              <a:buNone/>
            </a:pPr>
            <a:r>
              <a:rPr lang="en-US" sz="1400" b="1">
                <a:solidFill>
                  <a:srgbClr val="0077B6"/>
                </a:solidFill>
                <a:latin typeface="Courier New"/>
                <a:cs typeface="Courier New"/>
              </a:rPr>
              <a:t>or</a:t>
            </a:r>
          </a:p>
          <a:p>
            <a:endParaRPr lang="en-US" sz="1050" b="1" dirty="0">
              <a:solidFill>
                <a:srgbClr val="0077B6"/>
              </a:solidFill>
              <a:latin typeface="Courier New"/>
              <a:cs typeface="Courier New"/>
            </a:endParaRPr>
          </a:p>
          <a:p>
            <a:pPr marL="0" indent="0" algn="l">
              <a:buNone/>
            </a:pPr>
            <a:r>
              <a:rPr lang="en-US" sz="1050" b="1" dirty="0">
                <a:solidFill>
                  <a:srgbClr val="0077B6"/>
                </a:solidFill>
                <a:latin typeface="Courier New"/>
                <a:cs typeface="Courier New"/>
              </a:rPr>
              <a:t>if </a:t>
            </a:r>
            <a:r>
              <a:rPr lang="en-US" sz="1050" b="1" dirty="0" err="1">
                <a:solidFill>
                  <a:srgbClr val="0077B6"/>
                </a:solidFill>
                <a:latin typeface="Courier New"/>
                <a:cs typeface="Courier New"/>
              </a:rPr>
              <a:t>vip</a:t>
            </a:r>
            <a:r>
              <a:rPr lang="en-US" sz="1050" b="1" dirty="0">
                <a:solidFill>
                  <a:srgbClr val="0077B6"/>
                </a:solidFill>
                <a:latin typeface="Courier New"/>
                <a:cs typeface="Courier New"/>
              </a:rPr>
              <a:t> or member:</a:t>
            </a:r>
            <a:endParaRPr lang="en-US" dirty="0"/>
          </a:p>
          <a:p>
            <a:pPr marL="0" indent="0" algn="l">
              <a:buNone/>
            </a:pPr>
            <a:r>
              <a:rPr lang="en-US" sz="1050" b="1">
                <a:solidFill>
                  <a:srgbClr val="0077B6"/>
                </a:solidFill>
                <a:latin typeface="Courier New"/>
                <a:cs typeface="Courier New"/>
              </a:rPr>
              <a:t>    print("Welcome")</a:t>
            </a:r>
          </a:p>
          <a:p>
            <a:pPr marL="0" indent="0" algn="l">
              <a:buNone/>
            </a:pPr>
            <a:r>
              <a:rPr lang="en-US" sz="1050" b="1">
                <a:solidFill>
                  <a:srgbClr val="0077B6"/>
                </a:solidFill>
                <a:latin typeface="Courier New"/>
                <a:cs typeface="Courier New"/>
              </a:rPr>
              <a:t>else:</a:t>
            </a:r>
          </a:p>
          <a:p>
            <a:pPr marL="0" indent="0" algn="l">
              <a:buNone/>
            </a:pPr>
            <a:r>
              <a:rPr lang="en-US" sz="1050" b="1">
                <a:solidFill>
                  <a:srgbClr val="0077B6"/>
                </a:solidFill>
                <a:latin typeface="Courier New"/>
                <a:cs typeface="Courier New"/>
              </a:rPr>
              <a:t>    print("Guest")</a:t>
            </a:r>
          </a:p>
        </p:txBody>
      </p:sp>
      <p:sp>
        <p:nvSpPr>
          <p:cNvPr id="9" name="Not Example Card"/>
          <p:cNvSpPr/>
          <p:nvPr/>
        </p:nvSpPr>
        <p:spPr>
          <a:xfrm>
            <a:off x="6121760" y="3260000"/>
            <a:ext cx="2656480" cy="168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2A9D8F"/>
            </a:solidFill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 wrap="square" lIns="137160" tIns="91440" rIns="137160" bIns="91440" rtlCol="0" anchor="t"/>
          <a:lstStyle/>
          <a:p>
            <a:pPr marL="0" indent="0" algn="l">
              <a:buNone/>
            </a:pPr>
            <a:r>
              <a:rPr lang="en-US" sz="1400" b="1">
                <a:solidFill>
                  <a:srgbClr val="1B7A6E"/>
                </a:solidFill>
                <a:latin typeface="Courier New"/>
                <a:cs typeface="Courier New"/>
              </a:rPr>
              <a:t>not</a:t>
            </a:r>
          </a:p>
          <a:p>
            <a:endParaRPr lang="en-US" sz="1050" b="1" dirty="0">
              <a:solidFill>
                <a:srgbClr val="0077B6"/>
              </a:solidFill>
              <a:latin typeface="Courier New"/>
              <a:cs typeface="Courier New"/>
            </a:endParaRPr>
          </a:p>
          <a:p>
            <a:pPr marL="0" indent="0" algn="l">
              <a:buNone/>
            </a:pPr>
            <a:r>
              <a:rPr lang="en-US" sz="1050" b="1">
                <a:solidFill>
                  <a:srgbClr val="0077B6"/>
                </a:solidFill>
                <a:latin typeface="Courier New"/>
                <a:cs typeface="Courier New"/>
              </a:rPr>
              <a:t>if not blocked:</a:t>
            </a:r>
            <a:endParaRPr lang="en-US"/>
          </a:p>
          <a:p>
            <a:pPr marL="0" indent="0" algn="l">
              <a:buNone/>
            </a:pPr>
            <a:r>
              <a:rPr lang="en-US" sz="1050" b="1">
                <a:solidFill>
                  <a:srgbClr val="0077B6"/>
                </a:solidFill>
                <a:latin typeface="Courier New"/>
                <a:cs typeface="Courier New"/>
              </a:rPr>
              <a:t>    print("Allowed")</a:t>
            </a:r>
          </a:p>
          <a:p>
            <a:pPr marL="0" indent="0" algn="l">
              <a:buNone/>
            </a:pPr>
            <a:r>
              <a:rPr lang="en-US" sz="1050" b="1">
                <a:solidFill>
                  <a:srgbClr val="0077B6"/>
                </a:solidFill>
                <a:latin typeface="Courier New"/>
                <a:cs typeface="Courier New"/>
              </a:rPr>
              <a:t>else:</a:t>
            </a:r>
          </a:p>
          <a:p>
            <a:pPr marL="0" indent="0" algn="l">
              <a:buNone/>
            </a:pPr>
            <a:r>
              <a:rPr lang="en-US" sz="1050" b="1">
                <a:solidFill>
                  <a:srgbClr val="0077B6"/>
                </a:solidFill>
                <a:latin typeface="Courier New"/>
                <a:cs typeface="Courier New"/>
              </a:rPr>
              <a:t>    print("Denied")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/>
          <p:cNvSpPr/>
          <p:nvPr/>
        </p:nvSpPr>
        <p:spPr>
          <a:xfrm>
            <a:off x="0" y="0"/>
            <a:ext cx="9144000" cy="1000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itle"/>
          <p:cNvSpPr/>
          <p:nvPr/>
        </p:nvSpPr>
        <p:spPr>
          <a:xfrm>
            <a:off x="365760" y="0"/>
            <a:ext cx="841248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>
                <a:solidFill>
                  <a:srgbClr val="FFFFFF"/>
                </a:solidFill>
              </a:rPr>
              <a:t>Introduction to Loops</a:t>
            </a:r>
            <a:endParaRPr lang="en-US" sz="2800" b="1"/>
          </a:p>
        </p:txBody>
      </p:sp>
      <p:sp>
        <p:nvSpPr>
          <p:cNvPr id="4" name="Intro Card"/>
          <p:cNvSpPr/>
          <p:nvPr/>
        </p:nvSpPr>
        <p:spPr>
          <a:xfrm>
            <a:off x="365760" y="1140000"/>
            <a:ext cx="8412480" cy="9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2A9D8F"/>
            </a:solidFill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 wrap="square" lIns="182880" tIns="100000" rIns="182880" bIns="100000" rtlCol="0" anchor="ctr"/>
          <a:lstStyle/>
          <a:p>
            <a:pPr marL="0" indent="0" algn="l">
              <a:buNone/>
            </a:pPr>
            <a:r>
              <a:rPr lang="en-US" sz="1450">
                <a:solidFill>
                  <a:srgbClr val="0D1B2A"/>
                </a:solidFill>
              </a:rPr>
              <a:t>Loops execute a block of code repeatedly until a condition becomes false or all elements in a sequence are processed.</a:t>
            </a:r>
          </a:p>
        </p:txBody>
      </p:sp>
      <p:sp>
        <p:nvSpPr>
          <p:cNvPr id="5" name="Types Card"/>
          <p:cNvSpPr/>
          <p:nvPr/>
        </p:nvSpPr>
        <p:spPr>
          <a:xfrm>
            <a:off x="365760" y="2180000"/>
            <a:ext cx="4180000" cy="276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0077B6"/>
            </a:solidFill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 wrap="square" lIns="182880" tIns="137160" rIns="182880" bIns="137160" rtlCol="0" anchor="t"/>
          <a:lstStyle/>
          <a:p>
            <a:pPr marL="0" indent="0" algn="l">
              <a:buNone/>
            </a:pPr>
            <a:r>
              <a:rPr lang="en-US" sz="1600" b="1">
                <a:solidFill>
                  <a:srgbClr val="0077B6"/>
                </a:solidFill>
              </a:rPr>
              <a:t>Types of Loops</a:t>
            </a:r>
          </a:p>
          <a:p>
            <a:pPr marL="0" indent="0" algn="l">
              <a:buNone/>
            </a:pPr>
            <a:endParaRPr lang="en-US" sz="600"/>
          </a:p>
          <a:p>
            <a:pPr marL="0" indent="0" algn="l">
              <a:buNone/>
            </a:pPr>
            <a:r>
              <a:rPr lang="en-US" sz="1400" b="1">
                <a:solidFill>
                  <a:srgbClr val="0077B6"/>
                </a:solidFill>
                <a:latin typeface="Courier New"/>
                <a:cs typeface="Courier New"/>
              </a:rPr>
              <a:t>for</a:t>
            </a:r>
            <a:r>
              <a:rPr lang="en-US" sz="1350" b="1">
                <a:solidFill>
                  <a:srgbClr val="0D1B2A"/>
                </a:solidFill>
              </a:rPr>
              <a:t> loop</a:t>
            </a:r>
          </a:p>
          <a:p>
            <a:pPr marL="0" indent="0" algn="l">
              <a:buNone/>
            </a:pPr>
            <a:r>
              <a:rPr lang="en-US" sz="1300">
                <a:solidFill>
                  <a:srgbClr val="495057"/>
                </a:solidFill>
              </a:rPr>
              <a:t>Used when the number of iterations is known.</a:t>
            </a:r>
          </a:p>
          <a:p>
            <a:pPr marL="0" indent="0" algn="l">
              <a:buNone/>
            </a:pPr>
            <a:endParaRPr lang="en-US" sz="500"/>
          </a:p>
          <a:p>
            <a:pPr marL="0" indent="0" algn="l">
              <a:buNone/>
            </a:pPr>
            <a:r>
              <a:rPr lang="en-US" sz="1400" b="1">
                <a:solidFill>
                  <a:srgbClr val="0077B6"/>
                </a:solidFill>
                <a:latin typeface="Courier New"/>
                <a:cs typeface="Courier New"/>
              </a:rPr>
              <a:t>while</a:t>
            </a:r>
            <a:r>
              <a:rPr lang="en-US" sz="1350" b="1">
                <a:solidFill>
                  <a:srgbClr val="0D1B2A"/>
                </a:solidFill>
              </a:rPr>
              <a:t> loop</a:t>
            </a:r>
          </a:p>
          <a:p>
            <a:pPr marL="0" indent="0" algn="l">
              <a:buNone/>
            </a:pPr>
            <a:r>
              <a:rPr lang="en-US" sz="1300">
                <a:solidFill>
                  <a:srgbClr val="495057"/>
                </a:solidFill>
              </a:rPr>
              <a:t>Used when repetition depends on a condition.</a:t>
            </a:r>
          </a:p>
        </p:txBody>
      </p:sp>
      <p:sp>
        <p:nvSpPr>
          <p:cNvPr id="6" name="Benefits Card"/>
          <p:cNvSpPr/>
          <p:nvPr/>
        </p:nvSpPr>
        <p:spPr>
          <a:xfrm>
            <a:off x="4773760" y="2180000"/>
            <a:ext cx="4004480" cy="276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2A9D8F"/>
            </a:solidFill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 wrap="square" lIns="182880" tIns="137160" rIns="182880" bIns="137160" rtlCol="0" anchor="t"/>
          <a:lstStyle/>
          <a:p>
            <a:pPr marL="0" indent="0" algn="l">
              <a:buNone/>
            </a:pPr>
            <a:r>
              <a:rPr lang="en-US" sz="1600" b="1">
                <a:solidFill>
                  <a:srgbClr val="1B7A6E"/>
                </a:solidFill>
              </a:rPr>
              <a:t>Benefits of Loops</a:t>
            </a:r>
          </a:p>
          <a:p>
            <a:pPr marL="0" indent="0" algn="l">
              <a:buNone/>
            </a:pPr>
            <a:endParaRPr lang="en-US" sz="600"/>
          </a:p>
          <a:p>
            <a:pPr marL="0" indent="0" algn="l">
              <a:buNone/>
            </a:pPr>
            <a:r>
              <a:rPr lang="en-US" sz="1400" b="1">
                <a:solidFill>
                  <a:srgbClr val="2A9D8F"/>
                </a:solidFill>
              </a:rPr>
              <a:t>✓ </a:t>
            </a:r>
            <a:r>
              <a:rPr lang="en-US" sz="1350">
                <a:solidFill>
                  <a:srgbClr val="0D1B2A"/>
                </a:solidFill>
              </a:rPr>
              <a:t>Reduce code repetition</a:t>
            </a:r>
          </a:p>
          <a:p>
            <a:pPr marL="0" indent="0" algn="l">
              <a:buNone/>
            </a:pPr>
            <a:r>
              <a:rPr lang="en-US" sz="1400" b="1">
                <a:solidFill>
                  <a:srgbClr val="2A9D8F"/>
                </a:solidFill>
              </a:rPr>
              <a:t>✓ </a:t>
            </a:r>
            <a:r>
              <a:rPr lang="en-US" sz="1350">
                <a:solidFill>
                  <a:srgbClr val="0D1B2A"/>
                </a:solidFill>
              </a:rPr>
              <a:t>Save time and effort</a:t>
            </a:r>
          </a:p>
          <a:p>
            <a:pPr marL="0" indent="0" algn="l">
              <a:buNone/>
            </a:pPr>
            <a:r>
              <a:rPr lang="en-US" sz="1400" b="1">
                <a:solidFill>
                  <a:srgbClr val="2A9D8F"/>
                </a:solidFill>
              </a:rPr>
              <a:t>✓ </a:t>
            </a:r>
            <a:r>
              <a:rPr lang="en-US" sz="1350">
                <a:solidFill>
                  <a:srgbClr val="0D1B2A"/>
                </a:solidFill>
              </a:rPr>
              <a:t>Process collections of data</a:t>
            </a:r>
          </a:p>
          <a:p>
            <a:pPr marL="0" indent="0" algn="l">
              <a:buNone/>
            </a:pPr>
            <a:r>
              <a:rPr lang="en-US" sz="1400" b="1">
                <a:solidFill>
                  <a:srgbClr val="2A9D8F"/>
                </a:solidFill>
              </a:rPr>
              <a:t>✓ </a:t>
            </a:r>
            <a:r>
              <a:rPr lang="en-US" sz="1350">
                <a:solidFill>
                  <a:srgbClr val="0D1B2A"/>
                </a:solidFill>
              </a:rPr>
              <a:t>Automate repetitive tasks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/>
          <p:cNvSpPr/>
          <p:nvPr/>
        </p:nvSpPr>
        <p:spPr>
          <a:xfrm>
            <a:off x="0" y="0"/>
            <a:ext cx="9144000" cy="1000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itle"/>
          <p:cNvSpPr/>
          <p:nvPr/>
        </p:nvSpPr>
        <p:spPr>
          <a:xfrm>
            <a:off x="365760" y="0"/>
            <a:ext cx="841248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>
                <a:solidFill>
                  <a:srgbClr val="FFFFFF"/>
                </a:solidFill>
              </a:rPr>
              <a:t>The for Loop &amp; range()</a:t>
            </a:r>
            <a:endParaRPr lang="en-US" sz="2800" b="1"/>
          </a:p>
        </p:txBody>
      </p:sp>
      <p:sp>
        <p:nvSpPr>
          <p:cNvPr id="4" name="Code Card"/>
          <p:cNvSpPr/>
          <p:nvPr/>
        </p:nvSpPr>
        <p:spPr>
          <a:xfrm>
            <a:off x="365760" y="1140000"/>
            <a:ext cx="4500000" cy="38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2A9D8F"/>
            </a:solidFill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 wrap="square" lIns="182880" tIns="120000" rIns="182880" bIns="120000" rtlCol="0" anchor="t"/>
          <a:lstStyle/>
          <a:p>
            <a:pPr marL="0" indent="0" algn="l">
              <a:buNone/>
            </a:pPr>
            <a:r>
              <a:rPr lang="en-US" sz="1300" b="1">
                <a:solidFill>
                  <a:srgbClr val="495057"/>
                </a:solidFill>
              </a:rPr>
              <a:t>Syntax</a:t>
            </a:r>
          </a:p>
          <a:p>
            <a:pPr marL="0" indent="0" algn="l">
              <a:buNone/>
            </a:pPr>
            <a:r>
              <a:rPr lang="en-US" sz="1300" b="1">
                <a:solidFill>
                  <a:srgbClr val="0077B6"/>
                </a:solidFill>
                <a:latin typeface="Courier New"/>
                <a:cs typeface="Courier New"/>
              </a:rPr>
              <a:t>for variable in sequence:</a:t>
            </a:r>
          </a:p>
          <a:p>
            <a:pPr marL="0" indent="0" algn="l">
              <a:buNone/>
            </a:pPr>
            <a:r>
              <a:rPr lang="en-US" sz="1300" b="1">
                <a:solidFill>
                  <a:srgbClr val="0077B6"/>
                </a:solidFill>
                <a:latin typeface="Courier New"/>
                <a:cs typeface="Courier New"/>
              </a:rPr>
              <a:t>    statements</a:t>
            </a:r>
          </a:p>
          <a:p>
            <a:pPr marL="0" indent="0" algn="l">
              <a:buNone/>
            </a:pPr>
            <a:endParaRPr lang="en-US" sz="600"/>
          </a:p>
          <a:p>
            <a:pPr marL="0" indent="0" algn="l">
              <a:buNone/>
            </a:pPr>
            <a:r>
              <a:rPr lang="en-US" sz="1300" b="1">
                <a:solidFill>
                  <a:srgbClr val="495057"/>
                </a:solidFill>
              </a:rPr>
              <a:t>Example</a:t>
            </a:r>
          </a:p>
          <a:p>
            <a:pPr marL="0" indent="0" algn="l">
              <a:buNone/>
            </a:pPr>
            <a:r>
              <a:rPr lang="en-US" sz="1300" b="1" dirty="0">
                <a:solidFill>
                  <a:srgbClr val="0077B6"/>
                </a:solidFill>
                <a:latin typeface="Courier New"/>
                <a:cs typeface="Courier New"/>
              </a:rPr>
              <a:t>for </a:t>
            </a:r>
            <a:r>
              <a:rPr lang="en-US" sz="1300" b="1" dirty="0" err="1">
                <a:solidFill>
                  <a:srgbClr val="0077B6"/>
                </a:solidFill>
                <a:latin typeface="Courier New"/>
                <a:cs typeface="Courier New"/>
              </a:rPr>
              <a:t>i</a:t>
            </a:r>
            <a:r>
              <a:rPr lang="en-US" sz="1300" b="1" dirty="0">
                <a:solidFill>
                  <a:srgbClr val="0077B6"/>
                </a:solidFill>
                <a:latin typeface="Courier New"/>
                <a:cs typeface="Courier New"/>
              </a:rPr>
              <a:t> in range(5):</a:t>
            </a:r>
          </a:p>
          <a:p>
            <a:pPr marL="0" indent="0" algn="l">
              <a:buNone/>
            </a:pPr>
            <a:r>
              <a:rPr lang="en-US" sz="1300" b="1" dirty="0">
                <a:solidFill>
                  <a:srgbClr val="0077B6"/>
                </a:solidFill>
                <a:latin typeface="Courier New"/>
                <a:cs typeface="Courier New"/>
              </a:rPr>
              <a:t>    print(</a:t>
            </a:r>
            <a:r>
              <a:rPr lang="en-US" sz="1300" b="1" dirty="0" err="1">
                <a:solidFill>
                  <a:srgbClr val="0077B6"/>
                </a:solidFill>
                <a:latin typeface="Courier New"/>
                <a:cs typeface="Courier New"/>
              </a:rPr>
              <a:t>i</a:t>
            </a:r>
            <a:r>
              <a:rPr lang="en-US" sz="1300" b="1" dirty="0">
                <a:solidFill>
                  <a:srgbClr val="0077B6"/>
                </a:solidFill>
                <a:latin typeface="Courier New"/>
                <a:cs typeface="Courier New"/>
              </a:rPr>
              <a:t>)</a:t>
            </a:r>
          </a:p>
          <a:p>
            <a:pPr marL="0" indent="0" algn="l">
              <a:buNone/>
            </a:pPr>
            <a:endParaRPr lang="en-US" sz="600"/>
          </a:p>
          <a:p>
            <a:pPr marL="0" indent="0" algn="l">
              <a:buNone/>
            </a:pPr>
            <a:r>
              <a:rPr lang="en-US" sz="1300" b="1">
                <a:solidFill>
                  <a:srgbClr val="495057"/>
                </a:solidFill>
              </a:rPr>
              <a:t>Output</a:t>
            </a:r>
          </a:p>
          <a:p>
            <a:pPr marL="0" indent="0" algn="l">
              <a:buNone/>
            </a:pPr>
            <a:r>
              <a:rPr lang="en-US" sz="1400" b="1">
                <a:solidFill>
                  <a:srgbClr val="1B7A6E"/>
                </a:solidFill>
                <a:latin typeface="Courier New"/>
                <a:cs typeface="Courier New"/>
              </a:rPr>
              <a:t>0  1  2  3  4</a:t>
            </a:r>
          </a:p>
        </p:txBody>
      </p:sp>
      <p:sp>
        <p:nvSpPr>
          <p:cNvPr id="5" name="Range Card"/>
          <p:cNvSpPr/>
          <p:nvPr/>
        </p:nvSpPr>
        <p:spPr>
          <a:xfrm>
            <a:off x="5093760" y="1140000"/>
            <a:ext cx="3684480" cy="38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0077B6"/>
            </a:solidFill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 wrap="square" lIns="182880" tIns="137160" rIns="182880" bIns="137160" rtlCol="0" anchor="t"/>
          <a:lstStyle/>
          <a:p>
            <a:pPr marL="0" indent="0" algn="l">
              <a:buNone/>
            </a:pPr>
            <a:r>
              <a:rPr lang="en-US" sz="1600" b="1">
                <a:solidFill>
                  <a:srgbClr val="0077B6"/>
                </a:solidFill>
              </a:rPr>
              <a:t>range() Function</a:t>
            </a:r>
          </a:p>
          <a:p>
            <a:pPr marL="0" indent="0" algn="l">
              <a:buNone/>
            </a:pPr>
            <a:endParaRPr lang="en-US" sz="700"/>
          </a:p>
          <a:p>
            <a:pPr marL="0" indent="0" algn="l">
              <a:buNone/>
            </a:pPr>
            <a:r>
              <a:rPr lang="en-US" sz="1300" b="1">
                <a:solidFill>
                  <a:srgbClr val="0077B6"/>
                </a:solidFill>
                <a:latin typeface="Courier New"/>
                <a:cs typeface="Courier New"/>
              </a:rPr>
              <a:t>range(5)</a:t>
            </a:r>
            <a:r>
              <a:rPr lang="en-US" sz="1300">
                <a:solidFill>
                  <a:srgbClr val="0D1B2A"/>
                </a:solidFill>
              </a:rPr>
              <a:t> → 0 to 4</a:t>
            </a:r>
          </a:p>
          <a:p>
            <a:pPr marL="0" indent="0" algn="l">
              <a:buNone/>
            </a:pPr>
            <a:endParaRPr lang="en-US" sz="400"/>
          </a:p>
          <a:p>
            <a:pPr marL="0" indent="0" algn="l">
              <a:buNone/>
            </a:pPr>
            <a:r>
              <a:rPr lang="en-US" sz="1300" b="1">
                <a:solidFill>
                  <a:srgbClr val="0077B6"/>
                </a:solidFill>
                <a:latin typeface="Courier New"/>
                <a:cs typeface="Courier New"/>
              </a:rPr>
              <a:t>range(1,6)</a:t>
            </a:r>
            <a:r>
              <a:rPr lang="en-US" sz="1300">
                <a:solidFill>
                  <a:srgbClr val="0D1B2A"/>
                </a:solidFill>
              </a:rPr>
              <a:t> → 1 to 5</a:t>
            </a:r>
          </a:p>
          <a:p>
            <a:pPr marL="0" indent="0" algn="l">
              <a:buNone/>
            </a:pPr>
            <a:endParaRPr lang="en-US" sz="400"/>
          </a:p>
          <a:p>
            <a:pPr marL="0" indent="0" algn="l">
              <a:buNone/>
            </a:pPr>
            <a:r>
              <a:rPr lang="en-US" sz="1300" b="1">
                <a:solidFill>
                  <a:srgbClr val="0077B6"/>
                </a:solidFill>
                <a:latin typeface="Courier New"/>
                <a:cs typeface="Courier New"/>
              </a:rPr>
              <a:t>range(1,10,2)</a:t>
            </a:r>
          </a:p>
          <a:p>
            <a:pPr marL="0" indent="0" algn="l">
              <a:buNone/>
            </a:pPr>
            <a:r>
              <a:rPr lang="en-US" sz="1300">
                <a:solidFill>
                  <a:srgbClr val="0D1B2A"/>
                </a:solidFill>
              </a:rPr>
              <a:t>→ 1, 3, 5, 7, 9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/>
          <p:cNvSpPr/>
          <p:nvPr/>
        </p:nvSpPr>
        <p:spPr>
          <a:xfrm>
            <a:off x="0" y="0"/>
            <a:ext cx="9144000" cy="1000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itle"/>
          <p:cNvSpPr/>
          <p:nvPr/>
        </p:nvSpPr>
        <p:spPr>
          <a:xfrm>
            <a:off x="365760" y="0"/>
            <a:ext cx="841248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>
                <a:solidFill>
                  <a:srgbClr val="FFFFFF"/>
                </a:solidFill>
              </a:rPr>
              <a:t>The while Loop</a:t>
            </a:r>
            <a:endParaRPr lang="en-US" sz="2800" b="1"/>
          </a:p>
        </p:txBody>
      </p:sp>
      <p:sp>
        <p:nvSpPr>
          <p:cNvPr id="4" name="Code Card"/>
          <p:cNvSpPr/>
          <p:nvPr/>
        </p:nvSpPr>
        <p:spPr>
          <a:xfrm>
            <a:off x="365760" y="1140000"/>
            <a:ext cx="4500000" cy="38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2A9D8F"/>
            </a:solidFill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 wrap="square" lIns="182880" tIns="120000" rIns="182880" bIns="120000" rtlCol="0" anchor="t"/>
          <a:lstStyle/>
          <a:p>
            <a:pPr marL="0" indent="0" algn="l">
              <a:buNone/>
            </a:pPr>
            <a:r>
              <a:rPr lang="en-US" sz="1300" b="1">
                <a:solidFill>
                  <a:srgbClr val="495057"/>
                </a:solidFill>
              </a:rPr>
              <a:t>Syntax</a:t>
            </a:r>
          </a:p>
          <a:p>
            <a:pPr marL="0" indent="0" algn="l">
              <a:buNone/>
            </a:pPr>
            <a:r>
              <a:rPr lang="en-US" sz="1300" b="1">
                <a:solidFill>
                  <a:srgbClr val="0077B6"/>
                </a:solidFill>
                <a:latin typeface="Courier New"/>
                <a:cs typeface="Courier New"/>
              </a:rPr>
              <a:t>while condition:</a:t>
            </a:r>
          </a:p>
          <a:p>
            <a:pPr marL="0" indent="0" algn="l">
              <a:buNone/>
            </a:pPr>
            <a:r>
              <a:rPr lang="en-US" sz="1300" b="1">
                <a:solidFill>
                  <a:srgbClr val="0077B6"/>
                </a:solidFill>
                <a:latin typeface="Courier New"/>
                <a:cs typeface="Courier New"/>
              </a:rPr>
              <a:t>    statements</a:t>
            </a:r>
          </a:p>
          <a:p>
            <a:pPr marL="0" indent="0" algn="l">
              <a:buNone/>
            </a:pPr>
            <a:endParaRPr lang="en-US" sz="600"/>
          </a:p>
          <a:p>
            <a:pPr marL="0" indent="0" algn="l">
              <a:buNone/>
            </a:pPr>
            <a:r>
              <a:rPr lang="en-US" sz="1300" b="1">
                <a:solidFill>
                  <a:srgbClr val="495057"/>
                </a:solidFill>
              </a:rPr>
              <a:t>Example</a:t>
            </a:r>
          </a:p>
          <a:p>
            <a:pPr marL="0" indent="0" algn="l">
              <a:buNone/>
            </a:pPr>
            <a:r>
              <a:rPr lang="en-US" sz="1300" b="1">
                <a:solidFill>
                  <a:srgbClr val="0077B6"/>
                </a:solidFill>
                <a:latin typeface="Courier New"/>
                <a:cs typeface="Courier New"/>
              </a:rPr>
              <a:t>count = 1</a:t>
            </a:r>
          </a:p>
          <a:p>
            <a:pPr marL="0" indent="0" algn="l">
              <a:buNone/>
            </a:pPr>
            <a:r>
              <a:rPr lang="en-US" sz="1300" b="1">
                <a:solidFill>
                  <a:srgbClr val="0077B6"/>
                </a:solidFill>
                <a:latin typeface="Courier New"/>
                <a:cs typeface="Courier New"/>
              </a:rPr>
              <a:t>while count &lt;= 5:</a:t>
            </a:r>
          </a:p>
          <a:p>
            <a:pPr marL="0" indent="0" algn="l">
              <a:buNone/>
            </a:pPr>
            <a:r>
              <a:rPr lang="en-US" sz="1300" b="1">
                <a:solidFill>
                  <a:srgbClr val="0077B6"/>
                </a:solidFill>
                <a:latin typeface="Courier New"/>
                <a:cs typeface="Courier New"/>
              </a:rPr>
              <a:t>    print(count)</a:t>
            </a:r>
          </a:p>
          <a:p>
            <a:pPr marL="0" indent="0" algn="l">
              <a:buNone/>
            </a:pPr>
            <a:r>
              <a:rPr lang="en-US" sz="1300" b="1">
                <a:solidFill>
                  <a:srgbClr val="0077B6"/>
                </a:solidFill>
                <a:latin typeface="Courier New"/>
                <a:cs typeface="Courier New"/>
              </a:rPr>
              <a:t>    count += 1</a:t>
            </a:r>
          </a:p>
          <a:p>
            <a:pPr marL="0" indent="0" algn="l">
              <a:buNone/>
            </a:pPr>
            <a:endParaRPr lang="en-US" sz="600"/>
          </a:p>
          <a:p>
            <a:pPr marL="0" indent="0" algn="l">
              <a:buNone/>
            </a:pPr>
            <a:r>
              <a:rPr lang="en-US" sz="1300" b="1">
                <a:solidFill>
                  <a:srgbClr val="495057"/>
                </a:solidFill>
              </a:rPr>
              <a:t>Output</a:t>
            </a:r>
          </a:p>
          <a:p>
            <a:pPr marL="0" indent="0" algn="l">
              <a:buNone/>
            </a:pPr>
            <a:r>
              <a:rPr lang="en-US" sz="1400" b="1">
                <a:solidFill>
                  <a:srgbClr val="1B7A6E"/>
                </a:solidFill>
                <a:latin typeface="Courier New"/>
                <a:cs typeface="Courier New"/>
              </a:rPr>
              <a:t>1  2  3  4  5</a:t>
            </a:r>
          </a:p>
        </p:txBody>
      </p:sp>
      <p:sp>
        <p:nvSpPr>
          <p:cNvPr id="5" name="Warning Card"/>
          <p:cNvSpPr/>
          <p:nvPr/>
        </p:nvSpPr>
        <p:spPr>
          <a:xfrm>
            <a:off x="5093760" y="1140000"/>
            <a:ext cx="3684480" cy="3800000"/>
          </a:xfrm>
          <a:prstGeom prst="roundRect">
            <a:avLst>
              <a:gd name="adj" fmla="val 3000"/>
            </a:avLst>
          </a:prstGeom>
          <a:solidFill>
            <a:srgbClr val="FFF4E6"/>
          </a:solidFill>
          <a:ln w="19050">
            <a:solidFill>
              <a:srgbClr val="E07A1F"/>
            </a:solidFill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 wrap="square" lIns="182880" tIns="137160" rIns="182880" bIns="137160" rtlCol="0" anchor="t"/>
          <a:lstStyle/>
          <a:p>
            <a:pPr marL="0" indent="0" algn="l">
              <a:buNone/>
            </a:pPr>
            <a:r>
              <a:rPr lang="en-US" sz="1600" b="1">
                <a:solidFill>
                  <a:srgbClr val="B5560B"/>
                </a:solidFill>
              </a:rPr>
              <a:t>Be Careful</a:t>
            </a:r>
          </a:p>
          <a:p>
            <a:pPr marL="0" indent="0" algn="l">
              <a:buNone/>
            </a:pPr>
            <a:endParaRPr lang="en-US" sz="700"/>
          </a:p>
          <a:p>
            <a:pPr marL="0" indent="0" algn="l">
              <a:buNone/>
            </a:pPr>
            <a:r>
              <a:rPr lang="en-US" sz="1400">
                <a:solidFill>
                  <a:srgbClr val="0D1B2A"/>
                </a:solidFill>
              </a:rPr>
              <a:t>If the condition never becomes False, an infinite loop occurs.</a:t>
            </a:r>
          </a:p>
          <a:p>
            <a:pPr marL="0" indent="0" algn="l">
              <a:buNone/>
            </a:pPr>
            <a:endParaRPr lang="en-US" sz="700"/>
          </a:p>
          <a:p>
            <a:pPr marL="0" indent="0" algn="l">
              <a:buNone/>
            </a:pPr>
            <a:r>
              <a:rPr lang="en-US" sz="1300">
                <a:solidFill>
                  <a:srgbClr val="495057"/>
                </a:solidFill>
              </a:rPr>
              <a:t>Always update the variable used in the condition so the loop can end.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/>
          <p:cNvSpPr/>
          <p:nvPr/>
        </p:nvSpPr>
        <p:spPr>
          <a:xfrm>
            <a:off x="0" y="0"/>
            <a:ext cx="9144000" cy="1000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itle"/>
          <p:cNvSpPr/>
          <p:nvPr/>
        </p:nvSpPr>
        <p:spPr>
          <a:xfrm>
            <a:off x="365760" y="0"/>
            <a:ext cx="841248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>
                <a:solidFill>
                  <a:srgbClr val="FFFFFF"/>
                </a:solidFill>
              </a:rPr>
              <a:t>Loop Control Statements</a:t>
            </a:r>
            <a:endParaRPr lang="en-US" sz="2800" b="1"/>
          </a:p>
        </p:txBody>
      </p:sp>
      <p:sp>
        <p:nvSpPr>
          <p:cNvPr id="4" name="Break Card"/>
          <p:cNvSpPr/>
          <p:nvPr/>
        </p:nvSpPr>
        <p:spPr>
          <a:xfrm>
            <a:off x="365760" y="1140000"/>
            <a:ext cx="2658000" cy="38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2A9D8F"/>
            </a:solidFill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 wrap="square" lIns="137160" tIns="120000" rIns="137160" bIns="120000" rtlCol="0" anchor="t"/>
          <a:lstStyle/>
          <a:p>
            <a:pPr marL="0" indent="0" algn="l">
              <a:buNone/>
            </a:pPr>
            <a:r>
              <a:rPr lang="en-US" sz="1500" b="1">
                <a:solidFill>
                  <a:srgbClr val="1B7A6E"/>
                </a:solidFill>
                <a:latin typeface="Courier New"/>
                <a:cs typeface="Courier New"/>
              </a:rPr>
              <a:t>break</a:t>
            </a:r>
          </a:p>
          <a:p>
            <a:pPr marL="0" indent="0" algn="l">
              <a:buNone/>
            </a:pPr>
            <a:r>
              <a:rPr lang="en-US" sz="1250">
                <a:solidFill>
                  <a:srgbClr val="495057"/>
                </a:solidFill>
              </a:rPr>
              <a:t>Terminates the loop immediately.</a:t>
            </a:r>
          </a:p>
          <a:p>
            <a:pPr marL="0" indent="0" algn="l">
              <a:buNone/>
            </a:pPr>
            <a:endParaRPr lang="en-US" sz="600"/>
          </a:p>
          <a:p>
            <a:pPr marL="0" indent="0" algn="l">
              <a:buNone/>
            </a:pPr>
            <a:r>
              <a:rPr lang="en-US" sz="1100" b="1">
                <a:solidFill>
                  <a:srgbClr val="0077B6"/>
                </a:solidFill>
                <a:latin typeface="Courier New"/>
                <a:cs typeface="Courier New"/>
              </a:rPr>
              <a:t>for i in range(5):</a:t>
            </a:r>
          </a:p>
          <a:p>
            <a:pPr marL="0" indent="0" algn="l">
              <a:buNone/>
            </a:pPr>
            <a:r>
              <a:rPr lang="en-US" sz="1100" b="1">
                <a:solidFill>
                  <a:srgbClr val="0077B6"/>
                </a:solidFill>
                <a:latin typeface="Courier New"/>
                <a:cs typeface="Courier New"/>
              </a:rPr>
              <a:t>    if i == 3:</a:t>
            </a:r>
          </a:p>
          <a:p>
            <a:pPr marL="0" indent="0" algn="l">
              <a:buNone/>
            </a:pPr>
            <a:r>
              <a:rPr lang="en-US" sz="1100" b="1">
                <a:solidFill>
                  <a:srgbClr val="0077B6"/>
                </a:solidFill>
                <a:latin typeface="Courier New"/>
                <a:cs typeface="Courier New"/>
              </a:rPr>
              <a:t>        break</a:t>
            </a:r>
          </a:p>
          <a:p>
            <a:pPr marL="0" indent="0" algn="l">
              <a:buNone/>
            </a:pPr>
            <a:r>
              <a:rPr lang="en-US" sz="1100" b="1">
                <a:solidFill>
                  <a:srgbClr val="0077B6"/>
                </a:solidFill>
                <a:latin typeface="Courier New"/>
                <a:cs typeface="Courier New"/>
              </a:rPr>
              <a:t>    print(i)</a:t>
            </a:r>
          </a:p>
          <a:p>
            <a:pPr marL="0" indent="0" algn="l">
              <a:buNone/>
            </a:pPr>
            <a:endParaRPr lang="en-US" sz="600"/>
          </a:p>
          <a:p>
            <a:pPr marL="0" indent="0" algn="l">
              <a:buNone/>
            </a:pPr>
            <a:r>
              <a:rPr lang="en-US" sz="1150" b="1">
                <a:solidFill>
                  <a:srgbClr val="495057"/>
                </a:solidFill>
              </a:rPr>
              <a:t>Output: </a:t>
            </a:r>
            <a:r>
              <a:rPr lang="en-US" sz="1150" b="1">
                <a:solidFill>
                  <a:srgbClr val="1B7A6E"/>
                </a:solidFill>
                <a:latin typeface="Courier New"/>
                <a:cs typeface="Courier New"/>
              </a:rPr>
              <a:t>0 1 2</a:t>
            </a:r>
          </a:p>
        </p:txBody>
      </p:sp>
      <p:sp>
        <p:nvSpPr>
          <p:cNvPr id="5" name="Continue Card"/>
          <p:cNvSpPr/>
          <p:nvPr/>
        </p:nvSpPr>
        <p:spPr>
          <a:xfrm>
            <a:off x="3243760" y="1140000"/>
            <a:ext cx="2658000" cy="38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0077B6"/>
            </a:solidFill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 wrap="square" lIns="137160" tIns="120000" rIns="137160" bIns="120000" rtlCol="0" anchor="t"/>
          <a:lstStyle/>
          <a:p>
            <a:pPr marL="0" indent="0" algn="l">
              <a:buNone/>
            </a:pPr>
            <a:r>
              <a:rPr lang="en-US" sz="1500" b="1">
                <a:solidFill>
                  <a:srgbClr val="0077B6"/>
                </a:solidFill>
                <a:latin typeface="Courier New"/>
                <a:cs typeface="Courier New"/>
              </a:rPr>
              <a:t>continue</a:t>
            </a:r>
          </a:p>
          <a:p>
            <a:pPr marL="0" indent="0" algn="l">
              <a:buNone/>
            </a:pPr>
            <a:r>
              <a:rPr lang="en-US" sz="1250">
                <a:solidFill>
                  <a:srgbClr val="495057"/>
                </a:solidFill>
              </a:rPr>
              <a:t>Skips the current iteration.</a:t>
            </a:r>
          </a:p>
          <a:p>
            <a:pPr marL="0" indent="0" algn="l">
              <a:buNone/>
            </a:pPr>
            <a:endParaRPr lang="en-US" sz="600"/>
          </a:p>
          <a:p>
            <a:pPr marL="0" indent="0" algn="l">
              <a:buNone/>
            </a:pPr>
            <a:r>
              <a:rPr lang="en-US" sz="1100" b="1">
                <a:solidFill>
                  <a:srgbClr val="0077B6"/>
                </a:solidFill>
                <a:latin typeface="Courier New"/>
                <a:cs typeface="Courier New"/>
              </a:rPr>
              <a:t>for i in range(5):</a:t>
            </a:r>
          </a:p>
          <a:p>
            <a:pPr marL="0" indent="0" algn="l">
              <a:buNone/>
            </a:pPr>
            <a:r>
              <a:rPr lang="en-US" sz="1100" b="1">
                <a:solidFill>
                  <a:srgbClr val="0077B6"/>
                </a:solidFill>
                <a:latin typeface="Courier New"/>
                <a:cs typeface="Courier New"/>
              </a:rPr>
              <a:t>    if i == 2:</a:t>
            </a:r>
          </a:p>
          <a:p>
            <a:pPr marL="0" indent="0" algn="l">
              <a:buNone/>
            </a:pPr>
            <a:r>
              <a:rPr lang="en-US" sz="1100" b="1">
                <a:solidFill>
                  <a:srgbClr val="0077B6"/>
                </a:solidFill>
                <a:latin typeface="Courier New"/>
                <a:cs typeface="Courier New"/>
              </a:rPr>
              <a:t>        continue</a:t>
            </a:r>
          </a:p>
          <a:p>
            <a:pPr marL="0" indent="0" algn="l">
              <a:buNone/>
            </a:pPr>
            <a:r>
              <a:rPr lang="en-US" sz="1100" b="1">
                <a:solidFill>
                  <a:srgbClr val="0077B6"/>
                </a:solidFill>
                <a:latin typeface="Courier New"/>
                <a:cs typeface="Courier New"/>
              </a:rPr>
              <a:t>    print(i)</a:t>
            </a:r>
          </a:p>
          <a:p>
            <a:pPr marL="0" indent="0" algn="l">
              <a:buNone/>
            </a:pPr>
            <a:endParaRPr lang="en-US" sz="600"/>
          </a:p>
          <a:p>
            <a:pPr marL="0" indent="0" algn="l">
              <a:buNone/>
            </a:pPr>
            <a:r>
              <a:rPr lang="en-US" sz="1150" b="1">
                <a:solidFill>
                  <a:srgbClr val="495057"/>
                </a:solidFill>
              </a:rPr>
              <a:t>Output: </a:t>
            </a:r>
            <a:r>
              <a:rPr lang="en-US" sz="1150" b="1">
                <a:solidFill>
                  <a:srgbClr val="1B7A6E"/>
                </a:solidFill>
                <a:latin typeface="Courier New"/>
                <a:cs typeface="Courier New"/>
              </a:rPr>
              <a:t>0 1 3 4</a:t>
            </a:r>
          </a:p>
        </p:txBody>
      </p:sp>
      <p:sp>
        <p:nvSpPr>
          <p:cNvPr id="6" name="Pass Card"/>
          <p:cNvSpPr/>
          <p:nvPr/>
        </p:nvSpPr>
        <p:spPr>
          <a:xfrm>
            <a:off x="6121760" y="1140000"/>
            <a:ext cx="2656480" cy="38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2A9D8F"/>
            </a:solidFill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 wrap="square" lIns="137160" tIns="120000" rIns="137160" bIns="120000" rtlCol="0" anchor="t"/>
          <a:lstStyle/>
          <a:p>
            <a:pPr marL="0" indent="0" algn="l">
              <a:buNone/>
            </a:pPr>
            <a:r>
              <a:rPr lang="en-US" sz="1500" b="1">
                <a:solidFill>
                  <a:srgbClr val="1B7A6E"/>
                </a:solidFill>
                <a:latin typeface="Courier New"/>
                <a:cs typeface="Courier New"/>
              </a:rPr>
              <a:t>pass</a:t>
            </a:r>
          </a:p>
          <a:p>
            <a:pPr marL="0" indent="0" algn="l">
              <a:buNone/>
            </a:pPr>
            <a:r>
              <a:rPr lang="en-US" sz="1250">
                <a:solidFill>
                  <a:srgbClr val="495057"/>
                </a:solidFill>
              </a:rPr>
              <a:t>Acts as a placeholder and performs no action.</a:t>
            </a:r>
          </a:p>
          <a:p>
            <a:pPr marL="0" indent="0" algn="l">
              <a:buNone/>
            </a:pPr>
            <a:endParaRPr lang="en-US" sz="600"/>
          </a:p>
          <a:p>
            <a:pPr marL="0" indent="0" algn="l">
              <a:buNone/>
            </a:pPr>
            <a:r>
              <a:rPr lang="en-US" sz="1100" b="1">
                <a:solidFill>
                  <a:srgbClr val="0077B6"/>
                </a:solidFill>
                <a:latin typeface="Courier New"/>
                <a:cs typeface="Courier New"/>
              </a:rPr>
              <a:t>if True:</a:t>
            </a:r>
          </a:p>
          <a:p>
            <a:pPr marL="0" indent="0" algn="l">
              <a:buNone/>
            </a:pPr>
            <a:r>
              <a:rPr lang="en-US" sz="1100" b="1">
                <a:solidFill>
                  <a:srgbClr val="0077B6"/>
                </a:solidFill>
                <a:latin typeface="Courier New"/>
                <a:cs typeface="Courier New"/>
              </a:rPr>
              <a:t>    pass</a:t>
            </a:r>
          </a:p>
          <a:p>
            <a:pPr marL="0" indent="0" algn="l">
              <a:buNone/>
            </a:pPr>
            <a:endParaRPr lang="en-US" sz="600"/>
          </a:p>
          <a:p>
            <a:pPr marL="0" indent="0" algn="l">
              <a:buNone/>
            </a:pPr>
            <a:r>
              <a:rPr lang="en-US" sz="1250">
                <a:solidFill>
                  <a:srgbClr val="0D1B2A"/>
                </a:solidFill>
              </a:rPr>
              <a:t>Useful where code is required but you have nothing to run yet.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Day 2 Practical — Number Guessing Game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2754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D1B2A"/>
                </a:solidFill>
              </a:rPr>
              <a:t>Combine random module + while loop + if-elif-else to build an interactive game!</a:t>
            </a:r>
            <a:endParaRPr lang="en-US" sz="1400" dirty="0"/>
          </a:p>
        </p:txBody>
      </p:sp>
      <p:pic>
        <p:nvPicPr>
          <p:cNvPr id="5" name="Picture 4" descr="A computer screen shot of a black screen&#10;&#10;AI-generated content may be incorrect.">
            <a:extLst>
              <a:ext uri="{FF2B5EF4-FFF2-40B4-BE49-F238E27FC236}">
                <a16:creationId xmlns:a16="http://schemas.microsoft.com/office/drawing/2014/main" id="{FC1EA87F-164E-9158-2C7F-66B419B667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9940" y="1191986"/>
            <a:ext cx="5055007" cy="3766458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B4D8"/>
                </a:solidFill>
              </a:rPr>
              <a:t>🧠 Practice Questions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65760" y="465909"/>
            <a:ext cx="8412480" cy="7119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Day 2 — Practice Questions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170215"/>
            <a:ext cx="8229600" cy="367610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FFD166"/>
                </a:solidFill>
              </a:rPr>
              <a:t>Q1.  </a:t>
            </a:r>
            <a:r>
              <a:rPr lang="en-US" sz="1400" dirty="0">
                <a:solidFill>
                  <a:srgbClr val="FFFFFF"/>
                </a:solidFill>
              </a:rPr>
              <a:t>Write an if-else program to check if a number entered by the user is positive, negative, or zero.</a:t>
            </a:r>
            <a:endParaRPr lang="en-US" sz="1400">
              <a:ea typeface="Calibri"/>
              <a:cs typeface="Calibri"/>
            </a:endParaRPr>
          </a:p>
          <a:p>
            <a:pPr marL="0" indent="0" algn="l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FFD166"/>
                </a:solidFill>
              </a:rPr>
              <a:t>Q2.  </a:t>
            </a:r>
            <a:r>
              <a:rPr lang="en-US" sz="1400" dirty="0">
                <a:solidFill>
                  <a:srgbClr val="FFFFFF"/>
                </a:solidFill>
              </a:rPr>
              <a:t>Print a multiplication table for any number entered by the user (using a for loop).</a:t>
            </a:r>
            <a:endParaRPr lang="en-US" sz="1400">
              <a:ea typeface="Calibri"/>
              <a:cs typeface="Calibri"/>
            </a:endParaRPr>
          </a:p>
          <a:p>
            <a:pPr marL="0" indent="0" algn="l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FFD166"/>
                </a:solidFill>
              </a:rPr>
              <a:t>Q3.  </a:t>
            </a:r>
            <a:r>
              <a:rPr lang="en-US" sz="1400" dirty="0">
                <a:solidFill>
                  <a:srgbClr val="FFFFFF"/>
                </a:solidFill>
              </a:rPr>
              <a:t>Using a while loop, keep asking the user for a number until they enter 0. Print the sum of all numbers entered.</a:t>
            </a:r>
            <a:endParaRPr lang="en-US" sz="1400">
              <a:ea typeface="Calibri"/>
              <a:cs typeface="Calibri"/>
            </a:endParaRPr>
          </a:p>
          <a:p>
            <a:pPr marL="0" indent="0" algn="l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FFD166"/>
                </a:solidFill>
              </a:rPr>
              <a:t>Q4.  </a:t>
            </a:r>
            <a:r>
              <a:rPr lang="en-US" sz="1400" dirty="0">
                <a:solidFill>
                  <a:srgbClr val="FFFFFF"/>
                </a:solidFill>
              </a:rPr>
              <a:t>Write a program that prints numbers 1–20 but skips multiples of 3 (use continue).</a:t>
            </a:r>
            <a:endParaRPr lang="en-US" sz="1400">
              <a:ea typeface="Calibri"/>
              <a:cs typeface="Calibri"/>
            </a:endParaRPr>
          </a:p>
          <a:p>
            <a:pPr marL="0" indent="0" algn="l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FFD166"/>
                </a:solidFill>
              </a:rPr>
              <a:t>Q5.  </a:t>
            </a:r>
            <a:r>
              <a:rPr lang="en-US" sz="1400" dirty="0">
                <a:solidFill>
                  <a:srgbClr val="FFFFFF"/>
                </a:solidFill>
              </a:rPr>
              <a:t>Modify the Number Guessing Game: add a maximum attempts limit of 7. If exceeded, print 'Game over!'</a:t>
            </a:r>
            <a:endParaRPr lang="en-US" sz="1400" dirty="0">
              <a:solidFill>
                <a:srgbClr val="FFFFFF"/>
              </a:solidFill>
              <a:ea typeface="Calibri"/>
              <a:cs typeface="Calibri"/>
            </a:endParaRPr>
          </a:p>
          <a:p>
            <a:pPr>
              <a:spcAft>
                <a:spcPts val="1200"/>
              </a:spcAft>
            </a:pPr>
            <a:r>
              <a:rPr lang="en-US" sz="1400" b="1" dirty="0">
                <a:solidFill>
                  <a:srgbClr val="FFD166"/>
                </a:solidFill>
                <a:ea typeface="+mn-lt"/>
                <a:cs typeface="+mn-lt"/>
              </a:rPr>
              <a:t>Q6. </a:t>
            </a:r>
            <a:r>
              <a:rPr lang="en-US" sz="1400" dirty="0">
                <a:solidFill>
                  <a:srgbClr val="FFFFFF"/>
                </a:solidFill>
                <a:ea typeface="+mn-lt"/>
                <a:cs typeface="+mn-lt"/>
              </a:rPr>
              <a:t>Take a student's marks as input and print their grade using an </a:t>
            </a:r>
            <a:r>
              <a:rPr lang="en-US" sz="1400" dirty="0" err="1">
                <a:solidFill>
                  <a:srgbClr val="FFFFFF"/>
                </a:solidFill>
                <a:ea typeface="+mn-lt"/>
                <a:cs typeface="+mn-lt"/>
              </a:rPr>
              <a:t>elif</a:t>
            </a:r>
            <a:r>
              <a:rPr lang="en-US" sz="1400" dirty="0">
                <a:solidFill>
                  <a:srgbClr val="FFFFFF"/>
                </a:solidFill>
                <a:ea typeface="+mn-lt"/>
                <a:cs typeface="+mn-lt"/>
              </a:rPr>
              <a:t> chain: 90+ → "A+", 75–89 → "A", 60–74 → "B", below 60 → "Fail".</a:t>
            </a:r>
          </a:p>
          <a:p>
            <a:pPr>
              <a:spcAft>
                <a:spcPts val="1200"/>
              </a:spcAft>
            </a:pPr>
            <a:r>
              <a:rPr lang="en-US" sz="1400" b="1">
                <a:solidFill>
                  <a:srgbClr val="FFD166"/>
                </a:solidFill>
                <a:ea typeface="+mn-lt"/>
                <a:cs typeface="+mn-lt"/>
              </a:rPr>
              <a:t>Q7. </a:t>
            </a:r>
            <a:r>
              <a:rPr lang="en-US" sz="1400">
                <a:solidFill>
                  <a:srgbClr val="FFFFFF"/>
                </a:solidFill>
                <a:ea typeface="+mn-lt"/>
                <a:cs typeface="+mn-lt"/>
              </a:rPr>
              <a:t>Write a login check using nested if statements: first check if the username matches </a:t>
            </a:r>
            <a:r>
              <a:rPr lang="en-US" sz="14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"admin"</a:t>
            </a:r>
            <a:r>
              <a:rPr lang="en-US" sz="1400" dirty="0">
                <a:solidFill>
                  <a:srgbClr val="FFFFFF"/>
                </a:solidFill>
                <a:ea typeface="+mn-lt"/>
                <a:cs typeface="+mn-lt"/>
              </a:rPr>
              <a:t>, and only if it does, check if the password matches </a:t>
            </a:r>
            <a:r>
              <a:rPr lang="en-US" sz="14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"1234"</a:t>
            </a:r>
            <a:r>
              <a:rPr lang="en-US" sz="1400" dirty="0">
                <a:solidFill>
                  <a:srgbClr val="FFFFFF"/>
                </a:solidFill>
                <a:ea typeface="+mn-lt"/>
                <a:cs typeface="+mn-lt"/>
              </a:rPr>
              <a:t>. Print </a:t>
            </a:r>
            <a:r>
              <a:rPr lang="en-US" sz="14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"Access granted"</a:t>
            </a:r>
            <a:r>
              <a:rPr lang="en-US" sz="1400" dirty="0">
                <a:solidFill>
                  <a:srgbClr val="FFFFFF"/>
                </a:solidFill>
                <a:ea typeface="+mn-lt"/>
                <a:cs typeface="+mn-lt"/>
              </a:rPr>
              <a:t>, </a:t>
            </a:r>
            <a:r>
              <a:rPr lang="en-US" sz="14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"Wrong password"</a:t>
            </a:r>
            <a:r>
              <a:rPr lang="en-US" sz="1400" dirty="0">
                <a:solidFill>
                  <a:srgbClr val="FFFFFF"/>
                </a:solidFill>
                <a:ea typeface="+mn-lt"/>
                <a:cs typeface="+mn-lt"/>
              </a:rPr>
              <a:t>, or </a:t>
            </a:r>
            <a:r>
              <a:rPr lang="en-US" sz="14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"Unknown user"</a:t>
            </a:r>
            <a:r>
              <a:rPr lang="en-US" sz="1400" dirty="0">
                <a:solidFill>
                  <a:srgbClr val="FFFFFF"/>
                </a:solidFill>
                <a:ea typeface="+mn-lt"/>
                <a:cs typeface="+mn-lt"/>
              </a:rPr>
              <a:t> accordingly.</a:t>
            </a:r>
            <a:endParaRPr lang="en-US" sz="14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194560" cy="411480"/>
          </a:xfrm>
          <a:prstGeom prst="roundRect">
            <a:avLst>
              <a:gd name="adj" fmla="val 17778"/>
            </a:avLst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DAY 3 / WEEK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</a:rPr>
              <a:t>Day 3 — Fri, Jul 3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514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0B4D8"/>
                </a:solidFill>
              </a:rPr>
              <a:t>Functions — DRY Principle · Parameters · Return Values · Built-ins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0" y="3200400"/>
            <a:ext cx="2286000" cy="2286000"/>
          </a:xfrm>
          <a:prstGeom prst="ellipse">
            <a:avLst/>
          </a:prstGeom>
          <a:solidFill>
            <a:srgbClr val="00B4D8">
              <a:alpha val="1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046720" y="2560320"/>
            <a:ext cx="1097280" cy="1097280"/>
          </a:xfrm>
          <a:prstGeom prst="ellipse">
            <a:avLst/>
          </a:prstGeom>
          <a:solidFill>
            <a:srgbClr val="00B4D8">
              <a:alpha val="30000"/>
            </a:srgbClr>
          </a:solidFill>
          <a:ln/>
        </p:spPr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/>
          <p:cNvSpPr/>
          <p:nvPr/>
        </p:nvSpPr>
        <p:spPr>
          <a:xfrm>
            <a:off x="0" y="0"/>
            <a:ext cx="9144000" cy="1000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itle"/>
          <p:cNvSpPr/>
          <p:nvPr/>
        </p:nvSpPr>
        <p:spPr>
          <a:xfrm>
            <a:off x="365760" y="0"/>
            <a:ext cx="841248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>
                <a:solidFill>
                  <a:srgbClr val="FFFFFF"/>
                </a:solidFill>
              </a:rPr>
              <a:t>Introduction to Functions</a:t>
            </a:r>
            <a:endParaRPr lang="en-US" sz="2800" b="1"/>
          </a:p>
        </p:txBody>
      </p:sp>
      <p:sp>
        <p:nvSpPr>
          <p:cNvPr id="4" name="Intro Card"/>
          <p:cNvSpPr/>
          <p:nvPr/>
        </p:nvSpPr>
        <p:spPr>
          <a:xfrm>
            <a:off x="365760" y="1140000"/>
            <a:ext cx="8412480" cy="76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2A9D8F"/>
            </a:solidFill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 wrap="square" lIns="182880" tIns="100000" rIns="182880" bIns="100000" rtlCol="0" anchor="ctr"/>
          <a:lstStyle/>
          <a:p>
            <a:pPr marL="0" indent="0" algn="l">
              <a:buNone/>
            </a:pPr>
            <a:r>
              <a:rPr lang="en-US" sz="1450">
                <a:solidFill>
                  <a:srgbClr val="0D1B2A"/>
                </a:solidFill>
              </a:rPr>
              <a:t>A function is a reusable block of code that performs a specific task.</a:t>
            </a:r>
          </a:p>
        </p:txBody>
      </p:sp>
      <p:sp>
        <p:nvSpPr>
          <p:cNvPr id="5" name="Why Card"/>
          <p:cNvSpPr/>
          <p:nvPr/>
        </p:nvSpPr>
        <p:spPr>
          <a:xfrm>
            <a:off x="365760" y="2040000"/>
            <a:ext cx="4180000" cy="29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2A9D8F"/>
            </a:solidFill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 wrap="square" lIns="182880" tIns="137160" rIns="182880" bIns="137160" rtlCol="0" anchor="t"/>
          <a:lstStyle/>
          <a:p>
            <a:pPr marL="0" indent="0" algn="l">
              <a:buNone/>
            </a:pPr>
            <a:r>
              <a:rPr lang="en-US" sz="1600" b="1">
                <a:solidFill>
                  <a:srgbClr val="1B7A6E"/>
                </a:solidFill>
              </a:rPr>
              <a:t>Why Use Functions?</a:t>
            </a:r>
          </a:p>
          <a:p>
            <a:pPr marL="0" indent="0" algn="l">
              <a:buNone/>
            </a:pPr>
            <a:endParaRPr lang="en-US" sz="700"/>
          </a:p>
          <a:p>
            <a:pPr marL="0" indent="0" algn="l">
              <a:buNone/>
            </a:pPr>
            <a:r>
              <a:rPr lang="en-US" sz="1400" b="1">
                <a:solidFill>
                  <a:srgbClr val="2A9D8F"/>
                </a:solidFill>
              </a:rPr>
              <a:t>✓ </a:t>
            </a:r>
            <a:r>
              <a:rPr lang="en-US" sz="1350">
                <a:solidFill>
                  <a:srgbClr val="0D1B2A"/>
                </a:solidFill>
              </a:rPr>
              <a:t>Code reusability</a:t>
            </a:r>
          </a:p>
          <a:p>
            <a:pPr marL="0" indent="0" algn="l">
              <a:buNone/>
            </a:pPr>
            <a:r>
              <a:rPr lang="en-US" sz="1400" b="1">
                <a:solidFill>
                  <a:srgbClr val="2A9D8F"/>
                </a:solidFill>
              </a:rPr>
              <a:t>✓ </a:t>
            </a:r>
            <a:r>
              <a:rPr lang="en-US" sz="1350">
                <a:solidFill>
                  <a:srgbClr val="0D1B2A"/>
                </a:solidFill>
              </a:rPr>
              <a:t>Reduces code duplication</a:t>
            </a:r>
          </a:p>
          <a:p>
            <a:pPr marL="0" indent="0" algn="l">
              <a:buNone/>
            </a:pPr>
            <a:r>
              <a:rPr lang="en-US" sz="1400" b="1">
                <a:solidFill>
                  <a:srgbClr val="2A9D8F"/>
                </a:solidFill>
              </a:rPr>
              <a:t>✓ </a:t>
            </a:r>
            <a:r>
              <a:rPr lang="en-US" sz="1350">
                <a:solidFill>
                  <a:srgbClr val="0D1B2A"/>
                </a:solidFill>
              </a:rPr>
              <a:t>Improves readability</a:t>
            </a:r>
          </a:p>
          <a:p>
            <a:pPr marL="0" indent="0" algn="l">
              <a:buNone/>
            </a:pPr>
            <a:r>
              <a:rPr lang="en-US" sz="1400" b="1">
                <a:solidFill>
                  <a:srgbClr val="2A9D8F"/>
                </a:solidFill>
              </a:rPr>
              <a:t>✓ </a:t>
            </a:r>
            <a:r>
              <a:rPr lang="en-US" sz="1350">
                <a:solidFill>
                  <a:srgbClr val="0D1B2A"/>
                </a:solidFill>
              </a:rPr>
              <a:t>Easier testing and maintenance</a:t>
            </a:r>
          </a:p>
        </p:txBody>
      </p:sp>
      <p:sp>
        <p:nvSpPr>
          <p:cNvPr id="6" name="Code Card"/>
          <p:cNvSpPr/>
          <p:nvPr/>
        </p:nvSpPr>
        <p:spPr>
          <a:xfrm>
            <a:off x="4773760" y="2040000"/>
            <a:ext cx="4004480" cy="29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0077B6"/>
            </a:solidFill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 wrap="square" lIns="182880" tIns="137160" rIns="182880" bIns="137160" rtlCol="0" anchor="t"/>
          <a:lstStyle/>
          <a:p>
            <a:pPr marL="0" indent="0" algn="l">
              <a:buNone/>
            </a:pPr>
            <a:r>
              <a:rPr lang="en-US" sz="1300" b="1">
                <a:solidFill>
                  <a:srgbClr val="495057"/>
                </a:solidFill>
              </a:rPr>
              <a:t>Syntax</a:t>
            </a:r>
          </a:p>
          <a:p>
            <a:pPr marL="0" indent="0" algn="l">
              <a:buNone/>
            </a:pPr>
            <a:r>
              <a:rPr lang="en-US" sz="1350" b="1">
                <a:solidFill>
                  <a:srgbClr val="0077B6"/>
                </a:solidFill>
                <a:latin typeface="Courier New"/>
                <a:cs typeface="Courier New"/>
              </a:rPr>
              <a:t>def function_name():</a:t>
            </a:r>
          </a:p>
          <a:p>
            <a:pPr marL="0" indent="0" algn="l">
              <a:buNone/>
            </a:pPr>
            <a:r>
              <a:rPr lang="en-US" sz="1350" b="1">
                <a:solidFill>
                  <a:srgbClr val="0077B6"/>
                </a:solidFill>
                <a:latin typeface="Courier New"/>
                <a:cs typeface="Courier New"/>
              </a:rPr>
              <a:t>    statements</a:t>
            </a:r>
          </a:p>
          <a:p>
            <a:pPr marL="0" indent="0" algn="l">
              <a:buNone/>
            </a:pPr>
            <a:endParaRPr lang="en-US" sz="600"/>
          </a:p>
          <a:p>
            <a:pPr marL="0" indent="0" algn="l">
              <a:buNone/>
            </a:pPr>
            <a:r>
              <a:rPr lang="en-US" sz="1300" b="1">
                <a:solidFill>
                  <a:srgbClr val="495057"/>
                </a:solidFill>
              </a:rPr>
              <a:t>Example</a:t>
            </a:r>
          </a:p>
          <a:p>
            <a:pPr marL="0" indent="0" algn="l">
              <a:buNone/>
            </a:pPr>
            <a:r>
              <a:rPr lang="en-US" sz="1350" b="1">
                <a:solidFill>
                  <a:srgbClr val="0077B6"/>
                </a:solidFill>
                <a:latin typeface="Courier New"/>
                <a:cs typeface="Courier New"/>
              </a:rPr>
              <a:t>def greet():</a:t>
            </a:r>
          </a:p>
          <a:p>
            <a:pPr marL="0" indent="0" algn="l">
              <a:buNone/>
            </a:pPr>
            <a:r>
              <a:rPr lang="en-US" sz="1350" b="1">
                <a:solidFill>
                  <a:srgbClr val="0077B6"/>
                </a:solidFill>
                <a:latin typeface="Courier New"/>
                <a:cs typeface="Courier New"/>
              </a:rPr>
              <a:t>    print("Hello World")</a:t>
            </a:r>
          </a:p>
          <a:p>
            <a:pPr marL="0" indent="0" algn="l">
              <a:buNone/>
            </a:pPr>
            <a:r>
              <a:rPr lang="en-US" sz="1350" b="1">
                <a:solidFill>
                  <a:srgbClr val="0077B6"/>
                </a:solidFill>
                <a:latin typeface="Courier New"/>
                <a:cs typeface="Courier New"/>
              </a:rPr>
              <a:t>greet()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Functions? — The DRY Principle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4D8"/>
                </a:solidFill>
              </a:rPr>
              <a:t>DRY = Don't Repeat Yourself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D1B2A"/>
                </a:solidFill>
              </a:rPr>
              <a:t>Functions let you write code ONCE and use it ANYWHERE.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1828800"/>
            <a:ext cx="4114800" cy="3017520"/>
          </a:xfrm>
          <a:prstGeom prst="roundRect">
            <a:avLst>
              <a:gd name="adj" fmla="val 3030"/>
            </a:avLst>
          </a:prstGeom>
          <a:solidFill>
            <a:srgbClr val="FFF0F0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8745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233C"/>
                </a:solidFill>
              </a:rPr>
              <a:t>❌  Without Functions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09160" y="1828800"/>
            <a:ext cx="4114800" cy="3017520"/>
          </a:xfrm>
          <a:prstGeom prst="roundRect">
            <a:avLst>
              <a:gd name="adj" fmla="val 3030"/>
            </a:avLst>
          </a:prstGeom>
          <a:solidFill>
            <a:srgbClr val="F0FFF4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00600" y="18745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D6A0"/>
                </a:solidFill>
              </a:rPr>
              <a:t>✅  With Functions</a:t>
            </a:r>
            <a:endParaRPr lang="en-US" sz="1400" dirty="0"/>
          </a:p>
        </p:txBody>
      </p:sp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3FB854B-F91E-2A21-9827-B2E8F2E8BE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671" y="2296163"/>
            <a:ext cx="3907973" cy="2167703"/>
          </a:xfrm>
          <a:prstGeom prst="rect">
            <a:avLst/>
          </a:prstGeom>
        </p:spPr>
      </p:pic>
      <p:pic>
        <p:nvPicPr>
          <p:cNvPr id="13" name="Picture 12" descr="A computer screen shot of a code&#10;&#10;AI-generated content may be incorrect.">
            <a:extLst>
              <a:ext uri="{FF2B5EF4-FFF2-40B4-BE49-F238E27FC236}">
                <a16:creationId xmlns:a16="http://schemas.microsoft.com/office/drawing/2014/main" id="{AF6CA995-2384-7B4C-BAC1-3DFE777346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7879" y="2286000"/>
            <a:ext cx="3913415" cy="2356758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/>
          <p:cNvSpPr/>
          <p:nvPr/>
        </p:nvSpPr>
        <p:spPr>
          <a:xfrm>
            <a:off x="0" y="0"/>
            <a:ext cx="9144000" cy="1000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itle"/>
          <p:cNvSpPr/>
          <p:nvPr/>
        </p:nvSpPr>
        <p:spPr>
          <a:xfrm>
            <a:off x="365760" y="0"/>
            <a:ext cx="841248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>
                <a:solidFill>
                  <a:srgbClr val="FFFFFF"/>
                </a:solidFill>
              </a:rPr>
              <a:t>Parameters &amp; Arguments</a:t>
            </a:r>
            <a:endParaRPr lang="en-US" sz="2800" b="1"/>
          </a:p>
        </p:txBody>
      </p:sp>
      <p:sp>
        <p:nvSpPr>
          <p:cNvPr id="4" name="Code Card"/>
          <p:cNvSpPr/>
          <p:nvPr/>
        </p:nvSpPr>
        <p:spPr>
          <a:xfrm>
            <a:off x="365760" y="1140000"/>
            <a:ext cx="4400000" cy="38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2A9D8F"/>
            </a:solidFill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 wrap="square" lIns="182880" tIns="120000" rIns="182880" bIns="120000" rtlCol="0" anchor="t"/>
          <a:lstStyle/>
          <a:p>
            <a:pPr marL="0" indent="0" algn="l">
              <a:buNone/>
            </a:pPr>
            <a:r>
              <a:rPr lang="en-US" sz="1350">
                <a:solidFill>
                  <a:srgbClr val="0D1B2A"/>
                </a:solidFill>
              </a:rPr>
              <a:t>Parameters receive values when a function is called.</a:t>
            </a:r>
          </a:p>
          <a:p>
            <a:pPr marL="0" indent="0" algn="l">
              <a:buNone/>
            </a:pPr>
            <a:endParaRPr lang="en-US" sz="600"/>
          </a:p>
          <a:p>
            <a:endParaRPr lang="en-US" sz="1350" b="1" dirty="0">
              <a:solidFill>
                <a:srgbClr val="0077B6"/>
              </a:solidFill>
              <a:latin typeface="Courier New"/>
              <a:cs typeface="Courier New"/>
            </a:endParaRPr>
          </a:p>
          <a:p>
            <a:pPr marL="0" indent="0" algn="l">
              <a:buNone/>
            </a:pPr>
            <a:r>
              <a:rPr lang="en-US" sz="1350" b="1">
                <a:solidFill>
                  <a:srgbClr val="0077B6"/>
                </a:solidFill>
                <a:latin typeface="Courier New"/>
                <a:cs typeface="Courier New"/>
              </a:rPr>
              <a:t>def greet(name):</a:t>
            </a:r>
            <a:endParaRPr lang="en-US"/>
          </a:p>
          <a:p>
            <a:pPr marL="0" indent="0" algn="l">
              <a:buNone/>
            </a:pPr>
            <a:r>
              <a:rPr lang="en-US" sz="1350" b="1">
                <a:solidFill>
                  <a:srgbClr val="0077B6"/>
                </a:solidFill>
                <a:latin typeface="Courier New"/>
                <a:cs typeface="Courier New"/>
              </a:rPr>
              <a:t>    print("Hello", name)</a:t>
            </a:r>
          </a:p>
          <a:p>
            <a:pPr marL="0" indent="0" algn="l">
              <a:buNone/>
            </a:pPr>
            <a:r>
              <a:rPr lang="en-US" sz="1350" b="1">
                <a:solidFill>
                  <a:srgbClr val="0077B6"/>
                </a:solidFill>
                <a:latin typeface="Courier New"/>
                <a:cs typeface="Courier New"/>
              </a:rPr>
              <a:t>greet("John")</a:t>
            </a:r>
          </a:p>
          <a:p>
            <a:pPr marL="0" indent="0" algn="l">
              <a:buNone/>
            </a:pPr>
            <a:endParaRPr lang="en-US" sz="700"/>
          </a:p>
          <a:p>
            <a:endParaRPr lang="en-US" sz="1300" b="1" dirty="0">
              <a:solidFill>
                <a:srgbClr val="495057"/>
              </a:solidFill>
            </a:endParaRPr>
          </a:p>
          <a:p>
            <a:pPr marL="0" indent="0" algn="l">
              <a:buNone/>
            </a:pPr>
            <a:r>
              <a:rPr lang="en-US" sz="1300" b="1">
                <a:solidFill>
                  <a:srgbClr val="495057"/>
                </a:solidFill>
              </a:rPr>
              <a:t>Default value example</a:t>
            </a:r>
            <a:endParaRPr lang="en-US"/>
          </a:p>
          <a:p>
            <a:endParaRPr lang="en-US" sz="1350" b="1" dirty="0">
              <a:solidFill>
                <a:srgbClr val="0077B6"/>
              </a:solidFill>
              <a:latin typeface="Courier New"/>
              <a:cs typeface="Courier New"/>
            </a:endParaRPr>
          </a:p>
          <a:p>
            <a:pPr marL="0" indent="0" algn="l">
              <a:buNone/>
            </a:pPr>
            <a:r>
              <a:rPr lang="en-US" sz="1350" b="1">
                <a:solidFill>
                  <a:srgbClr val="0077B6"/>
                </a:solidFill>
                <a:latin typeface="Courier New"/>
                <a:cs typeface="Courier New"/>
              </a:rPr>
              <a:t>def greet(name="Guest"):</a:t>
            </a:r>
            <a:endParaRPr lang="en-US"/>
          </a:p>
          <a:p>
            <a:pPr marL="0" indent="0" algn="l">
              <a:buNone/>
            </a:pPr>
            <a:r>
              <a:rPr lang="en-US" sz="1350" b="1">
                <a:solidFill>
                  <a:srgbClr val="0077B6"/>
                </a:solidFill>
                <a:latin typeface="Courier New"/>
                <a:cs typeface="Courier New"/>
              </a:rPr>
              <a:t>    print("Hello", name)</a:t>
            </a:r>
          </a:p>
          <a:p>
            <a:pPr marL="0" indent="0" algn="l">
              <a:buNone/>
            </a:pPr>
            <a:r>
              <a:rPr lang="en-US" sz="1350" b="1">
                <a:solidFill>
                  <a:srgbClr val="0077B6"/>
                </a:solidFill>
                <a:latin typeface="Courier New"/>
                <a:cs typeface="Courier New"/>
              </a:rPr>
              <a:t>greet()</a:t>
            </a:r>
          </a:p>
          <a:p>
            <a:pPr marL="0" indent="0" algn="l">
              <a:buNone/>
            </a:pPr>
            <a:r>
              <a:rPr lang="en-US" sz="1350" b="1">
                <a:solidFill>
                  <a:srgbClr val="0077B6"/>
                </a:solidFill>
                <a:latin typeface="Courier New"/>
                <a:cs typeface="Courier New"/>
              </a:rPr>
              <a:t>greet("John")</a:t>
            </a:r>
          </a:p>
        </p:txBody>
      </p:sp>
      <p:sp>
        <p:nvSpPr>
          <p:cNvPr id="5" name="Types Card"/>
          <p:cNvSpPr/>
          <p:nvPr/>
        </p:nvSpPr>
        <p:spPr>
          <a:xfrm>
            <a:off x="4993760" y="1140000"/>
            <a:ext cx="3784480" cy="38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0077B6"/>
            </a:solidFill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 wrap="square" lIns="182880" tIns="137160" rIns="182880" bIns="137160" rtlCol="0" anchor="t"/>
          <a:lstStyle/>
          <a:p>
            <a:pPr marL="0" indent="0" algn="l">
              <a:buNone/>
            </a:pPr>
            <a:r>
              <a:rPr lang="en-US" sz="1600" b="1">
                <a:solidFill>
                  <a:srgbClr val="0077B6"/>
                </a:solidFill>
              </a:rPr>
              <a:t>Types of Parameters</a:t>
            </a:r>
          </a:p>
          <a:p>
            <a:pPr marL="0" indent="0" algn="l">
              <a:buNone/>
            </a:pPr>
            <a:endParaRPr lang="en-US" sz="700"/>
          </a:p>
          <a:p>
            <a:pPr marL="0" indent="0" algn="l">
              <a:buNone/>
            </a:pPr>
            <a:r>
              <a:rPr lang="en-US" sz="1400" b="1">
                <a:solidFill>
                  <a:srgbClr val="1B7A6E"/>
                </a:solidFill>
              </a:rPr>
              <a:t>Positional</a:t>
            </a:r>
          </a:p>
          <a:p>
            <a:pPr marL="0" indent="0" algn="l">
              <a:buNone/>
            </a:pPr>
            <a:r>
              <a:rPr lang="en-US" sz="1350" b="1">
                <a:solidFill>
                  <a:srgbClr val="0077B6"/>
                </a:solidFill>
                <a:latin typeface="Courier New"/>
                <a:cs typeface="Courier New"/>
              </a:rPr>
              <a:t>add(10, 20)</a:t>
            </a:r>
          </a:p>
          <a:p>
            <a:pPr marL="0" indent="0" algn="l">
              <a:buNone/>
            </a:pPr>
            <a:endParaRPr lang="en-US" sz="400"/>
          </a:p>
          <a:p>
            <a:pPr marL="0" indent="0" algn="l">
              <a:buNone/>
            </a:pPr>
            <a:r>
              <a:rPr lang="en-US" sz="1400" b="1">
                <a:solidFill>
                  <a:srgbClr val="1B7A6E"/>
                </a:solidFill>
              </a:rPr>
              <a:t>Keyword</a:t>
            </a:r>
          </a:p>
          <a:p>
            <a:pPr marL="0" indent="0" algn="l">
              <a:buNone/>
            </a:pPr>
            <a:r>
              <a:rPr lang="en-US" sz="1350" b="1">
                <a:solidFill>
                  <a:srgbClr val="0077B6"/>
                </a:solidFill>
                <a:latin typeface="Courier New"/>
                <a:cs typeface="Courier New"/>
              </a:rPr>
              <a:t>add(a=10, b=20)</a:t>
            </a:r>
          </a:p>
          <a:p>
            <a:pPr marL="0" indent="0" algn="l">
              <a:buNone/>
            </a:pPr>
            <a:endParaRPr lang="en-US" sz="400"/>
          </a:p>
          <a:p>
            <a:pPr marL="0" indent="0" algn="l">
              <a:buNone/>
            </a:pPr>
            <a:r>
              <a:rPr lang="en-US" sz="1400" b="1">
                <a:solidFill>
                  <a:srgbClr val="1B7A6E"/>
                </a:solidFill>
              </a:rPr>
              <a:t>Default</a:t>
            </a:r>
          </a:p>
          <a:p>
            <a:pPr marL="0" indent="0" algn="l">
              <a:buNone/>
            </a:pPr>
            <a:r>
              <a:rPr lang="en-US" sz="1350" b="1">
                <a:solidFill>
                  <a:srgbClr val="0077B6"/>
                </a:solidFill>
                <a:latin typeface="Courier New"/>
                <a:cs typeface="Courier New"/>
              </a:rPr>
              <a:t>greet(name="Guest")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/>
          <p:cNvSpPr/>
          <p:nvPr/>
        </p:nvSpPr>
        <p:spPr>
          <a:xfrm>
            <a:off x="0" y="0"/>
            <a:ext cx="9144000" cy="1000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itle"/>
          <p:cNvSpPr/>
          <p:nvPr/>
        </p:nvSpPr>
        <p:spPr>
          <a:xfrm>
            <a:off x="365760" y="0"/>
            <a:ext cx="841248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>
                <a:solidFill>
                  <a:srgbClr val="FFFFFF"/>
                </a:solidFill>
              </a:rPr>
              <a:t>Variable-Length Arguments</a:t>
            </a:r>
            <a:endParaRPr lang="en-US" sz="2800" b="1"/>
          </a:p>
        </p:txBody>
      </p:sp>
      <p:sp>
        <p:nvSpPr>
          <p:cNvPr id="4" name="Args Card"/>
          <p:cNvSpPr/>
          <p:nvPr/>
        </p:nvSpPr>
        <p:spPr>
          <a:xfrm>
            <a:off x="365760" y="1140000"/>
            <a:ext cx="4180000" cy="38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2A9D8F"/>
            </a:solidFill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 wrap="square" lIns="182880" tIns="120000" rIns="182880" bIns="12000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7A6E"/>
                </a:solidFill>
                <a:latin typeface="Courier New"/>
                <a:cs typeface="Courier New"/>
              </a:rPr>
              <a:t>*</a:t>
            </a:r>
            <a:r>
              <a:rPr lang="en-US" sz="1500" b="1" dirty="0" err="1">
                <a:solidFill>
                  <a:srgbClr val="1B7A6E"/>
                </a:solidFill>
                <a:latin typeface="Courier New"/>
                <a:cs typeface="Courier New"/>
              </a:rPr>
              <a:t>args</a:t>
            </a:r>
          </a:p>
          <a:p>
            <a:pPr marL="0" indent="0" algn="l">
              <a:buNone/>
            </a:pPr>
            <a:r>
              <a:rPr lang="en-US" sz="1250">
                <a:solidFill>
                  <a:srgbClr val="495057"/>
                </a:solidFill>
              </a:rPr>
              <a:t>Multiple positional arguments</a:t>
            </a:r>
          </a:p>
          <a:p>
            <a:pPr marL="0" indent="0" algn="l">
              <a:buNone/>
            </a:pPr>
            <a:endParaRPr lang="en-US" sz="600"/>
          </a:p>
          <a:p>
            <a:endParaRPr lang="en-US" sz="1350" b="1" dirty="0">
              <a:solidFill>
                <a:srgbClr val="0077B6"/>
              </a:solidFill>
              <a:latin typeface="Courier New"/>
              <a:cs typeface="Courier New"/>
            </a:endParaRPr>
          </a:p>
          <a:p>
            <a:pPr marL="0" indent="0" algn="l">
              <a:buNone/>
            </a:pPr>
            <a:r>
              <a:rPr lang="en-US" sz="1350" b="1">
                <a:solidFill>
                  <a:srgbClr val="0077B6"/>
                </a:solidFill>
                <a:latin typeface="Courier New"/>
                <a:cs typeface="Courier New"/>
              </a:rPr>
              <a:t>def add(*numbers):</a:t>
            </a:r>
            <a:endParaRPr lang="en-US"/>
          </a:p>
          <a:p>
            <a:pPr marL="0" indent="0" algn="l">
              <a:buNone/>
            </a:pPr>
            <a:r>
              <a:rPr lang="en-US" sz="1350" b="1">
                <a:solidFill>
                  <a:srgbClr val="0077B6"/>
                </a:solidFill>
                <a:latin typeface="Courier New"/>
                <a:cs typeface="Courier New"/>
              </a:rPr>
              <a:t>    print(numbers)</a:t>
            </a:r>
          </a:p>
          <a:p>
            <a:pPr marL="0" indent="0" algn="l">
              <a:buNone/>
            </a:pPr>
            <a:r>
              <a:rPr lang="en-US" sz="1350" b="1">
                <a:solidFill>
                  <a:srgbClr val="0077B6"/>
                </a:solidFill>
                <a:latin typeface="Courier New"/>
                <a:cs typeface="Courier New"/>
              </a:rPr>
              <a:t>add(10, 20, 30)</a:t>
            </a:r>
          </a:p>
          <a:p>
            <a:pPr marL="0" indent="0" algn="l">
              <a:buNone/>
            </a:pPr>
            <a:endParaRPr lang="en-US" sz="600"/>
          </a:p>
          <a:p>
            <a:endParaRPr lang="en-US" sz="1300" b="1" dirty="0">
              <a:solidFill>
                <a:srgbClr val="495057"/>
              </a:solidFill>
            </a:endParaRPr>
          </a:p>
          <a:p>
            <a:pPr marL="0" indent="0" algn="l">
              <a:buNone/>
            </a:pPr>
            <a:r>
              <a:rPr lang="en-US" sz="1300" b="1">
                <a:solidFill>
                  <a:srgbClr val="495057"/>
                </a:solidFill>
              </a:rPr>
              <a:t>Output</a:t>
            </a:r>
            <a:endParaRPr lang="en-US"/>
          </a:p>
          <a:p>
            <a:pPr marL="0" indent="0" algn="l">
              <a:buNone/>
            </a:pPr>
            <a:r>
              <a:rPr lang="en-US" sz="1400" b="1">
                <a:solidFill>
                  <a:srgbClr val="1B7A6E"/>
                </a:solidFill>
                <a:latin typeface="Courier New"/>
                <a:cs typeface="Courier New"/>
              </a:rPr>
              <a:t>(10, 20, 30)</a:t>
            </a:r>
          </a:p>
        </p:txBody>
      </p:sp>
      <p:sp>
        <p:nvSpPr>
          <p:cNvPr id="5" name="Kwargs Card"/>
          <p:cNvSpPr/>
          <p:nvPr/>
        </p:nvSpPr>
        <p:spPr>
          <a:xfrm>
            <a:off x="4773760" y="1140000"/>
            <a:ext cx="4004480" cy="38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0077B6"/>
            </a:solidFill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 wrap="square" lIns="182880" tIns="120000" rIns="182880" bIns="120000" rtlCol="0" anchor="t"/>
          <a:lstStyle/>
          <a:p>
            <a:pPr marL="0" indent="0" algn="l">
              <a:buNone/>
            </a:pPr>
            <a:r>
              <a:rPr lang="en-US" sz="1500" b="1">
                <a:solidFill>
                  <a:srgbClr val="0077B6"/>
                </a:solidFill>
                <a:latin typeface="Courier New"/>
                <a:cs typeface="Courier New"/>
              </a:rPr>
              <a:t>**kwargs</a:t>
            </a:r>
          </a:p>
          <a:p>
            <a:pPr marL="0" indent="0" algn="l">
              <a:buNone/>
            </a:pPr>
            <a:r>
              <a:rPr lang="en-US" sz="1250">
                <a:solidFill>
                  <a:srgbClr val="495057"/>
                </a:solidFill>
              </a:rPr>
              <a:t>Multiple keyword arguments</a:t>
            </a:r>
          </a:p>
          <a:p>
            <a:pPr marL="0" indent="0" algn="l">
              <a:buNone/>
            </a:pPr>
            <a:endParaRPr lang="en-US" sz="600"/>
          </a:p>
          <a:p>
            <a:pPr marL="0" indent="0" algn="l">
              <a:buNone/>
            </a:pPr>
            <a:r>
              <a:rPr lang="en-US" sz="1350" b="1">
                <a:solidFill>
                  <a:srgbClr val="0077B6"/>
                </a:solidFill>
                <a:latin typeface="Courier New"/>
                <a:cs typeface="Courier New"/>
              </a:rPr>
              <a:t>def student(**data):</a:t>
            </a:r>
          </a:p>
          <a:p>
            <a:pPr marL="0" indent="0" algn="l">
              <a:buNone/>
            </a:pPr>
            <a:r>
              <a:rPr lang="en-US" sz="1350" b="1">
                <a:solidFill>
                  <a:srgbClr val="0077B6"/>
                </a:solidFill>
                <a:latin typeface="Courier New"/>
                <a:cs typeface="Courier New"/>
              </a:rPr>
              <a:t>    print(data)</a:t>
            </a:r>
          </a:p>
          <a:p>
            <a:pPr marL="0" indent="0" algn="l">
              <a:buNone/>
            </a:pPr>
            <a:r>
              <a:rPr lang="en-US" sz="1350" b="1">
                <a:solidFill>
                  <a:srgbClr val="0077B6"/>
                </a:solidFill>
                <a:latin typeface="Courier New"/>
                <a:cs typeface="Courier New"/>
              </a:rPr>
              <a:t>student(name="John", age=20)</a:t>
            </a:r>
          </a:p>
          <a:p>
            <a:pPr marL="0" indent="0" algn="l">
              <a:buNone/>
            </a:pPr>
            <a:endParaRPr lang="en-US" sz="600"/>
          </a:p>
          <a:p>
            <a:pPr marL="0" indent="0" algn="l">
              <a:buNone/>
            </a:pPr>
            <a:r>
              <a:rPr lang="en-US" sz="1300" b="1">
                <a:solidFill>
                  <a:srgbClr val="495057"/>
                </a:solidFill>
              </a:rPr>
              <a:t>Output</a:t>
            </a:r>
          </a:p>
          <a:p>
            <a:pPr marL="0" indent="0" algn="l">
              <a:buNone/>
            </a:pPr>
            <a:r>
              <a:rPr lang="en-US" sz="1350" b="1">
                <a:solidFill>
                  <a:srgbClr val="1B7A6E"/>
                </a:solidFill>
                <a:latin typeface="Courier New"/>
                <a:cs typeface="Courier New"/>
              </a:rPr>
              <a:t>{'name': 'John', 'age': 20}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/>
          <p:cNvSpPr/>
          <p:nvPr/>
        </p:nvSpPr>
        <p:spPr>
          <a:xfrm>
            <a:off x="0" y="0"/>
            <a:ext cx="9144000" cy="1000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itle"/>
          <p:cNvSpPr/>
          <p:nvPr/>
        </p:nvSpPr>
        <p:spPr>
          <a:xfrm>
            <a:off x="365760" y="0"/>
            <a:ext cx="841248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>
                <a:solidFill>
                  <a:srgbClr val="FFFFFF"/>
                </a:solidFill>
              </a:rPr>
              <a:t>Return Statement &amp; Scope</a:t>
            </a:r>
            <a:endParaRPr lang="en-US" sz="2800" b="1"/>
          </a:p>
        </p:txBody>
      </p:sp>
      <p:sp>
        <p:nvSpPr>
          <p:cNvPr id="4" name="Return Card"/>
          <p:cNvSpPr/>
          <p:nvPr/>
        </p:nvSpPr>
        <p:spPr>
          <a:xfrm>
            <a:off x="365760" y="1140000"/>
            <a:ext cx="4180000" cy="38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2A9D8F"/>
            </a:solidFill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 wrap="square" lIns="182880" tIns="120000" rIns="182880" bIns="120000" rtlCol="0" anchor="t"/>
          <a:lstStyle/>
          <a:p>
            <a:pPr marL="0" indent="0" algn="l">
              <a:buNone/>
            </a:pPr>
            <a:r>
              <a:rPr lang="en-US" sz="1600" b="1">
                <a:solidFill>
                  <a:srgbClr val="1B7A6E"/>
                </a:solidFill>
              </a:rPr>
              <a:t>Return Statement</a:t>
            </a:r>
          </a:p>
          <a:p>
            <a:pPr marL="0" indent="0" algn="l">
              <a:buNone/>
            </a:pPr>
            <a:r>
              <a:rPr lang="en-US" sz="1300">
                <a:solidFill>
                  <a:srgbClr val="495057"/>
                </a:solidFill>
              </a:rPr>
              <a:t>Sends a value back to the caller.</a:t>
            </a:r>
          </a:p>
          <a:p>
            <a:pPr marL="0" indent="0" algn="l">
              <a:buNone/>
            </a:pPr>
            <a:endParaRPr lang="en-US" sz="700"/>
          </a:p>
          <a:p>
            <a:endParaRPr lang="en-US" sz="1350" b="1" dirty="0">
              <a:solidFill>
                <a:srgbClr val="0077B6"/>
              </a:solidFill>
              <a:latin typeface="Courier New"/>
              <a:cs typeface="Courier New"/>
            </a:endParaRPr>
          </a:p>
          <a:p>
            <a:pPr marL="0" indent="0" algn="l">
              <a:buNone/>
            </a:pPr>
            <a:r>
              <a:rPr lang="en-US" sz="1350" b="1">
                <a:solidFill>
                  <a:srgbClr val="0077B6"/>
                </a:solidFill>
                <a:latin typeface="Courier New"/>
                <a:cs typeface="Courier New"/>
              </a:rPr>
              <a:t>def add(a, b):</a:t>
            </a:r>
            <a:endParaRPr lang="en-US"/>
          </a:p>
          <a:p>
            <a:pPr marL="0" indent="0" algn="l">
              <a:buNone/>
            </a:pPr>
            <a:r>
              <a:rPr lang="en-US" sz="1350" b="1">
                <a:solidFill>
                  <a:srgbClr val="0077B6"/>
                </a:solidFill>
                <a:latin typeface="Courier New"/>
                <a:cs typeface="Courier New"/>
              </a:rPr>
              <a:t>    return a + b</a:t>
            </a:r>
          </a:p>
          <a:p>
            <a:pPr marL="0" indent="0" algn="l">
              <a:buNone/>
            </a:pPr>
            <a:r>
              <a:rPr lang="en-US" sz="1350" b="1">
                <a:solidFill>
                  <a:srgbClr val="0077B6"/>
                </a:solidFill>
                <a:latin typeface="Courier New"/>
                <a:cs typeface="Courier New"/>
              </a:rPr>
              <a:t>result = add(10, 20)</a:t>
            </a:r>
          </a:p>
        </p:txBody>
      </p:sp>
      <p:sp>
        <p:nvSpPr>
          <p:cNvPr id="5" name="Scope Card"/>
          <p:cNvSpPr/>
          <p:nvPr/>
        </p:nvSpPr>
        <p:spPr>
          <a:xfrm>
            <a:off x="4773760" y="1140000"/>
            <a:ext cx="4004480" cy="38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0077B6"/>
            </a:solidFill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 wrap="square" lIns="182880" tIns="120000" rIns="182880" bIns="120000" rtlCol="0" anchor="t"/>
          <a:lstStyle/>
          <a:p>
            <a:pPr marL="0" indent="0" algn="l">
              <a:buNone/>
            </a:pPr>
            <a:r>
              <a:rPr lang="en-US" sz="1600" b="1">
                <a:solidFill>
                  <a:srgbClr val="0077B6"/>
                </a:solidFill>
              </a:rPr>
              <a:t>Variable Scope</a:t>
            </a:r>
          </a:p>
          <a:p>
            <a:pPr marL="0" indent="0" algn="l">
              <a:buNone/>
            </a:pPr>
            <a:endParaRPr lang="en-US" sz="500"/>
          </a:p>
          <a:p>
            <a:pPr marL="0" indent="0" algn="l">
              <a:buNone/>
            </a:pPr>
            <a:r>
              <a:rPr lang="en-US" sz="1350" b="1">
                <a:solidFill>
                  <a:srgbClr val="1B7A6E"/>
                </a:solidFill>
              </a:rPr>
              <a:t>Local: </a:t>
            </a:r>
            <a:r>
              <a:rPr lang="en-US" sz="1300">
                <a:solidFill>
                  <a:srgbClr val="0D1B2A"/>
                </a:solidFill>
              </a:rPr>
              <a:t>Exists inside the function.</a:t>
            </a:r>
          </a:p>
          <a:p>
            <a:pPr marL="0" indent="0" algn="l">
              <a:buNone/>
            </a:pPr>
            <a:r>
              <a:rPr lang="en-US" sz="1350" b="1">
                <a:solidFill>
                  <a:srgbClr val="1B7A6E"/>
                </a:solidFill>
              </a:rPr>
              <a:t>Global: </a:t>
            </a:r>
            <a:r>
              <a:rPr lang="en-US" sz="1300">
                <a:solidFill>
                  <a:srgbClr val="0D1B2A"/>
                </a:solidFill>
              </a:rPr>
              <a:t>Exists outside the function.</a:t>
            </a:r>
          </a:p>
          <a:p>
            <a:pPr marL="0" indent="0" algn="l">
              <a:buNone/>
            </a:pPr>
            <a:endParaRPr lang="en-US" sz="600"/>
          </a:p>
          <a:p>
            <a:pPr marL="0" indent="0" algn="l">
              <a:buNone/>
            </a:pPr>
            <a:r>
              <a:rPr lang="en-US" sz="1350" b="1">
                <a:solidFill>
                  <a:srgbClr val="0077B6"/>
                </a:solidFill>
                <a:latin typeface="Courier New"/>
                <a:cs typeface="Courier New"/>
              </a:rPr>
              <a:t>x = 100</a:t>
            </a:r>
          </a:p>
          <a:p>
            <a:pPr marL="0" indent="0" algn="l">
              <a:buNone/>
            </a:pPr>
            <a:r>
              <a:rPr lang="en-US" sz="1350" b="1">
                <a:solidFill>
                  <a:srgbClr val="0077B6"/>
                </a:solidFill>
                <a:latin typeface="Courier New"/>
                <a:cs typeface="Courier New"/>
              </a:rPr>
              <a:t>def show():</a:t>
            </a:r>
          </a:p>
          <a:p>
            <a:pPr marL="0" indent="0" algn="l">
              <a:buNone/>
            </a:pPr>
            <a:r>
              <a:rPr lang="en-US" sz="1350" b="1">
                <a:solidFill>
                  <a:srgbClr val="0077B6"/>
                </a:solidFill>
                <a:latin typeface="Courier New"/>
                <a:cs typeface="Courier New"/>
              </a:rPr>
              <a:t>    y = 50</a:t>
            </a:r>
          </a:p>
          <a:p>
            <a:pPr marL="0" indent="0" algn="l">
              <a:buNone/>
            </a:pPr>
            <a:r>
              <a:rPr lang="en-US" sz="1350" b="1">
                <a:solidFill>
                  <a:srgbClr val="0077B6"/>
                </a:solidFill>
                <a:latin typeface="Courier New"/>
                <a:cs typeface="Courier New"/>
              </a:rPr>
              <a:t>    print(y)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/>
          <p:cNvSpPr/>
          <p:nvPr/>
        </p:nvSpPr>
        <p:spPr>
          <a:xfrm>
            <a:off x="0" y="0"/>
            <a:ext cx="9144000" cy="1000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itle"/>
          <p:cNvSpPr/>
          <p:nvPr/>
        </p:nvSpPr>
        <p:spPr>
          <a:xfrm>
            <a:off x="365760" y="0"/>
            <a:ext cx="841248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>
                <a:solidFill>
                  <a:srgbClr val="FFFFFF"/>
                </a:solidFill>
              </a:rPr>
              <a:t>Important Function Concepts</a:t>
            </a:r>
            <a:endParaRPr lang="en-US" sz="2800" b="1"/>
          </a:p>
        </p:txBody>
      </p:sp>
      <p:sp>
        <p:nvSpPr>
          <p:cNvPr id="4" name="Lambda Card"/>
          <p:cNvSpPr/>
          <p:nvPr/>
        </p:nvSpPr>
        <p:spPr>
          <a:xfrm>
            <a:off x="365760" y="1140000"/>
            <a:ext cx="2658000" cy="38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2A9D8F"/>
            </a:solidFill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 wrap="square" lIns="137160" tIns="120000" rIns="137160" bIns="120000" rtlCol="0" anchor="t"/>
          <a:lstStyle/>
          <a:p>
            <a:pPr marL="0" indent="0" algn="l">
              <a:buNone/>
            </a:pPr>
            <a:r>
              <a:rPr lang="en-US" sz="1500" b="1">
                <a:solidFill>
                  <a:srgbClr val="1B7A6E"/>
                </a:solidFill>
              </a:rPr>
              <a:t>Lambda Function</a:t>
            </a:r>
          </a:p>
          <a:p>
            <a:pPr marL="0" indent="0" algn="l">
              <a:buNone/>
            </a:pPr>
            <a:r>
              <a:rPr lang="en-US" sz="1200">
                <a:solidFill>
                  <a:srgbClr val="495057"/>
                </a:solidFill>
              </a:rPr>
              <a:t>Anonymous one-line function.</a:t>
            </a:r>
          </a:p>
          <a:p>
            <a:pPr marL="0" indent="0" algn="l">
              <a:buNone/>
            </a:pPr>
            <a:endParaRPr lang="en-US" sz="700"/>
          </a:p>
          <a:p>
            <a:pPr marL="0" indent="0" algn="l">
              <a:buNone/>
            </a:pPr>
            <a:r>
              <a:rPr lang="en-US" sz="1150" b="1">
                <a:solidFill>
                  <a:srgbClr val="0077B6"/>
                </a:solidFill>
                <a:latin typeface="Courier New"/>
                <a:cs typeface="Courier New"/>
              </a:rPr>
              <a:t>square = lambda x: x * x</a:t>
            </a:r>
          </a:p>
          <a:p>
            <a:pPr marL="0" indent="0" algn="l">
              <a:buNone/>
            </a:pPr>
            <a:r>
              <a:rPr lang="en-US" sz="1150" b="1">
                <a:solidFill>
                  <a:srgbClr val="0077B6"/>
                </a:solidFill>
                <a:latin typeface="Courier New"/>
                <a:cs typeface="Courier New"/>
              </a:rPr>
              <a:t>print(square(5))</a:t>
            </a:r>
          </a:p>
          <a:p>
            <a:pPr marL="0" indent="0" algn="l">
              <a:buNone/>
            </a:pPr>
            <a:endParaRPr lang="en-US" sz="600"/>
          </a:p>
          <a:p>
            <a:pPr marL="0" indent="0" algn="l">
              <a:buNone/>
            </a:pPr>
            <a:r>
              <a:rPr lang="en-US" sz="1300" b="1">
                <a:solidFill>
                  <a:srgbClr val="495057"/>
                </a:solidFill>
              </a:rPr>
              <a:t>Output</a:t>
            </a:r>
          </a:p>
          <a:p>
            <a:pPr marL="0" indent="0" algn="l">
              <a:buNone/>
            </a:pPr>
            <a:r>
              <a:rPr lang="en-US" sz="1300" b="1">
                <a:solidFill>
                  <a:srgbClr val="1B7A6E"/>
                </a:solidFill>
                <a:latin typeface="Courier New"/>
                <a:cs typeface="Courier New"/>
              </a:rPr>
              <a:t>25</a:t>
            </a:r>
          </a:p>
        </p:txBody>
      </p:sp>
      <p:sp>
        <p:nvSpPr>
          <p:cNvPr id="5" name="Recursive Card"/>
          <p:cNvSpPr/>
          <p:nvPr/>
        </p:nvSpPr>
        <p:spPr>
          <a:xfrm>
            <a:off x="3243760" y="1140000"/>
            <a:ext cx="2658000" cy="38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0077B6"/>
            </a:solidFill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 wrap="square" lIns="137160" tIns="120000" rIns="137160" bIns="120000" rtlCol="0" anchor="t"/>
          <a:lstStyle/>
          <a:p>
            <a:pPr marL="0" indent="0" algn="l">
              <a:buNone/>
            </a:pPr>
            <a:r>
              <a:rPr lang="en-US" sz="1500" b="1">
                <a:solidFill>
                  <a:srgbClr val="0077B6"/>
                </a:solidFill>
              </a:rPr>
              <a:t>Recursive Function</a:t>
            </a:r>
          </a:p>
          <a:p>
            <a:pPr marL="0" indent="0" algn="l">
              <a:buNone/>
            </a:pPr>
            <a:r>
              <a:rPr lang="en-US" sz="1200">
                <a:solidFill>
                  <a:srgbClr val="495057"/>
                </a:solidFill>
              </a:rPr>
              <a:t>A function that calls itself.</a:t>
            </a:r>
          </a:p>
          <a:p>
            <a:pPr marL="0" indent="0" algn="l">
              <a:buNone/>
            </a:pPr>
            <a:endParaRPr lang="en-US" sz="700"/>
          </a:p>
          <a:p>
            <a:pPr marL="0" indent="0" algn="l">
              <a:buNone/>
            </a:pPr>
            <a:r>
              <a:rPr lang="en-US" sz="1000" b="1">
                <a:solidFill>
                  <a:srgbClr val="0077B6"/>
                </a:solidFill>
                <a:latin typeface="Courier New"/>
                <a:cs typeface="Courier New"/>
              </a:rPr>
              <a:t>def factorial(n):</a:t>
            </a:r>
          </a:p>
          <a:p>
            <a:pPr marL="0" indent="0" algn="l">
              <a:buNone/>
            </a:pPr>
            <a:r>
              <a:rPr lang="en-US" sz="1000" b="1">
                <a:solidFill>
                  <a:srgbClr val="0077B6"/>
                </a:solidFill>
                <a:latin typeface="Courier New"/>
                <a:cs typeface="Courier New"/>
              </a:rPr>
              <a:t>    if n == 1:</a:t>
            </a:r>
          </a:p>
          <a:p>
            <a:pPr marL="0" indent="0" algn="l">
              <a:buNone/>
            </a:pPr>
            <a:r>
              <a:rPr lang="en-US" sz="1000" b="1">
                <a:solidFill>
                  <a:srgbClr val="0077B6"/>
                </a:solidFill>
                <a:latin typeface="Courier New"/>
                <a:cs typeface="Courier New"/>
              </a:rPr>
              <a:t>        return 1</a:t>
            </a:r>
          </a:p>
          <a:p>
            <a:pPr marL="0" indent="0" algn="l">
              <a:buNone/>
            </a:pPr>
            <a:r>
              <a:rPr lang="en-US" sz="1000" b="1">
                <a:solidFill>
                  <a:srgbClr val="0077B6"/>
                </a:solidFill>
                <a:latin typeface="Courier New"/>
                <a:cs typeface="Courier New"/>
              </a:rPr>
              <a:t>    return n * factorial(n-1)</a:t>
            </a:r>
          </a:p>
          <a:p>
            <a:pPr marL="0" indent="0" algn="l">
              <a:buNone/>
            </a:pPr>
            <a:endParaRPr lang="en-US" sz="600"/>
          </a:p>
          <a:p>
            <a:pPr marL="0" indent="0" algn="l">
              <a:buNone/>
            </a:pPr>
            <a:r>
              <a:rPr lang="en-US" sz="1200">
                <a:solidFill>
                  <a:srgbClr val="0D1B2A"/>
                </a:solidFill>
              </a:rPr>
              <a:t>Each call reduces the problem until a base case stops it.</a:t>
            </a:r>
          </a:p>
        </p:txBody>
      </p:sp>
      <p:sp>
        <p:nvSpPr>
          <p:cNvPr id="6" name="Builtin Card"/>
          <p:cNvSpPr/>
          <p:nvPr/>
        </p:nvSpPr>
        <p:spPr>
          <a:xfrm>
            <a:off x="6121760" y="1140000"/>
            <a:ext cx="2656480" cy="38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2A9D8F"/>
            </a:solidFill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 wrap="square" lIns="137160" tIns="120000" rIns="137160" bIns="120000" rtlCol="0" anchor="t"/>
          <a:lstStyle/>
          <a:p>
            <a:pPr marL="0" indent="0" algn="l">
              <a:buNone/>
            </a:pPr>
            <a:r>
              <a:rPr lang="en-US" sz="1500" b="1">
                <a:solidFill>
                  <a:srgbClr val="1B7A6E"/>
                </a:solidFill>
              </a:rPr>
              <a:t>Built-in Functions</a:t>
            </a:r>
          </a:p>
          <a:p>
            <a:pPr marL="0" indent="0" algn="l">
              <a:buNone/>
            </a:pPr>
            <a:r>
              <a:rPr lang="en-US" sz="1200">
                <a:solidFill>
                  <a:srgbClr val="495057"/>
                </a:solidFill>
              </a:rPr>
              <a:t>Ready-to-use Python functions.</a:t>
            </a:r>
          </a:p>
          <a:p>
            <a:pPr marL="0" indent="0" algn="l">
              <a:buNone/>
            </a:pPr>
            <a:endParaRPr lang="en-US" sz="700"/>
          </a:p>
          <a:p>
            <a:pPr marL="0" indent="0" algn="l">
              <a:buNone/>
            </a:pPr>
            <a:r>
              <a:rPr lang="en-US" sz="1300" b="1">
                <a:solidFill>
                  <a:srgbClr val="0077B6"/>
                </a:solidFill>
                <a:latin typeface="Courier New"/>
                <a:cs typeface="Courier New"/>
              </a:rPr>
              <a:t>print()</a:t>
            </a:r>
          </a:p>
          <a:p>
            <a:pPr marL="0" indent="0" algn="l">
              <a:buNone/>
            </a:pPr>
            <a:r>
              <a:rPr lang="en-US" sz="1300" b="1">
                <a:solidFill>
                  <a:srgbClr val="0077B6"/>
                </a:solidFill>
                <a:latin typeface="Courier New"/>
                <a:cs typeface="Courier New"/>
              </a:rPr>
              <a:t>len()</a:t>
            </a:r>
          </a:p>
          <a:p>
            <a:pPr marL="0" indent="0" algn="l">
              <a:buNone/>
            </a:pPr>
            <a:r>
              <a:rPr lang="en-US" sz="1300" b="1">
                <a:solidFill>
                  <a:srgbClr val="0077B6"/>
                </a:solidFill>
                <a:latin typeface="Courier New"/>
                <a:cs typeface="Courier New"/>
              </a:rPr>
              <a:t>input()</a:t>
            </a:r>
          </a:p>
          <a:p>
            <a:pPr marL="0" indent="0" algn="l">
              <a:buNone/>
            </a:pPr>
            <a:r>
              <a:rPr lang="en-US" sz="1300" b="1">
                <a:solidFill>
                  <a:srgbClr val="0077B6"/>
                </a:solidFill>
                <a:latin typeface="Courier New"/>
                <a:cs typeface="Courier New"/>
              </a:rPr>
              <a:t>type()</a:t>
            </a:r>
          </a:p>
          <a:p>
            <a:pPr marL="0" indent="0" algn="l">
              <a:buNone/>
            </a:pPr>
            <a:r>
              <a:rPr lang="en-US" sz="1300" b="1">
                <a:solidFill>
                  <a:srgbClr val="0077B6"/>
                </a:solidFill>
                <a:latin typeface="Courier New"/>
                <a:cs typeface="Courier New"/>
              </a:rPr>
              <a:t>sum()</a:t>
            </a:r>
          </a:p>
          <a:p>
            <a:pPr marL="0" indent="0" algn="l">
              <a:buNone/>
            </a:pPr>
            <a:r>
              <a:rPr lang="en-US" sz="1300" b="1">
                <a:solidFill>
                  <a:srgbClr val="0077B6"/>
                </a:solidFill>
                <a:latin typeface="Courier New"/>
                <a:cs typeface="Courier New"/>
              </a:rPr>
              <a:t>max()</a:t>
            </a:r>
          </a:p>
          <a:p>
            <a:pPr marL="0" indent="0" algn="l">
              <a:buNone/>
            </a:pPr>
            <a:r>
              <a:rPr lang="en-US" sz="1300" b="1">
                <a:solidFill>
                  <a:srgbClr val="0077B6"/>
                </a:solidFill>
                <a:latin typeface="Courier New"/>
                <a:cs typeface="Courier New"/>
              </a:rPr>
              <a:t>min()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Useful Built-in Functions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143000"/>
            <a:ext cx="3840480" cy="3657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B4D8"/>
                </a:solidFill>
              </a:rPr>
              <a:t>Math &amp; Sequences
</a:t>
            </a:r>
            <a:r>
              <a:rPr lang="en-US" sz="1300" dirty="0" err="1">
                <a:solidFill>
                  <a:srgbClr val="0D1B2A"/>
                </a:solidFill>
                <a:latin typeface="Courier New"/>
                <a:ea typeface="Courier New" pitchFamily="34" charset="-122"/>
                <a:cs typeface="Courier New"/>
              </a:rPr>
              <a:t>len</a:t>
            </a:r>
            <a:r>
              <a:rPr lang="en-US" sz="1300" dirty="0">
                <a:solidFill>
                  <a:srgbClr val="0D1B2A"/>
                </a:solidFill>
                <a:latin typeface="Courier New"/>
                <a:ea typeface="Courier New" pitchFamily="34" charset="-122"/>
                <a:cs typeface="Courier New"/>
              </a:rPr>
              <a:t>([1,2,3])      → 3
sum([1,2,3])      → 6
max([5,2,8])      → 8
min([5,2,8])      → 2
abs(-7)           → 7
round(3.567, 2)   → 3.57
</a:t>
            </a:r>
            <a:endParaRPr lang="en-US" sz="1300" dirty="0">
              <a:solidFill>
                <a:srgbClr val="0D1B2A"/>
              </a:solidFill>
              <a:latin typeface="Courier New"/>
              <a:ea typeface="Calibri"/>
              <a:cs typeface="Courier New"/>
            </a:endParaRPr>
          </a:p>
          <a:p>
            <a:pPr marL="0" indent="0" algn="l">
              <a:buNone/>
            </a:pPr>
            <a:r>
              <a:rPr lang="en-US" sz="1500" b="1">
                <a:solidFill>
                  <a:srgbClr val="00B4D8"/>
                </a:solidFill>
              </a:rPr>
              <a:t>Range</a:t>
            </a:r>
            <a:r>
              <a:rPr lang="en-US" sz="1500" b="1" dirty="0">
                <a:solidFill>
                  <a:srgbClr val="00B4D8"/>
                </a:solidFill>
              </a:rPr>
              <a:t>
</a:t>
            </a:r>
            <a:r>
              <a:rPr lang="en-US" sz="1300">
                <a:solidFill>
                  <a:srgbClr val="0D1B2A"/>
                </a:solidFill>
                <a:latin typeface="Courier New"/>
                <a:ea typeface="Courier New" pitchFamily="34" charset="-122"/>
                <a:cs typeface="Courier New"/>
              </a:rPr>
              <a:t>range(5)      → 0,1,2,3,4</a:t>
            </a:r>
            <a:r>
              <a:rPr lang="en-US" sz="1300" dirty="0">
                <a:solidFill>
                  <a:srgbClr val="0D1B2A"/>
                </a:solidFill>
                <a:latin typeface="Courier New"/>
                <a:ea typeface="Courier New" pitchFamily="34" charset="-122"/>
                <a:cs typeface="Courier New"/>
              </a:rPr>
              <a:t>
</a:t>
            </a:r>
            <a:r>
              <a:rPr lang="en-US" sz="1300">
                <a:solidFill>
                  <a:srgbClr val="0D1B2A"/>
                </a:solidFill>
                <a:latin typeface="Courier New"/>
                <a:ea typeface="Courier New" pitchFamily="34" charset="-122"/>
                <a:cs typeface="Courier New"/>
              </a:rPr>
              <a:t>range(1,6)    → 1,2,3,4,5</a:t>
            </a:r>
            <a:r>
              <a:rPr lang="en-US" sz="1300" dirty="0">
                <a:solidFill>
                  <a:srgbClr val="0D1B2A"/>
                </a:solidFill>
                <a:latin typeface="Courier New"/>
                <a:ea typeface="Courier New" pitchFamily="34" charset="-122"/>
                <a:cs typeface="Courier New"/>
              </a:rPr>
              <a:t>
</a:t>
            </a:r>
            <a:r>
              <a:rPr lang="en-US" sz="1300">
                <a:solidFill>
                  <a:srgbClr val="0D1B2A"/>
                </a:solidFill>
                <a:latin typeface="Courier New"/>
                <a:ea typeface="Courier New" pitchFamily="34" charset="-122"/>
                <a:cs typeface="Courier New"/>
              </a:rPr>
              <a:t>range(0,10,2) → 0,2,4,6,8</a:t>
            </a:r>
            <a:endParaRPr lang="en-US" sz="1400">
              <a:latin typeface="Courier New"/>
              <a:cs typeface="Courier New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709160" y="1005840"/>
            <a:ext cx="4114800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0" y="1143000"/>
            <a:ext cx="3840480" cy="3657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B4D8"/>
                </a:solidFill>
              </a:rPr>
              <a:t>Sorting &amp; Type Checks
</a:t>
            </a:r>
            <a:r>
              <a:rPr lang="en-US" sz="1300" dirty="0">
                <a:solidFill>
                  <a:srgbClr val="0D1B2A"/>
                </a:solidFill>
                <a:latin typeface="Courier New"/>
                <a:ea typeface="Courier New" pitchFamily="34" charset="-122"/>
                <a:cs typeface="Courier New"/>
              </a:rPr>
              <a:t>sorted([3,1,2])   → [1,2,3]
sorted([3,1,2], reverse=True)
type(42)     → &lt;class 'int'&gt;
</a:t>
            </a:r>
            <a:r>
              <a:rPr lang="en-US" sz="1300" dirty="0" err="1">
                <a:solidFill>
                  <a:srgbClr val="0D1B2A"/>
                </a:solidFill>
                <a:latin typeface="Courier New"/>
                <a:ea typeface="Courier New" pitchFamily="34" charset="-122"/>
                <a:cs typeface="Courier New"/>
              </a:rPr>
              <a:t>isinstance</a:t>
            </a:r>
            <a:r>
              <a:rPr lang="en-US" sz="1300" dirty="0">
                <a:solidFill>
                  <a:srgbClr val="0D1B2A"/>
                </a:solidFill>
                <a:latin typeface="Courier New"/>
                <a:ea typeface="Courier New" pitchFamily="34" charset="-122"/>
                <a:cs typeface="Courier New"/>
              </a:rPr>
              <a:t>(42, int) → True
</a:t>
            </a:r>
            <a:endParaRPr lang="en-US" sz="1300" dirty="0">
              <a:solidFill>
                <a:srgbClr val="0D1B2A"/>
              </a:solidFill>
              <a:latin typeface="Courier New"/>
              <a:cs typeface="Courier New"/>
            </a:endParaRPr>
          </a:p>
          <a:p>
            <a:pPr marL="0" indent="0" algn="l">
              <a:buNone/>
            </a:pPr>
            <a:r>
              <a:rPr lang="en-US" sz="1500" b="1" dirty="0">
                <a:solidFill>
                  <a:srgbClr val="00B4D8"/>
                </a:solidFill>
              </a:rPr>
              <a:t>Common Lab Functions to Write
</a:t>
            </a:r>
            <a:r>
              <a:rPr lang="en-US" sz="1200" dirty="0">
                <a:solidFill>
                  <a:srgbClr val="0D1B2A"/>
                </a:solidFill>
                <a:latin typeface="Courier New"/>
                <a:ea typeface="Courier New" pitchFamily="34" charset="-122"/>
                <a:cs typeface="Courier New"/>
              </a:rPr>
              <a:t>def </a:t>
            </a:r>
            <a:r>
              <a:rPr lang="en-US" sz="1200" dirty="0" err="1">
                <a:solidFill>
                  <a:srgbClr val="0D1B2A"/>
                </a:solidFill>
                <a:latin typeface="Courier New"/>
                <a:ea typeface="Courier New" pitchFamily="34" charset="-122"/>
                <a:cs typeface="Courier New"/>
              </a:rPr>
              <a:t>is_even</a:t>
            </a:r>
            <a:r>
              <a:rPr lang="en-US" sz="1200" dirty="0">
                <a:solidFill>
                  <a:srgbClr val="0D1B2A"/>
                </a:solidFill>
                <a:latin typeface="Courier New"/>
                <a:ea typeface="Courier New" pitchFamily="34" charset="-122"/>
                <a:cs typeface="Courier New"/>
              </a:rPr>
              <a:t>(n):</a:t>
            </a:r>
            <a:endParaRPr lang="en-US" sz="1400" dirty="0">
              <a:latin typeface="Courier New"/>
              <a:ea typeface="Calibri" panose="020F0502020204030204"/>
              <a:cs typeface="Calibri" panose="020F0502020204030204"/>
            </a:endParaRPr>
          </a:p>
          <a:p>
            <a:r>
              <a:rPr lang="en-US" sz="1200" dirty="0">
                <a:solidFill>
                  <a:srgbClr val="0D1B2A"/>
                </a:solidFill>
                <a:latin typeface="Courier New"/>
                <a:ea typeface="Courier New" pitchFamily="34" charset="-122"/>
                <a:cs typeface="Courier New"/>
              </a:rPr>
              <a:t>     return n % 2 == 0</a:t>
            </a:r>
            <a:endParaRPr lang="en-US" sz="1400" dirty="0">
              <a:latin typeface="Courier New"/>
              <a:cs typeface="Courier New"/>
            </a:endParaRPr>
          </a:p>
          <a:p>
            <a:pPr marL="0" indent="0" algn="l">
              <a:buNone/>
            </a:pPr>
            <a:endParaRPr lang="en-US" sz="14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factorial(n):</a:t>
            </a:r>
            <a:endParaRPr lang="en-US" sz="1400" dirty="0"/>
          </a:p>
          <a:p>
            <a:r>
              <a:rPr lang="en-US" sz="1200" dirty="0">
                <a:solidFill>
                  <a:srgbClr val="0D1B2A"/>
                </a:solidFill>
                <a:latin typeface="Courier New"/>
                <a:ea typeface="Courier New" pitchFamily="34" charset="-122"/>
                <a:cs typeface="Courier New"/>
              </a:rPr>
              <a:t>     result = 1</a:t>
            </a:r>
            <a:endParaRPr lang="en-US" sz="1400" dirty="0">
              <a:latin typeface="Courier New"/>
              <a:cs typeface="Courier New"/>
            </a:endParaRPr>
          </a:p>
          <a:p>
            <a:r>
              <a:rPr lang="en-US" sz="1200" dirty="0">
                <a:solidFill>
                  <a:srgbClr val="0D1B2A"/>
                </a:solidFill>
                <a:latin typeface="Courier New"/>
                <a:ea typeface="Courier New" pitchFamily="34" charset="-122"/>
                <a:cs typeface="Courier New"/>
              </a:rPr>
              <a:t>     for </a:t>
            </a:r>
            <a:r>
              <a:rPr lang="en-US" sz="1200" dirty="0" err="1">
                <a:solidFill>
                  <a:srgbClr val="0D1B2A"/>
                </a:solidFill>
                <a:latin typeface="Courier New"/>
                <a:ea typeface="Courier New" pitchFamily="34" charset="-122"/>
                <a:cs typeface="Courier New"/>
              </a:rPr>
              <a:t>i</a:t>
            </a:r>
            <a:r>
              <a:rPr lang="en-US" sz="1200" dirty="0">
                <a:solidFill>
                  <a:srgbClr val="0D1B2A"/>
                </a:solidFill>
                <a:latin typeface="Courier New"/>
                <a:ea typeface="Courier New" pitchFamily="34" charset="-122"/>
                <a:cs typeface="Courier New"/>
              </a:rPr>
              <a:t> in range(1, n+1):</a:t>
            </a:r>
            <a:endParaRPr lang="en-US" sz="1400" dirty="0">
              <a:latin typeface="Courier New"/>
              <a:cs typeface="Courier New"/>
            </a:endParaRPr>
          </a:p>
          <a:p>
            <a:r>
              <a:rPr lang="en-US" sz="1200" dirty="0">
                <a:solidFill>
                  <a:srgbClr val="0D1B2A"/>
                </a:solidFill>
                <a:latin typeface="Courier New"/>
                <a:ea typeface="Courier New" pitchFamily="34" charset="-122"/>
                <a:cs typeface="Courier New"/>
              </a:rPr>
              <a:t>          result *= </a:t>
            </a:r>
            <a:r>
              <a:rPr lang="en-US" sz="1200" dirty="0" err="1">
                <a:solidFill>
                  <a:srgbClr val="0D1B2A"/>
                </a:solidFill>
                <a:latin typeface="Courier New"/>
                <a:ea typeface="Courier New" pitchFamily="34" charset="-122"/>
                <a:cs typeface="Courier New"/>
              </a:rPr>
              <a:t>i</a:t>
            </a:r>
            <a:endParaRPr lang="en-US" sz="1400" dirty="0" err="1">
              <a:latin typeface="Courier New"/>
              <a:cs typeface="Courier New"/>
            </a:endParaRPr>
          </a:p>
          <a:p>
            <a:r>
              <a:rPr lang="en-US" sz="1200" dirty="0">
                <a:solidFill>
                  <a:srgbClr val="0D1B2A"/>
                </a:solidFill>
                <a:latin typeface="Courier New"/>
                <a:ea typeface="Courier New" pitchFamily="34" charset="-122"/>
                <a:cs typeface="Courier New"/>
              </a:rPr>
              <a:t>     </a:t>
            </a:r>
            <a:r>
              <a:rPr lang="en-US" sz="1200">
                <a:solidFill>
                  <a:srgbClr val="0D1B2A"/>
                </a:solidFill>
                <a:latin typeface="Courier New"/>
                <a:ea typeface="Courier New" pitchFamily="34" charset="-122"/>
                <a:cs typeface="Courier New"/>
              </a:rPr>
              <a:t>return result</a:t>
            </a:r>
            <a:endParaRPr lang="en-US" sz="1400">
              <a:latin typeface="Courier New"/>
              <a:cs typeface="Courier New"/>
            </a:endParaRPr>
          </a:p>
          <a:p>
            <a:pPr marL="0" indent="0" algn="l">
              <a:buNone/>
            </a:pPr>
            <a:endParaRPr lang="en-US" sz="14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D1B2A"/>
                </a:solidFill>
                <a:latin typeface="Courier New"/>
                <a:ea typeface="Courier New" pitchFamily="34" charset="-122"/>
                <a:cs typeface="Courier New"/>
              </a:rPr>
              <a:t>def </a:t>
            </a:r>
            <a:r>
              <a:rPr lang="en-US" sz="1200" dirty="0" err="1">
                <a:solidFill>
                  <a:srgbClr val="0D1B2A"/>
                </a:solidFill>
                <a:latin typeface="Courier New"/>
                <a:ea typeface="Courier New" pitchFamily="34" charset="-122"/>
                <a:cs typeface="Courier New"/>
              </a:rPr>
              <a:t>reverse_string</a:t>
            </a:r>
            <a:r>
              <a:rPr lang="en-US" sz="1200" dirty="0">
                <a:solidFill>
                  <a:srgbClr val="0D1B2A"/>
                </a:solidFill>
                <a:latin typeface="Courier New"/>
                <a:ea typeface="Courier New" pitchFamily="34" charset="-122"/>
                <a:cs typeface="Courier New"/>
              </a:rPr>
              <a:t>(s):</a:t>
            </a:r>
            <a:endParaRPr lang="en-US" sz="1400" dirty="0">
              <a:latin typeface="Courier New"/>
              <a:cs typeface="Courier New"/>
            </a:endParaRPr>
          </a:p>
          <a:p>
            <a:r>
              <a:rPr lang="en-US" sz="1200" dirty="0">
                <a:solidFill>
                  <a:srgbClr val="0D1B2A"/>
                </a:solidFill>
                <a:latin typeface="Courier New"/>
                <a:ea typeface="Courier New" pitchFamily="34" charset="-122"/>
                <a:cs typeface="Courier New"/>
              </a:rPr>
              <a:t>     return s[::-1]</a:t>
            </a:r>
            <a:endParaRPr lang="en-US" sz="14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Function Syntax — def, Parameters, Return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1230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D1B2A"/>
                </a:solidFill>
              </a:rPr>
              <a:t>Functions are defined with 'def', can accept parameters (inputs), and can return values (outputs).</a:t>
            </a:r>
            <a:endParaRPr lang="en-US" sz="1400" dirty="0"/>
          </a:p>
        </p:txBody>
      </p:sp>
      <p:pic>
        <p:nvPicPr>
          <p:cNvPr id="7" name="Picture 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374246BA-6CCF-29AC-45DD-FE4A0A9B07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7674" y="1110343"/>
            <a:ext cx="3088651" cy="3967843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D47414-A501-A0E9-34C5-A917C8803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552C544-8568-C201-0F65-2C34B02DA9BA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3D6C147-159E-5D86-12D3-45A3ABAE2C0D}"/>
              </a:ext>
            </a:extLst>
          </p:cNvPr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>
                <a:solidFill>
                  <a:srgbClr val="FFFFFF"/>
                </a:solidFill>
              </a:rPr>
              <a:t>Lambda Function</a:t>
            </a:r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0FFB59B-350B-583D-6C3F-C55DD3336787}"/>
              </a:ext>
            </a:extLst>
          </p:cNvPr>
          <p:cNvSpPr/>
          <p:nvPr/>
        </p:nvSpPr>
        <p:spPr>
          <a:xfrm>
            <a:off x="365760" y="914400"/>
            <a:ext cx="8412480" cy="84146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400">
                <a:solidFill>
                  <a:srgbClr val="0D1B2A"/>
                </a:solidFill>
                <a:ea typeface="+mn-lt"/>
                <a:cs typeface="+mn-lt"/>
              </a:rPr>
              <a:t>A </a:t>
            </a:r>
            <a:r>
              <a:rPr lang="en-US" sz="1400" b="1">
                <a:solidFill>
                  <a:srgbClr val="0D1B2A"/>
                </a:solidFill>
                <a:ea typeface="+mn-lt"/>
                <a:cs typeface="+mn-lt"/>
              </a:rPr>
              <a:t>lambda function</a:t>
            </a:r>
            <a:r>
              <a:rPr lang="en-US" sz="1400">
                <a:solidFill>
                  <a:srgbClr val="0D1B2A"/>
                </a:solidFill>
                <a:ea typeface="+mn-lt"/>
                <a:cs typeface="+mn-lt"/>
              </a:rPr>
              <a:t> is a small, anonymous function in Python that can have any number of parameters but only </a:t>
            </a:r>
            <a:r>
              <a:rPr lang="en-US" sz="1400" b="1">
                <a:solidFill>
                  <a:srgbClr val="0D1B2A"/>
                </a:solidFill>
                <a:ea typeface="+mn-lt"/>
                <a:cs typeface="+mn-lt"/>
              </a:rPr>
              <a:t>one expression</a:t>
            </a:r>
            <a:r>
              <a:rPr lang="en-US" sz="1400">
                <a:solidFill>
                  <a:srgbClr val="0D1B2A"/>
                </a:solidFill>
                <a:ea typeface="+mn-lt"/>
                <a:cs typeface="+mn-lt"/>
              </a:rPr>
              <a:t>.</a:t>
            </a:r>
            <a:endParaRPr lang="en-US"/>
          </a:p>
          <a:p>
            <a:r>
              <a:rPr lang="en-US" sz="1400">
                <a:solidFill>
                  <a:srgbClr val="0D1B2A"/>
                </a:solidFill>
                <a:ea typeface="+mn-lt"/>
                <a:cs typeface="+mn-lt"/>
              </a:rPr>
              <a:t>It is called </a:t>
            </a:r>
            <a:r>
              <a:rPr lang="en-US" sz="1400" b="1">
                <a:solidFill>
                  <a:srgbClr val="0D1B2A"/>
                </a:solidFill>
                <a:ea typeface="+mn-lt"/>
                <a:cs typeface="+mn-lt"/>
              </a:rPr>
              <a:t>anonymous</a:t>
            </a:r>
            <a:r>
              <a:rPr lang="en-US" sz="1400">
                <a:solidFill>
                  <a:srgbClr val="0D1B2A"/>
                </a:solidFill>
                <a:ea typeface="+mn-lt"/>
                <a:cs typeface="+mn-lt"/>
              </a:rPr>
              <a:t> because it does not require a function name.</a:t>
            </a:r>
            <a:endParaRPr lang="en-US"/>
          </a:p>
          <a:p>
            <a:pPr marL="0" indent="0" algn="l">
              <a:buNone/>
            </a:pPr>
            <a:endParaRPr lang="en-US" sz="1400" dirty="0">
              <a:solidFill>
                <a:srgbClr val="0D1B2A"/>
              </a:solidFill>
              <a:ea typeface="Calibri"/>
              <a:cs typeface="Calibri"/>
            </a:endParaRPr>
          </a:p>
        </p:txBody>
      </p:sp>
      <p:pic>
        <p:nvPicPr>
          <p:cNvPr id="5" name="Picture 4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AA1EC56A-6CD1-8FBC-D309-4313983ED6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0306" y="1758043"/>
            <a:ext cx="5003387" cy="3211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45841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58412D-ECA8-7AF0-B0B8-E04758A5A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2EDB51B-1730-4D25-832B-49E9A1F63EDC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617513A-577E-D848-1D75-E8060EF08683}"/>
              </a:ext>
            </a:extLst>
          </p:cNvPr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>
                <a:solidFill>
                  <a:srgbClr val="FFFFFF"/>
                </a:solidFill>
                <a:ea typeface="+mn-lt"/>
                <a:cs typeface="+mn-lt"/>
              </a:rPr>
              <a:t>Lambda with Multiple Parameters</a:t>
            </a:r>
            <a:endParaRPr lang="en-US">
              <a:ea typeface="+mn-lt"/>
              <a:cs typeface="+mn-lt"/>
            </a:endParaRPr>
          </a:p>
        </p:txBody>
      </p:sp>
      <p:pic>
        <p:nvPicPr>
          <p:cNvPr id="6" name="Picture 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2AD9E334-46D7-C41B-3113-611355E0C4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985" y="1155770"/>
            <a:ext cx="7522029" cy="3528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93212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BD708B-66F5-3B30-9189-09E4E835E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9FCD72D-B581-A3CC-1884-7FAB7C90DD73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9507B56-EB95-9B50-CB3F-6128A22B4C02}"/>
              </a:ext>
            </a:extLst>
          </p:cNvPr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>
                <a:solidFill>
                  <a:srgbClr val="FFFFFF"/>
                </a:solidFill>
                <a:ea typeface="+mn-lt"/>
                <a:cs typeface="+mn-lt"/>
              </a:rPr>
              <a:t>Lambda with </a:t>
            </a:r>
            <a:r>
              <a:rPr lang="en-US" sz="2200" b="1">
                <a:solidFill>
                  <a:srgbClr val="FFFFFF"/>
                </a:solidFill>
                <a:latin typeface="Calibri"/>
                <a:ea typeface="+mn-lt"/>
                <a:cs typeface="+mn-lt"/>
              </a:rPr>
              <a:t>Conditional Expression</a:t>
            </a:r>
            <a:endParaRPr lang="en-US">
              <a:solidFill>
                <a:srgbClr val="000000"/>
              </a:solidFill>
              <a:latin typeface="Calibri"/>
              <a:ea typeface="+mn-lt"/>
              <a:cs typeface="+mn-lt"/>
            </a:endParaRPr>
          </a:p>
        </p:txBody>
      </p:sp>
      <p:pic>
        <p:nvPicPr>
          <p:cNvPr id="4" name="Picture 3" descr="A computer screen shot of a black screen&#10;&#10;AI-generated content may be incorrect.">
            <a:extLst>
              <a:ext uri="{FF2B5EF4-FFF2-40B4-BE49-F238E27FC236}">
                <a16:creationId xmlns:a16="http://schemas.microsoft.com/office/drawing/2014/main" id="{46173AE5-B5EB-1588-3581-A3F8D35DA5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485" y="1041469"/>
            <a:ext cx="7908472" cy="3708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76727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915075-0F68-188C-2A35-E9CE73AFC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43A1187-E4B0-9542-9B06-CC35C9359C13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9D22B18-82FE-8391-07AA-513AF9FAAA64}"/>
              </a:ext>
            </a:extLst>
          </p:cNvPr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>
                <a:solidFill>
                  <a:srgbClr val="FFFFFF"/>
                </a:solidFill>
                <a:ea typeface="+mn-lt"/>
                <a:cs typeface="+mn-lt"/>
              </a:rPr>
              <a:t>Lambda Returning Multiple Values</a:t>
            </a:r>
            <a:endParaRPr lang="en-US">
              <a:solidFill>
                <a:srgbClr val="000000"/>
              </a:solidFill>
              <a:latin typeface="Calibri"/>
              <a:ea typeface="+mn-lt"/>
              <a:cs typeface="+mn-lt"/>
            </a:endParaRPr>
          </a:p>
        </p:txBody>
      </p:sp>
      <p:pic>
        <p:nvPicPr>
          <p:cNvPr id="5" name="Picture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D403266E-2F2E-7C77-A96F-D9A1189D07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257" y="934287"/>
            <a:ext cx="7102929" cy="3971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03845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8F7440-DA56-813E-A1FF-63C55FF8F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3058120-377E-465E-6AB9-20E50A732F38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37EB891-8BFB-327F-BDF2-7E9AC2E946D3}"/>
              </a:ext>
            </a:extLst>
          </p:cNvPr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>
                <a:solidFill>
                  <a:srgbClr val="FFFFFF"/>
                </a:solidFill>
                <a:ea typeface="+mn-lt"/>
                <a:cs typeface="+mn-lt"/>
              </a:rPr>
              <a:t>Recursive Function</a:t>
            </a:r>
            <a:endParaRPr lang="en-US"/>
          </a:p>
        </p:txBody>
      </p:sp>
      <p:pic>
        <p:nvPicPr>
          <p:cNvPr id="6" name="Picture 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9BE9266B-6ACE-1BB1-7063-6B447D4D7A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0399" y="832756"/>
            <a:ext cx="4983201" cy="4185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57364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Day 3 Practical — Function-Based Quiz Scorer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468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D1B2A"/>
                </a:solidFill>
              </a:rPr>
              <a:t>Build a quiz where each question is evaluated by a function, and scores are tracked and reported at the end.</a:t>
            </a:r>
            <a:endParaRPr lang="en-US" sz="1400" dirty="0"/>
          </a:p>
        </p:txBody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1B60F601-CECE-F11D-BAEC-C33B9474A8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9413" y="1094014"/>
            <a:ext cx="3645175" cy="3978729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B4D8"/>
                </a:solidFill>
              </a:rPr>
              <a:t>🧠 Practice Questions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65760" y="6400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Day 3 — Practice Questions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34747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FFD166"/>
                </a:solidFill>
              </a:rPr>
              <a:t>Q1.  </a:t>
            </a:r>
            <a:r>
              <a:rPr lang="en-US" sz="1500" dirty="0">
                <a:solidFill>
                  <a:srgbClr val="FFFFFF"/>
                </a:solidFill>
              </a:rPr>
              <a:t>Write a function </a:t>
            </a:r>
            <a:r>
              <a:rPr lang="en-US" sz="1500" dirty="0" err="1">
                <a:solidFill>
                  <a:srgbClr val="FFFFFF"/>
                </a:solidFill>
              </a:rPr>
              <a:t>is_prime</a:t>
            </a:r>
            <a:r>
              <a:rPr lang="en-US" sz="1500" dirty="0">
                <a:solidFill>
                  <a:srgbClr val="FFFFFF"/>
                </a:solidFill>
              </a:rPr>
              <a:t>(n) that returns True if n is a prime number, False otherwise.</a:t>
            </a:r>
            <a:endParaRPr lang="en-US" sz="1500" dirty="0"/>
          </a:p>
          <a:p>
            <a:pPr marL="0" indent="0" algn="l"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FFD166"/>
                </a:solidFill>
              </a:rPr>
              <a:t>Q2.  </a:t>
            </a:r>
            <a:r>
              <a:rPr lang="en-US" sz="1500" dirty="0">
                <a:solidFill>
                  <a:srgbClr val="FFFFFF"/>
                </a:solidFill>
              </a:rPr>
              <a:t>Write a function </a:t>
            </a:r>
            <a:r>
              <a:rPr lang="en-US" sz="1500" dirty="0" err="1">
                <a:solidFill>
                  <a:srgbClr val="FFFFFF"/>
                </a:solidFill>
              </a:rPr>
              <a:t>find_max</a:t>
            </a:r>
            <a:r>
              <a:rPr lang="en-US" sz="1500" dirty="0">
                <a:solidFill>
                  <a:srgbClr val="FFFFFF"/>
                </a:solidFill>
              </a:rPr>
              <a:t>(</a:t>
            </a:r>
            <a:r>
              <a:rPr lang="en-US" sz="1500" dirty="0" err="1">
                <a:solidFill>
                  <a:srgbClr val="FFFFFF"/>
                </a:solidFill>
              </a:rPr>
              <a:t>nums</a:t>
            </a:r>
            <a:r>
              <a:rPr lang="en-US" sz="1500" dirty="0">
                <a:solidFill>
                  <a:srgbClr val="FFFFFF"/>
                </a:solidFill>
              </a:rPr>
              <a:t>) that returns the largest number in a list WITHOUT using max().</a:t>
            </a:r>
            <a:endParaRPr lang="en-US" sz="1500" dirty="0"/>
          </a:p>
          <a:p>
            <a:pPr marL="0" indent="0" algn="l"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FFD166"/>
                </a:solidFill>
              </a:rPr>
              <a:t>Q3.  </a:t>
            </a:r>
            <a:r>
              <a:rPr lang="en-US" sz="1500" dirty="0">
                <a:solidFill>
                  <a:srgbClr val="FFFFFF"/>
                </a:solidFill>
              </a:rPr>
              <a:t>Write a function </a:t>
            </a:r>
            <a:r>
              <a:rPr lang="en-US" sz="1500" dirty="0" err="1">
                <a:solidFill>
                  <a:srgbClr val="FFFFFF"/>
                </a:solidFill>
              </a:rPr>
              <a:t>celsius_to_fahrenheit</a:t>
            </a:r>
            <a:r>
              <a:rPr lang="en-US" sz="1500" dirty="0">
                <a:solidFill>
                  <a:srgbClr val="FFFFFF"/>
                </a:solidFill>
              </a:rPr>
              <a:t>(c) and call it for 0°C, 100°C, and 37°C.</a:t>
            </a:r>
            <a:endParaRPr lang="en-US" sz="1500" dirty="0"/>
          </a:p>
          <a:p>
            <a:pPr marL="0" indent="0" algn="l"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FFD166"/>
                </a:solidFill>
              </a:rPr>
              <a:t>Q4.  </a:t>
            </a:r>
            <a:r>
              <a:rPr lang="en-US" sz="1500" dirty="0">
                <a:solidFill>
                  <a:srgbClr val="FFFFFF"/>
                </a:solidFill>
              </a:rPr>
              <a:t>What is the difference between return and print inside a function? Give an example of each.</a:t>
            </a:r>
            <a:endParaRPr lang="en-US" sz="1500" dirty="0"/>
          </a:p>
          <a:p>
            <a:pPr marL="0" indent="0" algn="l"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FFD166"/>
                </a:solidFill>
              </a:rPr>
              <a:t>Q5.  </a:t>
            </a:r>
            <a:r>
              <a:rPr lang="en-US" sz="1500" dirty="0">
                <a:solidFill>
                  <a:srgbClr val="FFFFFF"/>
                </a:solidFill>
              </a:rPr>
              <a:t>Write a function </a:t>
            </a:r>
            <a:r>
              <a:rPr lang="en-US" sz="1500" dirty="0" err="1">
                <a:solidFill>
                  <a:srgbClr val="FFFFFF"/>
                </a:solidFill>
              </a:rPr>
              <a:t>count_vowels</a:t>
            </a:r>
            <a:r>
              <a:rPr lang="en-US" sz="1500" dirty="0">
                <a:solidFill>
                  <a:srgbClr val="FFFFFF"/>
                </a:solidFill>
              </a:rPr>
              <a:t>(word) that returns the number of vowels in the given string.</a:t>
            </a:r>
          </a:p>
          <a:p>
            <a:pPr>
              <a:spcAft>
                <a:spcPts val="1200"/>
              </a:spcAft>
            </a:pPr>
            <a:r>
              <a:rPr lang="en-US" sz="1500" b="1">
                <a:solidFill>
                  <a:srgbClr val="FFD166"/>
                </a:solidFill>
                <a:ea typeface="+mn-lt"/>
                <a:cs typeface="+mn-lt"/>
              </a:rPr>
              <a:t>Q6. </a:t>
            </a:r>
            <a:r>
              <a:rPr lang="en-US" sz="1500" dirty="0">
                <a:solidFill>
                  <a:srgbClr val="FFFFFF"/>
                </a:solidFill>
                <a:ea typeface="+mn-lt"/>
                <a:cs typeface="+mn-lt"/>
              </a:rPr>
              <a:t>Write a function </a:t>
            </a:r>
            <a:r>
              <a:rPr lang="en-US" sz="15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total(*numbers)</a:t>
            </a:r>
            <a:r>
              <a:rPr lang="en-US" sz="1500" dirty="0">
                <a:solidFill>
                  <a:srgbClr val="FFFFFF"/>
                </a:solidFill>
                <a:ea typeface="+mn-lt"/>
                <a:cs typeface="+mn-lt"/>
              </a:rPr>
              <a:t> that returns the sum of however many numbers are passed in. </a:t>
            </a:r>
            <a:r>
              <a:rPr lang="en-US" sz="1500">
                <a:solidFill>
                  <a:srgbClr val="FFFFFF"/>
                </a:solidFill>
                <a:ea typeface="+mn-lt"/>
                <a:cs typeface="+mn-lt"/>
              </a:rPr>
              <a:t>Call it with 2 numbers, then 5 numbers, then zero numbers — what does it return for zero?</a:t>
            </a:r>
          </a:p>
          <a:p>
            <a:pPr>
              <a:spcAft>
                <a:spcPts val="1200"/>
              </a:spcAft>
            </a:pPr>
            <a:r>
              <a:rPr lang="en-US" sz="1500" b="1">
                <a:solidFill>
                  <a:srgbClr val="FFD166"/>
                </a:solidFill>
                <a:ea typeface="+mn-lt"/>
                <a:cs typeface="+mn-lt"/>
              </a:rPr>
              <a:t>Q7. </a:t>
            </a:r>
            <a:r>
              <a:rPr lang="en-US" sz="1500" dirty="0">
                <a:solidFill>
                  <a:srgbClr val="FFFFFF"/>
                </a:solidFill>
                <a:ea typeface="+mn-lt"/>
                <a:cs typeface="+mn-lt"/>
              </a:rPr>
              <a:t>Write a function </a:t>
            </a:r>
            <a:r>
              <a:rPr lang="en-US" sz="1500" dirty="0">
                <a:solidFill>
                  <a:srgbClr val="FFFFFF"/>
                </a:solidFill>
                <a:latin typeface="Calibri" panose="020F0502020204030204"/>
                <a:ea typeface="+mn-lt"/>
                <a:cs typeface="+mn-lt"/>
              </a:rPr>
              <a:t>print_profile(**details)</a:t>
            </a:r>
            <a:r>
              <a:rPr lang="en-US" sz="1500" dirty="0">
                <a:solidFill>
                  <a:srgbClr val="FFFFFF"/>
                </a:solidFill>
                <a:ea typeface="+mn-lt"/>
                <a:cs typeface="+mn-lt"/>
              </a:rPr>
              <a:t> that prints each key-value pair it receives, one per line. Call it like </a:t>
            </a:r>
            <a:r>
              <a:rPr lang="en-US" sz="1500" dirty="0">
                <a:solidFill>
                  <a:srgbClr val="FFFFFF"/>
                </a:solidFill>
                <a:latin typeface="Calibri" panose="020F0502020204030204"/>
                <a:ea typeface="+mn-lt"/>
                <a:cs typeface="+mn-lt"/>
              </a:rPr>
              <a:t>print_profile(name="John", age=20, city="Delhi")</a:t>
            </a:r>
            <a:r>
              <a:rPr lang="en-US" sz="1500" dirty="0">
                <a:solidFill>
                  <a:srgbClr val="FFFFFF"/>
                </a:solidFill>
                <a:ea typeface="+mn-lt"/>
                <a:cs typeface="+mn-lt"/>
              </a:rPr>
              <a:t>.</a:t>
            </a:r>
            <a:endParaRPr lang="en-US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Week 1 Recap — What You've Learned!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7432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6984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🐍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554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</a:rPr>
              <a:t>Python Setup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92024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5566"/>
                </a:solidFill>
              </a:rPr>
              <a:t>Python 3.x + VS Code installed and running. You wrote your first program!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960120"/>
            <a:ext cx="27432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06984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📦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291840" y="1554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</a:rPr>
              <a:t>Variables &amp; Types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91840" y="192024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5566"/>
                </a:solidFill>
              </a:rPr>
              <a:t>int, float, str, bool, None. Dynamic typing. type() function.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960120"/>
            <a:ext cx="27432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26480" y="106984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💬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217920" y="1554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</a:rPr>
              <a:t>Input / Output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17920" y="192024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5566"/>
                </a:solidFill>
              </a:rPr>
              <a:t>print(), input(), f-strings, type conversion (int, float, str).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926080"/>
            <a:ext cx="27432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74320" y="303580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➕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365760" y="35204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</a:rPr>
              <a:t>Operators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65760" y="388620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5566"/>
                </a:solidFill>
              </a:rPr>
              <a:t>Arithmetic, comparison, logical, assignment operators and precedence.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2926080"/>
            <a:ext cx="27432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200400" y="303580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🔀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3291840" y="35204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</a:rPr>
              <a:t>Control Flow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291840" y="388620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5566"/>
                </a:solidFill>
              </a:rPr>
              <a:t>if/elif/else for decisions. for and while loops with break/continue.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2926080"/>
            <a:ext cx="27432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126480" y="303580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217920" y="35204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</a:rPr>
              <a:t>Functions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217920" y="388620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5566"/>
                </a:solidFill>
              </a:rPr>
              <a:t>def, parameters, return values, default arguments, built-in functions.</a:t>
            </a:r>
            <a:endParaRPr lang="en-US" sz="11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00B4D8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B4D8"/>
                </a:solidFill>
              </a:rPr>
              <a:t>Coming Up Next ⚡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</a:rPr>
              <a:t>Week 2 — Data, Strings, Files &amp; OOP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920240"/>
            <a:ext cx="8412480" cy="594360"/>
          </a:xfrm>
          <a:prstGeom prst="roundRect">
            <a:avLst>
              <a:gd name="adj" fmla="val 12308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9202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00000"/>
                </a:solidFill>
              </a:rPr>
              <a:t>📋  </a:t>
            </a:r>
            <a:r>
              <a:rPr lang="en-US" sz="1400" b="1" dirty="0">
                <a:solidFill>
                  <a:srgbClr val="FFD166"/>
                </a:solidFill>
              </a:rPr>
              <a:t>Day 4 — Mon Jul 6  </a:t>
            </a:r>
            <a:r>
              <a:rPr lang="en-US" sz="1400" dirty="0">
                <a:solidFill>
                  <a:srgbClr val="90B4C5"/>
                </a:solidFill>
              </a:rPr>
              <a:t>— Lists, Tuples, Dictionaries + Student Marks Program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2624328"/>
            <a:ext cx="8412480" cy="594360"/>
          </a:xfrm>
          <a:prstGeom prst="roundRect">
            <a:avLst>
              <a:gd name="adj" fmla="val 12308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6243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00000"/>
                </a:solidFill>
              </a:rPr>
              <a:t>✂️  </a:t>
            </a:r>
            <a:r>
              <a:rPr lang="en-US" sz="1400" b="1" dirty="0">
                <a:solidFill>
                  <a:srgbClr val="FFD166"/>
                </a:solidFill>
              </a:rPr>
              <a:t>Day 5 — Tue Jul 7  </a:t>
            </a:r>
            <a:r>
              <a:rPr lang="en-US" sz="1400" dirty="0">
                <a:solidFill>
                  <a:srgbClr val="90B4C5"/>
                </a:solidFill>
              </a:rPr>
              <a:t>— String Handling: methods, patterns, palindrome checker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3328416"/>
            <a:ext cx="8412480" cy="594360"/>
          </a:xfrm>
          <a:prstGeom prst="roundRect">
            <a:avLst>
              <a:gd name="adj" fmla="val 12308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3328416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00000"/>
                </a:solidFill>
              </a:rPr>
              <a:t>📁  </a:t>
            </a:r>
            <a:r>
              <a:rPr lang="en-US" sz="1400" b="1" dirty="0">
                <a:solidFill>
                  <a:srgbClr val="FFD166"/>
                </a:solidFill>
              </a:rPr>
              <a:t>Day 6 — Wed Jul 8  </a:t>
            </a:r>
            <a:r>
              <a:rPr lang="en-US" sz="1400" dirty="0">
                <a:solidFill>
                  <a:srgbClr val="90B4C5"/>
                </a:solidFill>
              </a:rPr>
              <a:t>— File Handling, Error Handling + Module 1 Capstone Project!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4032504"/>
            <a:ext cx="8412480" cy="594360"/>
          </a:xfrm>
          <a:prstGeom prst="roundRect">
            <a:avLst>
              <a:gd name="adj" fmla="val 12308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4032504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00000"/>
                </a:solidFill>
              </a:rPr>
              <a:t>🏛️  </a:t>
            </a:r>
            <a:r>
              <a:rPr lang="en-US" sz="1400" b="1" dirty="0">
                <a:solidFill>
                  <a:srgbClr val="FFD166"/>
                </a:solidFill>
              </a:rPr>
              <a:t>Day 7-8 — Thu/Fri  </a:t>
            </a:r>
            <a:r>
              <a:rPr lang="en-US" sz="1400" dirty="0">
                <a:solidFill>
                  <a:srgbClr val="90B4C5"/>
                </a:solidFill>
              </a:rPr>
              <a:t>— OOP: Classes, Objects, Inheritance, Encapsulation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D6A0"/>
                </a:solidFill>
              </a:rPr>
              <a:t>🏠  Weekend Homework: Revisit all 3 days' code · Attempt bonus questions · Come with doubts!</a:t>
            </a:r>
            <a:endParaRPr lang="en-US" sz="13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4572000" cy="4572000"/>
          </a:xfrm>
          <a:prstGeom prst="ellipse">
            <a:avLst/>
          </a:prstGeom>
          <a:solidFill>
            <a:srgbClr val="00B4D8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914400"/>
            <a:ext cx="4114800" cy="4114800"/>
          </a:xfrm>
          <a:prstGeom prst="ellipse">
            <a:avLst/>
          </a:prstGeom>
          <a:solidFill>
            <a:srgbClr val="00B4D8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0" y="45720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00000"/>
                </a:solidFill>
              </a:rPr>
              <a:t>🐍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914400" y="14630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Great Work Today!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2331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0B4C5"/>
                </a:solidFill>
              </a:rPr>
              <a:t>You've taken your first step into the world of Python 🚀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828800" y="292608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</a:rPr>
              <a:t>Exit Ticket — Before you leave, write: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371600" y="3383280"/>
            <a:ext cx="6400800" cy="109728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463040" y="3429000"/>
            <a:ext cx="6217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FFFFFF"/>
                </a:solidFill>
              </a:rPr>
              <a:t>"Today I learned ___ and my one doubt is ___"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14400" y="4663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46677"/>
                </a:solidFill>
              </a:rPr>
              <a:t>2b Academy  ·  Python Bootcamp  ·  July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56</Slides>
  <Notes>27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5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2b Academy — Week 1: Python Fundamentals</dc:title>
  <dc:subject>PptxGenJS Presentation</dc:subject>
  <dc:creator>PptxGenJS</dc:creator>
  <cp:lastModifiedBy>PptxGenJS</cp:lastModifiedBy>
  <cp:revision>378</cp:revision>
  <dcterms:created xsi:type="dcterms:W3CDTF">2026-06-25T06:46:46Z</dcterms:created>
  <dcterms:modified xsi:type="dcterms:W3CDTF">2026-06-29T11:44:02Z</dcterms:modified>
</cp:coreProperties>
</file>