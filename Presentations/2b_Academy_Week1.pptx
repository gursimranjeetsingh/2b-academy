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82" r:id="rId8"/>
    <p:sldId id="262" r:id="rId9"/>
    <p:sldId id="289" r:id="rId10"/>
    <p:sldId id="290" r:id="rId11"/>
    <p:sldId id="291" r:id="rId12"/>
    <p:sldId id="283" r:id="rId13"/>
    <p:sldId id="284" r:id="rId14"/>
    <p:sldId id="285" r:id="rId15"/>
    <p:sldId id="286" r:id="rId16"/>
    <p:sldId id="287" r:id="rId17"/>
    <p:sldId id="288" r:id="rId18"/>
    <p:sldId id="292" r:id="rId19"/>
    <p:sldId id="264" r:id="rId20"/>
    <p:sldId id="293" r:id="rId21"/>
    <p:sldId id="294" r:id="rId22"/>
    <p:sldId id="295" r:id="rId23"/>
    <p:sldId id="265" r:id="rId24"/>
    <p:sldId id="266" r:id="rId25"/>
    <p:sldId id="267" r:id="rId26"/>
    <p:sldId id="268" r:id="rId27"/>
    <p:sldId id="296" r:id="rId28"/>
    <p:sldId id="297" r:id="rId29"/>
    <p:sldId id="298" r:id="rId30"/>
    <p:sldId id="299" r:id="rId31"/>
    <p:sldId id="300" r:id="rId32"/>
    <p:sldId id="270" r:id="rId33"/>
    <p:sldId id="271" r:id="rId34"/>
    <p:sldId id="272" r:id="rId35"/>
    <p:sldId id="273" r:id="rId36"/>
    <p:sldId id="274" r:id="rId37"/>
    <p:sldId id="275" r:id="rId38"/>
    <p:sldId id="276" r:id="rId39"/>
    <p:sldId id="277" r:id="rId40"/>
    <p:sldId id="278" r:id="rId41"/>
    <p:sldId id="279" r:id="rId42"/>
    <p:sldId id="280" r:id="rId43"/>
    <p:sldId id="281" r:id="rId4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399CDE-187F-331F-861F-825601A93677}" v="53" dt="2026-06-26T07:10:40.749"/>
    <p1510:client id="{7077B54F-E1E8-2154-E1D8-0A2E084563F4}" v="317" dt="2026-06-27T15:49:24.0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9649CE-33BC-42C5-BC4D-3398AA877E63}" type="datetimeFigureOut">
              <a:t>6/27/2026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DFFD18-7037-477F-B7D6-B8BC51CFD3E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8058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everyone! Introduce yourself and the bootcamp. This is Day 1 of a 22-day journey. The energy you set today defines the whole batch.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an overview of the full bootcamp. Tell students what they'll build by the end — a Flask website, data visualizations, and an AI-integrated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daily structure. Tell students they will NOT just watch — they code every day. Exit ticket is important; read them before the next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Who has heard of Python? Who has tried coding before? Use Netflix, Instagram, YouTube as examples of Python-powered products.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this live on the projector. Watch the room — help anyone who gets stuck. Don't move on until everyone has python --version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A function is like a recipe. You write it once, then cook it (call it) whenever you want. You don't rewrite the recipe each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End-of-week recap! Ask students to write their 'today I learned' exit ticket. Read these before Week 2 starts to identify who needs extra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the week on a high note! Tell them what they'll BUILD by end of Week 2 — a student records system saved to a file with OOP. It sounds impressive now!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 the exit tickets physically or ask them to type in a shared doc. Review them tonight and plan any re-teaching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ngall.com/nasa-png" TargetMode="External"/><Relationship Id="rId3" Type="http://schemas.openxmlformats.org/officeDocument/2006/relationships/hyperlink" Target="https://www.pluginsxbmc.com/2018/01/como-ver-netflix-con-kodi.html" TargetMode="External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echnofaq.org/posts/2020/10/tunelf-spotify-music-converter-download-spotify-songs-to-mp3/" TargetMode="External"/><Relationship Id="rId5" Type="http://schemas.openxmlformats.org/officeDocument/2006/relationships/image" Target="../media/image3.png"/><Relationship Id="rId10" Type="http://schemas.openxmlformats.org/officeDocument/2006/relationships/hyperlink" Target="http://educacion-con-tic.blogspot.com.es/" TargetMode="External"/><Relationship Id="rId4" Type="http://schemas.openxmlformats.org/officeDocument/2006/relationships/image" Target="../media/image2.jpeg"/><Relationship Id="rId9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4572000" cy="4572000"/>
          </a:xfrm>
          <a:prstGeom prst="ellipse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2560320"/>
            <a:ext cx="2743200" cy="2743200"/>
          </a:xfrm>
          <a:prstGeom prst="ellipse">
            <a:avLst/>
          </a:prstGeom>
          <a:solidFill>
            <a:srgbClr val="00B4D8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kern="0" spc="600" dirty="0">
                <a:solidFill>
                  <a:srgbClr val="00B4D8"/>
                </a:solidFill>
              </a:rPr>
              <a:t>2b ACADEMY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Bootcamp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90B4C5"/>
                </a:solidFill>
              </a:rPr>
              <a:t>Week 1 — Python Fundamentals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0B4D8"/>
                </a:solidFill>
              </a:rPr>
              <a:t>Jul 1 – Jul 3, 2026  |  Days 1-3  |  9 Hours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2286000" cy="640080"/>
          </a:xfrm>
          <a:prstGeom prst="roundRect">
            <a:avLst>
              <a:gd name="adj" fmla="val 14286"/>
            </a:avLst>
          </a:prstGeom>
          <a:solidFill>
            <a:srgbClr val="00B4D8">
              <a:alpha val="3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6576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🐍  Python 3.x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017520" y="3657600"/>
            <a:ext cx="2286000" cy="640080"/>
          </a:xfrm>
          <a:prstGeom prst="roundRect">
            <a:avLst>
              <a:gd name="adj" fmla="val 14286"/>
            </a:avLst>
          </a:prstGeom>
          <a:solidFill>
            <a:srgbClr val="00B4D8">
              <a:alpha val="3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017520" y="36576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💻  VS Code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0" y="3657600"/>
            <a:ext cx="2743200" cy="640080"/>
          </a:xfrm>
          <a:prstGeom prst="roundRect">
            <a:avLst>
              <a:gd name="adj" fmla="val 14286"/>
            </a:avLst>
          </a:prstGeom>
          <a:solidFill>
            <a:srgbClr val="00B4D8">
              <a:alpha val="3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0" y="3657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🚀  Beginner Friendly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About This Bootcamp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0D1B2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972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B4D8"/>
                </a:solidFill>
              </a:rPr>
              <a:t>22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B4C5"/>
                </a:solidFill>
              </a:rPr>
              <a:t>Training Days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14600" y="100584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0D1B2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0972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B4D8"/>
                </a:solidFill>
              </a:rPr>
              <a:t>66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2514600" y="1920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B4C5"/>
                </a:solidFill>
              </a:rPr>
              <a:t>Contact Hours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00584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0D1B2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10972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B4D8"/>
                </a:solidFill>
              </a:rPr>
              <a:t>3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4663440" y="1920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B4C5"/>
                </a:solidFill>
              </a:rPr>
              <a:t>Hours / Day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12280" y="100584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0D1B2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12280" y="10972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B4D8"/>
                </a:solidFill>
              </a:rPr>
              <a:t>5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6812280" y="1920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B4C5"/>
                </a:solidFill>
              </a:rPr>
              <a:t>Modules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2926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</a:rPr>
              <a:t>📅  </a:t>
            </a:r>
            <a:r>
              <a:rPr lang="en-US" sz="1400" b="1" dirty="0">
                <a:solidFill>
                  <a:srgbClr val="0D1B2A"/>
                </a:solidFill>
              </a:rPr>
              <a:t>Batch Dates:  </a:t>
            </a:r>
            <a:r>
              <a:rPr lang="en-US" sz="1400" dirty="0">
                <a:solidFill>
                  <a:srgbClr val="445566"/>
                </a:solidFill>
              </a:rPr>
              <a:t>July 1 – July 31, 2026 (Mon–Fri)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5760" y="344728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</a:rPr>
              <a:t>🛠️  </a:t>
            </a:r>
            <a:r>
              <a:rPr lang="en-US" sz="1400" b="1" dirty="0">
                <a:solidFill>
                  <a:srgbClr val="0D1B2A"/>
                </a:solidFill>
              </a:rPr>
              <a:t>Tools:  </a:t>
            </a:r>
            <a:r>
              <a:rPr lang="en-US" sz="1400" dirty="0">
                <a:solidFill>
                  <a:srgbClr val="445566"/>
                </a:solidFill>
              </a:rPr>
              <a:t>Python 3.x · VS Code · Flask · NumPy · Pandas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3968496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</a:rPr>
              <a:t>🎯  </a:t>
            </a:r>
            <a:r>
              <a:rPr lang="en-US" sz="1400" b="1" dirty="0">
                <a:solidFill>
                  <a:srgbClr val="0D1B2A"/>
                </a:solidFill>
              </a:rPr>
              <a:t>Goal:  </a:t>
            </a:r>
            <a:r>
              <a:rPr lang="en-US" sz="1400" dirty="0">
                <a:solidFill>
                  <a:srgbClr val="445566"/>
                </a:solidFill>
              </a:rPr>
              <a:t>From zero Python to Full Stack + AI Basics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5760" y="4489704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</a:rPr>
              <a:t>🏆  </a:t>
            </a:r>
            <a:r>
              <a:rPr lang="en-US" sz="1400" b="1" dirty="0">
                <a:solidFill>
                  <a:srgbClr val="0D1B2A"/>
                </a:solidFill>
              </a:rPr>
              <a:t>Capstones:  </a:t>
            </a:r>
            <a:r>
              <a:rPr lang="en-US" sz="1400" dirty="0">
                <a:solidFill>
                  <a:srgbClr val="445566"/>
                </a:solidFill>
              </a:rPr>
              <a:t>5 graded projects + Final Demo Day (Jul 30)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How Every Day Works — The 3-Hour Rhythm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606040" cy="3529149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2606040" cy="640080"/>
          </a:xfrm>
          <a:prstGeom prst="roundRect">
            <a:avLst>
              <a:gd name="adj" fmla="val 17143"/>
            </a:avLst>
          </a:prstGeom>
          <a:solidFill>
            <a:srgbClr val="00B4D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325880"/>
            <a:ext cx="2606040" cy="2743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Hour 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26187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</a:rPr>
              <a:t>LEARN 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2423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Concept + Analogy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Live coding demo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Code-along with you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46120" y="960120"/>
            <a:ext cx="2606040" cy="3529149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960120"/>
            <a:ext cx="2606040" cy="640080"/>
          </a:xfrm>
          <a:prstGeom prst="roundRect">
            <a:avLst>
              <a:gd name="adj" fmla="val 17143"/>
            </a:avLst>
          </a:prstGeom>
          <a:solidFill>
            <a:srgbClr val="F77F00"/>
          </a:solidFill>
          <a:ln/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06040" cy="274320"/>
          </a:xfrm>
          <a:prstGeom prst="rect">
            <a:avLst/>
          </a:prstGeom>
          <a:solidFill>
            <a:srgbClr val="F77F00"/>
          </a:solidFill>
          <a:ln/>
        </p:spPr>
      </p:sp>
      <p:sp>
        <p:nvSpPr>
          <p:cNvPr id="13" name="Text 11"/>
          <p:cNvSpPr/>
          <p:nvPr/>
        </p:nvSpPr>
        <p:spPr>
          <a:xfrm>
            <a:off x="3246120" y="9601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Hour 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46120" y="126187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</a:rPr>
              <a:t>DO IT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7560" y="1691640"/>
            <a:ext cx="2423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Independent lab problems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Pair programming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2 students present solutions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960120"/>
            <a:ext cx="2578826" cy="3529149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960120"/>
            <a:ext cx="2606040" cy="640080"/>
          </a:xfrm>
          <a:prstGeom prst="roundRect">
            <a:avLst>
              <a:gd name="adj" fmla="val 17143"/>
            </a:avLst>
          </a:prstGeom>
          <a:solidFill>
            <a:srgbClr val="06D6A0"/>
          </a:solidFill>
          <a:ln/>
        </p:spPr>
      </p:sp>
      <p:sp>
        <p:nvSpPr>
          <p:cNvPr id="18" name="Shape 16"/>
          <p:cNvSpPr/>
          <p:nvPr/>
        </p:nvSpPr>
        <p:spPr>
          <a:xfrm>
            <a:off x="6126480" y="1325880"/>
            <a:ext cx="2606040" cy="27432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0" y="9601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Hour 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26480" y="126187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</a:rPr>
              <a:t>USE IT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17920" y="1691640"/>
            <a:ext cx="2423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Mini-project / practical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Peer code review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Exit ticket + tomorrow preview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4572000"/>
            <a:ext cx="8412480" cy="384048"/>
          </a:xfrm>
          <a:prstGeom prst="roundRect">
            <a:avLst>
              <a:gd name="adj" fmla="val 19048"/>
            </a:avLst>
          </a:prstGeom>
          <a:solidFill>
            <a:srgbClr val="FFD166">
              <a:alpha val="4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⚡ Engagement: Daily quiz · Bug hunts · Pair programming · Rotating presenters · Exit tickets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Week 1 At-a-Glance — What We Cover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058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51560" y="1005840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88720" y="10058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Day 1  (Wed Jul 1)  — Python Setup, Variables, Data Types, Operators, I/O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65760" y="1719072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7190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51560" y="1719072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188720" y="1719072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Day 2  (Thu Jul 2)  — Control Statements: if-else, Loops + Number Guessing Game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65760" y="2432304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243230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51560" y="2432304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188720" y="2432304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Day 3  (Fri Jul 3)  — Functions, DRY Principle, Built-ins + Quiz Scorer Project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3145536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14553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51560" y="3145536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188720" y="3145536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Weekend —  Practice! Revisit all 3 days' code, attempt bonus exercises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65760" y="3858768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385876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5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51560" y="3858768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188720" y="3858768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Coming up Week 2 → Data Structures, Strings, File Handling, OOP Basics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194560" cy="411480"/>
          </a:xfrm>
          <a:prstGeom prst="roundRect">
            <a:avLst>
              <a:gd name="adj" fmla="val 17778"/>
            </a:avLst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DAY 1 / WEEK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Day 1 — Wed, Jul 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B4D8"/>
                </a:solidFill>
              </a:rPr>
              <a:t>Orientation + Python Basics: Setup · Variables · I/O · Operators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2560320"/>
            <a:ext cx="1097280" cy="1097280"/>
          </a:xfrm>
          <a:prstGeom prst="ellipse">
            <a:avLst/>
          </a:prstGeom>
          <a:solidFill>
            <a:srgbClr val="00B4D8">
              <a:alpha val="30000"/>
            </a:srgbClr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is Python?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Python is an interpreted, high-level, beginner-friendly programming language — readable, powerful, and used everywhere.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7432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🌐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7432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Web Dev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Django · Flask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Powerful backends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1168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🤖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01168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AI / ML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01168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TensorFlow · scikit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What we'll build!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4904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4904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74904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Data Science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74904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Pandas · NumPy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Analyse anything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⚙️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548640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Automation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Scripts · bots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Save hours of work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2376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🎮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722376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Game Dev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2376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PyGame · Arcade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For fun projects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</a:rPr>
              <a:t>Python in the Real World</a:t>
            </a:r>
            <a:endParaRPr lang="en-US" sz="2400"/>
          </a:p>
        </p:txBody>
      </p:sp>
      <p:sp>
        <p:nvSpPr>
          <p:cNvPr id="4" name="Subtitle"/>
          <p:cNvSpPr/>
          <p:nvPr/>
        </p:nvSpPr>
        <p:spPr>
          <a:xfrm>
            <a:off x="365760" y="9144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>
                <a:solidFill>
                  <a:srgbClr val="0D1B2A"/>
                </a:solidFill>
              </a:rPr>
              <a:t>From Instagram to NASA — Python powers products used by billions of people every day.</a:t>
            </a:r>
            <a:endParaRPr lang="en-US" sz="1500"/>
          </a:p>
        </p:txBody>
      </p:sp>
      <p:sp>
        <p:nvSpPr>
          <p:cNvPr id="5" name="Card 1"/>
          <p:cNvSpPr/>
          <p:nvPr/>
        </p:nvSpPr>
        <p:spPr>
          <a:xfrm>
            <a:off x="274320" y="1554480"/>
            <a:ext cx="160020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Label 1"/>
          <p:cNvSpPr/>
          <p:nvPr/>
        </p:nvSpPr>
        <p:spPr>
          <a:xfrm>
            <a:off x="274320" y="2649583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B4D8"/>
                </a:solidFill>
              </a:rPr>
              <a:t>Instagram</a:t>
            </a:r>
            <a:endParaRPr lang="en-US" sz="1400"/>
          </a:p>
        </p:txBody>
      </p:sp>
      <p:sp>
        <p:nvSpPr>
          <p:cNvPr id="8" name="Desc 1"/>
          <p:cNvSpPr/>
          <p:nvPr/>
        </p:nvSpPr>
        <p:spPr>
          <a:xfrm>
            <a:off x="365760" y="2962003"/>
            <a:ext cx="1417320" cy="515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45566"/>
                </a:solidFill>
              </a:rPr>
              <a:t>Backend built on Django, serving 2B+ users</a:t>
            </a:r>
            <a:endParaRPr lang="en-US" sz="1200"/>
          </a:p>
        </p:txBody>
      </p:sp>
      <p:sp>
        <p:nvSpPr>
          <p:cNvPr id="9" name="Card 2"/>
          <p:cNvSpPr/>
          <p:nvPr/>
        </p:nvSpPr>
        <p:spPr>
          <a:xfrm>
            <a:off x="2011680" y="1554480"/>
            <a:ext cx="160020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Label 2"/>
          <p:cNvSpPr/>
          <p:nvPr/>
        </p:nvSpPr>
        <p:spPr>
          <a:xfrm>
            <a:off x="2011680" y="2649583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B4D8"/>
                </a:solidFill>
              </a:rPr>
              <a:t>Netflix</a:t>
            </a:r>
            <a:endParaRPr lang="en-US" sz="1400"/>
          </a:p>
        </p:txBody>
      </p:sp>
      <p:sp>
        <p:nvSpPr>
          <p:cNvPr id="12" name="Desc 2"/>
          <p:cNvSpPr/>
          <p:nvPr/>
        </p:nvSpPr>
        <p:spPr>
          <a:xfrm>
            <a:off x="2103120" y="2962003"/>
            <a:ext cx="1417320" cy="559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45566"/>
                </a:solidFill>
              </a:rPr>
              <a:t>Recommendation engine &amp; workflow automation</a:t>
            </a:r>
            <a:endParaRPr lang="en-US" sz="1200"/>
          </a:p>
        </p:txBody>
      </p:sp>
      <p:sp>
        <p:nvSpPr>
          <p:cNvPr id="13" name="Card 3"/>
          <p:cNvSpPr/>
          <p:nvPr/>
        </p:nvSpPr>
        <p:spPr>
          <a:xfrm>
            <a:off x="3749040" y="1554480"/>
            <a:ext cx="160020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Label 3"/>
          <p:cNvSpPr/>
          <p:nvPr/>
        </p:nvSpPr>
        <p:spPr>
          <a:xfrm>
            <a:off x="3749040" y="2649583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B4D8"/>
                </a:solidFill>
              </a:rPr>
              <a:t>Spotify</a:t>
            </a:r>
            <a:endParaRPr lang="en-US" sz="1400"/>
          </a:p>
        </p:txBody>
      </p:sp>
      <p:sp>
        <p:nvSpPr>
          <p:cNvPr id="16" name="Desc 3"/>
          <p:cNvSpPr/>
          <p:nvPr/>
        </p:nvSpPr>
        <p:spPr>
          <a:xfrm>
            <a:off x="3840480" y="2972889"/>
            <a:ext cx="141732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45566"/>
                </a:solidFill>
              </a:rPr>
              <a:t>Data pipelines that power Discover Weekly</a:t>
            </a:r>
            <a:endParaRPr lang="en-US" sz="1200"/>
          </a:p>
        </p:txBody>
      </p:sp>
      <p:sp>
        <p:nvSpPr>
          <p:cNvPr id="17" name="Card 4"/>
          <p:cNvSpPr/>
          <p:nvPr/>
        </p:nvSpPr>
        <p:spPr>
          <a:xfrm>
            <a:off x="5486400" y="1554480"/>
            <a:ext cx="160020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Label 4"/>
          <p:cNvSpPr/>
          <p:nvPr/>
        </p:nvSpPr>
        <p:spPr>
          <a:xfrm>
            <a:off x="5486400" y="2649583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B4D8"/>
                </a:solidFill>
              </a:rPr>
              <a:t>NASA</a:t>
            </a:r>
            <a:endParaRPr lang="en-US" sz="1400"/>
          </a:p>
        </p:txBody>
      </p:sp>
      <p:sp>
        <p:nvSpPr>
          <p:cNvPr id="20" name="Desc 4"/>
          <p:cNvSpPr/>
          <p:nvPr/>
        </p:nvSpPr>
        <p:spPr>
          <a:xfrm>
            <a:off x="5577840" y="2972889"/>
            <a:ext cx="141732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45566"/>
                </a:solidFill>
              </a:rPr>
              <a:t>Scientific computing &amp; mission data analysis</a:t>
            </a:r>
            <a:endParaRPr lang="en-US" sz="1200"/>
          </a:p>
        </p:txBody>
      </p:sp>
      <p:sp>
        <p:nvSpPr>
          <p:cNvPr id="21" name="Card 5"/>
          <p:cNvSpPr/>
          <p:nvPr/>
        </p:nvSpPr>
        <p:spPr>
          <a:xfrm>
            <a:off x="7223760" y="1554480"/>
            <a:ext cx="160020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Label 5"/>
          <p:cNvSpPr/>
          <p:nvPr/>
        </p:nvSpPr>
        <p:spPr>
          <a:xfrm>
            <a:off x="7223760" y="2649583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B4D8"/>
                </a:solidFill>
              </a:rPr>
              <a:t>Dropbox</a:t>
            </a:r>
            <a:endParaRPr lang="en-US" sz="1400"/>
          </a:p>
        </p:txBody>
      </p:sp>
      <p:sp>
        <p:nvSpPr>
          <p:cNvPr id="24" name="Desc 5"/>
          <p:cNvSpPr/>
          <p:nvPr/>
        </p:nvSpPr>
        <p:spPr>
          <a:xfrm>
            <a:off x="7315200" y="2972889"/>
            <a:ext cx="141732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45566"/>
                </a:solidFill>
              </a:rPr>
              <a:t>Desktop app &amp; file sync engine in Python</a:t>
            </a:r>
            <a:endParaRPr lang="en-US" sz="1200"/>
          </a:p>
        </p:txBody>
      </p:sp>
      <p:sp>
        <p:nvSpPr>
          <p:cNvPr id="25" name="Power Band"/>
          <p:cNvSpPr/>
          <p:nvPr/>
        </p:nvSpPr>
        <p:spPr>
          <a:xfrm>
            <a:off x="274320" y="3840480"/>
            <a:ext cx="8549640" cy="100584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Power Text"/>
          <p:cNvSpPr/>
          <p:nvPr/>
        </p:nvSpPr>
        <p:spPr>
          <a:xfrm>
            <a:off x="548640" y="388620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0B4D8"/>
                </a:solidFill>
              </a:rPr>
              <a:t>Why Python is so powerful</a:t>
            </a:r>
            <a:endParaRPr lang="en-US" sz="1500"/>
          </a:p>
          <a:p>
            <a:pPr marL="0" indent="0" algn="ctr">
              <a:buNone/>
            </a:pPr>
            <a:r>
              <a:rPr lang="en-US" sz="1300">
                <a:solidFill>
                  <a:srgbClr val="FFFFFF"/>
                </a:solidFill>
              </a:rPr>
              <a:t>Simple, readable syntax  •  400,000+ ready-made libraries  •  Runs on every platform  •  Scales to billions of users</a:t>
            </a:r>
            <a:endParaRPr lang="en-US" sz="1300"/>
          </a:p>
        </p:txBody>
      </p:sp>
      <p:pic>
        <p:nvPicPr>
          <p:cNvPr id="27" name="Picture 26" descr="A red letter on a black background&#10;&#10;AI-generated content may be incorrect.">
            <a:extLst>
              <a:ext uri="{FF2B5EF4-FFF2-40B4-BE49-F238E27FC236}">
                <a16:creationId xmlns:a16="http://schemas.microsoft.com/office/drawing/2014/main" id="{D68F464E-33D4-3B14-83CD-13F4B2F27A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340429" y="1608364"/>
            <a:ext cx="941615" cy="941615"/>
          </a:xfrm>
          <a:prstGeom prst="rect">
            <a:avLst/>
          </a:prstGeom>
        </p:spPr>
      </p:pic>
      <p:pic>
        <p:nvPicPr>
          <p:cNvPr id="30" name="Picture 29" descr="Instagram Símbolo Logotipo · Imagens grátis no Pixabay">
            <a:extLst>
              <a:ext uri="{FF2B5EF4-FFF2-40B4-BE49-F238E27FC236}">
                <a16:creationId xmlns:a16="http://schemas.microsoft.com/office/drawing/2014/main" id="{3E19AFE7-5536-93A1-FB2A-D7BF670D5C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414" y="1585232"/>
            <a:ext cx="995657" cy="987879"/>
          </a:xfrm>
          <a:prstGeom prst="rect">
            <a:avLst/>
          </a:prstGeom>
        </p:spPr>
      </p:pic>
      <p:pic>
        <p:nvPicPr>
          <p:cNvPr id="31" name="Picture 30" descr="A white circle with three lines in it&#10;&#10;AI-generated content may be incorrect.">
            <a:extLst>
              <a:ext uri="{FF2B5EF4-FFF2-40B4-BE49-F238E27FC236}">
                <a16:creationId xmlns:a16="http://schemas.microsoft.com/office/drawing/2014/main" id="{66E62CF0-8C88-1325-8926-137F7FB186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3954791" y="1743076"/>
            <a:ext cx="1190874" cy="672193"/>
          </a:xfrm>
          <a:prstGeom prst="rect">
            <a:avLst/>
          </a:prstGeom>
        </p:spPr>
      </p:pic>
      <p:pic>
        <p:nvPicPr>
          <p:cNvPr id="34" name="Picture 33" descr="A logo with a red and white circle&#10;&#10;AI-generated content may be incorrect.">
            <a:extLst>
              <a:ext uri="{FF2B5EF4-FFF2-40B4-BE49-F238E27FC236}">
                <a16:creationId xmlns:a16="http://schemas.microsoft.com/office/drawing/2014/main" id="{3D7BE65E-A5F2-90D1-0B92-FB4BD3052A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5790895" y="1661432"/>
            <a:ext cx="996648" cy="840922"/>
          </a:xfrm>
          <a:prstGeom prst="rect">
            <a:avLst/>
          </a:prstGeom>
        </p:spPr>
      </p:pic>
      <p:pic>
        <p:nvPicPr>
          <p:cNvPr id="37" name="Picture 36" descr="A blue logo with black background&#10;&#10;AI-generated content may be incorrect.">
            <a:extLst>
              <a:ext uri="{FF2B5EF4-FFF2-40B4-BE49-F238E27FC236}">
                <a16:creationId xmlns:a16="http://schemas.microsoft.com/office/drawing/2014/main" id="{05C1EB94-C64C-5799-8E59-D5D244B129C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7602310" y="1666875"/>
            <a:ext cx="840922" cy="83547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Environment Setup (Do This Together!)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60120" y="96012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96012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Download Python 3.x  </a:t>
            </a:r>
            <a:r>
              <a:rPr lang="en-US" sz="1300" dirty="0">
                <a:solidFill>
                  <a:srgbClr val="445566"/>
                </a:solidFill>
              </a:rPr>
              <a:t>— Go to python.org → Downloads → Install with 'Add to PATH' checked 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1801368"/>
            <a:ext cx="502920" cy="502920"/>
          </a:xfrm>
          <a:prstGeom prst="ellipse">
            <a:avLst/>
          </a:prstGeom>
          <a:solidFill>
            <a:srgbClr val="F77F0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801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60120" y="1755648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1755648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Verify Installation  </a:t>
            </a:r>
            <a:r>
              <a:rPr lang="en-US" sz="1300" dirty="0">
                <a:solidFill>
                  <a:srgbClr val="445566"/>
                </a:solidFill>
              </a:rPr>
              <a:t>— Open terminal/cmd → type:  python --version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445566"/>
                </a:solidFill>
              </a:rPr>
              <a:t>You should see: Python 3.x.x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2596896"/>
            <a:ext cx="502920" cy="502920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2596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60120" y="2551176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97280" y="2551176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Install VS Code  </a:t>
            </a:r>
            <a:r>
              <a:rPr lang="en-US" sz="1300" dirty="0">
                <a:solidFill>
                  <a:srgbClr val="445566"/>
                </a:solidFill>
              </a:rPr>
              <a:t>— Go to code.visualstudio.com → Download → Install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392424"/>
            <a:ext cx="502920" cy="502920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3392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60120" y="3346704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097280" y="3346704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Python Extension  </a:t>
            </a:r>
            <a:r>
              <a:rPr lang="en-US" sz="1300" dirty="0">
                <a:solidFill>
                  <a:srgbClr val="445566"/>
                </a:solidFill>
              </a:rPr>
              <a:t>— Open VS Code → Extensions (Ctrl+Shift+X) → Search 'Python' → Install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74320" y="4187952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60120" y="4142232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97280" y="4142232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First Program!  </a:t>
            </a:r>
            <a:r>
              <a:rPr lang="en-US" sz="1300" dirty="0">
                <a:solidFill>
                  <a:srgbClr val="445566"/>
                </a:solidFill>
              </a:rPr>
              <a:t>— Create hello.py → type print("Hello, World!") → Run ▶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tro to Data Types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Introduction to Python Data Types</a:t>
            </a:r>
            <a:endParaRPr lang="en-US" sz="2800" b="1"/>
          </a:p>
        </p:txBody>
      </p:sp>
      <p:sp>
        <p:nvSpPr>
          <p:cNvPr id="4" name="Concept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</a:rPr>
              <a:t>What is a Data Type?</a:t>
            </a:r>
          </a:p>
          <a:p>
            <a:pPr marL="0" indent="0" algn="l">
              <a:buNone/>
            </a:pPr>
            <a:r>
              <a:rPr lang="en-US" sz="1500">
                <a:solidFill>
                  <a:srgbClr val="0D1B2A"/>
                </a:solidFill>
              </a:rPr>
              <a:t>A data type defines the kind of value a variable can store and the operations that can be performed on it.</a:t>
            </a:r>
          </a:p>
          <a:p>
            <a:pPr marL="0" indent="0" algn="l">
              <a:buNone/>
            </a:pPr>
            <a:endParaRPr lang="en-US" sz="900"/>
          </a:p>
          <a:p>
            <a:pPr marL="0" indent="0" algn="l">
              <a:buNone/>
            </a:pPr>
            <a:r>
              <a:rPr lang="en-US" sz="1700" b="1">
                <a:solidFill>
                  <a:srgbClr val="0077B6"/>
                </a:solidFill>
              </a:rPr>
              <a:t>Why Data Types Matter</a:t>
            </a:r>
          </a:p>
          <a:p>
            <a:pPr marL="228600" indent="-228600" algn="l">
              <a:buFont typeface="Arial"/>
              <a:buChar char="•"/>
            </a:pPr>
            <a:r>
              <a:rPr lang="en-US" sz="1500">
                <a:solidFill>
                  <a:srgbClr val="0D1B2A"/>
                </a:solidFill>
              </a:rPr>
              <a:t>Store different kinds of data.</a:t>
            </a:r>
          </a:p>
          <a:p>
            <a:pPr marL="228600" indent="-228600" algn="l">
              <a:buFont typeface="Arial"/>
              <a:buChar char="•"/>
            </a:pPr>
            <a:r>
              <a:rPr lang="en-US" sz="1500">
                <a:solidFill>
                  <a:srgbClr val="0D1B2A"/>
                </a:solidFill>
              </a:rPr>
              <a:t>Perform appropriate operations.</a:t>
            </a:r>
          </a:p>
          <a:p>
            <a:pPr marL="228600" indent="-228600" algn="l">
              <a:buFont typeface="Arial"/>
              <a:buChar char="•"/>
            </a:pPr>
            <a:r>
              <a:rPr lang="en-US" sz="1500">
                <a:solidFill>
                  <a:srgbClr val="0D1B2A"/>
                </a:solidFill>
              </a:rPr>
              <a:t>Improve code readability.</a:t>
            </a:r>
          </a:p>
          <a:p>
            <a:pPr marL="228600" indent="-228600" algn="l">
              <a:buFont typeface="Arial"/>
              <a:buChar char="•"/>
            </a:pPr>
            <a:r>
              <a:rPr lang="en-US" sz="1500">
                <a:solidFill>
                  <a:srgbClr val="0D1B2A"/>
                </a:solidFill>
              </a:rPr>
              <a:t>Help prevent programming errors.</a:t>
            </a:r>
          </a:p>
        </p:txBody>
      </p:sp>
      <p:sp>
        <p:nvSpPr>
          <p:cNvPr id="5" name="Example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0D1B2A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37160" bIns="137160" rtlCol="0" anchor="t"/>
          <a:lstStyle/>
          <a:p>
            <a:pPr marL="0" indent="0" algn="l">
              <a:buNone/>
            </a:pPr>
            <a:r>
              <a:rPr lang="en-US" sz="1700" b="1">
                <a:solidFill>
                  <a:srgbClr val="56CFE1"/>
                </a:solidFill>
              </a:rPr>
              <a:t>Example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 b="1">
                <a:solidFill>
                  <a:srgbClr val="FFFFFF"/>
                </a:solidFill>
                <a:latin typeface="Courier New"/>
                <a:cs typeface="Courier New"/>
              </a:rPr>
              <a:t>age = 25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FFFFFF"/>
                </a:solidFill>
                <a:latin typeface="Courier New"/>
                <a:cs typeface="Courier New"/>
              </a:rPr>
              <a:t>name = "Alice"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FFFFFF"/>
                </a:solidFill>
                <a:latin typeface="Courier New"/>
                <a:cs typeface="Courier New"/>
              </a:rPr>
              <a:t>is_student = True</a:t>
            </a:r>
          </a:p>
          <a:p>
            <a:pPr marL="0" indent="0" algn="l">
              <a:buNone/>
            </a:pPr>
            <a:endParaRPr lang="en-US" sz="80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56CFE1"/>
                </a:solidFill>
                <a:latin typeface="Courier New"/>
                <a:cs typeface="Courier New"/>
              </a:rPr>
              <a:t>print(type(age))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56CFE1"/>
                </a:solidFill>
                <a:latin typeface="Courier New"/>
                <a:cs typeface="Courier New"/>
              </a:rPr>
              <a:t>print(type(name))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56CFE1"/>
                </a:solidFill>
                <a:latin typeface="Courier New"/>
                <a:cs typeface="Courier New"/>
              </a:rPr>
              <a:t>print(type(is_student))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Basic Data Types</a:t>
            </a:r>
            <a:endParaRPr lang="en-US" sz="2800" b="1"/>
          </a:p>
        </p:txBody>
      </p:sp>
      <p:graphicFrame>
        <p:nvGraphicFramePr>
          <p:cNvPr id="4" name="Types Table"/>
          <p:cNvGraphicFramePr>
            <a:graphicFrameLocks noGrp="1"/>
          </p:cNvGraphicFramePr>
          <p:nvPr/>
        </p:nvGraphicFramePr>
        <p:xfrm>
          <a:off x="365760" y="1140000"/>
          <a:ext cx="4400000" cy="3800000"/>
        </p:xfrm>
        <a:graphic>
          <a:graphicData uri="http://schemas.openxmlformats.org/drawingml/2006/table">
            <a:tbl>
              <a:tblPr firstRow="1"/>
              <a:tblGrid>
                <a:gridCol w="11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Data Type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int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Whole numbers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10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float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Decimal numbers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3.14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complex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Real and imaginary numbers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2 + 3j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str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Text values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"Python"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bool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True or False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True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NoneType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Represents no value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None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Example Card"/>
          <p:cNvSpPr/>
          <p:nvPr/>
        </p:nvSpPr>
        <p:spPr>
          <a:xfrm>
            <a:off x="4994240" y="1140000"/>
            <a:ext cx="3784000" cy="3800000"/>
          </a:xfrm>
          <a:prstGeom prst="roundRect">
            <a:avLst>
              <a:gd name="adj" fmla="val 3000"/>
            </a:avLst>
          </a:prstGeom>
          <a:solidFill>
            <a:srgbClr val="0D1B2A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60020" tIns="137160" rIns="91440" bIns="137160" rtlCol="0" anchor="t"/>
          <a:lstStyle/>
          <a:p>
            <a:pPr marL="0" indent="0" algn="l">
              <a:buNone/>
            </a:pPr>
            <a:r>
              <a:rPr lang="en-US" sz="1700" b="1">
                <a:solidFill>
                  <a:srgbClr val="56CFE1"/>
                </a:solidFill>
              </a:rPr>
              <a:t>Example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age = 25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price = 99.99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name = "Python"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is_pass = True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result = None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Collection Data Types</a:t>
            </a:r>
            <a:endParaRPr lang="en-US" sz="2800" b="1"/>
          </a:p>
        </p:txBody>
      </p:sp>
      <p:graphicFrame>
        <p:nvGraphicFramePr>
          <p:cNvPr id="4" name="Types Table"/>
          <p:cNvGraphicFramePr>
            <a:graphicFrameLocks noGrp="1"/>
          </p:cNvGraphicFramePr>
          <p:nvPr/>
        </p:nvGraphicFramePr>
        <p:xfrm>
          <a:off x="365760" y="1140000"/>
          <a:ext cx="4400000" cy="3350000"/>
        </p:xfrm>
        <a:graphic>
          <a:graphicData uri="http://schemas.openxmlformats.org/drawingml/2006/table">
            <a:tbl>
              <a:tblPr firstRow="1"/>
              <a:tblGrid>
                <a:gridCol w="11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Data Type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list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Ordered and mutable collection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[1, 2, 3]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tuple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Ordered and immutable collection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(1, 2, 3)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set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Unordered collection of unique values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{1, 2, 3}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dict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Key-value pairs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{"name": "John"}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Example Card"/>
          <p:cNvSpPr/>
          <p:nvPr/>
        </p:nvSpPr>
        <p:spPr>
          <a:xfrm>
            <a:off x="4994240" y="1140000"/>
            <a:ext cx="3784000" cy="3800000"/>
          </a:xfrm>
          <a:prstGeom prst="roundRect">
            <a:avLst>
              <a:gd name="adj" fmla="val 3000"/>
            </a:avLst>
          </a:prstGeom>
          <a:solidFill>
            <a:srgbClr val="0D1B2A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60020" tIns="137160" rIns="91440" bIns="137160" rtlCol="0" anchor="t"/>
          <a:lstStyle/>
          <a:p>
            <a:pPr marL="0" indent="0" algn="l">
              <a:buNone/>
            </a:pPr>
            <a:r>
              <a:rPr lang="en-US" sz="1700" b="1">
                <a:solidFill>
                  <a:srgbClr val="56CFE1"/>
                </a:solidFill>
              </a:rPr>
              <a:t>Example</a:t>
            </a:r>
          </a:p>
          <a:p>
            <a:pPr marL="0" indent="0" algn="l">
              <a:buNone/>
            </a:pPr>
            <a:endParaRPr lang="en-US" sz="700"/>
          </a:p>
          <a:p>
            <a:r>
              <a:rPr lang="en-US" sz="1300" b="1" dirty="0">
                <a:solidFill>
                  <a:srgbClr val="FFFFFF"/>
                </a:solidFill>
                <a:latin typeface="Courier New"/>
                <a:cs typeface="Courier New"/>
              </a:rPr>
              <a:t>fruits = ["Apple","Mango"]</a:t>
            </a:r>
            <a:endParaRPr lang="en-US" sz="1300" dirty="0">
              <a:solidFill>
                <a:srgbClr val="000000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        point = (10, 20)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numbers = {1, 2, 3}</a:t>
            </a:r>
          </a:p>
          <a:p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student = 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{</a:t>
            </a:r>
            <a:endParaRPr lang="en-US"/>
          </a:p>
          <a:p>
            <a:r>
              <a:rPr lang="en-US" sz="1300" b="1" dirty="0">
                <a:solidFill>
                  <a:srgbClr val="FFFFFF"/>
                </a:solidFill>
                <a:latin typeface="Courier New"/>
                <a:cs typeface="Courier New"/>
              </a:rPr>
              <a:t>   </a:t>
            </a: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"name": "John",</a:t>
            </a:r>
          </a:p>
          <a:p>
            <a:r>
              <a:rPr lang="en-US" sz="1300" b="1" dirty="0">
                <a:solidFill>
                  <a:srgbClr val="FFFFFF"/>
                </a:solidFill>
                <a:latin typeface="Courier New"/>
                <a:cs typeface="Courier New"/>
              </a:rPr>
              <a:t>   </a:t>
            </a: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"age": 20</a:t>
            </a:r>
          </a:p>
          <a:p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}</a:t>
            </a:r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hat is a Variable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FFFFFF"/>
                </a:solidFill>
              </a:rPr>
              <a:t>What is a Variable?</a:t>
            </a:r>
            <a:endParaRPr lang="en-US" sz="3600" b="1"/>
          </a:p>
        </p:txBody>
      </p:sp>
      <p:sp>
        <p:nvSpPr>
          <p:cNvPr id="4" name="Definition"/>
          <p:cNvSpPr/>
          <p:nvPr/>
        </p:nvSpPr>
        <p:spPr>
          <a:xfrm>
            <a:off x="365760" y="1140000"/>
            <a:ext cx="841248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>
                <a:solidFill>
                  <a:srgbClr val="0D1B2A"/>
                </a:solidFill>
              </a:rPr>
              <a:t>A variable is a name that refers to an object in memory.</a:t>
            </a:r>
            <a:endParaRPr lang="en-US" sz="2400" b="1"/>
          </a:p>
        </p:txBody>
      </p:sp>
      <p:sp>
        <p:nvSpPr>
          <p:cNvPr id="5" name="Wrong Card"/>
          <p:cNvSpPr/>
          <p:nvPr/>
        </p:nvSpPr>
        <p:spPr>
          <a:xfrm>
            <a:off x="365760" y="2080000"/>
            <a:ext cx="4069080" cy="166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383B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91440" rIns="137160" bIns="9144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C1121F"/>
                </a:solidFill>
              </a:rPr>
              <a:t>This does NOT mean:</a:t>
            </a:r>
          </a:p>
          <a:p>
            <a:pPr marL="0" indent="0" algn="l">
              <a:buNone/>
            </a:pPr>
            <a:r>
              <a:rPr lang="en-US" sz="1800" i="1">
                <a:solidFill>
                  <a:srgbClr val="495057"/>
                </a:solidFill>
              </a:rPr>
              <a:t>“Create a box called x and put 10 inside.”</a:t>
            </a:r>
          </a:p>
        </p:txBody>
      </p:sp>
      <p:sp>
        <p:nvSpPr>
          <p:cNvPr id="6" name="Right Card"/>
          <p:cNvSpPr/>
          <p:nvPr/>
        </p:nvSpPr>
        <p:spPr>
          <a:xfrm>
            <a:off x="4709160" y="2080000"/>
            <a:ext cx="4069080" cy="166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91440" rIns="137160" bIns="9144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B7A6E"/>
                </a:solidFill>
              </a:rPr>
              <a:t>Python actually does:</a:t>
            </a:r>
          </a:p>
          <a:p>
            <a:pPr marL="0" indent="0" algn="l">
              <a:buNone/>
            </a:pPr>
            <a:r>
              <a:rPr lang="en-US" sz="1600">
                <a:solidFill>
                  <a:srgbClr val="0D1B2A"/>
                </a:solidFill>
              </a:rPr>
              <a:t>1. Create an integer object 10.</a:t>
            </a:r>
          </a:p>
          <a:p>
            <a:pPr marL="0" indent="0" algn="l">
              <a:buNone/>
            </a:pPr>
            <a:r>
              <a:rPr lang="en-US" sz="1600">
                <a:solidFill>
                  <a:srgbClr val="0D1B2A"/>
                </a:solidFill>
              </a:rPr>
              <a:t>2. Create the name x.</a:t>
            </a:r>
          </a:p>
          <a:p>
            <a:pPr marL="0" indent="0" algn="l">
              <a:buNone/>
            </a:pPr>
            <a:r>
              <a:rPr lang="en-US" sz="1600">
                <a:solidFill>
                  <a:srgbClr val="0D1B2A"/>
                </a:solidFill>
              </a:rPr>
              <a:t>3. Make x point to the object 10.</a:t>
            </a:r>
          </a:p>
        </p:txBody>
      </p:sp>
      <p:sp>
        <p:nvSpPr>
          <p:cNvPr id="7" name="Diagram Bar"/>
          <p:cNvSpPr/>
          <p:nvPr/>
        </p:nvSpPr>
        <p:spPr>
          <a:xfrm>
            <a:off x="365760" y="3880000"/>
            <a:ext cx="8412480" cy="108000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4000" b="1">
                <a:solidFill>
                  <a:srgbClr val="00B4D8"/>
                </a:solidFill>
                <a:latin typeface="Courier New"/>
                <a:cs typeface="Courier New"/>
              </a:rPr>
              <a:t>x = 10</a:t>
            </a:r>
            <a:r>
              <a:rPr lang="en-US" sz="4000" b="1">
                <a:solidFill>
                  <a:srgbClr val="FFFFFF"/>
                </a:solidFill>
                <a:latin typeface="Courier New"/>
                <a:cs typeface="Courier New"/>
              </a:rPr>
              <a:t>     x  →  10</a:t>
            </a:r>
            <a:endParaRPr lang="en-US" sz="4000" b="1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verything is an Object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</a:rPr>
              <a:t>Everything in Python is an Object</a:t>
            </a:r>
            <a:endParaRPr lang="en-US" sz="3000" b="1"/>
          </a:p>
        </p:txBody>
      </p:sp>
      <p:sp>
        <p:nvSpPr>
          <p:cNvPr id="4" name="Lead"/>
          <p:cNvSpPr/>
          <p:nvPr/>
        </p:nvSpPr>
        <p:spPr>
          <a:xfrm>
            <a:off x="365760" y="1100000"/>
            <a:ext cx="841248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D1B2A"/>
                </a:solidFill>
              </a:rPr>
              <a:t>In Python, these are all objects:</a:t>
            </a:r>
            <a:endParaRPr lang="en-US" sz="2000" b="1"/>
          </a:p>
        </p:txBody>
      </p:sp>
      <p:sp>
        <p:nvSpPr>
          <p:cNvPr id="5" name="Pill Numbers"/>
          <p:cNvSpPr/>
          <p:nvPr/>
        </p:nvSpPr>
        <p:spPr>
          <a:xfrm>
            <a:off x="365760" y="1800000"/>
            <a:ext cx="1572768" cy="560000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/>
        </p:spPr>
        <p:txBody>
          <a:bodyPr wrap="square" lIns="45720" tIns="9144" rIns="45720" bIns="9144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Numbers</a:t>
            </a:r>
          </a:p>
        </p:txBody>
      </p:sp>
      <p:sp>
        <p:nvSpPr>
          <p:cNvPr id="6" name="Pill Strings"/>
          <p:cNvSpPr/>
          <p:nvPr/>
        </p:nvSpPr>
        <p:spPr>
          <a:xfrm>
            <a:off x="2075688" y="1800000"/>
            <a:ext cx="1572768" cy="560000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/>
        </p:spPr>
        <p:txBody>
          <a:bodyPr wrap="square" lIns="45720" tIns="9144" rIns="45720" bIns="9144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Strings</a:t>
            </a:r>
          </a:p>
        </p:txBody>
      </p:sp>
      <p:sp>
        <p:nvSpPr>
          <p:cNvPr id="7" name="Pill Lists"/>
          <p:cNvSpPr/>
          <p:nvPr/>
        </p:nvSpPr>
        <p:spPr>
          <a:xfrm>
            <a:off x="3785616" y="1800000"/>
            <a:ext cx="1572768" cy="560000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/>
        </p:spPr>
        <p:txBody>
          <a:bodyPr wrap="square" lIns="45720" tIns="9144" rIns="45720" bIns="9144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Lists</a:t>
            </a:r>
          </a:p>
        </p:txBody>
      </p:sp>
      <p:sp>
        <p:nvSpPr>
          <p:cNvPr id="8" name="Pill Functions"/>
          <p:cNvSpPr/>
          <p:nvPr/>
        </p:nvSpPr>
        <p:spPr>
          <a:xfrm>
            <a:off x="5495544" y="1800000"/>
            <a:ext cx="1572768" cy="560000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/>
        </p:spPr>
        <p:txBody>
          <a:bodyPr wrap="square" lIns="45720" tIns="9144" rIns="45720" bIns="9144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Functions</a:t>
            </a:r>
          </a:p>
        </p:txBody>
      </p:sp>
      <p:sp>
        <p:nvSpPr>
          <p:cNvPr id="9" name="Pill Classes"/>
          <p:cNvSpPr/>
          <p:nvPr/>
        </p:nvSpPr>
        <p:spPr>
          <a:xfrm>
            <a:off x="7205472" y="1800000"/>
            <a:ext cx="1572768" cy="560000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/>
        </p:spPr>
        <p:txBody>
          <a:bodyPr wrap="square" lIns="45720" tIns="9144" rIns="45720" bIns="9144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Classes</a:t>
            </a:r>
          </a:p>
        </p:txBody>
      </p:sp>
      <p:sp>
        <p:nvSpPr>
          <p:cNvPr id="10" name="Code Bar"/>
          <p:cNvSpPr/>
          <p:nvPr/>
        </p:nvSpPr>
        <p:spPr>
          <a:xfrm>
            <a:off x="365760" y="2620000"/>
            <a:ext cx="8412480" cy="1640000"/>
          </a:xfrm>
          <a:prstGeom prst="roundRect">
            <a:avLst>
              <a:gd name="adj" fmla="val 6000"/>
            </a:avLst>
          </a:prstGeom>
          <a:solidFill>
            <a:srgbClr val="0D1B2A"/>
          </a:solidFill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00B4D8"/>
                </a:solidFill>
                <a:latin typeface="Courier New"/>
                <a:cs typeface="Courier New"/>
              </a:rPr>
              <a:t>a = 5</a:t>
            </a:r>
          </a:p>
          <a:p>
            <a:pPr marL="0" indent="0" algn="l">
              <a:buNone/>
            </a:pPr>
            <a:r>
              <a:rPr lang="en-US" sz="2200" b="1">
                <a:solidFill>
                  <a:srgbClr val="00B4D8"/>
                </a:solidFill>
                <a:latin typeface="Courier New"/>
                <a:cs typeface="Courier New"/>
              </a:rPr>
              <a:t>b = "hello"</a:t>
            </a:r>
          </a:p>
          <a:p>
            <a:pPr marL="0" indent="0" algn="l">
              <a:buNone/>
            </a:pPr>
            <a:r>
              <a:rPr lang="en-US" sz="2200" b="1">
                <a:solidFill>
                  <a:srgbClr val="00B4D8"/>
                </a:solidFill>
                <a:latin typeface="Courier New"/>
                <a:cs typeface="Courier New"/>
              </a:rPr>
              <a:t>c = [1, 2, 3]</a:t>
            </a:r>
          </a:p>
        </p:txBody>
      </p:sp>
      <p:sp>
        <p:nvSpPr>
          <p:cNvPr id="11" name="Closing"/>
          <p:cNvSpPr/>
          <p:nvPr/>
        </p:nvSpPr>
        <p:spPr>
          <a:xfrm>
            <a:off x="365760" y="4360000"/>
            <a:ext cx="841248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1B7A6E"/>
                </a:solidFill>
              </a:rPr>
              <a:t>Each value exists somewhere in memory as an object.</a:t>
            </a:r>
            <a:endParaRPr lang="en-US" sz="2000" b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Variable Assignment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>
                <a:solidFill>
                  <a:srgbClr val="FFFFFF"/>
                </a:solidFill>
              </a:rPr>
              <a:t>Variable Assignment</a:t>
            </a:r>
            <a:endParaRPr lang="en-US" sz="3400" b="1"/>
          </a:p>
        </p:txBody>
      </p:sp>
      <p:sp>
        <p:nvSpPr>
          <p:cNvPr id="4" name="Binding Card"/>
          <p:cNvSpPr/>
          <p:nvPr/>
        </p:nvSpPr>
        <p:spPr>
          <a:xfrm>
            <a:off x="365760" y="1140000"/>
            <a:ext cx="4069080" cy="24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</a:rPr>
              <a:t>Binding</a:t>
            </a:r>
          </a:p>
          <a:p>
            <a:pPr marL="0" indent="0" algn="l">
              <a:buNone/>
            </a:pPr>
            <a:r>
              <a:rPr lang="en-US" sz="2800" b="1">
                <a:solidFill>
                  <a:srgbClr val="0077B6"/>
                </a:solidFill>
                <a:latin typeface="Courier New"/>
                <a:cs typeface="Courier New"/>
              </a:rPr>
              <a:t>x = 10</a:t>
            </a:r>
          </a:p>
          <a:p>
            <a:pPr marL="0" indent="0" algn="l">
              <a:buNone/>
            </a:pPr>
            <a:r>
              <a:rPr lang="en-US" sz="1700">
                <a:solidFill>
                  <a:srgbClr val="0D1B2A"/>
                </a:solidFill>
              </a:rPr>
              <a:t>This is called binding.</a:t>
            </a:r>
          </a:p>
          <a:p>
            <a:pPr marL="0" indent="0" algn="l">
              <a:buNone/>
            </a:pPr>
            <a:r>
              <a:rPr lang="en-US" sz="1700">
                <a:solidFill>
                  <a:srgbClr val="0D1B2A"/>
                </a:solidFill>
              </a:rPr>
              <a:t>The name x becomes bound to the integer object 10.</a:t>
            </a:r>
          </a:p>
        </p:txBody>
      </p:sp>
      <p:sp>
        <p:nvSpPr>
          <p:cNvPr id="5" name="Reassignment Card"/>
          <p:cNvSpPr/>
          <p:nvPr/>
        </p:nvSpPr>
        <p:spPr>
          <a:xfrm>
            <a:off x="4709160" y="1140000"/>
            <a:ext cx="4069080" cy="24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</a:rPr>
              <a:t>Reassignment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0077B6"/>
                </a:solidFill>
                <a:latin typeface="Courier New"/>
                <a:cs typeface="Courier New"/>
              </a:rPr>
              <a:t>x = 10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0077B6"/>
                </a:solidFill>
                <a:latin typeface="Courier New"/>
                <a:cs typeface="Courier New"/>
              </a:rPr>
              <a:t>x = 20</a:t>
            </a:r>
          </a:p>
          <a:p>
            <a:pPr marL="0" indent="0" algn="l">
              <a:buNone/>
            </a:pPr>
            <a:r>
              <a:rPr lang="en-US" sz="1800" b="1">
                <a:solidFill>
                  <a:srgbClr val="0D1B2A"/>
                </a:solidFill>
                <a:latin typeface="Courier New"/>
                <a:cs typeface="Courier New"/>
              </a:rPr>
              <a:t>x → 10   becomes   x → 20</a:t>
            </a:r>
          </a:p>
        </p:txBody>
      </p:sp>
      <p:sp>
        <p:nvSpPr>
          <p:cNvPr id="6" name="GC Note"/>
          <p:cNvSpPr/>
          <p:nvPr/>
        </p:nvSpPr>
        <p:spPr>
          <a:xfrm>
            <a:off x="365760" y="3700000"/>
            <a:ext cx="8412480" cy="116000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/>
        </p:spPr>
        <p:txBody>
          <a:bodyPr wrap="square" lIns="274320" tIns="91440" rIns="274320" bIns="91440" rtlCol="0" anchor="ctr"/>
          <a:lstStyle/>
          <a:p>
            <a:pPr marL="0" indent="0" algn="ctr">
              <a:buNone/>
            </a:pPr>
            <a:r>
              <a:rPr lang="en-US" sz="1900" b="1">
                <a:solidFill>
                  <a:srgbClr val="FFFFFF"/>
                </a:solidFill>
              </a:rPr>
              <a:t>The old object may eventually be removed by garbage collection if nothing references it.</a:t>
            </a:r>
            <a:endParaRPr lang="en-US" sz="1900" b="1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ames and Objects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>
                <a:solidFill>
                  <a:srgbClr val="FFFFFF"/>
                </a:solidFill>
              </a:rPr>
              <a:t>Names and Objects</a:t>
            </a:r>
            <a:endParaRPr lang="en-US" sz="3400" b="1"/>
          </a:p>
        </p:txBody>
      </p:sp>
      <p:sp>
        <p:nvSpPr>
          <p:cNvPr id="4" name="Memory Card"/>
          <p:cNvSpPr/>
          <p:nvPr/>
        </p:nvSpPr>
        <p:spPr>
          <a:xfrm>
            <a:off x="365760" y="1140000"/>
            <a:ext cx="4069080" cy="25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</a:rPr>
              <a:t>Memory</a:t>
            </a:r>
          </a:p>
          <a:p>
            <a:pPr marL="0" indent="0" algn="l">
              <a:buNone/>
            </a:pPr>
            <a:r>
              <a:rPr lang="en-US" sz="2200" b="1">
                <a:solidFill>
                  <a:srgbClr val="0077B6"/>
                </a:solidFill>
                <a:latin typeface="Courier New"/>
                <a:cs typeface="Courier New"/>
              </a:rPr>
              <a:t>a = 100</a:t>
            </a:r>
          </a:p>
          <a:p>
            <a:pPr marL="0" indent="0" algn="l">
              <a:buNone/>
            </a:pPr>
            <a:r>
              <a:rPr lang="en-US" sz="2200" b="1">
                <a:solidFill>
                  <a:srgbClr val="0077B6"/>
                </a:solidFill>
                <a:latin typeface="Courier New"/>
                <a:cs typeface="Courier New"/>
              </a:rPr>
              <a:t>b = a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0D1B2A"/>
                </a:solidFill>
                <a:latin typeface="Courier New"/>
                <a:cs typeface="Courier New"/>
              </a:rPr>
              <a:t>a → 100 ← b</a:t>
            </a:r>
          </a:p>
          <a:p>
            <a:pPr marL="0" indent="0" algn="l">
              <a:buNone/>
            </a:pPr>
            <a:r>
              <a:rPr lang="en-US" sz="1600">
                <a:solidFill>
                  <a:srgbClr val="0D1B2A"/>
                </a:solidFill>
              </a:rPr>
              <a:t>Both variables point to the same object.</a:t>
            </a:r>
          </a:p>
        </p:txBody>
      </p:sp>
      <p:sp>
        <p:nvSpPr>
          <p:cNvPr id="5" name="Identity Card"/>
          <p:cNvSpPr/>
          <p:nvPr/>
        </p:nvSpPr>
        <p:spPr>
          <a:xfrm>
            <a:off x="4709160" y="1140000"/>
            <a:ext cx="4069080" cy="25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</a:rPr>
              <a:t>Checking Identity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a = 100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b = a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print(a is b)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D1B2A"/>
                </a:solidFill>
              </a:rPr>
              <a:t>Output:  </a:t>
            </a:r>
            <a:r>
              <a:rPr lang="en-US" sz="2000" b="1">
                <a:solidFill>
                  <a:srgbClr val="1B7A6E"/>
                </a:solidFill>
                <a:latin typeface="Courier New"/>
                <a:cs typeface="Courier New"/>
              </a:rPr>
              <a:t>True</a:t>
            </a:r>
          </a:p>
        </p:txBody>
      </p:sp>
      <p:sp>
        <p:nvSpPr>
          <p:cNvPr id="6" name="Takeaway"/>
          <p:cNvSpPr/>
          <p:nvPr/>
        </p:nvSpPr>
        <p:spPr>
          <a:xfrm>
            <a:off x="365760" y="3760000"/>
            <a:ext cx="8412480" cy="110000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/>
        </p:spPr>
        <p:txBody>
          <a:bodyPr wrap="square" lIns="274320" tIns="91440" rIns="274320" bIns="9144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0B4D8"/>
                </a:solidFill>
                <a:latin typeface="Courier New"/>
                <a:cs typeface="Courier New"/>
              </a:rPr>
              <a:t>is</a:t>
            </a:r>
            <a:r>
              <a:rPr lang="en-US" sz="2000" b="1">
                <a:solidFill>
                  <a:srgbClr val="FFFFFF"/>
                </a:solidFill>
              </a:rPr>
              <a:t> checks whether two variables refer to the same object.</a:t>
            </a:r>
            <a:endParaRPr lang="en-US" sz="2000" b="1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dentity and Dynamic Typing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Object Identity &amp; Dynamic Typing</a:t>
            </a:r>
            <a:endParaRPr lang="en-US" sz="2800" b="1"/>
          </a:p>
        </p:txBody>
      </p:sp>
      <p:sp>
        <p:nvSpPr>
          <p:cNvPr id="4" name="Id Card"/>
          <p:cNvSpPr/>
          <p:nvPr/>
        </p:nvSpPr>
        <p:spPr>
          <a:xfrm>
            <a:off x="365760" y="1140000"/>
            <a:ext cx="40690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200" b="1">
                <a:solidFill>
                  <a:srgbClr val="1B7A6E"/>
                </a:solidFill>
              </a:rPr>
              <a:t>id() Function</a:t>
            </a:r>
          </a:p>
          <a:p>
            <a:endParaRPr lang="en-US" sz="17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700">
                <a:solidFill>
                  <a:srgbClr val="0D1B2A"/>
                </a:solidFill>
              </a:rPr>
              <a:t>Every object has a unique identity.</a:t>
            </a:r>
            <a:endParaRPr lang="en-US"/>
          </a:p>
          <a:p>
            <a:endParaRPr lang="en-US" sz="20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x = 10</a:t>
            </a:r>
            <a:endParaRPr lang="en-US"/>
          </a:p>
          <a:p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print(id(x))</a:t>
            </a:r>
          </a:p>
          <a:p>
            <a:pPr marL="0" indent="0" algn="l">
              <a:buNone/>
            </a:pPr>
            <a:endParaRPr lang="en-US" sz="1600" b="1" dirty="0">
              <a:solidFill>
                <a:srgbClr val="495057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600" b="1">
                <a:solidFill>
                  <a:srgbClr val="495057"/>
                </a:solidFill>
              </a:rPr>
              <a:t>Example:</a:t>
            </a:r>
            <a:endParaRPr lang="en-US"/>
          </a:p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  <a:latin typeface="Courier New"/>
                <a:cs typeface="Courier New"/>
              </a:rPr>
              <a:t>140736811430216</a:t>
            </a:r>
          </a:p>
          <a:p>
            <a:endParaRPr lang="en-US" sz="16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600" dirty="0">
                <a:solidFill>
                  <a:srgbClr val="0D1B2A"/>
                </a:solidFill>
              </a:rPr>
              <a:t>Usually the object's memory address in </a:t>
            </a:r>
            <a:r>
              <a:rPr lang="en-US" sz="1600" dirty="0" err="1">
                <a:solidFill>
                  <a:srgbClr val="0D1B2A"/>
                </a:solidFill>
              </a:rPr>
              <a:t>CPython</a:t>
            </a:r>
            <a:r>
              <a:rPr lang="en-US" sz="1600" dirty="0">
                <a:solidFill>
                  <a:srgbClr val="0D1B2A"/>
                </a:solidFill>
              </a:rPr>
              <a:t>.</a:t>
            </a:r>
            <a:endParaRPr lang="en-US" sz="1600">
              <a:solidFill>
                <a:srgbClr val="0D1B2A"/>
              </a:solidFill>
              <a:ea typeface="Calibri"/>
              <a:cs typeface="Calibri"/>
            </a:endParaRPr>
          </a:p>
        </p:txBody>
      </p:sp>
      <p:sp>
        <p:nvSpPr>
          <p:cNvPr id="5" name="Typing Card"/>
          <p:cNvSpPr/>
          <p:nvPr/>
        </p:nvSpPr>
        <p:spPr>
          <a:xfrm>
            <a:off x="4709160" y="1140000"/>
            <a:ext cx="40690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200" b="1">
                <a:solidFill>
                  <a:srgbClr val="0077B6"/>
                </a:solidFill>
              </a:rPr>
              <a:t>Dynamic Typing</a:t>
            </a:r>
          </a:p>
          <a:p>
            <a:endParaRPr lang="en-US" sz="17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700">
                <a:solidFill>
                  <a:srgbClr val="0D1B2A"/>
                </a:solidFill>
              </a:rPr>
              <a:t>Python is dynamically typed.</a:t>
            </a:r>
            <a:endParaRPr lang="en-US"/>
          </a:p>
          <a:p>
            <a:endParaRPr lang="en-US" sz="20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x = 10</a:t>
            </a:r>
            <a:endParaRPr lang="en-US"/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x = "hello"</a:t>
            </a:r>
          </a:p>
          <a:p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x = [1, 2]</a:t>
            </a:r>
          </a:p>
          <a:p>
            <a:pPr marL="0" indent="0" algn="l">
              <a:buNone/>
            </a:pPr>
            <a:endParaRPr lang="en-US" sz="1700" dirty="0">
              <a:solidFill>
                <a:srgbClr val="0D1B2A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700">
                <a:solidFill>
                  <a:srgbClr val="0D1B2A"/>
                </a:solidFill>
              </a:rPr>
              <a:t>The variable has no fixed type – the object carries the type.</a:t>
            </a:r>
            <a:endParaRPr lang="en-US"/>
          </a:p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  <a:latin typeface="Courier New"/>
                <a:cs typeface="Courier New"/>
              </a:rPr>
              <a:t>type(x)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yping, Naming and Assignment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Typing, Naming &amp; Assignment</a:t>
            </a:r>
            <a:endParaRPr lang="en-US" sz="2800" b="1"/>
          </a:p>
        </p:txBody>
      </p:sp>
      <p:sp>
        <p:nvSpPr>
          <p:cNvPr id="4" name="Strong Typing Card"/>
          <p:cNvSpPr/>
          <p:nvPr/>
        </p:nvSpPr>
        <p:spPr>
          <a:xfrm>
            <a:off x="3657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Strong Typing</a:t>
            </a:r>
          </a:p>
          <a:p>
            <a:endParaRPr lang="en-US" sz="12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200">
                <a:solidFill>
                  <a:srgbClr val="0D1B2A"/>
                </a:solidFill>
              </a:rPr>
              <a:t>Python is strongly typed.</a:t>
            </a:r>
            <a:endParaRPr lang="en-US"/>
          </a:p>
          <a:p>
            <a:endParaRPr lang="en-US" sz="13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r>
              <a:rPr lang="en-US" sz="1300" b="1" dirty="0">
                <a:solidFill>
                  <a:srgbClr val="0077B6"/>
                </a:solidFill>
                <a:latin typeface="Courier New"/>
                <a:cs typeface="Courier New"/>
              </a:rPr>
              <a:t>"5" + 5</a:t>
            </a:r>
            <a:r>
              <a:rPr lang="en-US" sz="1200" dirty="0">
                <a:solidFill>
                  <a:srgbClr val="495057"/>
                </a:solidFill>
              </a:rPr>
              <a:t>  produces  </a:t>
            </a:r>
            <a:r>
              <a:rPr lang="en-US" sz="1300" b="1" dirty="0" err="1">
                <a:solidFill>
                  <a:srgbClr val="C1121F"/>
                </a:solidFill>
                <a:latin typeface="Courier New"/>
                <a:cs typeface="Courier New"/>
              </a:rPr>
              <a:t>TypeError</a:t>
            </a:r>
            <a:endParaRPr lang="en-US" sz="1300" b="1" dirty="0">
              <a:solidFill>
                <a:srgbClr val="C1121F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endParaRPr lang="en-US" sz="1150" dirty="0">
              <a:solidFill>
                <a:srgbClr val="0D1B2A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150">
                <a:solidFill>
                  <a:srgbClr val="0D1B2A"/>
                </a:solidFill>
              </a:rPr>
              <a:t>Python does not automatically convert incompatible types.</a:t>
            </a:r>
            <a:endParaRPr lang="en-US"/>
          </a:p>
        </p:txBody>
      </p:sp>
      <p:sp>
        <p:nvSpPr>
          <p:cNvPr id="5" name="Naming Rules Card"/>
          <p:cNvSpPr/>
          <p:nvPr/>
        </p:nvSpPr>
        <p:spPr>
          <a:xfrm>
            <a:off x="47091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77B6"/>
                </a:solidFill>
              </a:rPr>
              <a:t>Variable Naming Rules</a:t>
            </a:r>
          </a:p>
          <a:p>
            <a:r>
              <a:rPr lang="en-US" sz="1200" b="1">
                <a:solidFill>
                  <a:srgbClr val="1B7A6E"/>
                </a:solidFill>
              </a:rPr>
              <a:t>Valid: </a:t>
            </a:r>
            <a:endParaRPr lang="en-US">
              <a:solidFill>
                <a:srgbClr val="000000"/>
              </a:solidFill>
            </a:endParaRPr>
          </a:p>
          <a:p>
            <a:r>
              <a:rPr lang="en-US" sz="1200" b="1" dirty="0">
                <a:solidFill>
                  <a:srgbClr val="1B7A6E"/>
                </a:solidFill>
              </a:rPr>
              <a:t> </a:t>
            </a: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name = "John"   </a:t>
            </a:r>
            <a:endParaRPr lang="en-US">
              <a:solidFill>
                <a:srgbClr val="000000"/>
              </a:solidFill>
              <a:latin typeface="Calibri" panose="020F0502020204030204"/>
              <a:ea typeface="Calibri"/>
              <a:cs typeface="Calibri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age2 = 20   </a:t>
            </a:r>
            <a:endParaRPr lang="en-US">
              <a:solidFill>
                <a:srgbClr val="000000"/>
              </a:solidFill>
              <a:latin typeface="Calibri" panose="020F0502020204030204"/>
              <a:ea typeface="Calibri"/>
              <a:cs typeface="Calibri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_student = "A"</a:t>
            </a:r>
            <a:endParaRPr lang="en-US">
              <a:ea typeface="Calibri"/>
              <a:cs typeface="Calibri"/>
            </a:endParaRPr>
          </a:p>
          <a:p>
            <a:r>
              <a:rPr lang="en-US" sz="1200" b="1">
                <a:solidFill>
                  <a:srgbClr val="C1121F"/>
                </a:solidFill>
              </a:rPr>
              <a:t>Invalid: </a:t>
            </a:r>
          </a:p>
          <a:p>
            <a:r>
              <a:rPr lang="en-US" sz="1200" b="1" dirty="0">
                <a:solidFill>
                  <a:srgbClr val="C1121F"/>
                </a:solidFill>
              </a:rPr>
              <a:t> </a:t>
            </a:r>
            <a:r>
              <a:rPr lang="en-US" sz="1200" b="1">
                <a:solidFill>
                  <a:srgbClr val="495057"/>
                </a:solidFill>
                <a:latin typeface="Courier New"/>
                <a:cs typeface="Courier New"/>
              </a:rPr>
              <a:t>2age = 20   </a:t>
            </a:r>
            <a:endParaRPr lang="en-US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r>
              <a:rPr lang="en-US" sz="1200" b="1">
                <a:solidFill>
                  <a:srgbClr val="495057"/>
                </a:solidFill>
                <a:latin typeface="Courier New"/>
                <a:cs typeface="Courier New"/>
              </a:rPr>
              <a:t>my-name = 10  </a:t>
            </a:r>
            <a:endParaRPr lang="en-US">
              <a:solidFill>
                <a:srgbClr val="000000"/>
              </a:solidFill>
              <a:latin typeface="Calibri" panose="020F0502020204030204"/>
              <a:ea typeface="Calibri"/>
              <a:cs typeface="Calibri"/>
            </a:endParaRPr>
          </a:p>
          <a:p>
            <a:r>
              <a:rPr lang="en-US" sz="1200" b="1">
                <a:solidFill>
                  <a:srgbClr val="495057"/>
                </a:solidFill>
                <a:latin typeface="Courier New"/>
                <a:cs typeface="Courier New"/>
              </a:rPr>
              <a:t> class = 5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6" name="Keywords Card"/>
          <p:cNvSpPr/>
          <p:nvPr/>
        </p:nvSpPr>
        <p:spPr>
          <a:xfrm>
            <a:off x="3657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Keywords Cannot Be Variables</a:t>
            </a:r>
          </a:p>
          <a:p>
            <a:endParaRPr lang="en-US" sz="13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if = 10</a:t>
            </a:r>
            <a:r>
              <a:rPr lang="en-US" sz="1200" b="1">
                <a:solidFill>
                  <a:srgbClr val="C1121F"/>
                </a:solidFill>
              </a:rPr>
              <a:t>   → Error</a:t>
            </a:r>
            <a:endParaRPr lang="en-US"/>
          </a:p>
          <a:p>
            <a:endParaRPr lang="en-US" sz="1150" b="1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150" b="1">
                <a:solidFill>
                  <a:srgbClr val="495057"/>
                </a:solidFill>
              </a:rPr>
              <a:t>Keywords include:</a:t>
            </a:r>
            <a:endParaRPr lang="en-US"/>
          </a:p>
          <a:p>
            <a:pPr marL="0" indent="0" algn="l">
              <a:buNone/>
            </a:pPr>
            <a:r>
              <a:rPr lang="en-US" sz="1200" b="1">
                <a:solidFill>
                  <a:srgbClr val="0D1B2A"/>
                </a:solidFill>
                <a:latin typeface="Courier New"/>
                <a:cs typeface="Courier New"/>
              </a:rPr>
              <a:t>if   else   while   for   class   def   return   import</a:t>
            </a:r>
          </a:p>
        </p:txBody>
      </p:sp>
      <p:sp>
        <p:nvSpPr>
          <p:cNvPr id="7" name="Multiple Assignment Card"/>
          <p:cNvSpPr/>
          <p:nvPr/>
        </p:nvSpPr>
        <p:spPr>
          <a:xfrm>
            <a:off x="47091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Multiple Assignment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a, b, c = 1, 2, 3</a:t>
            </a:r>
          </a:p>
          <a:p>
            <a:endParaRPr lang="en-US" sz="115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150">
                <a:solidFill>
                  <a:srgbClr val="0D1B2A"/>
                </a:solidFill>
              </a:rPr>
              <a:t>Python performs tuple packing and unpacking.</a:t>
            </a:r>
            <a:endParaRPr lang="en-US"/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values = (1, 2, 3)</a:t>
            </a: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 = values[0] </a:t>
            </a:r>
            <a:endParaRPr lang="en-US">
              <a:solidFill>
                <a:srgbClr val="000000"/>
              </a:solidFill>
              <a:latin typeface="Calibri" panose="020F0502020204030204"/>
              <a:ea typeface="Calibri"/>
              <a:cs typeface="Calibri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b = values[1] </a:t>
            </a:r>
            <a:endParaRPr lang="en-US">
              <a:solidFill>
                <a:srgbClr val="000000"/>
              </a:solidFill>
              <a:latin typeface="Calibri" panose="020F0502020204030204"/>
              <a:ea typeface="Calibri"/>
              <a:cs typeface="Calibri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c = values[2]</a:t>
            </a:r>
            <a:endParaRPr lang="en-US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wapping, Aliasing, Mutability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Swapping, Aliasing &amp; Mutability</a:t>
            </a:r>
            <a:endParaRPr lang="en-US" sz="2800" b="1"/>
          </a:p>
        </p:txBody>
      </p:sp>
      <p:sp>
        <p:nvSpPr>
          <p:cNvPr id="4" name="Swapping Card"/>
          <p:cNvSpPr/>
          <p:nvPr/>
        </p:nvSpPr>
        <p:spPr>
          <a:xfrm>
            <a:off x="3657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Swapping Variables</a:t>
            </a: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 = 10 </a:t>
            </a:r>
            <a:endParaRPr lang="en-US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b = 20</a:t>
            </a:r>
            <a:endParaRPr lang="en-US">
              <a:ea typeface="Calibri"/>
              <a:cs typeface="Calibri"/>
            </a:endParaRPr>
          </a:p>
          <a:p>
            <a:r>
              <a:rPr lang="en-US" sz="1300" b="1">
                <a:solidFill>
                  <a:srgbClr val="C1121F"/>
                </a:solidFill>
                <a:latin typeface="Courier New"/>
                <a:cs typeface="Courier New"/>
              </a:rPr>
              <a:t>a, b = b, a</a:t>
            </a:r>
          </a:p>
          <a:p>
            <a:pPr marL="0" indent="0" algn="l">
              <a:buNone/>
            </a:pPr>
            <a:endParaRPr lang="en-US" sz="1150" b="1" dirty="0">
              <a:solidFill>
                <a:srgbClr val="495057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150" b="1">
                <a:solidFill>
                  <a:srgbClr val="495057"/>
                </a:solidFill>
              </a:rPr>
              <a:t>Internally:</a:t>
            </a:r>
            <a:endParaRPr lang="en-US"/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temp = (b, a)</a:t>
            </a: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 = temp[0]    b = temp[1]</a:t>
            </a:r>
          </a:p>
        </p:txBody>
      </p:sp>
      <p:sp>
        <p:nvSpPr>
          <p:cNvPr id="5" name="Aliasing Card"/>
          <p:cNvSpPr/>
          <p:nvPr/>
        </p:nvSpPr>
        <p:spPr>
          <a:xfrm>
            <a:off x="47091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77B6"/>
                </a:solidFill>
              </a:rPr>
              <a:t>16. Aliasing</a:t>
            </a: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 = [1, 2] </a:t>
            </a:r>
            <a:endParaRPr lang="en-US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 b = a</a:t>
            </a:r>
            <a:endParaRPr lang="en-US"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b.append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(3)</a:t>
            </a: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print(a)</a:t>
            </a:r>
            <a:r>
              <a:rPr lang="en-US" sz="1150">
                <a:solidFill>
                  <a:srgbClr val="495057"/>
                </a:solidFill>
              </a:rPr>
              <a:t>  →  </a:t>
            </a:r>
            <a:r>
              <a:rPr lang="en-US" sz="1300" b="1">
                <a:solidFill>
                  <a:srgbClr val="1B7A6E"/>
                </a:solidFill>
                <a:latin typeface="Courier New"/>
                <a:cs typeface="Courier New"/>
              </a:rPr>
              <a:t>[1, 2, 3]</a:t>
            </a:r>
          </a:p>
          <a:p>
            <a:endParaRPr lang="en-US" sz="115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150">
                <a:solidFill>
                  <a:srgbClr val="0D1B2A"/>
                </a:solidFill>
              </a:rPr>
              <a:t>Both variables point to the same list.</a:t>
            </a:r>
            <a:endParaRPr lang="en-US"/>
          </a:p>
        </p:txBody>
      </p:sp>
      <p:sp>
        <p:nvSpPr>
          <p:cNvPr id="6" name="Immutable Card"/>
          <p:cNvSpPr/>
          <p:nvPr/>
        </p:nvSpPr>
        <p:spPr>
          <a:xfrm>
            <a:off x="3657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14. Immutable Objects</a:t>
            </a:r>
            <a:r>
              <a:rPr lang="en-US" sz="1150">
                <a:solidFill>
                  <a:srgbClr val="0D1B2A"/>
                </a:solidFill>
              </a:rPr>
              <a:t>  – cannot change after creation.</a:t>
            </a:r>
          </a:p>
          <a:p>
            <a:endParaRPr lang="en-US" sz="1150" b="1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150" b="1" dirty="0">
                <a:solidFill>
                  <a:srgbClr val="495057"/>
                </a:solidFill>
              </a:rPr>
              <a:t>Examples:  </a:t>
            </a:r>
            <a:r>
              <a:rPr lang="en-US" sz="1150" b="1">
                <a:solidFill>
                  <a:srgbClr val="0077B6"/>
                </a:solidFill>
                <a:latin typeface="Courier New"/>
                <a:cs typeface="Courier New"/>
              </a:rPr>
              <a:t>int, float, bool, str, tuple</a:t>
            </a: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x = 10  </a:t>
            </a: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x += 1</a:t>
            </a:r>
            <a:r>
              <a:rPr lang="en-US" sz="1150">
                <a:solidFill>
                  <a:srgbClr val="0D1B2A"/>
                </a:solidFill>
              </a:rPr>
              <a:t>  → new object</a:t>
            </a:r>
            <a:endParaRPr lang="en-US"/>
          </a:p>
          <a:p>
            <a:endParaRPr lang="en-US" sz="1100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100">
                <a:solidFill>
                  <a:srgbClr val="495057"/>
                </a:solidFill>
              </a:rPr>
              <a:t>10 object destroyed (if unused), 11 object created.</a:t>
            </a:r>
            <a:endParaRPr lang="en-US"/>
          </a:p>
        </p:txBody>
      </p:sp>
      <p:sp>
        <p:nvSpPr>
          <p:cNvPr id="7" name="Mutable Card"/>
          <p:cNvSpPr/>
          <p:nvPr/>
        </p:nvSpPr>
        <p:spPr>
          <a:xfrm>
            <a:off x="47091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15. Mutable Objects</a:t>
            </a:r>
            <a:r>
              <a:rPr lang="en-US" sz="1150">
                <a:solidFill>
                  <a:srgbClr val="0D1B2A"/>
                </a:solidFill>
              </a:rPr>
              <a:t>  – can change after creation.</a:t>
            </a:r>
          </a:p>
          <a:p>
            <a:endParaRPr lang="en-US" sz="1150" b="1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150" b="1" dirty="0">
                <a:solidFill>
                  <a:srgbClr val="495057"/>
                </a:solidFill>
              </a:rPr>
              <a:t>Examples:  </a:t>
            </a:r>
            <a:r>
              <a:rPr lang="en-US" sz="1150" b="1" dirty="0">
                <a:solidFill>
                  <a:srgbClr val="0077B6"/>
                </a:solidFill>
                <a:latin typeface="Courier New"/>
                <a:cs typeface="Courier New"/>
              </a:rPr>
              <a:t>list, </a:t>
            </a:r>
            <a:r>
              <a:rPr lang="en-US" sz="1150" b="1" dirty="0" err="1">
                <a:solidFill>
                  <a:srgbClr val="0077B6"/>
                </a:solidFill>
                <a:latin typeface="Courier New"/>
                <a:cs typeface="Courier New"/>
              </a:rPr>
              <a:t>dict</a:t>
            </a:r>
            <a:r>
              <a:rPr lang="en-US" sz="1150" b="1" dirty="0">
                <a:solidFill>
                  <a:srgbClr val="0077B6"/>
                </a:solidFill>
                <a:latin typeface="Courier New"/>
                <a:cs typeface="Courier New"/>
              </a:rPr>
              <a:t>, set</a:t>
            </a: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numbers = [1, 2]</a:t>
            </a:r>
            <a:endParaRPr lang="en-US"/>
          </a:p>
          <a:p>
            <a:pPr marL="0" indent="0" algn="l">
              <a:buNone/>
            </a:pP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numbers.append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(3)</a:t>
            </a:r>
          </a:p>
          <a:p>
            <a:endParaRPr lang="en-US" sz="115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150">
                <a:solidFill>
                  <a:srgbClr val="0D1B2A"/>
                </a:solidFill>
              </a:rPr>
              <a:t>The same list object changes.</a:t>
            </a:r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Input, Output &amp; f-Strings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Python communicates with the user through print() for output and input() for input. f-strings make formatting easy.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45262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00B4D8">
              <a:alpha val="2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77B6"/>
                </a:solidFill>
              </a:rPr>
              <a:t>💡 input() always gives a STRING — use int() or float() to convert numbers!</a:t>
            </a:r>
            <a:endParaRPr lang="en-US" sz="1200" dirty="0"/>
          </a:p>
        </p:txBody>
      </p:sp>
      <p:pic>
        <p:nvPicPr>
          <p:cNvPr id="9" name="Picture 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694AEBE-0AD8-259F-390F-705236483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1274" y="1404256"/>
            <a:ext cx="3961451" cy="304255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int Function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  <a:latin typeface="Courier New"/>
                <a:cs typeface="Courier New"/>
              </a:rPr>
              <a:t>print()</a:t>
            </a:r>
            <a:r>
              <a:rPr lang="en-US" sz="2800" b="1">
                <a:solidFill>
                  <a:srgbClr val="FFFFFF"/>
                </a:solidFill>
              </a:rPr>
              <a:t> Function</a:t>
            </a:r>
            <a:endParaRPr lang="en-US" sz="2800" b="1"/>
          </a:p>
        </p:txBody>
      </p:sp>
      <p:sp>
        <p:nvSpPr>
          <p:cNvPr id="4" name="What Is Card"/>
          <p:cNvSpPr/>
          <p:nvPr/>
        </p:nvSpPr>
        <p:spPr>
          <a:xfrm>
            <a:off x="365760" y="1140000"/>
            <a:ext cx="40690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900" b="1">
                <a:solidFill>
                  <a:srgbClr val="1B7A6E"/>
                </a:solidFill>
              </a:rPr>
              <a:t>1. What is print()?</a:t>
            </a:r>
          </a:p>
          <a:p>
            <a:pPr marL="0" indent="0" algn="l">
              <a:buNone/>
            </a:pPr>
            <a:r>
              <a:rPr lang="en-US" sz="1400">
                <a:solidFill>
                  <a:srgbClr val="0D1B2A"/>
                </a:solidFill>
              </a:rPr>
              <a:t>print() is a built-in Python function used to display output on the screen.</a:t>
            </a:r>
          </a:p>
          <a:p>
            <a:pPr marL="0" indent="0" algn="l">
              <a:buNone/>
            </a:pPr>
            <a:endParaRPr lang="en-US" sz="800"/>
          </a:p>
          <a:p>
            <a:pPr marL="0" indent="0" algn="l">
              <a:buNone/>
            </a:pPr>
            <a:r>
              <a:rPr lang="en-US" sz="1500" b="1">
                <a:solidFill>
                  <a:srgbClr val="0077B6"/>
                </a:solidFill>
                <a:latin typeface="Courier New"/>
                <a:cs typeface="Courier New"/>
              </a:rPr>
              <a:t>print("Hello World")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Output:</a:t>
            </a:r>
          </a:p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  <a:latin typeface="Courier New"/>
                <a:cs typeface="Courier New"/>
              </a:rPr>
              <a:t>Hello World</a:t>
            </a:r>
          </a:p>
        </p:txBody>
      </p:sp>
      <p:sp>
        <p:nvSpPr>
          <p:cNvPr id="5" name="Syntax Card"/>
          <p:cNvSpPr/>
          <p:nvPr/>
        </p:nvSpPr>
        <p:spPr>
          <a:xfrm>
            <a:off x="4709160" y="1140000"/>
            <a:ext cx="40690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900" b="1">
                <a:solidFill>
                  <a:srgbClr val="0077B6"/>
                </a:solidFill>
              </a:rPr>
              <a:t>2. Syntax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print(*objects, sep=' ', end='\n')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Parameters:</a:t>
            </a:r>
          </a:p>
        </p:txBody>
      </p:sp>
      <p:graphicFrame>
        <p:nvGraphicFramePr>
          <p:cNvPr id="6" name="Parameters Table"/>
          <p:cNvGraphicFramePr>
            <a:graphicFrameLocks noGrp="1"/>
          </p:cNvGraphicFramePr>
          <p:nvPr/>
        </p:nvGraphicFramePr>
        <p:xfrm>
          <a:off x="4892040" y="2620000"/>
          <a:ext cx="3703320" cy="1820000"/>
        </p:xfrm>
        <a:graphic>
          <a:graphicData uri="http://schemas.openxmlformats.org/drawingml/2006/table">
            <a:tbl>
              <a:tblPr firstRow="1"/>
              <a:tblGrid>
                <a:gridCol w="1303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*objects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Values to print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sep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Separator between values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end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What to print at the end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int Examples sep end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  <a:latin typeface="Courier New"/>
                <a:cs typeface="Courier New"/>
              </a:rPr>
              <a:t>print()</a:t>
            </a:r>
            <a:r>
              <a:rPr lang="en-US" sz="2800" b="1">
                <a:solidFill>
                  <a:srgbClr val="FFFFFF"/>
                </a:solidFill>
              </a:rPr>
              <a:t> – Values, sep &amp; end</a:t>
            </a:r>
            <a:endParaRPr lang="en-US" sz="2800" b="1"/>
          </a:p>
        </p:txBody>
      </p:sp>
      <p:sp>
        <p:nvSpPr>
          <p:cNvPr id="4" name="Printing Strings"/>
          <p:cNvSpPr/>
          <p:nvPr/>
        </p:nvSpPr>
        <p:spPr>
          <a:xfrm>
            <a:off x="365760" y="1080000"/>
            <a:ext cx="2670000" cy="17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18872" tIns="82296" rIns="100584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1B7A6E"/>
                </a:solidFill>
              </a:rPr>
              <a:t>Printing Strings</a:t>
            </a:r>
            <a:endParaRPr lang="en-US" b="1">
              <a:solidFill>
                <a:srgbClr val="1B7A6E"/>
              </a:solidFill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print("Python")</a:t>
            </a:r>
            <a:r>
              <a:rPr lang="en-US" sz="1200">
                <a:solidFill>
                  <a:srgbClr val="495057"/>
                </a:solidFill>
              </a:rPr>
              <a:t>  →  </a:t>
            </a: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Python</a:t>
            </a:r>
          </a:p>
        </p:txBody>
      </p:sp>
      <p:sp>
        <p:nvSpPr>
          <p:cNvPr id="5" name="Printing Numbers"/>
          <p:cNvSpPr/>
          <p:nvPr/>
        </p:nvSpPr>
        <p:spPr>
          <a:xfrm>
            <a:off x="3235760" y="1080000"/>
            <a:ext cx="2670000" cy="17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18872" tIns="82296" rIns="100584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0077B6"/>
                </a:solidFill>
              </a:rPr>
              <a:t>Printing Numbers</a:t>
            </a:r>
            <a:endParaRPr lang="en-US" b="1">
              <a:solidFill>
                <a:srgbClr val="0077B6"/>
              </a:solidFill>
              <a:ea typeface="Calibri"/>
              <a:cs typeface="Calibri"/>
            </a:endParaRPr>
          </a:p>
          <a:p>
            <a:endParaRPr lang="en-US" sz="14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print(100)</a:t>
            </a:r>
            <a:r>
              <a:rPr lang="en-US" sz="1400">
                <a:solidFill>
                  <a:srgbClr val="495057"/>
                </a:solidFill>
              </a:rPr>
              <a:t>  →  </a:t>
            </a:r>
            <a:r>
              <a:rPr lang="en-US" sz="1600" b="1">
                <a:solidFill>
                  <a:srgbClr val="1B7A6E"/>
                </a:solidFill>
                <a:latin typeface="Courier New"/>
                <a:cs typeface="Courier New"/>
              </a:rPr>
              <a:t>100</a:t>
            </a:r>
            <a:endParaRPr lang="en-US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print(3.14)</a:t>
            </a:r>
            <a:r>
              <a:rPr lang="en-US" sz="1400">
                <a:solidFill>
                  <a:srgbClr val="495057"/>
                </a:solidFill>
              </a:rPr>
              <a:t>  →  </a:t>
            </a:r>
            <a:r>
              <a:rPr lang="en-US" sz="1600" b="1">
                <a:solidFill>
                  <a:srgbClr val="1B7A6E"/>
                </a:solidFill>
                <a:latin typeface="Courier New"/>
                <a:cs typeface="Courier New"/>
              </a:rPr>
              <a:t>3.14</a:t>
            </a:r>
          </a:p>
        </p:txBody>
      </p:sp>
      <p:sp>
        <p:nvSpPr>
          <p:cNvPr id="6" name="Printing Multiple"/>
          <p:cNvSpPr/>
          <p:nvPr/>
        </p:nvSpPr>
        <p:spPr>
          <a:xfrm>
            <a:off x="6105760" y="1080000"/>
            <a:ext cx="2670000" cy="17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18872" tIns="82296" rIns="100584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1B7A6E"/>
                </a:solidFill>
              </a:rPr>
              <a:t>Printing Multiple Values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name = "John"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age = 25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print(name, age)</a:t>
            </a:r>
            <a:r>
              <a:rPr lang="en-US" sz="1100">
                <a:solidFill>
                  <a:srgbClr val="495057"/>
                </a:solidFill>
              </a:rPr>
              <a:t>  →  </a:t>
            </a: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John 25</a:t>
            </a:r>
          </a:p>
          <a:p>
            <a:endParaRPr lang="en-US" sz="9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000">
                <a:solidFill>
                  <a:srgbClr val="0D1B2A"/>
                </a:solidFill>
              </a:rPr>
              <a:t>Default: a space separates values.</a:t>
            </a:r>
            <a:endParaRPr lang="en-US" sz="1000">
              <a:ea typeface="Calibri"/>
              <a:cs typeface="Calibri"/>
            </a:endParaRPr>
          </a:p>
        </p:txBody>
      </p:sp>
      <p:sp>
        <p:nvSpPr>
          <p:cNvPr id="7" name="sep Parameter"/>
          <p:cNvSpPr/>
          <p:nvPr/>
        </p:nvSpPr>
        <p:spPr>
          <a:xfrm>
            <a:off x="365760" y="2900000"/>
            <a:ext cx="4092000" cy="20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18872" tIns="82296" rIns="100584" bIns="54864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0077B6"/>
                </a:solidFill>
              </a:rPr>
              <a:t>The </a:t>
            </a:r>
            <a:r>
              <a:rPr lang="en-US" b="1" dirty="0" err="1">
                <a:solidFill>
                  <a:srgbClr val="0077B6"/>
                </a:solidFill>
              </a:rPr>
              <a:t>sep</a:t>
            </a:r>
            <a:r>
              <a:rPr lang="en-US" b="1" dirty="0">
                <a:solidFill>
                  <a:srgbClr val="0077B6"/>
                </a:solidFill>
              </a:rPr>
              <a:t> Parameter</a:t>
            </a:r>
            <a:endParaRPr lang="en-US" sz="2400" b="1">
              <a:solidFill>
                <a:srgbClr val="0077B6"/>
              </a:solidFill>
              <a:ea typeface="Calibri"/>
              <a:cs typeface="Calibri"/>
            </a:endParaRP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print("A", "B", "C")</a:t>
            </a:r>
            <a:r>
              <a:rPr lang="en-US" sz="1200">
                <a:solidFill>
                  <a:srgbClr val="495057"/>
                </a:solidFill>
              </a:rPr>
              <a:t>  →  </a:t>
            </a: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A B C</a:t>
            </a:r>
          </a:p>
          <a:p>
            <a:pPr marL="0" indent="0" algn="l">
              <a:buNone/>
            </a:pP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print("A", "B", "C", </a:t>
            </a: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sep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="-")</a:t>
            </a:r>
            <a:r>
              <a:rPr lang="en-US" sz="1200" dirty="0">
                <a:solidFill>
                  <a:srgbClr val="495057"/>
                </a:solidFill>
              </a:rPr>
              <a:t>  →  </a:t>
            </a:r>
            <a:r>
              <a:rPr lang="en-US" sz="1400" b="1" dirty="0">
                <a:solidFill>
                  <a:srgbClr val="1B7A6E"/>
                </a:solidFill>
                <a:latin typeface="Courier New"/>
                <a:cs typeface="Courier New"/>
              </a:rPr>
              <a:t>A-B-C</a:t>
            </a:r>
          </a:p>
          <a:p>
            <a:pPr marL="0" indent="0" algn="l">
              <a:buNone/>
            </a:pP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print(1, 2, 3, </a:t>
            </a: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sep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=", ")</a:t>
            </a:r>
            <a:r>
              <a:rPr lang="en-US" sz="1200" dirty="0">
                <a:solidFill>
                  <a:srgbClr val="495057"/>
                </a:solidFill>
              </a:rPr>
              <a:t>  →  </a:t>
            </a:r>
            <a:r>
              <a:rPr lang="en-US" sz="1400" b="1" dirty="0">
                <a:solidFill>
                  <a:srgbClr val="1B7A6E"/>
                </a:solidFill>
                <a:latin typeface="Courier New"/>
                <a:cs typeface="Courier New"/>
              </a:rPr>
              <a:t>1, 2, 3</a:t>
            </a:r>
          </a:p>
        </p:txBody>
      </p:sp>
      <p:sp>
        <p:nvSpPr>
          <p:cNvPr id="8" name="end Parameter"/>
          <p:cNvSpPr/>
          <p:nvPr/>
        </p:nvSpPr>
        <p:spPr>
          <a:xfrm>
            <a:off x="4686240" y="2900000"/>
            <a:ext cx="4092000" cy="20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18872" tIns="82296" rIns="100584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1B7A6E"/>
                </a:solidFill>
              </a:rPr>
              <a:t>The end Parameter</a:t>
            </a:r>
          </a:p>
          <a:p>
            <a:endParaRPr lang="en-US" sz="105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print("Hello")</a:t>
            </a:r>
            <a:endParaRPr lang="en-US" sz="1400"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print("World")</a:t>
            </a:r>
            <a:r>
              <a:rPr lang="en-US" sz="1400">
                <a:solidFill>
                  <a:srgbClr val="495057"/>
                </a:solidFill>
              </a:rPr>
              <a:t>  →  </a:t>
            </a:r>
            <a:r>
              <a:rPr lang="en-US" sz="1600" b="1">
                <a:solidFill>
                  <a:srgbClr val="1B7A6E"/>
                </a:solidFill>
                <a:latin typeface="Courier New"/>
                <a:cs typeface="Courier New"/>
              </a:rPr>
              <a:t>Hello</a:t>
            </a:r>
            <a:br>
              <a:rPr lang="en-US" sz="2800" dirty="0"/>
            </a:br>
            <a:r>
              <a:rPr lang="en-US" sz="1600" b="1">
                <a:solidFill>
                  <a:srgbClr val="1B7A6E"/>
                </a:solidFill>
                <a:latin typeface="Courier New"/>
                <a:cs typeface="Courier New"/>
              </a:rPr>
              <a:t>World</a:t>
            </a:r>
          </a:p>
          <a:p>
            <a:pPr marL="0" indent="0" algn="l">
              <a:buNone/>
            </a:pPr>
            <a:r>
              <a:rPr lang="en-US" sz="1100">
                <a:solidFill>
                  <a:srgbClr val="0D1B2A"/>
                </a:solidFill>
              </a:rPr>
              <a:t>Default: end="\n" adds a newline.</a:t>
            </a:r>
            <a:endParaRPr lang="en-US" sz="1100">
              <a:solidFill>
                <a:srgbClr val="0D1B2A"/>
              </a:solidFill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print("Hello", end=" ")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print("World")</a:t>
            </a:r>
            <a:r>
              <a:rPr lang="en-US" sz="1400">
                <a:solidFill>
                  <a:srgbClr val="495057"/>
                </a:solidFill>
              </a:rPr>
              <a:t>  →  </a:t>
            </a:r>
            <a:r>
              <a:rPr lang="en-US" sz="1600" b="1">
                <a:solidFill>
                  <a:srgbClr val="1B7A6E"/>
                </a:solidFill>
                <a:latin typeface="Courier New"/>
                <a:cs typeface="Courier New"/>
              </a:rPr>
              <a:t>Hello World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-Strings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f-Strings &amp; Formatting</a:t>
            </a:r>
            <a:endParaRPr lang="en-US" sz="2800" b="1"/>
          </a:p>
        </p:txBody>
      </p:sp>
      <p:sp>
        <p:nvSpPr>
          <p:cNvPr id="4" name="fStrings Card"/>
          <p:cNvSpPr/>
          <p:nvPr/>
        </p:nvSpPr>
        <p:spPr>
          <a:xfrm>
            <a:off x="3657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54864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B7A6E"/>
                </a:solidFill>
              </a:rPr>
              <a:t>f-Strings (Modern </a:t>
            </a:r>
            <a:r>
              <a:rPr lang="en-US" b="1" dirty="0" err="1">
                <a:solidFill>
                  <a:srgbClr val="1B7A6E"/>
                </a:solidFill>
              </a:rPr>
              <a:t>printf</a:t>
            </a:r>
            <a:r>
              <a:rPr lang="en-US" b="1" dirty="0">
                <a:solidFill>
                  <a:srgbClr val="1B7A6E"/>
                </a:solidFill>
              </a:rPr>
              <a:t>)</a:t>
            </a:r>
            <a:endParaRPr lang="en-US" sz="1600" b="1">
              <a:solidFill>
                <a:srgbClr val="1B7A6E"/>
              </a:solidFill>
              <a:ea typeface="Calibri"/>
              <a:cs typeface="Calibri"/>
            </a:endParaRPr>
          </a:p>
          <a:p>
            <a:endParaRPr lang="en-US" sz="11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name = "John"    </a:t>
            </a:r>
            <a:endParaRPr lang="en-US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age = 25</a:t>
            </a:r>
            <a:endParaRPr lang="en-US"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100" b="1" dirty="0">
                <a:solidFill>
                  <a:srgbClr val="0077B6"/>
                </a:solidFill>
                <a:latin typeface="Courier New"/>
                <a:cs typeface="Courier New"/>
              </a:rPr>
              <a:t>print(</a:t>
            </a:r>
            <a:r>
              <a:rPr lang="en-US" sz="1100" b="1" dirty="0" err="1">
                <a:solidFill>
                  <a:srgbClr val="0077B6"/>
                </a:solidFill>
                <a:latin typeface="Courier New"/>
                <a:cs typeface="Courier New"/>
              </a:rPr>
              <a:t>f"My</a:t>
            </a:r>
            <a:r>
              <a:rPr lang="en-US" sz="1100" b="1" dirty="0">
                <a:solidFill>
                  <a:srgbClr val="0077B6"/>
                </a:solidFill>
                <a:latin typeface="Courier New"/>
                <a:cs typeface="Courier New"/>
              </a:rPr>
              <a:t> name is {name}")</a:t>
            </a:r>
          </a:p>
          <a:p>
            <a:pPr marL="0" indent="0" algn="l">
              <a:buNone/>
            </a:pPr>
            <a:r>
              <a:rPr lang="en-US" sz="1100" b="1" dirty="0">
                <a:solidFill>
                  <a:srgbClr val="0077B6"/>
                </a:solidFill>
                <a:latin typeface="Courier New"/>
                <a:cs typeface="Courier New"/>
              </a:rPr>
              <a:t>print(</a:t>
            </a:r>
            <a:r>
              <a:rPr lang="en-US" sz="1100" b="1" dirty="0" err="1">
                <a:solidFill>
                  <a:srgbClr val="0077B6"/>
                </a:solidFill>
                <a:latin typeface="Courier New"/>
                <a:cs typeface="Courier New"/>
              </a:rPr>
              <a:t>f"Age</a:t>
            </a:r>
            <a:r>
              <a:rPr lang="en-US" sz="1100" b="1" dirty="0">
                <a:solidFill>
                  <a:srgbClr val="0077B6"/>
                </a:solidFill>
                <a:latin typeface="Courier New"/>
                <a:cs typeface="Courier New"/>
              </a:rPr>
              <a:t> is {age}")</a:t>
            </a:r>
          </a:p>
          <a:p>
            <a:endParaRPr lang="en-US" sz="1050" b="1" dirty="0">
              <a:solidFill>
                <a:srgbClr val="495057"/>
              </a:solidFill>
            </a:endParaRPr>
          </a:p>
          <a:p>
            <a:r>
              <a:rPr lang="en-US" sz="1050" b="1">
                <a:solidFill>
                  <a:srgbClr val="495057"/>
                </a:solidFill>
              </a:rPr>
              <a:t>Output:  </a:t>
            </a:r>
            <a:endParaRPr lang="en-US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 algn="l">
              <a:buNone/>
            </a:pPr>
            <a:r>
              <a:rPr lang="en-US" sz="1150" b="1">
                <a:solidFill>
                  <a:srgbClr val="1B7A6E"/>
                </a:solidFill>
                <a:latin typeface="Courier New"/>
                <a:cs typeface="Courier New"/>
              </a:rPr>
              <a:t>My name is John</a:t>
            </a:r>
            <a:br>
              <a:rPr lang="en-US" dirty="0"/>
            </a:br>
            <a:r>
              <a:rPr lang="en-US" sz="1150" b="1">
                <a:solidFill>
                  <a:srgbClr val="1B7A6E"/>
                </a:solidFill>
                <a:latin typeface="Courier New"/>
                <a:cs typeface="Courier New"/>
              </a:rPr>
              <a:t>Age is 25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5" name="Expressions Card"/>
          <p:cNvSpPr/>
          <p:nvPr/>
        </p:nvSpPr>
        <p:spPr>
          <a:xfrm>
            <a:off x="47091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0077B6"/>
                </a:solidFill>
              </a:rPr>
              <a:t>Expressions Inside f-Strings</a:t>
            </a: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 = 10    b = 20</a:t>
            </a:r>
            <a:endParaRPr lang="en-US"/>
          </a:p>
          <a:p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print(</a:t>
            </a: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f"Sum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 = {</a:t>
            </a: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a+b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}")</a:t>
            </a:r>
          </a:p>
          <a:p>
            <a:pPr marL="0" indent="0" algn="l">
              <a:buNone/>
            </a:pPr>
            <a:endParaRPr lang="en-US" sz="1100" b="1" dirty="0">
              <a:solidFill>
                <a:srgbClr val="495057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100" b="1">
                <a:solidFill>
                  <a:srgbClr val="495057"/>
                </a:solidFill>
              </a:rPr>
              <a:t>Output:  </a:t>
            </a:r>
            <a:r>
              <a:rPr lang="en-US" sz="1300" b="1">
                <a:solidFill>
                  <a:srgbClr val="1B7A6E"/>
                </a:solidFill>
                <a:latin typeface="Courier New"/>
                <a:cs typeface="Courier New"/>
              </a:rPr>
              <a:t>Sum = 30</a:t>
            </a:r>
            <a:endParaRPr lang="en-US"/>
          </a:p>
        </p:txBody>
      </p:sp>
      <p:sp>
        <p:nvSpPr>
          <p:cNvPr id="6" name="Decimal Card"/>
          <p:cNvSpPr/>
          <p:nvPr/>
        </p:nvSpPr>
        <p:spPr>
          <a:xfrm>
            <a:off x="3657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1B7A6E"/>
                </a:solidFill>
              </a:rPr>
              <a:t>Decimal Formatting</a:t>
            </a:r>
            <a:endParaRPr lang="en-US" b="1">
              <a:solidFill>
                <a:srgbClr val="1B7A6E"/>
              </a:solidFill>
              <a:ea typeface="Calibri"/>
              <a:cs typeface="Calibri"/>
            </a:endParaRP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pi = 3.14159265</a:t>
            </a:r>
            <a:endParaRPr lang="en-US"/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print(f"{pi:.2f}")</a:t>
            </a:r>
            <a:r>
              <a:rPr lang="en-US" sz="1150">
                <a:solidFill>
                  <a:srgbClr val="495057"/>
                </a:solidFill>
              </a:rPr>
              <a:t>  →  </a:t>
            </a:r>
            <a:r>
              <a:rPr lang="en-US" sz="1300" b="1">
                <a:solidFill>
                  <a:srgbClr val="1B7A6E"/>
                </a:solidFill>
                <a:latin typeface="Courier New"/>
                <a:cs typeface="Courier New"/>
              </a:rPr>
              <a:t>3.14</a:t>
            </a:r>
          </a:p>
          <a:p>
            <a:endParaRPr lang="en-US" sz="10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100">
                <a:solidFill>
                  <a:srgbClr val="0D1B2A"/>
                </a:solidFill>
              </a:rPr>
              <a:t>.2f keeps two decimal places.</a:t>
            </a:r>
            <a:endParaRPr lang="en-US" sz="1100"/>
          </a:p>
        </p:txBody>
      </p:sp>
      <p:sp>
        <p:nvSpPr>
          <p:cNvPr id="7" name="Width Card"/>
          <p:cNvSpPr/>
          <p:nvPr/>
        </p:nvSpPr>
        <p:spPr>
          <a:xfrm>
            <a:off x="47091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1B7A6E"/>
                </a:solidFill>
              </a:rPr>
              <a:t>Width Formatting</a:t>
            </a: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ea typeface="+mn-lt"/>
                <a:cs typeface="Courier New"/>
              </a:rPr>
              <a:t>text = "cat" </a:t>
            </a:r>
            <a:endParaRPr lang="en-US">
              <a:solidFill>
                <a:srgbClr val="000000"/>
              </a:solidFill>
              <a:latin typeface="Calibri" panose="020F0502020204030204"/>
              <a:ea typeface="+mn-lt"/>
              <a:cs typeface="Calibri" panose="020F0502020204030204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ea typeface="+mn-lt"/>
                <a:cs typeface="Courier New"/>
              </a:rPr>
              <a:t>num = 42 </a:t>
            </a:r>
            <a:endParaRPr lang="en-US">
              <a:solidFill>
                <a:srgbClr val="000000"/>
              </a:solidFill>
              <a:latin typeface="Calibri" panose="020F0502020204030204"/>
              <a:ea typeface="+mn-lt"/>
              <a:cs typeface="Calibri"/>
            </a:endParaRPr>
          </a:p>
          <a:p>
            <a:endParaRPr lang="en-US" sz="1200" b="1" dirty="0">
              <a:solidFill>
                <a:srgbClr val="0077B6"/>
              </a:solidFill>
              <a:latin typeface="Courier New"/>
              <a:ea typeface="+mn-lt"/>
              <a:cs typeface="Courier New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ea typeface="+mn-lt"/>
                <a:cs typeface="Courier New"/>
              </a:rPr>
              <a:t>print(f"|{text:10}|") # Output: |cat | print(f"|{num:10}|") # Output: | 42|</a:t>
            </a:r>
            <a:endParaRPr lang="en-US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Operators in Python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Arithmetic Operators
</a:t>
            </a:r>
            <a:endParaRPr lang="en-US" sz="1400" dirty="0"/>
          </a:p>
          <a:p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+    Addition         5+3 = 8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-    Subtraction      5-3 = 2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*    Multiplication   5*3 = 15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/    Division         7/2 = 3.5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//   Floor Div        7//2 = 3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%    Modulo           7%2 = 1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**   Power            2**3 = 8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endParaRPr lang="en-US" sz="1400">
              <a:latin typeface="Courier New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Comparison Operators
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  !=  &gt;  &lt;  &gt;=  &lt;=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0916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Logical Operators
</a:t>
            </a:r>
            <a:endParaRPr lang="en-US" sz="1400" dirty="0"/>
          </a:p>
          <a:p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and  →  both must be True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or   →  at least one True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not  →  flips True/False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</a:p>
          <a:p>
            <a:pPr marL="0" indent="0" algn="l">
              <a:buNone/>
            </a:pPr>
            <a:r>
              <a:rPr lang="en-US" sz="1500" b="1">
                <a:solidFill>
                  <a:srgbClr val="00B4D8"/>
                </a:solidFill>
              </a:rPr>
              <a:t>Assignment Operators</a:t>
            </a:r>
            <a:r>
              <a:rPr lang="en-US" sz="1500" b="1" dirty="0">
                <a:solidFill>
                  <a:srgbClr val="00B4D8"/>
                </a:solidFill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x = 5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x += 3   # x = x + 3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x -= 2   # x = x - 2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x *= 4   # x = x * 4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endParaRPr lang="en-US" sz="1300" dirty="0">
              <a:solidFill>
                <a:srgbClr val="0D1B2A"/>
              </a:solidFill>
              <a:latin typeface="Courier New"/>
              <a:ea typeface="Calibri"/>
              <a:cs typeface="Courier New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Type Conversion
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int('5') · float('3.2') · str(10)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Day 1 Practical — Calculator Program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Mini project: Build a calculator that takes two numbers and an operator as input, performs the operation, and prints the result.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45262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00B4D8">
              <a:alpha val="2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77B6"/>
                </a:solidFill>
              </a:rPr>
              <a:t>💡 Tomorrow we use if-else to make the calculator handle ALL operators automatically!</a:t>
            </a:r>
            <a:endParaRPr lang="en-US" sz="1200" dirty="0"/>
          </a:p>
        </p:txBody>
      </p:sp>
      <p:pic>
        <p:nvPicPr>
          <p:cNvPr id="10" name="Picture 9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2F31C65E-97FE-DE11-B02B-943322099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8005" y="1496785"/>
            <a:ext cx="4253433" cy="292281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4D8"/>
                </a:solidFill>
              </a:rPr>
              <a:t>🧠 Practice Questions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Day 1 — Practice Questions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Q1.  </a:t>
            </a:r>
            <a:r>
              <a:rPr lang="en-US" sz="1500" dirty="0">
                <a:solidFill>
                  <a:srgbClr val="FFFFFF"/>
                </a:solidFill>
              </a:rPr>
              <a:t>Write a program that asks for your name and age, then prints: 'Hello [name], you will turn [age+1] next year!'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Q2.  </a:t>
            </a:r>
            <a:r>
              <a:rPr lang="en-US" sz="1500" dirty="0">
                <a:solidFill>
                  <a:srgbClr val="FFFFFF"/>
                </a:solidFill>
              </a:rPr>
              <a:t>What is the output of: print(type(3.14))  and  print(type(True))?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Q3.  </a:t>
            </a:r>
            <a:r>
              <a:rPr lang="en-US" sz="1500" dirty="0">
                <a:solidFill>
                  <a:srgbClr val="FFFFFF"/>
                </a:solidFill>
              </a:rPr>
              <a:t>What does 17 % 5 evaluate to? What real-world use case does the % operator have?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Q4.  </a:t>
            </a:r>
            <a:r>
              <a:rPr lang="en-US" sz="1500" dirty="0">
                <a:solidFill>
                  <a:srgbClr val="FFFFFF"/>
                </a:solidFill>
              </a:rPr>
              <a:t>Convert the string '42' to an integer and multiply it by 3. Print the result.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Q5.  </a:t>
            </a:r>
            <a:r>
              <a:rPr lang="en-US" sz="1500" dirty="0">
                <a:solidFill>
                  <a:srgbClr val="FFFFFF"/>
                </a:solidFill>
              </a:rPr>
              <a:t>Bug Hunt: name = input('name') / print('Hello + name) — Find and fix both errors.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194560" cy="411480"/>
          </a:xfrm>
          <a:prstGeom prst="roundRect">
            <a:avLst>
              <a:gd name="adj" fmla="val 17778"/>
            </a:avLst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DAY 2 / WEEK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Day 2 — Thu, Jul 2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B4D8"/>
                </a:solidFill>
              </a:rPr>
              <a:t>Control Statements: if-else · Loops · Number Guessing Game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2560320"/>
            <a:ext cx="1097280" cy="1097280"/>
          </a:xfrm>
          <a:prstGeom prst="ellipse">
            <a:avLst/>
          </a:prstGeom>
          <a:solidFill>
            <a:srgbClr val="00B4D8">
              <a:alpha val="30000"/>
            </a:srgbClr>
          </a:solidFill>
          <a:ln/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Decision Making in Python</a:t>
            </a:r>
            <a:endParaRPr lang="en-US" sz="2800" b="1"/>
          </a:p>
        </p:txBody>
      </p:sp>
      <p:sp>
        <p:nvSpPr>
          <p:cNvPr id="4" name="Concept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7A6E"/>
                </a:solidFill>
              </a:rPr>
              <a:t>Conditional Statements (if, </a:t>
            </a:r>
            <a:r>
              <a:rPr lang="en-US" sz="1600" b="1" dirty="0" err="1">
                <a:solidFill>
                  <a:srgbClr val="1B7A6E"/>
                </a:solidFill>
              </a:rPr>
              <a:t>elif</a:t>
            </a:r>
            <a:r>
              <a:rPr lang="en-US" sz="1600" b="1" dirty="0">
                <a:solidFill>
                  <a:srgbClr val="1B7A6E"/>
                </a:solidFill>
              </a:rPr>
              <a:t>, else)</a:t>
            </a:r>
          </a:p>
          <a:p>
            <a:endParaRPr lang="en-US" sz="13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300">
                <a:solidFill>
                  <a:srgbClr val="0D1B2A"/>
                </a:solidFill>
              </a:rPr>
              <a:t>Conditional statements allow a program to make decisions and execute different blocks of code based on conditions.</a:t>
            </a:r>
            <a:endParaRPr lang="en-US"/>
          </a:p>
          <a:p>
            <a:pPr marL="0" indent="0" algn="l">
              <a:buNone/>
            </a:pPr>
            <a:endParaRPr lang="en-US" sz="700"/>
          </a:p>
          <a:p>
            <a:endParaRPr lang="en-US" sz="1500" b="1" dirty="0">
              <a:solidFill>
                <a:srgbClr val="0077B6"/>
              </a:solidFill>
            </a:endParaRPr>
          </a:p>
          <a:p>
            <a:r>
              <a:rPr lang="en-US" sz="1500" b="1">
                <a:solidFill>
                  <a:srgbClr val="0077B6"/>
                </a:solidFill>
              </a:rPr>
              <a:t>Why Use Conditions?</a:t>
            </a:r>
            <a:endParaRPr lang="en-US"/>
          </a:p>
          <a:p>
            <a:pPr marL="0" indent="0" algn="l">
              <a:buNone/>
            </a:pPr>
            <a:endParaRPr lang="en-US" sz="1300" dirty="0">
              <a:solidFill>
                <a:srgbClr val="1B7A6E"/>
              </a:solidFill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300">
                <a:solidFill>
                  <a:srgbClr val="1B7A6E"/>
                </a:solidFill>
              </a:rPr>
              <a:t>✅ </a:t>
            </a:r>
            <a:r>
              <a:rPr lang="en-US" sz="1300">
                <a:solidFill>
                  <a:srgbClr val="0D1B2A"/>
                </a:solidFill>
              </a:rPr>
              <a:t>Make decisions in programs</a:t>
            </a:r>
            <a:endParaRPr lang="en-US"/>
          </a:p>
          <a:p>
            <a:pPr marL="0" indent="0" algn="l">
              <a:buNone/>
            </a:pPr>
            <a:r>
              <a:rPr lang="en-US" sz="1300">
                <a:solidFill>
                  <a:srgbClr val="1B7A6E"/>
                </a:solidFill>
              </a:rPr>
              <a:t>✅ </a:t>
            </a:r>
            <a:r>
              <a:rPr lang="en-US" sz="1300">
                <a:solidFill>
                  <a:srgbClr val="0D1B2A"/>
                </a:solidFill>
              </a:rPr>
              <a:t>Validate user input</a:t>
            </a:r>
          </a:p>
          <a:p>
            <a:pPr marL="0" indent="0" algn="l">
              <a:buNone/>
            </a:pPr>
            <a:r>
              <a:rPr lang="en-US" sz="1300">
                <a:solidFill>
                  <a:srgbClr val="1B7A6E"/>
                </a:solidFill>
              </a:rPr>
              <a:t>✅ </a:t>
            </a:r>
            <a:r>
              <a:rPr lang="en-US" sz="1300">
                <a:solidFill>
                  <a:srgbClr val="0D1B2A"/>
                </a:solidFill>
              </a:rPr>
              <a:t>Compare values</a:t>
            </a:r>
          </a:p>
          <a:p>
            <a:pPr marL="0" indent="0" algn="l">
              <a:buNone/>
            </a:pPr>
            <a:r>
              <a:rPr lang="en-US" sz="1300">
                <a:solidFill>
                  <a:srgbClr val="1B7A6E"/>
                </a:solidFill>
              </a:rPr>
              <a:t>✅ </a:t>
            </a:r>
            <a:r>
              <a:rPr lang="en-US" sz="1300">
                <a:solidFill>
                  <a:srgbClr val="0D1B2A"/>
                </a:solidFill>
              </a:rPr>
              <a:t>Control program flow</a:t>
            </a:r>
          </a:p>
        </p:txBody>
      </p:sp>
      <p:sp>
        <p:nvSpPr>
          <p:cNvPr id="5" name="Syntax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Syntax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if condition: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statements</a:t>
            </a:r>
          </a:p>
          <a:p>
            <a:pPr marL="0" indent="0" algn="l">
              <a:buNone/>
            </a:pPr>
            <a:endParaRPr lang="en-US" sz="700"/>
          </a:p>
          <a:p>
            <a:endParaRPr lang="en-US" sz="12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200">
                <a:solidFill>
                  <a:srgbClr val="0D1B2A"/>
                </a:solidFill>
              </a:rPr>
              <a:t>The indented block runs only when the condition is True.</a:t>
            </a:r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The if Statement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350">
                <a:solidFill>
                  <a:srgbClr val="0D1B2A"/>
                </a:solidFill>
              </a:rPr>
              <a:t>The if statement executes a block of code only when the condition is True.</a:t>
            </a:r>
          </a:p>
          <a:p>
            <a:pPr marL="0" indent="0" algn="l">
              <a:buNone/>
            </a:pPr>
            <a:endParaRPr lang="en-US" sz="700"/>
          </a:p>
          <a:p>
            <a:endParaRPr lang="en-US" sz="14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age = 18</a:t>
            </a:r>
            <a:endParaRPr lang="en-US"/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if age &gt;= 18: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print("Eligible to vote")</a:t>
            </a:r>
          </a:p>
          <a:p>
            <a:pPr marL="0" indent="0" algn="l">
              <a:buNone/>
            </a:pPr>
            <a:endParaRPr lang="en-US" sz="600"/>
          </a:p>
          <a:p>
            <a:endParaRPr lang="en-US" sz="1300" b="1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  <a:endParaRPr lang="en-US"/>
          </a:p>
          <a:p>
            <a:pPr marL="0" indent="0" algn="l">
              <a:buNone/>
            </a:pPr>
            <a:r>
              <a:rPr lang="en-US" sz="1450" b="1">
                <a:solidFill>
                  <a:srgbClr val="1B7A6E"/>
                </a:solidFill>
                <a:latin typeface="Courier New"/>
                <a:cs typeface="Courier New"/>
              </a:rPr>
              <a:t>Eligible to vote</a:t>
            </a:r>
          </a:p>
        </p:txBody>
      </p:sp>
      <p:sp>
        <p:nvSpPr>
          <p:cNvPr id="5" name="Flow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Flow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300" b="1">
                <a:solidFill>
                  <a:srgbClr val="1B7A6E"/>
                </a:solidFill>
              </a:rPr>
              <a:t>Condition is True</a:t>
            </a:r>
            <a:r>
              <a:rPr lang="en-US" sz="1300">
                <a:solidFill>
                  <a:srgbClr val="0D1B2A"/>
                </a:solidFill>
              </a:rPr>
              <a:t> → Execute code</a:t>
            </a:r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300" b="1">
                <a:solidFill>
                  <a:srgbClr val="C1121F"/>
                </a:solidFill>
              </a:rPr>
              <a:t>Condition is False</a:t>
            </a:r>
            <a:r>
              <a:rPr lang="en-US" sz="1300">
                <a:solidFill>
                  <a:srgbClr val="0D1B2A"/>
                </a:solidFill>
              </a:rPr>
              <a:t> → Skip code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The if-else Statement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350">
                <a:solidFill>
                  <a:srgbClr val="0D1B2A"/>
                </a:solidFill>
              </a:rPr>
              <a:t>The else block executes when the condition is False.</a:t>
            </a:r>
          </a:p>
          <a:p>
            <a:pPr marL="0" indent="0" algn="l">
              <a:buNone/>
            </a:pPr>
            <a:endParaRPr lang="en-US" sz="700"/>
          </a:p>
          <a:p>
            <a:endParaRPr lang="en-US" sz="14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num = 7</a:t>
            </a:r>
            <a:endParaRPr lang="en-US"/>
          </a:p>
          <a:p>
            <a:pPr marL="0" indent="0" algn="l">
              <a:buNone/>
            </a:pPr>
            <a:endParaRPr lang="en-US" sz="400"/>
          </a:p>
          <a:p>
            <a:endParaRPr lang="en-US" sz="14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if num % 2 == 0:</a:t>
            </a:r>
            <a:endParaRPr lang="en-US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print("Even")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else:</a:t>
            </a:r>
          </a:p>
          <a:p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print("Odd")</a:t>
            </a:r>
          </a:p>
          <a:p>
            <a:pPr marL="0" indent="0" algn="l">
              <a:buNone/>
            </a:pPr>
            <a:endParaRPr lang="en-US" sz="6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 algn="l">
              <a:buNone/>
            </a:pPr>
            <a:endParaRPr lang="en-US" sz="1300" b="1" dirty="0">
              <a:solidFill>
                <a:srgbClr val="495057"/>
              </a:solidFill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  <a:endParaRPr lang="en-US"/>
          </a:p>
          <a:p>
            <a:pPr marL="0" indent="0" algn="l">
              <a:buNone/>
            </a:pPr>
            <a:r>
              <a:rPr lang="en-US" sz="1450" b="1">
                <a:solidFill>
                  <a:srgbClr val="1B7A6E"/>
                </a:solidFill>
                <a:latin typeface="Courier New"/>
                <a:cs typeface="Courier New"/>
              </a:rPr>
              <a:t>Odd</a:t>
            </a:r>
          </a:p>
        </p:txBody>
      </p:sp>
      <p:sp>
        <p:nvSpPr>
          <p:cNvPr id="5" name="Flow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Flow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300" b="1">
                <a:solidFill>
                  <a:srgbClr val="1B7A6E"/>
                </a:solidFill>
              </a:rPr>
              <a:t>Condition True</a:t>
            </a:r>
            <a:r>
              <a:rPr lang="en-US" sz="1300">
                <a:solidFill>
                  <a:srgbClr val="0D1B2A"/>
                </a:solidFill>
              </a:rPr>
              <a:t> → if block</a:t>
            </a:r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300" b="1">
                <a:solidFill>
                  <a:srgbClr val="C1121F"/>
                </a:solidFill>
              </a:rPr>
              <a:t>Condition False</a:t>
            </a:r>
            <a:r>
              <a:rPr lang="en-US" sz="1300">
                <a:solidFill>
                  <a:srgbClr val="0D1B2A"/>
                </a:solidFill>
              </a:rPr>
              <a:t> → else block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The if-elif-else Statement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350">
                <a:solidFill>
                  <a:srgbClr val="0D1B2A"/>
                </a:solidFill>
              </a:rPr>
              <a:t>Used when multiple conditions need to be checked.</a:t>
            </a:r>
          </a:p>
          <a:p>
            <a:pPr marL="0" indent="0" algn="l">
              <a:buNone/>
            </a:pPr>
            <a:endParaRPr lang="en-US" sz="600"/>
          </a:p>
          <a:p>
            <a:endParaRPr lang="en-US" sz="14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marks = 85</a:t>
            </a:r>
            <a:endParaRPr lang="en-US"/>
          </a:p>
          <a:p>
            <a:pPr marL="0" indent="0" algn="l">
              <a:buNone/>
            </a:pPr>
            <a:endParaRPr lang="en-US" sz="3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if marks &gt;= 90: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print("Grade A+")</a:t>
            </a:r>
          </a:p>
          <a:p>
            <a:pPr marL="0" indent="0" algn="l">
              <a:buNone/>
            </a:pPr>
            <a:r>
              <a:rPr lang="en-US" sz="1400" b="1" dirty="0" err="1">
                <a:solidFill>
                  <a:srgbClr val="0077B6"/>
                </a:solidFill>
                <a:latin typeface="Courier New"/>
                <a:cs typeface="Courier New"/>
              </a:rPr>
              <a:t>elif</a:t>
            </a:r>
            <a:r>
              <a:rPr lang="en-US" sz="1400" b="1" dirty="0">
                <a:solidFill>
                  <a:srgbClr val="0077B6"/>
                </a:solidFill>
                <a:latin typeface="Courier New"/>
                <a:cs typeface="Courier New"/>
              </a:rPr>
              <a:t> marks &gt;= 75: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print("Grade A")</a:t>
            </a:r>
          </a:p>
          <a:p>
            <a:pPr marL="0" indent="0" algn="l">
              <a:buNone/>
            </a:pPr>
            <a:r>
              <a:rPr lang="en-US" sz="1400" b="1" dirty="0" err="1">
                <a:solidFill>
                  <a:srgbClr val="0077B6"/>
                </a:solidFill>
                <a:latin typeface="Courier New"/>
                <a:cs typeface="Courier New"/>
              </a:rPr>
              <a:t>elif</a:t>
            </a:r>
            <a:r>
              <a:rPr lang="en-US" sz="1400" b="1" dirty="0">
                <a:solidFill>
                  <a:srgbClr val="0077B6"/>
                </a:solidFill>
                <a:latin typeface="Courier New"/>
                <a:cs typeface="Courier New"/>
              </a:rPr>
              <a:t> marks &gt;= 60: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print("Grade B")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else: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print("Fail")</a:t>
            </a:r>
          </a:p>
        </p:txBody>
      </p:sp>
      <p:sp>
        <p:nvSpPr>
          <p:cNvPr id="5" name="Output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Output</a:t>
            </a:r>
          </a:p>
          <a:p>
            <a:pPr marL="0" indent="0" algn="l">
              <a:buNone/>
            </a:pPr>
            <a:endParaRPr lang="en-US" sz="800"/>
          </a:p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  <a:latin typeface="Courier New"/>
                <a:cs typeface="Courier New"/>
              </a:rPr>
              <a:t>Grade A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200">
                <a:solidFill>
                  <a:srgbClr val="0D1B2A"/>
                </a:solidFill>
              </a:rPr>
              <a:t>marks = 85 fails the first test but passes marks &gt;= 75, so the second branch runs.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Nested if Statement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350">
                <a:solidFill>
                  <a:srgbClr val="0D1B2A"/>
                </a:solidFill>
              </a:rPr>
              <a:t>An if statement inside another if statement.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age = 20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citizen = True</a:t>
            </a:r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if age &gt;= 18: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if citizen: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    print("Eligible to vote")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</a:p>
          <a:p>
            <a:pPr marL="0" indent="0" algn="l">
              <a:buNone/>
            </a:pPr>
            <a:r>
              <a:rPr lang="en-US" sz="1450" b="1">
                <a:solidFill>
                  <a:srgbClr val="1B7A6E"/>
                </a:solidFill>
                <a:latin typeface="Courier New"/>
                <a:cs typeface="Courier New"/>
              </a:rPr>
              <a:t>Eligible to vote</a:t>
            </a:r>
          </a:p>
        </p:txBody>
      </p:sp>
      <p:sp>
        <p:nvSpPr>
          <p:cNvPr id="5" name="Uses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Uses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</a:rPr>
              <a:t>• </a:t>
            </a:r>
            <a:r>
              <a:rPr lang="en-US" sz="1350">
                <a:solidFill>
                  <a:srgbClr val="0D1B2A"/>
                </a:solidFill>
              </a:rPr>
              <a:t>Login systems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</a:rPr>
              <a:t>• </a:t>
            </a:r>
            <a:r>
              <a:rPr lang="en-US" sz="1350">
                <a:solidFill>
                  <a:srgbClr val="0D1B2A"/>
                </a:solidFill>
              </a:rPr>
              <a:t>Permission checks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</a:rPr>
              <a:t>• </a:t>
            </a:r>
            <a:r>
              <a:rPr lang="en-US" sz="1350">
                <a:solidFill>
                  <a:srgbClr val="0D1B2A"/>
                </a:solidFill>
              </a:rPr>
              <a:t>Multiple dependent conditions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Loops — for &amp; while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B4D8"/>
                </a:solidFill>
              </a:rPr>
              <a:t>for Loop</a:t>
            </a:r>
            <a:r>
              <a:rPr lang="en-US" sz="1500" b="1" dirty="0">
                <a:solidFill>
                  <a:srgbClr val="00B4D8"/>
                </a:solidFill>
              </a:rPr>
              <a:t>
</a:t>
            </a:r>
            <a:r>
              <a:rPr lang="en-US" sz="1300">
                <a:solidFill>
                  <a:srgbClr val="445566"/>
                </a:solidFill>
              </a:rPr>
              <a:t>Use when you know HOW MANY times</a:t>
            </a:r>
            <a:r>
              <a:rPr lang="en-US" sz="1300" dirty="0">
                <a:solidFill>
                  <a:srgbClr val="445566"/>
                </a:solidFill>
              </a:rPr>
              <a:t>
</a:t>
            </a:r>
            <a:endParaRPr lang="en-US" sz="1300">
              <a:solidFill>
                <a:srgbClr val="445566"/>
              </a:solidFill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Range of numbers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for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in range(1, 6):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print(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)   # 1 2 3 4 5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Loop over a string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ch in 'Python':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print(ch)</a:t>
            </a:r>
            <a:endParaRPr lang="en-US" sz="1400" dirty="0"/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Multiplication table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for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in range(1, 11):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print(f'5 x {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} = {5*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}')</a:t>
            </a:r>
            <a:endParaRPr lang="en-US" sz="1400" dirty="0">
              <a:latin typeface="Courier New"/>
              <a:cs typeface="Courier New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70916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B4D8"/>
                </a:solidFill>
              </a:rPr>
              <a:t>while Loop</a:t>
            </a:r>
            <a:r>
              <a:rPr lang="en-US" sz="1500" b="1" dirty="0">
                <a:solidFill>
                  <a:srgbClr val="00B4D8"/>
                </a:solidFill>
              </a:rPr>
              <a:t>
</a:t>
            </a:r>
            <a:r>
              <a:rPr lang="en-US" sz="1300">
                <a:solidFill>
                  <a:srgbClr val="445566"/>
                </a:solidFill>
              </a:rPr>
              <a:t>Use when you don't know HOW MANY times</a:t>
            </a:r>
            <a:r>
              <a:rPr lang="en-US" sz="1300" dirty="0">
                <a:solidFill>
                  <a:srgbClr val="445566"/>
                </a:solidFill>
              </a:rPr>
              <a:t>
</a:t>
            </a:r>
            <a:endParaRPr lang="en-US" sz="1300" dirty="0">
              <a:solidFill>
                <a:srgbClr val="445566"/>
              </a:solidFill>
              <a:ea typeface="Calibri"/>
              <a:cs typeface="Calibri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count = 1
while count &lt;= 5:
    print(count)
</a:t>
            </a:r>
            <a:r>
              <a:rPr lang="en-US" sz="12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count += 1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endParaRPr lang="en-US" sz="1200" dirty="0">
              <a:solidFill>
                <a:srgbClr val="0D1B2A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 dirty="0">
                <a:solidFill>
                  <a:srgbClr val="00B4D8"/>
                </a:solidFill>
              </a:rPr>
              <a:t>break &amp; continue
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for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in range(10):</a:t>
            </a:r>
            <a:endParaRPr lang="en-US" sz="140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if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== 5: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     # stop loop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if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% 2 == 0: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continue  # skip even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print(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)  # prints 1,3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⚠ Avoid infinite while loops!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always update the condition.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Day 2 Practical — Number Guessing Game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2754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Combine random module + while loop + if-elif-else to build an interactive game!</a:t>
            </a:r>
            <a:endParaRPr lang="en-US" sz="1400" dirty="0"/>
          </a:p>
        </p:txBody>
      </p:sp>
      <p:pic>
        <p:nvPicPr>
          <p:cNvPr id="5" name="Picture 4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FC1EA87F-164E-9158-2C7F-66B419B66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940" y="1191986"/>
            <a:ext cx="5055007" cy="376645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4D8"/>
                </a:solidFill>
              </a:rPr>
              <a:t>🧠 Practice Questions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Day 2 — Practice Questions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Q1.  </a:t>
            </a:r>
            <a:r>
              <a:rPr lang="en-US" sz="1500" dirty="0">
                <a:solidFill>
                  <a:srgbClr val="FFFFFF"/>
                </a:solidFill>
              </a:rPr>
              <a:t>Write an if-else program to check if a number entered by the user is positive, negative, or zero.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Q2.  </a:t>
            </a:r>
            <a:r>
              <a:rPr lang="en-US" sz="1500" dirty="0">
                <a:solidFill>
                  <a:srgbClr val="FFFFFF"/>
                </a:solidFill>
              </a:rPr>
              <a:t>Print a multiplication table for any number entered by the user (using a for loop).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Q3.  </a:t>
            </a:r>
            <a:r>
              <a:rPr lang="en-US" sz="1500" dirty="0">
                <a:solidFill>
                  <a:srgbClr val="FFFFFF"/>
                </a:solidFill>
              </a:rPr>
              <a:t>Using a while loop, keep asking the user for a number until they enter 0. Print the sum of all numbers entered.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Q4.  </a:t>
            </a:r>
            <a:r>
              <a:rPr lang="en-US" sz="1500" dirty="0">
                <a:solidFill>
                  <a:srgbClr val="FFFFFF"/>
                </a:solidFill>
              </a:rPr>
              <a:t>Write a program that prints numbers 1–20 but skips multiples of 3 (use continue).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Q5.  </a:t>
            </a:r>
            <a:r>
              <a:rPr lang="en-US" sz="1500" dirty="0">
                <a:solidFill>
                  <a:srgbClr val="FFFFFF"/>
                </a:solidFill>
              </a:rPr>
              <a:t>Modify the Number Guessing Game: add a maximum attempts limit of 7. If exceeded, print 'Game over!'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194560" cy="411480"/>
          </a:xfrm>
          <a:prstGeom prst="roundRect">
            <a:avLst>
              <a:gd name="adj" fmla="val 17778"/>
            </a:avLst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DAY 3 / WEEK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Day 3 — Fri, Jul 3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B4D8"/>
                </a:solidFill>
              </a:rPr>
              <a:t>Functions — DRY Principle · Parameters · Return Values · Built-ins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2560320"/>
            <a:ext cx="1097280" cy="1097280"/>
          </a:xfrm>
          <a:prstGeom prst="ellipse">
            <a:avLst/>
          </a:prstGeom>
          <a:solidFill>
            <a:srgbClr val="00B4D8">
              <a:alpha val="30000"/>
            </a:srgbClr>
          </a:solidFill>
          <a:ln/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Functions? — The DRY Principle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</a:rPr>
              <a:t>DRY = Don't Repeat Yourself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D1B2A"/>
                </a:solidFill>
              </a:rPr>
              <a:t>Functions let you write code ONCE and use it ANYWHERE.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74320" y="1828800"/>
            <a:ext cx="4114800" cy="3017520"/>
          </a:xfrm>
          <a:prstGeom prst="roundRect">
            <a:avLst>
              <a:gd name="adj" fmla="val 3030"/>
            </a:avLst>
          </a:prstGeom>
          <a:solidFill>
            <a:srgbClr val="FFF0F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8745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233C"/>
                </a:solidFill>
              </a:rPr>
              <a:t>❌  Without Functions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09160" y="1828800"/>
            <a:ext cx="4114800" cy="3017520"/>
          </a:xfrm>
          <a:prstGeom prst="roundRect">
            <a:avLst>
              <a:gd name="adj" fmla="val 3030"/>
            </a:avLst>
          </a:prstGeom>
          <a:solidFill>
            <a:srgbClr val="F0FFF4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00600" y="18745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D6A0"/>
                </a:solidFill>
              </a:rPr>
              <a:t>✅  With Functions</a:t>
            </a:r>
            <a:endParaRPr lang="en-US" sz="1400" dirty="0"/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3FB854B-F91E-2A21-9827-B2E8F2E8B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671" y="2296163"/>
            <a:ext cx="3907973" cy="2167703"/>
          </a:xfrm>
          <a:prstGeom prst="rect">
            <a:avLst/>
          </a:prstGeom>
        </p:spPr>
      </p:pic>
      <p:pic>
        <p:nvPicPr>
          <p:cNvPr id="13" name="Picture 12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AF6CA995-2384-7B4C-BAC1-3DFE777346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7879" y="2286000"/>
            <a:ext cx="3913415" cy="235675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Function Syntax — def, Parameters, Return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1230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Functions are defined with 'def', can accept parameters (inputs), and can return values (outputs).</a:t>
            </a:r>
            <a:endParaRPr lang="en-US" sz="1400" dirty="0"/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74246BA-6CCF-29AC-45DD-FE4A0A9B0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7674" y="1110343"/>
            <a:ext cx="3088651" cy="3967843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Useful Built-in Functions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Math &amp; Sequences
</a:t>
            </a:r>
            <a:r>
              <a:rPr lang="en-US" sz="13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len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([1,2,3])      → 3
sum([1,2,3])      → 6
max([5,2,8])      → 8
min([5,2,8])      → 2
abs(-7)           → 7
round(3.567, 2)   → 3.57
</a:t>
            </a:r>
            <a:endParaRPr lang="en-US" sz="1300" dirty="0">
              <a:solidFill>
                <a:srgbClr val="0D1B2A"/>
              </a:solidFill>
              <a:latin typeface="Courier New"/>
              <a:ea typeface="Calibri"/>
              <a:cs typeface="Courier New"/>
            </a:endParaRPr>
          </a:p>
          <a:p>
            <a:pPr marL="0" indent="0" algn="l">
              <a:buNone/>
            </a:pPr>
            <a:r>
              <a:rPr lang="en-US" sz="1500" b="1">
                <a:solidFill>
                  <a:srgbClr val="00B4D8"/>
                </a:solidFill>
              </a:rPr>
              <a:t>Range</a:t>
            </a:r>
            <a:r>
              <a:rPr lang="en-US" sz="1500" b="1" dirty="0">
                <a:solidFill>
                  <a:srgbClr val="00B4D8"/>
                </a:solidFill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range(5)      → 0,1,2,3,4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range(1,6)    → 1,2,3,4,5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range(0,10,2) → 0,2,4,6,8</a:t>
            </a:r>
            <a:endParaRPr lang="en-US" sz="1400">
              <a:latin typeface="Courier New"/>
              <a:cs typeface="Courier New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70916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Sorting &amp; Type Checks
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sorted([3,1,2])   → [1,2,3]
sorted([3,1,2], reverse=True)
type(42)     → &lt;class 'int'&gt;
</a:t>
            </a:r>
            <a:r>
              <a:rPr lang="en-US" sz="13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isinstance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(42, int) → True
</a:t>
            </a:r>
            <a:endParaRPr lang="en-US" sz="1300" dirty="0">
              <a:solidFill>
                <a:srgbClr val="0D1B2A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Common Lab Functions to Write
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def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is_even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(n):</a:t>
            </a:r>
            <a:endParaRPr lang="en-US" sz="1400" dirty="0">
              <a:latin typeface="Courier New"/>
              <a:ea typeface="Calibri" panose="020F0502020204030204"/>
              <a:cs typeface="Calibri" panose="020F0502020204030204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   return n % 2 == 0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factorial(n):</a:t>
            </a:r>
            <a:endParaRPr lang="en-US" sz="1400" dirty="0"/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 result = 1</a:t>
            </a:r>
            <a:endParaRPr lang="en-US" sz="1400" dirty="0">
              <a:latin typeface="Courier New"/>
              <a:cs typeface="Courier New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 for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in range(1, n+1):</a:t>
            </a:r>
            <a:endParaRPr lang="en-US" sz="1400" dirty="0">
              <a:latin typeface="Courier New"/>
              <a:cs typeface="Courier New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      result *=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endParaRPr lang="en-US" sz="1400" dirty="0" err="1">
              <a:latin typeface="Courier New"/>
              <a:cs typeface="Courier New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 </a:t>
            </a:r>
            <a:r>
              <a:rPr lang="en-US" sz="12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return result</a:t>
            </a:r>
            <a:endParaRPr lang="en-US" sz="1400">
              <a:latin typeface="Courier New"/>
              <a:cs typeface="Courier New"/>
            </a:endParaRPr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def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reverse_string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(s):</a:t>
            </a:r>
            <a:endParaRPr lang="en-US" sz="1400" dirty="0">
              <a:latin typeface="Courier New"/>
              <a:cs typeface="Courier New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 return s[::-1]</a:t>
            </a:r>
            <a:endParaRPr lang="en-US" sz="1400" dirty="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Day 3 Practical — Function-Based Quiz Scorer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468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Build a quiz where each question is evaluated by a function, and scores are tracked and reported at the end.</a:t>
            </a:r>
            <a:endParaRPr lang="en-US" sz="1400" dirty="0"/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B60F601-CECE-F11D-BAEC-C33B9474A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9413" y="1094014"/>
            <a:ext cx="3645175" cy="3978729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4D8"/>
                </a:solidFill>
              </a:rPr>
              <a:t>🧠 Practice Questions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Day 3 — Practice Questions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Q1.  </a:t>
            </a:r>
            <a:r>
              <a:rPr lang="en-US" sz="1500" dirty="0">
                <a:solidFill>
                  <a:srgbClr val="FFFFFF"/>
                </a:solidFill>
              </a:rPr>
              <a:t>Write a function is_prime(n) that returns True if n is a prime number, False otherwise.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Q2.  </a:t>
            </a:r>
            <a:r>
              <a:rPr lang="en-US" sz="1500" dirty="0">
                <a:solidFill>
                  <a:srgbClr val="FFFFFF"/>
                </a:solidFill>
              </a:rPr>
              <a:t>Write a function find_max(nums) that returns the largest number in a list WITHOUT using max().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Q3.  </a:t>
            </a:r>
            <a:r>
              <a:rPr lang="en-US" sz="1500" dirty="0">
                <a:solidFill>
                  <a:srgbClr val="FFFFFF"/>
                </a:solidFill>
              </a:rPr>
              <a:t>Write a function celsius_to_fahrenheit(c) and call it for 0°C, 100°C, and 37°C.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Q4.  </a:t>
            </a:r>
            <a:r>
              <a:rPr lang="en-US" sz="1500" dirty="0">
                <a:solidFill>
                  <a:srgbClr val="FFFFFF"/>
                </a:solidFill>
              </a:rPr>
              <a:t>What is the difference between return and print inside a function? Give an example of each.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Q5.  </a:t>
            </a:r>
            <a:r>
              <a:rPr lang="en-US" sz="1500" dirty="0">
                <a:solidFill>
                  <a:srgbClr val="FFFFFF"/>
                </a:solidFill>
              </a:rPr>
              <a:t>Write a function count_vowels(word) that returns the number of vowels in the given string.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Week 1 Recap — What You've Learned!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698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🐍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Python Setup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Python 3.x + VS Code installed and running. You wrote your first program!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96012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0" y="10698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📦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291840" y="1554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Variables &amp; Types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int, float, str, bool, None. Dynamic typing. type() function.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96012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10698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217920" y="1554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Input / Output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192024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print(), input(), f-strings, type conversion (int, float, str).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92608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4320" y="30358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➕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36576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Operators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5760" y="38862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Arithmetic, comparison, logical, assignment operators and precedence.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292608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200400" y="30358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🔀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329184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Control Flow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91840" y="38862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if/elif/else for decisions. for and while loops with break/continue.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26480" y="292608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126480" y="30358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21792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Functions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17920" y="38862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def, parameters, return values, default arguments, built-in functions.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B4D8"/>
                </a:solidFill>
              </a:rPr>
              <a:t>Coming Up Next ⚡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</a:rPr>
              <a:t>Week 2 — Data, Strings, Files &amp; OOP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9202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</a:rPr>
              <a:t>📋  </a:t>
            </a:r>
            <a:r>
              <a:rPr lang="en-US" sz="1400" b="1" dirty="0">
                <a:solidFill>
                  <a:srgbClr val="FFD166"/>
                </a:solidFill>
              </a:rPr>
              <a:t>Day 4 — Mon Jul 6  </a:t>
            </a:r>
            <a:r>
              <a:rPr lang="en-US" sz="1400" dirty="0">
                <a:solidFill>
                  <a:srgbClr val="90B4C5"/>
                </a:solidFill>
              </a:rPr>
              <a:t>— Lists, Tuples, Dictionaries + Student Marks Program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624328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62432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</a:rPr>
              <a:t>✂️  </a:t>
            </a:r>
            <a:r>
              <a:rPr lang="en-US" sz="1400" b="1" dirty="0">
                <a:solidFill>
                  <a:srgbClr val="FFD166"/>
                </a:solidFill>
              </a:rPr>
              <a:t>Day 5 — Tue Jul 7  </a:t>
            </a:r>
            <a:r>
              <a:rPr lang="en-US" sz="1400" dirty="0">
                <a:solidFill>
                  <a:srgbClr val="90B4C5"/>
                </a:solidFill>
              </a:rPr>
              <a:t>— String Handling: methods, patterns, palindrome checker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3328416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3328416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</a:rPr>
              <a:t>📁  </a:t>
            </a:r>
            <a:r>
              <a:rPr lang="en-US" sz="1400" b="1" dirty="0">
                <a:solidFill>
                  <a:srgbClr val="FFD166"/>
                </a:solidFill>
              </a:rPr>
              <a:t>Day 6 — Wed Jul 8  </a:t>
            </a:r>
            <a:r>
              <a:rPr lang="en-US" sz="1400" dirty="0">
                <a:solidFill>
                  <a:srgbClr val="90B4C5"/>
                </a:solidFill>
              </a:rPr>
              <a:t>— File Handling, Error Handling + Module 1 Capstone Project!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4032504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4032504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</a:rPr>
              <a:t>🏛️  </a:t>
            </a:r>
            <a:r>
              <a:rPr lang="en-US" sz="1400" b="1" dirty="0">
                <a:solidFill>
                  <a:srgbClr val="FFD166"/>
                </a:solidFill>
              </a:rPr>
              <a:t>Day 7-8 — Thu/Fri  </a:t>
            </a:r>
            <a:r>
              <a:rPr lang="en-US" sz="1400" dirty="0">
                <a:solidFill>
                  <a:srgbClr val="90B4C5"/>
                </a:solidFill>
              </a:rPr>
              <a:t>— OOP: Classes, Objects, Inheritance, Encapsulation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D6A0"/>
                </a:solidFill>
              </a:rPr>
              <a:t>🏠  Weekend Homework: Revisit all 3 days' code · Attempt bonus questions · Come with doubts!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4572000"/>
          </a:xfrm>
          <a:prstGeom prst="ellipse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914400"/>
            <a:ext cx="4114800" cy="4114800"/>
          </a:xfrm>
          <a:prstGeom prst="ellipse">
            <a:avLst/>
          </a:prstGeom>
          <a:solidFill>
            <a:srgbClr val="00B4D8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200400" y="457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🐍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Great Work Today!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0B4C5"/>
                </a:solidFill>
              </a:rPr>
              <a:t>You've taken your first step into the world of Python 🚀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29260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D8"/>
                </a:solidFill>
              </a:rPr>
              <a:t>Exit Ticket — Before you leave, write: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371600" y="3383280"/>
            <a:ext cx="6400800" cy="109728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429000"/>
            <a:ext cx="6217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FFFFFF"/>
                </a:solidFill>
              </a:rPr>
              <a:t>"Today I learned ___ and my one doubt is ___"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4663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6677"/>
                </a:solidFill>
              </a:rPr>
              <a:t>2b Academy  ·  Python Bootcamp  ·  July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24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 Academy — Week 1: Python Fundamentals</dc:title>
  <dc:subject>PptxGenJS Presentation</dc:subject>
  <dc:creator>PptxGenJS</dc:creator>
  <cp:lastModifiedBy>PptxGenJS</cp:lastModifiedBy>
  <cp:revision>277</cp:revision>
  <dcterms:created xsi:type="dcterms:W3CDTF">2026-06-25T06:46:46Z</dcterms:created>
  <dcterms:modified xsi:type="dcterms:W3CDTF">2026-06-27T15:51:04Z</dcterms:modified>
</cp:coreProperties>
</file>