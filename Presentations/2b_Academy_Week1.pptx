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399CDE-187F-331F-861F-825601A93677}" v="53" dt="2026-06-26T07:10:40.749"/>
    <p1510:client id="{2D546507-AE35-4FD0-9134-6647992AA4A5}" v="162" dt="2026-06-25T07:24:02.8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9649CE-33BC-42C5-BC4D-3398AA877E63}" type="datetimeFigureOut">
              <a:t>6/26/2026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DFFD18-7037-477F-B7D6-B8BC51CFD3E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058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everyone! Introduce yourself and the bootcamp. This is Day 1 of a 22-day journey. The energy you set today defines the whole batch.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an overview of the full bootcamp. Tell students what they'll build by the end — a Flask website, data visualizations, and an AI-integrated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daily structure. Tell students they will NOT just watch — they code every day. Exit ticket is important; read them before the next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Who has heard of Python? Who has tried coding before? Use Netflix, Instagram, YouTube as examples of Python-powered products.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this live on the projector. Watch the room — help anyone who gets stuck. Don't move on until everyone has python --version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A function is like a recipe. You write it once, then cook it (call it) whenever you want. You don't rewrite the recipe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End-of-week recap! Ask students to write their 'today I learned' exit ticket. Read these before Week 2 starts to identify who needs extra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the week on a high note! Tell them what they'll BUILD by end of Week 2 — a student records system saved to a file with OOP. It sounds impressive now!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 the exit tickets physically or ask them to type in a shared doc. Review them tonight and plan any re-teaching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457200"/>
            <a:ext cx="4572000" cy="45720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2560320"/>
            <a:ext cx="2743200" cy="2743200"/>
          </a:xfrm>
          <a:prstGeom prst="ellipse">
            <a:avLst/>
          </a:prstGeom>
          <a:solidFill>
            <a:srgbClr val="00B4D8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kern="0" spc="600" dirty="0">
                <a:solidFill>
                  <a:srgbClr val="00B4D8"/>
                </a:solidFill>
              </a:rPr>
              <a:t>2b ACADEMY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914400"/>
            <a:ext cx="6858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Python Bootcamp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90B4C5"/>
                </a:solidFill>
              </a:rPr>
              <a:t>Week 1 — Python Fundamentals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0B4D8"/>
                </a:solidFill>
              </a:rPr>
              <a:t>Jul 1 – Jul 3, 2026  |  Days 1-3  |  9 Hours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657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🐍  Python 3.x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17520" y="3657600"/>
            <a:ext cx="22860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36576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💻  VS Code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0" y="365760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00B4D8">
              <a:alpha val="3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0" y="3657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🚀  Beginner Friendly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About This Bootcamp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22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Training Days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66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51460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Contact Hours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3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66344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Hours / Day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12280" y="1005840"/>
            <a:ext cx="1920240" cy="1645920"/>
          </a:xfrm>
          <a:prstGeom prst="roundRect">
            <a:avLst>
              <a:gd name="adj" fmla="val 6667"/>
            </a:avLst>
          </a:prstGeom>
          <a:solidFill>
            <a:srgbClr val="0D1B2A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12280" y="10972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00B4D8"/>
                </a:solidFill>
              </a:rPr>
              <a:t>5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812280" y="19202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0B4C5"/>
                </a:solidFill>
              </a:rPr>
              <a:t>Modules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" y="2926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📅  </a:t>
            </a:r>
            <a:r>
              <a:rPr lang="en-US" sz="1400" b="1" dirty="0">
                <a:solidFill>
                  <a:srgbClr val="0D1B2A"/>
                </a:solidFill>
              </a:rPr>
              <a:t>Batch Dates:  </a:t>
            </a:r>
            <a:r>
              <a:rPr lang="en-US" sz="1400" dirty="0">
                <a:solidFill>
                  <a:srgbClr val="445566"/>
                </a:solidFill>
              </a:rPr>
              <a:t>July 1 – July 31, 2026 (Mon–Fri)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" y="3447288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🛠️  </a:t>
            </a:r>
            <a:r>
              <a:rPr lang="en-US" sz="1400" b="1" dirty="0">
                <a:solidFill>
                  <a:srgbClr val="0D1B2A"/>
                </a:solidFill>
              </a:rPr>
              <a:t>Tools:  </a:t>
            </a:r>
            <a:r>
              <a:rPr lang="en-US" sz="1400" dirty="0">
                <a:solidFill>
                  <a:srgbClr val="445566"/>
                </a:solidFill>
              </a:rPr>
              <a:t>Python 3.x · VS Code · Flask · NumPy · Pandas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3968496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🎯  </a:t>
            </a:r>
            <a:r>
              <a:rPr lang="en-US" sz="1400" b="1" dirty="0">
                <a:solidFill>
                  <a:srgbClr val="0D1B2A"/>
                </a:solidFill>
              </a:rPr>
              <a:t>Goal:  </a:t>
            </a:r>
            <a:r>
              <a:rPr lang="en-US" sz="1400" dirty="0">
                <a:solidFill>
                  <a:srgbClr val="445566"/>
                </a:solidFill>
              </a:rPr>
              <a:t>From zero Python to Full Stack + AI Basics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" y="4489704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00000"/>
                </a:solidFill>
              </a:rPr>
              <a:t>🏆  </a:t>
            </a:r>
            <a:r>
              <a:rPr lang="en-US" sz="1400" b="1" dirty="0">
                <a:solidFill>
                  <a:srgbClr val="0D1B2A"/>
                </a:solidFill>
              </a:rPr>
              <a:t>Capstones:  </a:t>
            </a:r>
            <a:r>
              <a:rPr lang="en-US" sz="1400" dirty="0">
                <a:solidFill>
                  <a:srgbClr val="445566"/>
                </a:solidFill>
              </a:rPr>
              <a:t>5 graded projects + Final Demo Day (Jul 30)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How Every Day Works — The 3-Hour Rhythm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606040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325880"/>
            <a:ext cx="2606040" cy="27432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LEARN 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Concept + Analogy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Live coding demo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Code-along with you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46120" y="960120"/>
            <a:ext cx="2606040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F77F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06040" cy="274320"/>
          </a:xfrm>
          <a:prstGeom prst="rect">
            <a:avLst/>
          </a:prstGeom>
          <a:solidFill>
            <a:srgbClr val="F77F00"/>
          </a:solidFill>
          <a:ln/>
        </p:spPr>
      </p:sp>
      <p:sp>
        <p:nvSpPr>
          <p:cNvPr id="13" name="Text 11"/>
          <p:cNvSpPr/>
          <p:nvPr/>
        </p:nvSpPr>
        <p:spPr>
          <a:xfrm>
            <a:off x="324612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4612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DO 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Independent lab problems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Pair programming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2 students present solutions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960120"/>
            <a:ext cx="2578826" cy="3529149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960120"/>
            <a:ext cx="2606040" cy="640080"/>
          </a:xfrm>
          <a:prstGeom prst="roundRect">
            <a:avLst>
              <a:gd name="adj" fmla="val 17143"/>
            </a:avLst>
          </a:prstGeom>
          <a:solidFill>
            <a:srgbClr val="06D6A0"/>
          </a:solidFill>
          <a:ln/>
        </p:spPr>
      </p:sp>
      <p:sp>
        <p:nvSpPr>
          <p:cNvPr id="18" name="Shape 16"/>
          <p:cNvSpPr/>
          <p:nvPr/>
        </p:nvSpPr>
        <p:spPr>
          <a:xfrm>
            <a:off x="6126480" y="1325880"/>
            <a:ext cx="2606040" cy="274320"/>
          </a:xfrm>
          <a:prstGeom prst="rect">
            <a:avLst/>
          </a:prstGeom>
          <a:solidFill>
            <a:srgbClr val="06D6A0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9601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D1B2A"/>
                </a:solidFill>
              </a:rPr>
              <a:t>Hour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126187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D1B2A"/>
                </a:solidFill>
              </a:rPr>
              <a:t>USE IT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17920" y="1691640"/>
            <a:ext cx="2423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Mini-project / practical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Peer code review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334455"/>
                </a:solidFill>
              </a:rPr>
              <a:t>Exit ticket + tomorrow preview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4572000"/>
            <a:ext cx="8412480" cy="384048"/>
          </a:xfrm>
          <a:prstGeom prst="roundRect">
            <a:avLst>
              <a:gd name="adj" fmla="val 19048"/>
            </a:avLst>
          </a:prstGeom>
          <a:solidFill>
            <a:srgbClr val="FFD166">
              <a:alpha val="4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572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⚡ Engagement: Daily quiz · Bug hunts · Pair programming · Rotating presenters · Exit tickets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Week 1 At-a-Glance — What We Cover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058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51560" y="1005840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88720" y="100584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1  (Wed Jul 1)  — Python Setup, Variables, Data Types, Operators, I/O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1719072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17190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51560" y="1719072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188720" y="1719072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2  (Thu Jul 2)  — Control Statements: if-else, Loops + Number Guessing Game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" y="2432304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4323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51560" y="2432304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188720" y="2432304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Day 3  (Fri Jul 3)  — Functions, DRY Principle, Built-ins + Quiz Scorer Project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3145536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14553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51560" y="3145536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188720" y="3145536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Weekend —  Practice! Revisit all 3 days' code, attempt bonus exercises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65760" y="3858768"/>
            <a:ext cx="548640" cy="502920"/>
          </a:xfrm>
          <a:prstGeom prst="roundRect">
            <a:avLst>
              <a:gd name="adj" fmla="val 10909"/>
            </a:avLst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365760" y="38587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D1B2A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51560" y="3858768"/>
            <a:ext cx="76809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188720" y="3858768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Coming up Week 2 → Data Structures, Strings, File Handling, OOP Basics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1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1 — Wed, Jul 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Orientation + Python Basics: Setup · Variables · I/O · Operators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is Python?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0D1B2A"/>
                </a:solidFill>
              </a:rPr>
              <a:t>Python is an interpreted, high-level, beginner-friendly programming language — readable, powerful, and used everywhere.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🌐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7432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Web Dev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Django · Flask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Powerful backends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🤖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01168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AI / ML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1168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TensorFlow · scikit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What we'll build!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4904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74904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Data Science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74904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Pandas · NumPy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Analyse anything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⚙️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548640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Automation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Scripts · bots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Save hours of work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645920"/>
            <a:ext cx="1600200" cy="32004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23760" y="173736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🎮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7223760" y="2423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Game Dev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23760" y="2834640"/>
            <a:ext cx="16002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PyGame · Arcade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45566"/>
                </a:solidFill>
              </a:rPr>
              <a:t>For fun projects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Environment Setup (Do This Together!)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60120" y="960120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9601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Download Python 3.x  </a:t>
            </a:r>
            <a:r>
              <a:rPr lang="en-US" sz="1300" dirty="0">
                <a:solidFill>
                  <a:srgbClr val="445566"/>
                </a:solidFill>
              </a:rPr>
              <a:t>— Go to python.org → Downloads → Install with 'Add to PATH' checked 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1801368"/>
            <a:ext cx="502920" cy="502920"/>
          </a:xfrm>
          <a:prstGeom prst="ellipse">
            <a:avLst/>
          </a:prstGeom>
          <a:solidFill>
            <a:srgbClr val="F77F00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1801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60120" y="1755648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97280" y="1755648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Verify Installation  </a:t>
            </a:r>
            <a:r>
              <a:rPr lang="en-US" sz="1300" dirty="0">
                <a:solidFill>
                  <a:srgbClr val="445566"/>
                </a:solidFill>
              </a:rPr>
              <a:t>— Open terminal/cmd → type:  python --version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445566"/>
                </a:solidFill>
              </a:rPr>
              <a:t>You should see: Python 3.x.x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596896"/>
            <a:ext cx="502920" cy="502920"/>
          </a:xfrm>
          <a:prstGeom prst="ellipse">
            <a:avLst/>
          </a:prstGeom>
          <a:solidFill>
            <a:srgbClr val="06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25968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60120" y="2551176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97280" y="2551176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Install VS Code  </a:t>
            </a:r>
            <a:r>
              <a:rPr lang="en-US" sz="1300" dirty="0">
                <a:solidFill>
                  <a:srgbClr val="445566"/>
                </a:solidFill>
              </a:rPr>
              <a:t>— Go to code.visualstudio.com → Download → Install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392424"/>
            <a:ext cx="502920" cy="50292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60120" y="3346704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1097280" y="3346704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Python Extension  </a:t>
            </a:r>
            <a:r>
              <a:rPr lang="en-US" sz="1300" dirty="0">
                <a:solidFill>
                  <a:srgbClr val="445566"/>
                </a:solidFill>
              </a:rPr>
              <a:t>— Open VS Code → Extensions (Ctrl+Shift+X) → Search 'Python' → Install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74320" y="4187952"/>
            <a:ext cx="502920" cy="50292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27432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60120" y="4142232"/>
            <a:ext cx="777240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97280" y="4142232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First Program!  </a:t>
            </a:r>
            <a:r>
              <a:rPr lang="en-US" sz="1300" dirty="0">
                <a:solidFill>
                  <a:srgbClr val="445566"/>
                </a:solidFill>
              </a:rPr>
              <a:t>— Create hello.py → type print("Hello, World!") → Run ▶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Variables &amp; Data Types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B4D8"/>
                </a:solidFill>
              </a:rPr>
              <a:t>Variables</a:t>
            </a:r>
            <a:endParaRPr lang="en-US" sz="1600" b="1">
              <a:solidFill>
                <a:srgbClr val="00B4D8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400">
                <a:solidFill>
                  <a:srgbClr val="0D1B2A"/>
                </a:solidFill>
              </a:rPr>
              <a:t>A variable is a named box that stores a value.</a:t>
            </a:r>
            <a:endParaRPr lang="en-US" sz="1400">
              <a:solidFill>
                <a:srgbClr val="0D1B2A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Rules: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</a:rPr>
              <a:t>• Start with letter or _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</a:rPr>
              <a:t>• Case sensitive (name ≠ Name)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</a:rPr>
              <a:t>• No spaces (</a:t>
            </a:r>
            <a:r>
              <a:rPr lang="en-US" sz="1300" dirty="0" err="1">
                <a:solidFill>
                  <a:srgbClr val="0D1B2A"/>
                </a:solidFill>
              </a:rPr>
              <a:t>use_underscore</a:t>
            </a:r>
            <a:r>
              <a:rPr lang="en-US" sz="1300" dirty="0">
                <a:solidFill>
                  <a:srgbClr val="0D1B2A"/>
                </a:solidFill>
              </a:rPr>
              <a:t>)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</a:rPr>
              <a:t>• No reserved keywords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7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10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07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= 'Alice'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 err="1">
                <a:solidFill>
                  <a:srgbClr val="0077B6"/>
                </a:solidFill>
                <a:latin typeface="Courier New"/>
                <a:ea typeface="Courier New" pitchFamily="34" charset="-122"/>
                <a:cs typeface="Courier New"/>
              </a:rPr>
              <a:t>is_student</a:t>
            </a:r>
            <a:r>
              <a:rPr lang="en-US" sz="1300" dirty="0">
                <a:solidFill>
                  <a:srgbClr val="0077B6"/>
                </a:solidFill>
                <a:latin typeface="Courier New"/>
                <a:ea typeface="Courier New" pitchFamily="34" charset="-122"/>
                <a:cs typeface="Courier New"/>
              </a:rPr>
              <a:t> = True</a:t>
            </a:r>
            <a:endParaRPr lang="en-US" sz="1400" dirty="0">
              <a:latin typeface="Courier New"/>
              <a:cs typeface="Courier New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600" b="1">
                <a:solidFill>
                  <a:srgbClr val="00B4D8"/>
                </a:solidFill>
              </a:rPr>
              <a:t>Core Data Types</a:t>
            </a:r>
            <a:endParaRPr lang="en-US" sz="1600" b="1">
              <a:solidFill>
                <a:srgbClr val="00B4D8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int    → 10, -5, 0
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float  → 3.14, -0.5
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str    → "Hello"
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bool   → True / False
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None   → no value
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</a:rPr>
              <a:t>Check the type: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type(10)      → &lt;class 'int'&gt;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type('Hi')   → &lt;class 'str'&gt;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Input, Output &amp; f-Strings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Python communicates with the user through print() for output and input() for input. f-strings make formatting easy.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00B4D8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</a:rPr>
              <a:t>💡 input() always gives a STRING — use int() or float() to convert numbers!</a:t>
            </a:r>
            <a:endParaRPr lang="en-US" sz="1200" dirty="0"/>
          </a:p>
        </p:txBody>
      </p:sp>
      <p:pic>
        <p:nvPicPr>
          <p:cNvPr id="9" name="Picture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694AEBE-0AD8-259F-390F-705236483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1274" y="1404256"/>
            <a:ext cx="3961451" cy="30425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Operators in Python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Arithmetic Operators
</a:t>
            </a:r>
            <a:endParaRPr lang="en-US" sz="1400" dirty="0"/>
          </a:p>
          <a:p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+    Addition         5+3 = 8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-    Subtraction      5-3 = 2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*    Multiplication   5*3 = 15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/    Division         7/2 = 3.5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//   Floor Div        7//2 = 3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%    Modulo           7%2 = 1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**   Power            2**3 = 8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400">
              <a:latin typeface="Courier New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Comparison Operators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  !=  &gt;  &lt;  &gt;=  &lt;=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Logical Operators
</a:t>
            </a:r>
            <a:endParaRPr lang="en-US" sz="1400" dirty="0"/>
          </a:p>
          <a:p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and  →  both must be True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or   →  at least one True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not  →  flips True/False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</a:p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Assignment Operators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= 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+= 3   # x = x + 3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-= 2   # x = x - 2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x *= 4   # x = x * 4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300" dirty="0">
              <a:solidFill>
                <a:srgbClr val="0D1B2A"/>
              </a:solidFill>
              <a:latin typeface="Courier New"/>
              <a:ea typeface="Calibri"/>
              <a:cs typeface="Courier New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Type Conversion
</a:t>
            </a:r>
            <a:endParaRPr lang="en-US" sz="14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int('5') · float('3.2') · str(10)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1 Practical — Calculator Program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Mini project: Build a calculator that takes two numbers and an operator as input, performs the operation, and prints the result.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45262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00B4D8">
              <a:alpha val="2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7B6"/>
                </a:solidFill>
              </a:rPr>
              <a:t>💡 Tomorrow we use if-else to make the calculator handle ALL operators automatically!</a:t>
            </a:r>
            <a:endParaRPr lang="en-US" sz="1200" dirty="0"/>
          </a:p>
        </p:txBody>
      </p:sp>
      <p:pic>
        <p:nvPicPr>
          <p:cNvPr id="10" name="Picture 9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2F31C65E-97FE-DE11-B02B-9433220997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8005" y="1496785"/>
            <a:ext cx="4253433" cy="292281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1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 program that asks for your name and age, then prints: 'Hello [name], you will turn [age+1] next year!'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What is the output of: print(type(3.14))  and  print(type(True))?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What does 17 % 5 evaluate to? What real-world use case does the % operator have?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Convert the string '42' to an integer and multiply it by 3. Print the result.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Bug Hunt: name = input('name') / print('Hello + name) — Find and fix both errors.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2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2 — Thu, Jul 2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Control Statements: if-else · Loops · Number Guessing Game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Control Flow — if / elif / else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Syntax
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if condition:
    # run this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elif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other_condition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:
    # or this
else:
    # fallback
</a:t>
            </a:r>
            <a:r>
              <a:rPr lang="en-US" sz="1400" b="1" dirty="0">
                <a:solidFill>
                  <a:srgbClr val="00B4D8"/>
                </a:solidFill>
              </a:rPr>
              <a:t>Example: Grade Check
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marks = int(input('Marks: '))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marks &gt;= 90: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print('A grade')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elif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marks &gt;= 75: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print('B grade')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elif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marks &gt;= 60: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print('C grade')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print('Fail')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Key Rules
</a:t>
            </a:r>
            <a:r>
              <a:rPr lang="en-US" sz="1300" dirty="0">
                <a:solidFill>
                  <a:srgbClr val="0D1B2A"/>
                </a:solidFill>
              </a:rPr>
              <a:t>• Python uses INDENTATION (4 spaces)
  — not curly braces { }
• Conditions use == not =
  (= assigns, == compares)
• </a:t>
            </a:r>
            <a:r>
              <a:rPr lang="en-US" sz="1300" dirty="0" err="1">
                <a:solidFill>
                  <a:srgbClr val="0D1B2A"/>
                </a:solidFill>
              </a:rPr>
              <a:t>elif</a:t>
            </a:r>
            <a:r>
              <a:rPr lang="en-US" sz="1300" dirty="0">
                <a:solidFill>
                  <a:srgbClr val="0D1B2A"/>
                </a:solidFill>
              </a:rPr>
              <a:t> = 'else if' (saves nesting)
• else is optional
</a:t>
            </a:r>
            <a:r>
              <a:rPr lang="en-US" sz="1500" b="1" dirty="0">
                <a:solidFill>
                  <a:srgbClr val="00B4D8"/>
                </a:solidFill>
              </a:rPr>
              <a:t>Nested Conditions
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age = 20</a:t>
            </a:r>
            <a:endParaRPr lang="en-US" sz="1400" dirty="0">
              <a:latin typeface="Courier New"/>
              <a:ea typeface="Calibri" panose="020F0502020204030204"/>
              <a:cs typeface="Calibri" panose="020F0502020204030204"/>
            </a:endParaRPr>
          </a:p>
          <a:p>
            <a:pPr marL="0" indent="0" algn="l">
              <a:buNone/>
            </a:pP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has_id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= True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age &gt;= 18: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if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has_id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print('Entry OK')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print('Show ID')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else: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print('Under 18')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Loops — for &amp; while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for Loop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445566"/>
                </a:solidFill>
              </a:rPr>
              <a:t>Use when you know HOW MANY times</a:t>
            </a:r>
            <a:r>
              <a:rPr lang="en-US" sz="1300" dirty="0">
                <a:solidFill>
                  <a:srgbClr val="445566"/>
                </a:solidFill>
              </a:rPr>
              <a:t>
</a:t>
            </a:r>
            <a:endParaRPr lang="en-US" sz="1300">
              <a:solidFill>
                <a:srgbClr val="445566"/>
              </a:solidFill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Range of numbers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range(1, 6):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print(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)   # 1 2 3 4 5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Loop over a string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ch in 'Python':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print(ch)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Multiplication table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range(1, 11):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print(f'5 x {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} = {5*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}')</a:t>
            </a:r>
            <a:endParaRPr lang="en-US" sz="1400" dirty="0">
              <a:latin typeface="Courier New"/>
              <a:cs typeface="Courier New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while Loop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445566"/>
                </a:solidFill>
              </a:rPr>
              <a:t>Use when you don't know HOW MANY times</a:t>
            </a:r>
            <a:r>
              <a:rPr lang="en-US" sz="1300" dirty="0">
                <a:solidFill>
                  <a:srgbClr val="445566"/>
                </a:solidFill>
              </a:rPr>
              <a:t>
</a:t>
            </a:r>
            <a:endParaRPr lang="en-US" sz="1300" dirty="0">
              <a:solidFill>
                <a:srgbClr val="445566"/>
              </a:solidFill>
              <a:ea typeface="Calibri"/>
              <a:cs typeface="Calibri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count = 1
while count &lt;= 5:
    print(count)
</a:t>
            </a:r>
            <a:r>
              <a:rPr lang="en-US" sz="12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count += 1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endParaRPr lang="en-US" sz="1200" dirty="0">
              <a:solidFill>
                <a:srgbClr val="0D1B2A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400" b="1" dirty="0">
                <a:solidFill>
                  <a:srgbClr val="00B4D8"/>
                </a:solidFill>
              </a:rPr>
              <a:t>break &amp; continue
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range(10):</a:t>
            </a:r>
            <a:endParaRPr lang="en-US" sz="140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if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== 5: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     # stop loop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if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% 2 == 0: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  # skip even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print(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)  # prints 1,3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 Avoid infinite while loops!</a:t>
            </a: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update the condition.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2 Practical — Number Guessing Game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2754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Combine random module + while loop + if-elif-else to build an interactive game!</a:t>
            </a:r>
            <a:endParaRPr lang="en-US" sz="1400" dirty="0"/>
          </a:p>
        </p:txBody>
      </p:sp>
      <p:pic>
        <p:nvPicPr>
          <p:cNvPr id="5" name="Picture 4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FC1EA87F-164E-9158-2C7F-66B419B66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940" y="1191986"/>
            <a:ext cx="5055007" cy="376645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2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an if-else program to check if a number entered by the user is positive, negative, or zero.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Print a multiplication table for any number entered by the user (using a for loop).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Using a while loop, keep asking the user for a number until they enter 0. Print the sum of all numbers entered.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Write a program that prints numbers 1–20 but skips multiples of 3 (use continue).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Modify the Number Guessing Game: add a maximum attempts limit of 7. If exceeded, print 'Game over!'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2194560" cy="411480"/>
          </a:xfrm>
          <a:prstGeom prst="roundRect">
            <a:avLst>
              <a:gd name="adj" fmla="val 17778"/>
            </a:avLst>
          </a:prstGeom>
          <a:solidFill>
            <a:srgbClr val="00B4D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DAY 3 / WEEK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Day 3 — Fri, Jul 3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00B4D8"/>
                </a:solidFill>
              </a:rPr>
              <a:t>Functions — DRY Principle · Parameters · Return Values · Built-ins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0" y="3200400"/>
            <a:ext cx="2286000" cy="22860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046720" y="2560320"/>
            <a:ext cx="1097280" cy="1097280"/>
          </a:xfrm>
          <a:prstGeom prst="ellipse">
            <a:avLst/>
          </a:prstGeom>
          <a:solidFill>
            <a:srgbClr val="00B4D8">
              <a:alpha val="30000"/>
            </a:srgbClr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Functions? — The DRY Principle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B4D8"/>
                </a:solidFill>
              </a:rPr>
              <a:t>DRY = Don't Repeat Yourself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D1B2A"/>
                </a:solidFill>
              </a:rPr>
              <a:t>Functions let you write code ONCE and use it ANYWHERE.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74320" y="1828800"/>
            <a:ext cx="4114800" cy="3017520"/>
          </a:xfrm>
          <a:prstGeom prst="roundRect">
            <a:avLst>
              <a:gd name="adj" fmla="val 3030"/>
            </a:avLst>
          </a:prstGeom>
          <a:solidFill>
            <a:srgbClr val="FFF0F0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233C"/>
                </a:solidFill>
              </a:rPr>
              <a:t>❌  Without Functions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709160" y="1828800"/>
            <a:ext cx="4114800" cy="3017520"/>
          </a:xfrm>
          <a:prstGeom prst="roundRect">
            <a:avLst>
              <a:gd name="adj" fmla="val 3030"/>
            </a:avLst>
          </a:prstGeom>
          <a:solidFill>
            <a:srgbClr val="F0FFF4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874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D6A0"/>
                </a:solidFill>
              </a:rPr>
              <a:t>✅  With Functions</a:t>
            </a:r>
            <a:endParaRPr lang="en-US" sz="1400" dirty="0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FB854B-F91E-2A21-9827-B2E8F2E8B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71" y="2284116"/>
            <a:ext cx="3907973" cy="2191797"/>
          </a:xfrm>
          <a:prstGeom prst="rect">
            <a:avLst/>
          </a:prstGeom>
        </p:spPr>
      </p:pic>
      <p:pic>
        <p:nvPicPr>
          <p:cNvPr id="13" name="Picture 12" descr="A computer screen shot of a code&#10;&#10;AI-generated content may be incorrect.">
            <a:extLst>
              <a:ext uri="{FF2B5EF4-FFF2-40B4-BE49-F238E27FC236}">
                <a16:creationId xmlns:a16="http://schemas.microsoft.com/office/drawing/2014/main" id="{AF6CA995-2384-7B4C-BAC1-3DFE777346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7879" y="2286000"/>
            <a:ext cx="3913415" cy="235675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Function Syntax — def, Parameters, Return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1230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Functions are defined with 'def', can accept parameters (inputs), and can return values (outputs).</a:t>
            </a:r>
            <a:endParaRPr lang="en-US" sz="1400" dirty="0"/>
          </a:p>
        </p:txBody>
      </p:sp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74246BA-6CCF-29AC-45DD-FE4A0A9B07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7674" y="1110343"/>
            <a:ext cx="3088651" cy="39678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Useful Built-in Functions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Math &amp; Sequences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len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([1,2,3])      → 3
sum([1,2,3])      → 6
max([5,2,8])      → 8
min([5,2,8])      → 2
abs(-7)           → 7
round(3.567, 2)   → 3.57
</a:t>
            </a:r>
            <a:endParaRPr lang="en-US" sz="1300" dirty="0">
              <a:solidFill>
                <a:srgbClr val="0D1B2A"/>
              </a:solidFill>
              <a:latin typeface="Courier New"/>
              <a:ea typeface="Calibri"/>
              <a:cs typeface="Courier New"/>
            </a:endParaRPr>
          </a:p>
          <a:p>
            <a:pPr marL="0" indent="0" algn="l">
              <a:buNone/>
            </a:pPr>
            <a:r>
              <a:rPr lang="en-US" sz="1500" b="1">
                <a:solidFill>
                  <a:srgbClr val="00B4D8"/>
                </a:solidFill>
              </a:rPr>
              <a:t>Range</a:t>
            </a:r>
            <a:r>
              <a:rPr lang="en-US" sz="1500" b="1" dirty="0">
                <a:solidFill>
                  <a:srgbClr val="00B4D8"/>
                </a:solidFill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range(5)      → 0,1,2,3,4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range(1,6)    → 1,2,3,4,5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
</a:t>
            </a:r>
            <a:r>
              <a:rPr lang="en-US" sz="13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range(0,10,2) → 0,2,4,6,8</a:t>
            </a:r>
            <a:endParaRPr lang="en-US" sz="1400">
              <a:latin typeface="Courier New"/>
              <a:cs typeface="Courier New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709160" y="1005840"/>
            <a:ext cx="4114800" cy="3840480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143000"/>
            <a:ext cx="3840480" cy="3657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Sorting &amp; Type Checks
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sorted([3,1,2])   → [1,2,3]
sorted([3,1,2], reverse=True)
type(42)     → &lt;class 'int'&gt;
</a:t>
            </a:r>
            <a:r>
              <a:rPr lang="en-US" sz="13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isinstance</a:t>
            </a:r>
            <a:r>
              <a:rPr lang="en-US" sz="13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(42, int) → True
</a:t>
            </a:r>
            <a:endParaRPr lang="en-US" sz="1300" dirty="0">
              <a:solidFill>
                <a:srgbClr val="0D1B2A"/>
              </a:solidFill>
              <a:latin typeface="Courier New"/>
              <a:cs typeface="Courier New"/>
            </a:endParaRPr>
          </a:p>
          <a:p>
            <a:pPr marL="0" indent="0" algn="l">
              <a:buNone/>
            </a:pPr>
            <a:r>
              <a:rPr lang="en-US" sz="1500" b="1" dirty="0">
                <a:solidFill>
                  <a:srgbClr val="00B4D8"/>
                </a:solidFill>
              </a:rPr>
              <a:t>Common Lab Functions to Write
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def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is_even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(n):</a:t>
            </a:r>
            <a:endParaRPr lang="en-US" sz="1400" dirty="0">
              <a:latin typeface="Courier New"/>
              <a:ea typeface="Calibri" panose="020F0502020204030204"/>
              <a:cs typeface="Calibri" panose="020F0502020204030204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   return n % 2 == 0</a:t>
            </a:r>
            <a:endParaRPr lang="en-US" sz="1400" dirty="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factorial(n):</a:t>
            </a:r>
            <a:endParaRPr lang="en-US" sz="1400" dirty="0"/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 result = 1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 for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in range(1, n+1):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      result *=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i</a:t>
            </a:r>
            <a:endParaRPr lang="en-US" sz="1400" dirty="0" err="1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</a:t>
            </a:r>
            <a:r>
              <a:rPr lang="en-US" sz="120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return result</a:t>
            </a:r>
            <a:endParaRPr lang="en-US" sz="1400">
              <a:latin typeface="Courier New"/>
              <a:cs typeface="Courier New"/>
            </a:endParaRPr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def </a:t>
            </a:r>
            <a:r>
              <a:rPr lang="en-US" sz="1200" dirty="0" err="1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reverse_string</a:t>
            </a:r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(s):</a:t>
            </a:r>
            <a:endParaRPr lang="en-US" sz="1400" dirty="0">
              <a:latin typeface="Courier New"/>
              <a:cs typeface="Courier New"/>
            </a:endParaRPr>
          </a:p>
          <a:p>
            <a:r>
              <a:rPr lang="en-US" sz="1200" dirty="0">
                <a:solidFill>
                  <a:srgbClr val="0D1B2A"/>
                </a:solidFill>
                <a:latin typeface="Courier New"/>
                <a:ea typeface="Courier New" pitchFamily="34" charset="-122"/>
                <a:cs typeface="Courier New"/>
              </a:rPr>
              <a:t>     return s[::-1]</a:t>
            </a:r>
            <a:endParaRPr lang="en-US" sz="1400" dirty="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Day 3 Practical — Function-Based Quiz Scorer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8412480" cy="4680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0D1B2A"/>
                </a:solidFill>
              </a:rPr>
              <a:t>Build a quiz where each question is evaluated by a function, and scores are tracked and reported at the end.</a:t>
            </a:r>
            <a:endParaRPr lang="en-US" sz="1400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B60F601-CECE-F11D-BAEC-C33B9474A8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9413" y="1094014"/>
            <a:ext cx="3645175" cy="397872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0B4D8"/>
                </a:solidFill>
              </a:rPr>
              <a:t>🧠 Practice Questions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</a:rPr>
              <a:t>Day 3 — Practice Questions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Q1.  </a:t>
            </a:r>
            <a:r>
              <a:rPr lang="en-US" sz="1500" dirty="0">
                <a:solidFill>
                  <a:srgbClr val="FFFFFF"/>
                </a:solidFill>
              </a:rPr>
              <a:t>Write a function is_prime(n) that returns True if n is a prime number, False otherwise.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Q2.  </a:t>
            </a:r>
            <a:r>
              <a:rPr lang="en-US" sz="1500" dirty="0">
                <a:solidFill>
                  <a:srgbClr val="FFFFFF"/>
                </a:solidFill>
              </a:rPr>
              <a:t>Write a function find_max(nums) that returns the largest number in a list WITHOUT using max().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Q3.  </a:t>
            </a:r>
            <a:r>
              <a:rPr lang="en-US" sz="1500" dirty="0">
                <a:solidFill>
                  <a:srgbClr val="FFFFFF"/>
                </a:solidFill>
              </a:rPr>
              <a:t>Write a function celsius_to_fahrenheit(c) and call it for 0°C, 100°C, and 37°C.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Q4.  </a:t>
            </a:r>
            <a:r>
              <a:rPr lang="en-US" sz="1500" dirty="0">
                <a:solidFill>
                  <a:srgbClr val="FFFFFF"/>
                </a:solidFill>
              </a:rPr>
              <a:t>What is the difference between return and print inside a function? Give an example of each.</a:t>
            </a:r>
            <a:endParaRPr lang="en-US" sz="1500" dirty="0"/>
          </a:p>
          <a:p>
            <a:pPr marL="0" indent="0" algn="l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FFD166"/>
                </a:solidFill>
              </a:rPr>
              <a:t>Q5.  </a:t>
            </a:r>
            <a:r>
              <a:rPr lang="en-US" sz="1500" dirty="0">
                <a:solidFill>
                  <a:srgbClr val="FFFFFF"/>
                </a:solidFill>
              </a:rPr>
              <a:t>Write a function count_vowels(word) that returns the number of vowels in the given string.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Week 1 Recap — What You've Learned!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🐍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Python Setup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Python 3.x + VS Code installed and running. You wrote your first program!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9184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Variables &amp; Types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int, float, str, bool, None. Dynamic typing. type() function.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96012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26480" y="10698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17920" y="1554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Input / Output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192024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print(), input(), f-strings, type conversion (int, float, str).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432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➕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6576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Operators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Arithmetic, comparison, logical, assignment operators and precedence.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20040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🔀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329184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Control 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if/elif/else for decisions. for and while loops with break/continue.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26480" y="2926080"/>
            <a:ext cx="274320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30358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6217920" y="35204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D8"/>
                </a:solidFill>
              </a:rPr>
              <a:t>Functions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17920" y="3886200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5566"/>
                </a:solidFill>
              </a:rPr>
              <a:t>def, parameters, return values, default arguments, built-in functions.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0B4D8"/>
                </a:solidFill>
              </a:rPr>
              <a:t>Coming Up Next ⚡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</a:rPr>
              <a:t>Week 2 — Data, Strings, Files &amp; OOP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9202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📋  </a:t>
            </a:r>
            <a:r>
              <a:rPr lang="en-US" sz="1400" b="1" dirty="0">
                <a:solidFill>
                  <a:srgbClr val="FFD166"/>
                </a:solidFill>
              </a:rPr>
              <a:t>Day 4 — Mon Jul 6  </a:t>
            </a:r>
            <a:r>
              <a:rPr lang="en-US" sz="1400" dirty="0">
                <a:solidFill>
                  <a:srgbClr val="90B4C5"/>
                </a:solidFill>
              </a:rPr>
              <a:t>— Lists, Tuples, Dictionaries + Student Marks Program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624328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2432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✂️  </a:t>
            </a:r>
            <a:r>
              <a:rPr lang="en-US" sz="1400" b="1" dirty="0">
                <a:solidFill>
                  <a:srgbClr val="FFD166"/>
                </a:solidFill>
              </a:rPr>
              <a:t>Day 5 — Tue Jul 7  </a:t>
            </a:r>
            <a:r>
              <a:rPr lang="en-US" sz="1400" dirty="0">
                <a:solidFill>
                  <a:srgbClr val="90B4C5"/>
                </a:solidFill>
              </a:rPr>
              <a:t>— String Handling: methods, patterns, palindrome checker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3328416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328416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📁  </a:t>
            </a:r>
            <a:r>
              <a:rPr lang="en-US" sz="1400" b="1" dirty="0">
                <a:solidFill>
                  <a:srgbClr val="FFD166"/>
                </a:solidFill>
              </a:rPr>
              <a:t>Day 6 — Wed Jul 8  </a:t>
            </a:r>
            <a:r>
              <a:rPr lang="en-US" sz="1400" dirty="0">
                <a:solidFill>
                  <a:srgbClr val="90B4C5"/>
                </a:solidFill>
              </a:rPr>
              <a:t>— File Handling, Error Handling + Module 1 Capstone Project!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4032504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4032504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00000"/>
                </a:solidFill>
              </a:rPr>
              <a:t>🏛️  </a:t>
            </a:r>
            <a:r>
              <a:rPr lang="en-US" sz="1400" b="1" dirty="0">
                <a:solidFill>
                  <a:srgbClr val="FFD166"/>
                </a:solidFill>
              </a:rPr>
              <a:t>Day 7-8 — Thu/Fri  </a:t>
            </a:r>
            <a:r>
              <a:rPr lang="en-US" sz="1400" dirty="0">
                <a:solidFill>
                  <a:srgbClr val="90B4C5"/>
                </a:solidFill>
              </a:rPr>
              <a:t>— OOP: Classes, Objects, Inheritance, Encapsulation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6634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D6A0"/>
                </a:solidFill>
              </a:rPr>
              <a:t>🏠  Weekend Homework: Revisit all 3 days' code · Attempt bonus questions · Come with doubts!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4572000" cy="4572000"/>
          </a:xfrm>
          <a:prstGeom prst="ellipse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4114800" cy="4114800"/>
          </a:xfrm>
          <a:prstGeom prst="ellipse">
            <a:avLst/>
          </a:prstGeom>
          <a:solidFill>
            <a:srgbClr val="00B4D8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3200400" y="457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000000"/>
                </a:solidFill>
              </a:rPr>
              <a:t>🐍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Great Work Today!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0B4C5"/>
                </a:solidFill>
              </a:rPr>
              <a:t>You've taken your first step into the world of Python 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29260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D8"/>
                </a:solidFill>
              </a:rPr>
              <a:t>Exit Ticket — Before you leave, write: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371600" y="3383280"/>
            <a:ext cx="6400800" cy="1097280"/>
          </a:xfrm>
          <a:prstGeom prst="roundRect">
            <a:avLst>
              <a:gd name="adj" fmla="val 10000"/>
            </a:avLst>
          </a:prstGeom>
          <a:solidFill>
            <a:srgbClr val="FFFFFF">
              <a:alpha val="8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429000"/>
            <a:ext cx="6217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</a:rPr>
              <a:t>"Today I learned ___ and my one doubt is ___"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46677"/>
                </a:solidFill>
              </a:rPr>
              <a:t>2b Academy  ·  Python Bootcamp  ·  July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2b Academy — Week 1: Python Fundamentals</dc:title>
  <dc:subject>PptxGenJS Presentation</dc:subject>
  <dc:creator>PptxGenJS</dc:creator>
  <cp:lastModifiedBy>PptxGenJS</cp:lastModifiedBy>
  <cp:revision>116</cp:revision>
  <dcterms:created xsi:type="dcterms:W3CDTF">2026-06-25T06:46:46Z</dcterms:created>
  <dcterms:modified xsi:type="dcterms:W3CDTF">2026-06-26T07:11:20Z</dcterms:modified>
</cp:coreProperties>
</file>